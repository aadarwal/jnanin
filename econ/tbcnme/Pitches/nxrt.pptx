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Ex1.xml" ContentType="application/vnd.ms-office.chartex+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charts/chart7.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8.xml" ContentType="application/vnd.openxmlformats-officedocument.drawingml.chart+xml"/>
  <Override PartName="/ppt/charts/style9.xml" ContentType="application/vnd.ms-office.chartstyle+xml"/>
  <Override PartName="/ppt/charts/colors9.xml" ContentType="application/vnd.ms-office.chartcolorstyle+xml"/>
  <Override PartName="/ppt/charts/chart9.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6.xml" ContentType="application/vnd.openxmlformats-officedocument.presentationml.notesSlide+xml"/>
  <Override PartName="/ppt/comments/modernComment_167_2109266B.xml" ContentType="application/vnd.ms-powerpoint.comments+xml"/>
  <Override PartName="/ppt/notesSlides/notesSlide17.xml" ContentType="application/vnd.openxmlformats-officedocument.presentationml.notesSlide+xml"/>
  <Override PartName="/ppt/charts/chart10.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1.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18.xml" ContentType="application/vnd.openxmlformats-officedocument.presentationml.notesSlide+xml"/>
  <Override PartName="/ppt/charts/chart12.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3"/>
  </p:notesMasterIdLst>
  <p:sldIdLst>
    <p:sldId id="365" r:id="rId5"/>
    <p:sldId id="267" r:id="rId6"/>
    <p:sldId id="362" r:id="rId7"/>
    <p:sldId id="364" r:id="rId8"/>
    <p:sldId id="387" r:id="rId9"/>
    <p:sldId id="366" r:id="rId10"/>
    <p:sldId id="363" r:id="rId11"/>
    <p:sldId id="367" r:id="rId12"/>
    <p:sldId id="368" r:id="rId13"/>
    <p:sldId id="378" r:id="rId14"/>
    <p:sldId id="349" r:id="rId15"/>
    <p:sldId id="350" r:id="rId16"/>
    <p:sldId id="397" r:id="rId17"/>
    <p:sldId id="340" r:id="rId18"/>
    <p:sldId id="357" r:id="rId19"/>
    <p:sldId id="361" r:id="rId20"/>
    <p:sldId id="371" r:id="rId21"/>
    <p:sldId id="358" r:id="rId22"/>
    <p:sldId id="372" r:id="rId23"/>
    <p:sldId id="374" r:id="rId24"/>
    <p:sldId id="369" r:id="rId25"/>
    <p:sldId id="370" r:id="rId26"/>
    <p:sldId id="359" r:id="rId27"/>
    <p:sldId id="375" r:id="rId28"/>
    <p:sldId id="379" r:id="rId29"/>
    <p:sldId id="396" r:id="rId30"/>
    <p:sldId id="395" r:id="rId31"/>
    <p:sldId id="394" r:id="rId32"/>
  </p:sldIdLst>
  <p:sldSz cx="10058400" cy="7772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95AA20A-B0DB-83DF-72B1-A8F8291DF6AC}" name="Tuhin Ghosh" initials="TG" userId="S::ghosht@UCHICAGO.EDU::f4216290-5d42-4f47-8586-605f4367a809" providerId="AD"/>
  <p188:author id="{13FC5937-2511-9C85-56D8-EC9C3E72F9A9}" name="Gaurov Bansal" initials="GB" userId="S::gbansal@UCHICAGO.EDU::85bb89bf-c66f-4061-aba8-f599bf53d054" providerId="AD"/>
  <p188:author id="{91E7B963-4728-A4A1-9698-3D0C0231C645}" name="Anqi Qu" initials="AQ" userId="S::anqiqu@uchicago.edu::cf06eed8-618f-4bf0-a409-6309139c8eae" providerId="AD"/>
  <p188:author id="{93127664-5878-DDA3-8532-0D7EB66FDD28}" name="Guest User" initials="GU" userId="S::urn:spo:anon#02514f8b0ccf607a36e181b71cb6f2a009b3285a2c4afd34e3a3b0649b3b84e8::" providerId="AD"/>
  <p188:author id="{807195A1-BE05-36DC-D1EB-3AE8C214C793}" name="Katherine Chen" initials="KC" userId="S::katherinecjy@UCHICAGO.EDU::7f079894-e50b-46e5-87ae-ad82b0204f3a" providerId="AD"/>
  <p188:author id="{9D4609BC-E460-3E69-E2B7-779103B99961}" name="Katherine Chen" initials="KC" userId="S::katherinecjy@uchicago.edu::7f079894-e50b-46e5-87ae-ad82b0204f3a" providerId="AD"/>
  <p188:author id="{63CEFFE7-3674-CC26-8B15-ACA892679996}" name="Guest User" initials="GU" userId="S::urn:spo:anon#f52d4623139ce2e0c90769061b9ca8ffd3d65269f532bd78bc9c9240eecd09c2::" providerId="AD"/>
  <p188:author id="{2A2A57EF-D96B-AA95-1446-31AD0F2C56F0}" name="Gaurov Bansal" initials="GB" userId="S::gbansal@uchicago.edu::85bb89bf-c66f-4061-aba8-f599bf53d05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C92"/>
    <a:srgbClr val="00396B"/>
    <a:srgbClr val="005EB4"/>
    <a:srgbClr val="1E1F49"/>
    <a:srgbClr val="3F4197"/>
    <a:srgbClr val="35377F"/>
    <a:srgbClr val="007DEE"/>
    <a:srgbClr val="300508"/>
    <a:srgbClr val="710F3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EF9A6C-4894-7040-8A2E-39A01B05E4DF}" v="2" dt="2023-11-18T22:22:50.382"/>
    <p1510:client id="{83F571B5-A967-6747-A421-3DB5C4DE9AC8}" v="5595" dt="2023-11-18T20:21:59.9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98"/>
    <p:restoredTop sz="94599"/>
  </p:normalViewPr>
  <p:slideViewPr>
    <p:cSldViewPr snapToGrid="0">
      <p:cViewPr varScale="1">
        <p:scale>
          <a:sx n="70" d="100"/>
          <a:sy n="70" d="100"/>
        </p:scale>
        <p:origin x="192" y="16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1" i="0" u="none" strike="noStrike" kern="1200" spc="0" baseline="0">
              <a:solidFill>
                <a:schemeClr val="tx2"/>
              </a:solidFill>
              <a:latin typeface="+mn-lt"/>
              <a:ea typeface="+mn-ea"/>
              <a:cs typeface="+mn-cs"/>
            </a:defRPr>
          </a:pPr>
          <a:endParaRPr lang="en-US"/>
        </a:p>
      </c:txPr>
    </c:title>
    <c:autoTitleDeleted val="0"/>
    <c:plotArea>
      <c:layout>
        <c:manualLayout>
          <c:layoutTarget val="inner"/>
          <c:xMode val="edge"/>
          <c:yMode val="edge"/>
          <c:x val="0.45972589748002807"/>
          <c:y val="0.2054732326702764"/>
          <c:w val="0.41930456054673493"/>
          <c:h val="0.73932580540258175"/>
        </c:manualLayout>
      </c:layout>
      <c:pieChart>
        <c:varyColors val="1"/>
        <c:ser>
          <c:idx val="0"/>
          <c:order val="0"/>
          <c:tx>
            <c:strRef>
              <c:f>Sheet1!$B$1</c:f>
              <c:strCache>
                <c:ptCount val="1"/>
                <c:pt idx="0">
                  <c:v>Rental Units by Geography</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4F1-854C-A77A-786908ECCDC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4F1-854C-A77A-786908ECCDC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4F1-854C-A77A-786908ECCDC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4F1-854C-A77A-786908ECCDC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4B24-496C-A206-E4CB022D1578}"/>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4B24-496C-A206-E4CB022D1578}"/>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8-58AC-437F-BCCD-51667AE899A1}"/>
              </c:ext>
            </c:extLst>
          </c:dPt>
          <c:dLbls>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4F1-854C-A77A-786908ECCDC2}"/>
                </c:ext>
              </c:extLst>
            </c:dLbl>
            <c:dLbl>
              <c:idx val="3"/>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4F1-854C-A77A-786908ECCDC2}"/>
                </c:ext>
              </c:extLst>
            </c:dLbl>
            <c:dLbl>
              <c:idx val="6"/>
              <c:spPr>
                <a:noFill/>
                <a:ln>
                  <a:noFill/>
                </a:ln>
                <a:effectLst/>
              </c:spPr>
              <c:txPr>
                <a:bodyPr rot="0" spcFirstLastPara="1" vertOverflow="ellipsis" vert="horz" wrap="square" lIns="38100" tIns="19050" rIns="38100" bIns="19050" anchor="ctr" anchorCtr="0">
                  <a:noAutofit/>
                </a:bodyPr>
                <a:lstStyle/>
                <a:p>
                  <a:pPr algn="ctr">
                    <a:defRPr sz="1400" b="0" i="0" u="none" strike="noStrike" kern="1200" baseline="0">
                      <a:solidFill>
                        <a:schemeClr val="bg1"/>
                      </a:solidFill>
                      <a:latin typeface="+mn-lt"/>
                      <a:ea typeface="+mn-ea"/>
                      <a:cs typeface="+mn-cs"/>
                    </a:defRPr>
                  </a:pPr>
                  <a:endParaRPr lang="en-US"/>
                </a:p>
              </c:txPr>
              <c:dLblPos val="inEnd"/>
              <c:showLegendKey val="0"/>
              <c:showVal val="0"/>
              <c:showCatName val="0"/>
              <c:showSerName val="0"/>
              <c:showPercent val="1"/>
              <c:showBubbleSize val="0"/>
              <c:separator>, </c:separator>
              <c:extLst>
                <c:ext xmlns:c15="http://schemas.microsoft.com/office/drawing/2012/chart" uri="{CE6537A1-D6FC-4f65-9D91-7224C49458BB}">
                  <c15:layout>
                    <c:manualLayout>
                      <c:w val="0.12000523500136254"/>
                      <c:h val="0.20574903991025595"/>
                    </c:manualLayout>
                  </c15:layout>
                </c:ext>
                <c:ext xmlns:c16="http://schemas.microsoft.com/office/drawing/2014/chart" uri="{C3380CC4-5D6E-409C-BE32-E72D297353CC}">
                  <c16:uniqueId val="{00000008-58AC-437F-BCCD-51667AE899A1}"/>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inEnd"/>
            <c:showLegendKey val="0"/>
            <c:showVal val="0"/>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Nevada</c:v>
                </c:pt>
                <c:pt idx="1">
                  <c:v>Arizona</c:v>
                </c:pt>
                <c:pt idx="2">
                  <c:v>Texas</c:v>
                </c:pt>
                <c:pt idx="3">
                  <c:v>Tennessee</c:v>
                </c:pt>
                <c:pt idx="4">
                  <c:v>North Carolina</c:v>
                </c:pt>
                <c:pt idx="5">
                  <c:v>Georgia</c:v>
                </c:pt>
                <c:pt idx="6">
                  <c:v>Florida</c:v>
                </c:pt>
              </c:strCache>
            </c:strRef>
          </c:cat>
          <c:val>
            <c:numRef>
              <c:f>Sheet1!$B$2:$B$8</c:f>
              <c:numCache>
                <c:formatCode>General</c:formatCode>
                <c:ptCount val="7"/>
                <c:pt idx="0">
                  <c:v>1164</c:v>
                </c:pt>
                <c:pt idx="1">
                  <c:v>2009</c:v>
                </c:pt>
                <c:pt idx="2">
                  <c:v>3511</c:v>
                </c:pt>
                <c:pt idx="3">
                  <c:v>1338</c:v>
                </c:pt>
                <c:pt idx="4">
                  <c:v>1706</c:v>
                </c:pt>
                <c:pt idx="5">
                  <c:v>1692</c:v>
                </c:pt>
                <c:pt idx="6">
                  <c:v>3707</c:v>
                </c:pt>
              </c:numCache>
            </c:numRef>
          </c:val>
          <c:extLst>
            <c:ext xmlns:c16="http://schemas.microsoft.com/office/drawing/2014/chart" uri="{C3380CC4-5D6E-409C-BE32-E72D297353CC}">
              <c16:uniqueId val="{00000000-939D-1F41-B60B-D1ADCCD95512}"/>
            </c:ext>
          </c:extLst>
        </c:ser>
        <c:dLbls>
          <c:dLblPos val="inEnd"/>
          <c:showLegendKey val="0"/>
          <c:showVal val="0"/>
          <c:showCatName val="0"/>
          <c:showSerName val="0"/>
          <c:showPercent val="1"/>
          <c:showBubbleSize val="0"/>
          <c:showLeaderLines val="1"/>
        </c:dLbls>
        <c:firstSliceAng val="47"/>
      </c:pieChart>
      <c:spPr>
        <a:noFill/>
        <a:ln>
          <a:noFill/>
        </a:ln>
        <a:effectLst/>
      </c:spPr>
    </c:plotArea>
    <c:legend>
      <c:legendPos val="l"/>
      <c:layout>
        <c:manualLayout>
          <c:xMode val="edge"/>
          <c:yMode val="edge"/>
          <c:x val="7.83098833957231E-3"/>
          <c:y val="0.14867325153985611"/>
          <c:w val="0.43268881057565028"/>
          <c:h val="0.7722256312439425"/>
        </c:manualLayout>
      </c:layout>
      <c:overlay val="0"/>
      <c:spPr>
        <a:noFill/>
        <a:ln>
          <a:noFill/>
        </a:ln>
        <a:effectLst/>
      </c:spPr>
      <c:txPr>
        <a:bodyPr rot="0" spcFirstLastPara="1" vertOverflow="ellipsis" vert="horz" wrap="square" anchor="ctr" anchorCtr="0"/>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black">
                    <a:lumMod val="65000"/>
                    <a:lumOff val="35000"/>
                  </a:prstClr>
                </a:solidFill>
                <a:latin typeface="+mn-lt"/>
                <a:ea typeface="+mn-ea"/>
                <a:cs typeface="+mn-cs"/>
              </a:defRPr>
            </a:pPr>
            <a:r>
              <a:rPr lang="en-US" sz="1400" b="1" i="0" u="none" strike="noStrike" kern="1200" cap="none" spc="0" baseline="0">
                <a:solidFill>
                  <a:srgbClr val="004C92"/>
                </a:solidFill>
              </a:rPr>
              <a:t>Median Price Increase of Raw Land Since 2014 (%)</a:t>
            </a:r>
          </a:p>
        </c:rich>
      </c:tx>
      <c:layout>
        <c:manualLayout>
          <c:xMode val="edge"/>
          <c:yMode val="edge"/>
          <c:x val="0.15066216130379978"/>
          <c:y val="1.3960686981236226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9.2775390019699283E-2"/>
          <c:y val="0.20616994393009094"/>
          <c:w val="0.82760098373649893"/>
          <c:h val="0.58567355707379332"/>
        </c:manualLayout>
      </c:layout>
      <c:barChart>
        <c:barDir val="col"/>
        <c:grouping val="stacked"/>
        <c:varyColors val="0"/>
        <c:ser>
          <c:idx val="0"/>
          <c:order val="0"/>
          <c:tx>
            <c:strRef>
              <c:f>Sheet1!$B$1</c:f>
              <c:strCache>
                <c:ptCount val="1"/>
                <c:pt idx="0">
                  <c:v>Sales</c:v>
                </c:pt>
              </c:strCache>
            </c:strRef>
          </c:tx>
          <c:spPr>
            <a:solidFill>
              <a:schemeClr val="accent1"/>
            </a:solidFill>
            <a:ln>
              <a:noFill/>
            </a:ln>
            <a:effectLst/>
          </c:spPr>
          <c:invertIfNegative val="0"/>
          <c:dPt>
            <c:idx val="2"/>
            <c:invertIfNegative val="0"/>
            <c:bubble3D val="0"/>
            <c:spPr>
              <a:solidFill>
                <a:schemeClr val="accent1"/>
              </a:solidFill>
              <a:ln>
                <a:noFill/>
              </a:ln>
              <a:effectLst/>
            </c:spPr>
            <c:extLst>
              <c:ext xmlns:c16="http://schemas.microsoft.com/office/drawing/2014/chart" uri="{C3380CC4-5D6E-409C-BE32-E72D297353CC}">
                <c16:uniqueId val="{00000001-0BBB-4CAD-A8BD-C8E4FEDD7963}"/>
              </c:ext>
            </c:extLst>
          </c:dPt>
          <c:dLbls>
            <c:dLbl>
              <c:idx val="0"/>
              <c:layout>
                <c:manualLayout>
                  <c:x val="2.8336266248450153E-3"/>
                  <c:y val="-0.305825180502503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1DD-43A3-9870-1B3832C7FF7E}"/>
                </c:ext>
              </c:extLst>
            </c:dLbl>
            <c:dLbl>
              <c:idx val="1"/>
              <c:layout>
                <c:manualLayout>
                  <c:x val="-2.8336266248450153E-3"/>
                  <c:y val="-0.2792954999555842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078-4BDE-8CB0-3B14B1DE7ABE}"/>
                </c:ext>
              </c:extLst>
            </c:dLbl>
            <c:dLbl>
              <c:idx val="2"/>
              <c:layout>
                <c:manualLayout>
                  <c:x val="-5.1949221333654098E-17"/>
                  <c:y val="-0.2583785556352534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BBB-4CAD-A8BD-C8E4FEDD7963}"/>
                </c:ext>
              </c:extLst>
            </c:dLbl>
            <c:dLbl>
              <c:idx val="3"/>
              <c:layout>
                <c:manualLayout>
                  <c:x val="0"/>
                  <c:y val="-0.20531919454141515"/>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1DD-43A3-9870-1B3832C7FF7E}"/>
                </c:ext>
              </c:extLst>
            </c:dLbl>
            <c:dLbl>
              <c:idx val="4"/>
              <c:layout>
                <c:manualLayout>
                  <c:x val="-1.038984426673082E-16"/>
                  <c:y val="-0.2012404589008495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078-4BDE-8CB0-3B14B1DE7ABE}"/>
                </c:ext>
              </c:extLst>
            </c:dLbl>
            <c:dLbl>
              <c:idx val="5"/>
              <c:layout>
                <c:manualLayout>
                  <c:x val="0"/>
                  <c:y val="-0.1747107783539303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078-4BDE-8CB0-3B14B1DE7AB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Arizona</c:v>
                </c:pt>
                <c:pt idx="1">
                  <c:v>Nevada</c:v>
                </c:pt>
                <c:pt idx="2">
                  <c:v>Texas</c:v>
                </c:pt>
                <c:pt idx="3">
                  <c:v>Florida</c:v>
                </c:pt>
                <c:pt idx="4">
                  <c:v>Georgia</c:v>
                </c:pt>
                <c:pt idx="5">
                  <c:v>North Carolina</c:v>
                </c:pt>
              </c:strCache>
            </c:strRef>
          </c:cat>
          <c:val>
            <c:numRef>
              <c:f>Sheet1!$B$2:$B$7</c:f>
              <c:numCache>
                <c:formatCode>0%</c:formatCode>
                <c:ptCount val="6"/>
                <c:pt idx="0">
                  <c:v>1.2</c:v>
                </c:pt>
                <c:pt idx="1">
                  <c:v>1.1000000000000001</c:v>
                </c:pt>
                <c:pt idx="2">
                  <c:v>1</c:v>
                </c:pt>
                <c:pt idx="3">
                  <c:v>0.8</c:v>
                </c:pt>
                <c:pt idx="4">
                  <c:v>0.7</c:v>
                </c:pt>
                <c:pt idx="5">
                  <c:v>0.6</c:v>
                </c:pt>
              </c:numCache>
            </c:numRef>
          </c:val>
          <c:extLst>
            <c:ext xmlns:c16="http://schemas.microsoft.com/office/drawing/2014/chart" uri="{C3380CC4-5D6E-409C-BE32-E72D297353CC}">
              <c16:uniqueId val="{00000002-0BBB-4CAD-A8BD-C8E4FEDD7963}"/>
            </c:ext>
          </c:extLst>
        </c:ser>
        <c:dLbls>
          <c:showLegendKey val="0"/>
          <c:showVal val="0"/>
          <c:showCatName val="0"/>
          <c:showSerName val="0"/>
          <c:showPercent val="0"/>
          <c:showBubbleSize val="0"/>
        </c:dLbls>
        <c:gapWidth val="100"/>
        <c:overlap val="50"/>
        <c:axId val="443658128"/>
        <c:axId val="443653808"/>
      </c:barChart>
      <c:catAx>
        <c:axId val="443658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443653808"/>
        <c:crosses val="autoZero"/>
        <c:auto val="1"/>
        <c:lblAlgn val="ctr"/>
        <c:lblOffset val="100"/>
        <c:noMultiLvlLbl val="0"/>
      </c:catAx>
      <c:valAx>
        <c:axId val="44365380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4436581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915" b="0" i="0" u="none" strike="noStrike" kern="1200" cap="none" spc="0" baseline="0">
                <a:gradFill>
                  <a:gsLst>
                    <a:gs pos="0">
                      <a:schemeClr val="dk1">
                        <a:lumMod val="50000"/>
                        <a:lumOff val="50000"/>
                      </a:schemeClr>
                    </a:gs>
                    <a:gs pos="100000">
                      <a:schemeClr val="dk1">
                        <a:lumMod val="85000"/>
                        <a:lumOff val="15000"/>
                      </a:schemeClr>
                    </a:gs>
                  </a:gsLst>
                  <a:lin ang="5400000" scaled="0"/>
                </a:gradFill>
                <a:latin typeface="+mn-lt"/>
                <a:ea typeface="+mn-ea"/>
                <a:cs typeface="+mn-cs"/>
              </a:defRPr>
            </a:pPr>
            <a:r>
              <a:rPr lang="en-US" sz="1400" b="1" cap="none">
                <a:solidFill>
                  <a:srgbClr val="004C92"/>
                </a:solidFill>
              </a:rPr>
              <a:t>Mortgage Rates Over Past 15 Years</a:t>
            </a:r>
          </a:p>
        </c:rich>
      </c:tx>
      <c:layout>
        <c:manualLayout>
          <c:xMode val="edge"/>
          <c:yMode val="edge"/>
          <c:x val="0.15581803936252031"/>
          <c:y val="3.2425421530479899E-2"/>
        </c:manualLayout>
      </c:layout>
      <c:overlay val="0"/>
      <c:spPr>
        <a:noFill/>
        <a:ln>
          <a:noFill/>
        </a:ln>
        <a:effectLst/>
      </c:spPr>
      <c:txPr>
        <a:bodyPr rot="0" spcFirstLastPara="1" vertOverflow="ellipsis" vert="horz" wrap="square" anchor="ctr" anchorCtr="1"/>
        <a:lstStyle/>
        <a:p>
          <a:pPr>
            <a:defRPr sz="1915" b="0" i="0" u="none" strike="noStrike" kern="1200" cap="none" spc="0" baseline="0">
              <a:gradFill>
                <a:gsLst>
                  <a:gs pos="0">
                    <a:schemeClr val="dk1">
                      <a:lumMod val="50000"/>
                      <a:lumOff val="50000"/>
                    </a:schemeClr>
                  </a:gs>
                  <a:gs pos="100000">
                    <a:schemeClr val="dk1">
                      <a:lumMod val="85000"/>
                      <a:lumOff val="15000"/>
                    </a:schemeClr>
                  </a:gs>
                </a:gsLst>
                <a:lin ang="5400000" scaled="0"/>
              </a:gra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Rate</c:v>
                </c:pt>
              </c:strCache>
            </c:strRef>
          </c:tx>
          <c:spPr>
            <a:ln w="19050" cap="rnd" cmpd="sng" algn="ctr">
              <a:solidFill>
                <a:schemeClr val="accent2">
                  <a:shade val="95000"/>
                  <a:satMod val="105000"/>
                </a:schemeClr>
              </a:solidFill>
              <a:round/>
            </a:ln>
            <a:effectLst/>
          </c:spPr>
          <c:marker>
            <c:symbol val="none"/>
          </c:marker>
          <c:dLbls>
            <c:delete val="1"/>
          </c:dLbls>
          <c:cat>
            <c:numRef>
              <c:f>Sheet1!$A$2:$A$784</c:f>
              <c:numCache>
                <c:formatCode>yyyy\-mm\-dd</c:formatCode>
                <c:ptCount val="783"/>
                <c:pt idx="0">
                  <c:v>39751</c:v>
                </c:pt>
                <c:pt idx="1">
                  <c:v>39758</c:v>
                </c:pt>
                <c:pt idx="2">
                  <c:v>39765</c:v>
                </c:pt>
                <c:pt idx="3">
                  <c:v>39772</c:v>
                </c:pt>
                <c:pt idx="4">
                  <c:v>39778</c:v>
                </c:pt>
                <c:pt idx="5">
                  <c:v>39786</c:v>
                </c:pt>
                <c:pt idx="6">
                  <c:v>39793</c:v>
                </c:pt>
                <c:pt idx="7">
                  <c:v>39800</c:v>
                </c:pt>
                <c:pt idx="8">
                  <c:v>39806</c:v>
                </c:pt>
                <c:pt idx="9">
                  <c:v>39813</c:v>
                </c:pt>
                <c:pt idx="10">
                  <c:v>39821</c:v>
                </c:pt>
                <c:pt idx="11">
                  <c:v>39828</c:v>
                </c:pt>
                <c:pt idx="12">
                  <c:v>39835</c:v>
                </c:pt>
                <c:pt idx="13">
                  <c:v>39842</c:v>
                </c:pt>
                <c:pt idx="14">
                  <c:v>39849</c:v>
                </c:pt>
                <c:pt idx="15">
                  <c:v>39856</c:v>
                </c:pt>
                <c:pt idx="16">
                  <c:v>39863</c:v>
                </c:pt>
                <c:pt idx="17">
                  <c:v>39870</c:v>
                </c:pt>
                <c:pt idx="18">
                  <c:v>39877</c:v>
                </c:pt>
                <c:pt idx="19">
                  <c:v>39884</c:v>
                </c:pt>
                <c:pt idx="20">
                  <c:v>39891</c:v>
                </c:pt>
                <c:pt idx="21">
                  <c:v>39898</c:v>
                </c:pt>
                <c:pt idx="22">
                  <c:v>39905</c:v>
                </c:pt>
                <c:pt idx="23">
                  <c:v>39912</c:v>
                </c:pt>
                <c:pt idx="24">
                  <c:v>39919</c:v>
                </c:pt>
                <c:pt idx="25">
                  <c:v>39926</c:v>
                </c:pt>
                <c:pt idx="26">
                  <c:v>39933</c:v>
                </c:pt>
                <c:pt idx="27">
                  <c:v>39940</c:v>
                </c:pt>
                <c:pt idx="28">
                  <c:v>39947</c:v>
                </c:pt>
                <c:pt idx="29">
                  <c:v>39954</c:v>
                </c:pt>
                <c:pt idx="30">
                  <c:v>39961</c:v>
                </c:pt>
                <c:pt idx="31">
                  <c:v>39968</c:v>
                </c:pt>
                <c:pt idx="32">
                  <c:v>39975</c:v>
                </c:pt>
                <c:pt idx="33">
                  <c:v>39982</c:v>
                </c:pt>
                <c:pt idx="34">
                  <c:v>39989</c:v>
                </c:pt>
                <c:pt idx="35">
                  <c:v>39996</c:v>
                </c:pt>
                <c:pt idx="36">
                  <c:v>40003</c:v>
                </c:pt>
                <c:pt idx="37">
                  <c:v>40010</c:v>
                </c:pt>
                <c:pt idx="38">
                  <c:v>40017</c:v>
                </c:pt>
                <c:pt idx="39">
                  <c:v>40024</c:v>
                </c:pt>
                <c:pt idx="40">
                  <c:v>40031</c:v>
                </c:pt>
                <c:pt idx="41">
                  <c:v>40038</c:v>
                </c:pt>
                <c:pt idx="42">
                  <c:v>40045</c:v>
                </c:pt>
                <c:pt idx="43">
                  <c:v>40052</c:v>
                </c:pt>
                <c:pt idx="44">
                  <c:v>40059</c:v>
                </c:pt>
                <c:pt idx="45">
                  <c:v>40066</c:v>
                </c:pt>
                <c:pt idx="46">
                  <c:v>40073</c:v>
                </c:pt>
                <c:pt idx="47">
                  <c:v>40080</c:v>
                </c:pt>
                <c:pt idx="48">
                  <c:v>40087</c:v>
                </c:pt>
                <c:pt idx="49">
                  <c:v>40094</c:v>
                </c:pt>
                <c:pt idx="50">
                  <c:v>40101</c:v>
                </c:pt>
                <c:pt idx="51">
                  <c:v>40108</c:v>
                </c:pt>
                <c:pt idx="52">
                  <c:v>40115</c:v>
                </c:pt>
                <c:pt idx="53">
                  <c:v>40122</c:v>
                </c:pt>
                <c:pt idx="54">
                  <c:v>40129</c:v>
                </c:pt>
                <c:pt idx="55">
                  <c:v>40136</c:v>
                </c:pt>
                <c:pt idx="56">
                  <c:v>40142</c:v>
                </c:pt>
                <c:pt idx="57">
                  <c:v>40150</c:v>
                </c:pt>
                <c:pt idx="58">
                  <c:v>40157</c:v>
                </c:pt>
                <c:pt idx="59">
                  <c:v>40164</c:v>
                </c:pt>
                <c:pt idx="60">
                  <c:v>40171</c:v>
                </c:pt>
                <c:pt idx="61">
                  <c:v>40178</c:v>
                </c:pt>
                <c:pt idx="62">
                  <c:v>40185</c:v>
                </c:pt>
                <c:pt idx="63">
                  <c:v>40192</c:v>
                </c:pt>
                <c:pt idx="64">
                  <c:v>40199</c:v>
                </c:pt>
                <c:pt idx="65">
                  <c:v>40206</c:v>
                </c:pt>
                <c:pt idx="66">
                  <c:v>40213</c:v>
                </c:pt>
                <c:pt idx="67">
                  <c:v>40220</c:v>
                </c:pt>
                <c:pt idx="68">
                  <c:v>40227</c:v>
                </c:pt>
                <c:pt idx="69">
                  <c:v>40234</c:v>
                </c:pt>
                <c:pt idx="70">
                  <c:v>40241</c:v>
                </c:pt>
                <c:pt idx="71">
                  <c:v>40248</c:v>
                </c:pt>
                <c:pt idx="72">
                  <c:v>40255</c:v>
                </c:pt>
                <c:pt idx="73">
                  <c:v>40262</c:v>
                </c:pt>
                <c:pt idx="74">
                  <c:v>40269</c:v>
                </c:pt>
                <c:pt idx="75">
                  <c:v>40276</c:v>
                </c:pt>
                <c:pt idx="76">
                  <c:v>40283</c:v>
                </c:pt>
                <c:pt idx="77">
                  <c:v>40290</c:v>
                </c:pt>
                <c:pt idx="78">
                  <c:v>40297</c:v>
                </c:pt>
                <c:pt idx="79">
                  <c:v>40304</c:v>
                </c:pt>
                <c:pt idx="80">
                  <c:v>40311</c:v>
                </c:pt>
                <c:pt idx="81">
                  <c:v>40318</c:v>
                </c:pt>
                <c:pt idx="82">
                  <c:v>40325</c:v>
                </c:pt>
                <c:pt idx="83">
                  <c:v>40332</c:v>
                </c:pt>
                <c:pt idx="84">
                  <c:v>40339</c:v>
                </c:pt>
                <c:pt idx="85">
                  <c:v>40346</c:v>
                </c:pt>
                <c:pt idx="86">
                  <c:v>40353</c:v>
                </c:pt>
                <c:pt idx="87">
                  <c:v>40360</c:v>
                </c:pt>
                <c:pt idx="88">
                  <c:v>40367</c:v>
                </c:pt>
                <c:pt idx="89">
                  <c:v>40374</c:v>
                </c:pt>
                <c:pt idx="90">
                  <c:v>40381</c:v>
                </c:pt>
                <c:pt idx="91">
                  <c:v>40388</c:v>
                </c:pt>
                <c:pt idx="92">
                  <c:v>40395</c:v>
                </c:pt>
                <c:pt idx="93">
                  <c:v>40402</c:v>
                </c:pt>
                <c:pt idx="94">
                  <c:v>40409</c:v>
                </c:pt>
                <c:pt idx="95">
                  <c:v>40416</c:v>
                </c:pt>
                <c:pt idx="96">
                  <c:v>40423</c:v>
                </c:pt>
                <c:pt idx="97">
                  <c:v>40430</c:v>
                </c:pt>
                <c:pt idx="98">
                  <c:v>40437</c:v>
                </c:pt>
                <c:pt idx="99">
                  <c:v>40444</c:v>
                </c:pt>
                <c:pt idx="100">
                  <c:v>40451</c:v>
                </c:pt>
                <c:pt idx="101">
                  <c:v>40458</c:v>
                </c:pt>
                <c:pt idx="102">
                  <c:v>40465</c:v>
                </c:pt>
                <c:pt idx="103">
                  <c:v>40472</c:v>
                </c:pt>
                <c:pt idx="104">
                  <c:v>40479</c:v>
                </c:pt>
                <c:pt idx="105">
                  <c:v>40486</c:v>
                </c:pt>
                <c:pt idx="106">
                  <c:v>40493</c:v>
                </c:pt>
                <c:pt idx="107">
                  <c:v>40500</c:v>
                </c:pt>
                <c:pt idx="108">
                  <c:v>40506</c:v>
                </c:pt>
                <c:pt idx="109">
                  <c:v>40514</c:v>
                </c:pt>
                <c:pt idx="110">
                  <c:v>40521</c:v>
                </c:pt>
                <c:pt idx="111">
                  <c:v>40528</c:v>
                </c:pt>
                <c:pt idx="112">
                  <c:v>40535</c:v>
                </c:pt>
                <c:pt idx="113">
                  <c:v>40542</c:v>
                </c:pt>
                <c:pt idx="114">
                  <c:v>40549</c:v>
                </c:pt>
                <c:pt idx="115">
                  <c:v>40556</c:v>
                </c:pt>
                <c:pt idx="116">
                  <c:v>40563</c:v>
                </c:pt>
                <c:pt idx="117">
                  <c:v>40570</c:v>
                </c:pt>
                <c:pt idx="118">
                  <c:v>40577</c:v>
                </c:pt>
                <c:pt idx="119">
                  <c:v>40584</c:v>
                </c:pt>
                <c:pt idx="120">
                  <c:v>40591</c:v>
                </c:pt>
                <c:pt idx="121">
                  <c:v>40598</c:v>
                </c:pt>
                <c:pt idx="122">
                  <c:v>40605</c:v>
                </c:pt>
                <c:pt idx="123">
                  <c:v>40612</c:v>
                </c:pt>
                <c:pt idx="124">
                  <c:v>40619</c:v>
                </c:pt>
                <c:pt idx="125">
                  <c:v>40626</c:v>
                </c:pt>
                <c:pt idx="126">
                  <c:v>40633</c:v>
                </c:pt>
                <c:pt idx="127">
                  <c:v>40640</c:v>
                </c:pt>
                <c:pt idx="128">
                  <c:v>40647</c:v>
                </c:pt>
                <c:pt idx="129">
                  <c:v>40654</c:v>
                </c:pt>
                <c:pt idx="130">
                  <c:v>40661</c:v>
                </c:pt>
                <c:pt idx="131">
                  <c:v>40668</c:v>
                </c:pt>
                <c:pt idx="132">
                  <c:v>40675</c:v>
                </c:pt>
                <c:pt idx="133">
                  <c:v>40682</c:v>
                </c:pt>
                <c:pt idx="134">
                  <c:v>40689</c:v>
                </c:pt>
                <c:pt idx="135">
                  <c:v>40696</c:v>
                </c:pt>
                <c:pt idx="136">
                  <c:v>40703</c:v>
                </c:pt>
                <c:pt idx="137">
                  <c:v>40710</c:v>
                </c:pt>
                <c:pt idx="138">
                  <c:v>40717</c:v>
                </c:pt>
                <c:pt idx="139">
                  <c:v>40724</c:v>
                </c:pt>
                <c:pt idx="140">
                  <c:v>40731</c:v>
                </c:pt>
                <c:pt idx="141">
                  <c:v>40738</c:v>
                </c:pt>
                <c:pt idx="142">
                  <c:v>40745</c:v>
                </c:pt>
                <c:pt idx="143">
                  <c:v>40752</c:v>
                </c:pt>
                <c:pt idx="144">
                  <c:v>40759</c:v>
                </c:pt>
                <c:pt idx="145">
                  <c:v>40766</c:v>
                </c:pt>
                <c:pt idx="146">
                  <c:v>40773</c:v>
                </c:pt>
                <c:pt idx="147">
                  <c:v>40780</c:v>
                </c:pt>
                <c:pt idx="148">
                  <c:v>40787</c:v>
                </c:pt>
                <c:pt idx="149">
                  <c:v>40794</c:v>
                </c:pt>
                <c:pt idx="150">
                  <c:v>40801</c:v>
                </c:pt>
                <c:pt idx="151">
                  <c:v>40808</c:v>
                </c:pt>
                <c:pt idx="152">
                  <c:v>40815</c:v>
                </c:pt>
                <c:pt idx="153">
                  <c:v>40822</c:v>
                </c:pt>
                <c:pt idx="154">
                  <c:v>40829</c:v>
                </c:pt>
                <c:pt idx="155">
                  <c:v>40836</c:v>
                </c:pt>
                <c:pt idx="156">
                  <c:v>40843</c:v>
                </c:pt>
                <c:pt idx="157">
                  <c:v>40850</c:v>
                </c:pt>
                <c:pt idx="158">
                  <c:v>40857</c:v>
                </c:pt>
                <c:pt idx="159">
                  <c:v>40864</c:v>
                </c:pt>
                <c:pt idx="160">
                  <c:v>40870</c:v>
                </c:pt>
                <c:pt idx="161">
                  <c:v>40878</c:v>
                </c:pt>
                <c:pt idx="162">
                  <c:v>40885</c:v>
                </c:pt>
                <c:pt idx="163">
                  <c:v>40892</c:v>
                </c:pt>
                <c:pt idx="164">
                  <c:v>40899</c:v>
                </c:pt>
                <c:pt idx="165">
                  <c:v>40906</c:v>
                </c:pt>
                <c:pt idx="166">
                  <c:v>40913</c:v>
                </c:pt>
                <c:pt idx="167">
                  <c:v>40920</c:v>
                </c:pt>
                <c:pt idx="168">
                  <c:v>40927</c:v>
                </c:pt>
                <c:pt idx="169">
                  <c:v>40934</c:v>
                </c:pt>
                <c:pt idx="170">
                  <c:v>40941</c:v>
                </c:pt>
                <c:pt idx="171">
                  <c:v>40948</c:v>
                </c:pt>
                <c:pt idx="172">
                  <c:v>40955</c:v>
                </c:pt>
                <c:pt idx="173">
                  <c:v>40962</c:v>
                </c:pt>
                <c:pt idx="174">
                  <c:v>40969</c:v>
                </c:pt>
                <c:pt idx="175">
                  <c:v>40976</c:v>
                </c:pt>
                <c:pt idx="176">
                  <c:v>40983</c:v>
                </c:pt>
                <c:pt idx="177">
                  <c:v>40990</c:v>
                </c:pt>
                <c:pt idx="178">
                  <c:v>40997</c:v>
                </c:pt>
                <c:pt idx="179">
                  <c:v>41004</c:v>
                </c:pt>
                <c:pt idx="180">
                  <c:v>41011</c:v>
                </c:pt>
                <c:pt idx="181">
                  <c:v>41018</c:v>
                </c:pt>
                <c:pt idx="182">
                  <c:v>41025</c:v>
                </c:pt>
                <c:pt idx="183">
                  <c:v>41032</c:v>
                </c:pt>
                <c:pt idx="184">
                  <c:v>41039</c:v>
                </c:pt>
                <c:pt idx="185">
                  <c:v>41046</c:v>
                </c:pt>
                <c:pt idx="186">
                  <c:v>41053</c:v>
                </c:pt>
                <c:pt idx="187">
                  <c:v>41060</c:v>
                </c:pt>
                <c:pt idx="188">
                  <c:v>41067</c:v>
                </c:pt>
                <c:pt idx="189">
                  <c:v>41074</c:v>
                </c:pt>
                <c:pt idx="190">
                  <c:v>41081</c:v>
                </c:pt>
                <c:pt idx="191">
                  <c:v>41088</c:v>
                </c:pt>
                <c:pt idx="192">
                  <c:v>41095</c:v>
                </c:pt>
                <c:pt idx="193">
                  <c:v>41102</c:v>
                </c:pt>
                <c:pt idx="194">
                  <c:v>41109</c:v>
                </c:pt>
                <c:pt idx="195">
                  <c:v>41116</c:v>
                </c:pt>
                <c:pt idx="196">
                  <c:v>41123</c:v>
                </c:pt>
                <c:pt idx="197">
                  <c:v>41130</c:v>
                </c:pt>
                <c:pt idx="198">
                  <c:v>41137</c:v>
                </c:pt>
                <c:pt idx="199">
                  <c:v>41144</c:v>
                </c:pt>
                <c:pt idx="200">
                  <c:v>41151</c:v>
                </c:pt>
                <c:pt idx="201">
                  <c:v>41158</c:v>
                </c:pt>
                <c:pt idx="202">
                  <c:v>41165</c:v>
                </c:pt>
                <c:pt idx="203">
                  <c:v>41172</c:v>
                </c:pt>
                <c:pt idx="204">
                  <c:v>41179</c:v>
                </c:pt>
                <c:pt idx="205">
                  <c:v>41186</c:v>
                </c:pt>
                <c:pt idx="206">
                  <c:v>41193</c:v>
                </c:pt>
                <c:pt idx="207">
                  <c:v>41200</c:v>
                </c:pt>
                <c:pt idx="208">
                  <c:v>41207</c:v>
                </c:pt>
                <c:pt idx="209">
                  <c:v>41214</c:v>
                </c:pt>
                <c:pt idx="210">
                  <c:v>41221</c:v>
                </c:pt>
                <c:pt idx="211">
                  <c:v>41228</c:v>
                </c:pt>
                <c:pt idx="212">
                  <c:v>41234</c:v>
                </c:pt>
                <c:pt idx="213">
                  <c:v>41242</c:v>
                </c:pt>
                <c:pt idx="214">
                  <c:v>41249</c:v>
                </c:pt>
                <c:pt idx="215">
                  <c:v>41256</c:v>
                </c:pt>
                <c:pt idx="216">
                  <c:v>41263</c:v>
                </c:pt>
                <c:pt idx="217">
                  <c:v>41270</c:v>
                </c:pt>
                <c:pt idx="218">
                  <c:v>41277</c:v>
                </c:pt>
                <c:pt idx="219">
                  <c:v>41284</c:v>
                </c:pt>
                <c:pt idx="220">
                  <c:v>41291</c:v>
                </c:pt>
                <c:pt idx="221">
                  <c:v>41298</c:v>
                </c:pt>
                <c:pt idx="222">
                  <c:v>41305</c:v>
                </c:pt>
                <c:pt idx="223">
                  <c:v>41312</c:v>
                </c:pt>
                <c:pt idx="224">
                  <c:v>41319</c:v>
                </c:pt>
                <c:pt idx="225">
                  <c:v>41326</c:v>
                </c:pt>
                <c:pt idx="226">
                  <c:v>41333</c:v>
                </c:pt>
                <c:pt idx="227">
                  <c:v>41340</c:v>
                </c:pt>
                <c:pt idx="228">
                  <c:v>41347</c:v>
                </c:pt>
                <c:pt idx="229">
                  <c:v>41354</c:v>
                </c:pt>
                <c:pt idx="230">
                  <c:v>41361</c:v>
                </c:pt>
                <c:pt idx="231">
                  <c:v>41368</c:v>
                </c:pt>
                <c:pt idx="232">
                  <c:v>41375</c:v>
                </c:pt>
                <c:pt idx="233">
                  <c:v>41382</c:v>
                </c:pt>
                <c:pt idx="234">
                  <c:v>41389</c:v>
                </c:pt>
                <c:pt idx="235">
                  <c:v>41396</c:v>
                </c:pt>
                <c:pt idx="236">
                  <c:v>41403</c:v>
                </c:pt>
                <c:pt idx="237">
                  <c:v>41410</c:v>
                </c:pt>
                <c:pt idx="238">
                  <c:v>41417</c:v>
                </c:pt>
                <c:pt idx="239">
                  <c:v>41424</c:v>
                </c:pt>
                <c:pt idx="240">
                  <c:v>41431</c:v>
                </c:pt>
                <c:pt idx="241">
                  <c:v>41438</c:v>
                </c:pt>
                <c:pt idx="242">
                  <c:v>41445</c:v>
                </c:pt>
                <c:pt idx="243">
                  <c:v>41452</c:v>
                </c:pt>
                <c:pt idx="244">
                  <c:v>41458</c:v>
                </c:pt>
                <c:pt idx="245">
                  <c:v>41466</c:v>
                </c:pt>
                <c:pt idx="246">
                  <c:v>41473</c:v>
                </c:pt>
                <c:pt idx="247">
                  <c:v>41480</c:v>
                </c:pt>
                <c:pt idx="248">
                  <c:v>41487</c:v>
                </c:pt>
                <c:pt idx="249">
                  <c:v>41494</c:v>
                </c:pt>
                <c:pt idx="250">
                  <c:v>41501</c:v>
                </c:pt>
                <c:pt idx="251">
                  <c:v>41508</c:v>
                </c:pt>
                <c:pt idx="252">
                  <c:v>41515</c:v>
                </c:pt>
                <c:pt idx="253">
                  <c:v>41522</c:v>
                </c:pt>
                <c:pt idx="254">
                  <c:v>41529</c:v>
                </c:pt>
                <c:pt idx="255">
                  <c:v>41536</c:v>
                </c:pt>
                <c:pt idx="256">
                  <c:v>41543</c:v>
                </c:pt>
                <c:pt idx="257">
                  <c:v>41550</c:v>
                </c:pt>
                <c:pt idx="258">
                  <c:v>41557</c:v>
                </c:pt>
                <c:pt idx="259">
                  <c:v>41564</c:v>
                </c:pt>
                <c:pt idx="260">
                  <c:v>41571</c:v>
                </c:pt>
                <c:pt idx="261">
                  <c:v>41578</c:v>
                </c:pt>
                <c:pt idx="262">
                  <c:v>41585</c:v>
                </c:pt>
                <c:pt idx="263">
                  <c:v>41592</c:v>
                </c:pt>
                <c:pt idx="264">
                  <c:v>41599</c:v>
                </c:pt>
                <c:pt idx="265">
                  <c:v>41605</c:v>
                </c:pt>
                <c:pt idx="266">
                  <c:v>41613</c:v>
                </c:pt>
                <c:pt idx="267">
                  <c:v>41620</c:v>
                </c:pt>
                <c:pt idx="268">
                  <c:v>41627</c:v>
                </c:pt>
                <c:pt idx="269">
                  <c:v>41634</c:v>
                </c:pt>
                <c:pt idx="270">
                  <c:v>41641</c:v>
                </c:pt>
                <c:pt idx="271">
                  <c:v>41648</c:v>
                </c:pt>
                <c:pt idx="272">
                  <c:v>41655</c:v>
                </c:pt>
                <c:pt idx="273">
                  <c:v>41662</c:v>
                </c:pt>
                <c:pt idx="274">
                  <c:v>41669</c:v>
                </c:pt>
                <c:pt idx="275">
                  <c:v>41676</c:v>
                </c:pt>
                <c:pt idx="276">
                  <c:v>41683</c:v>
                </c:pt>
                <c:pt idx="277">
                  <c:v>41690</c:v>
                </c:pt>
                <c:pt idx="278">
                  <c:v>41697</c:v>
                </c:pt>
                <c:pt idx="279">
                  <c:v>41704</c:v>
                </c:pt>
                <c:pt idx="280">
                  <c:v>41711</c:v>
                </c:pt>
                <c:pt idx="281">
                  <c:v>41718</c:v>
                </c:pt>
                <c:pt idx="282">
                  <c:v>41725</c:v>
                </c:pt>
                <c:pt idx="283">
                  <c:v>41732</c:v>
                </c:pt>
                <c:pt idx="284">
                  <c:v>41739</c:v>
                </c:pt>
                <c:pt idx="285">
                  <c:v>41746</c:v>
                </c:pt>
                <c:pt idx="286">
                  <c:v>41753</c:v>
                </c:pt>
                <c:pt idx="287">
                  <c:v>41760</c:v>
                </c:pt>
                <c:pt idx="288">
                  <c:v>41767</c:v>
                </c:pt>
                <c:pt idx="289">
                  <c:v>41774</c:v>
                </c:pt>
                <c:pt idx="290">
                  <c:v>41781</c:v>
                </c:pt>
                <c:pt idx="291">
                  <c:v>41788</c:v>
                </c:pt>
                <c:pt idx="292">
                  <c:v>41795</c:v>
                </c:pt>
                <c:pt idx="293">
                  <c:v>41802</c:v>
                </c:pt>
                <c:pt idx="294">
                  <c:v>41809</c:v>
                </c:pt>
                <c:pt idx="295">
                  <c:v>41816</c:v>
                </c:pt>
                <c:pt idx="296">
                  <c:v>41823</c:v>
                </c:pt>
                <c:pt idx="297">
                  <c:v>41830</c:v>
                </c:pt>
                <c:pt idx="298">
                  <c:v>41837</c:v>
                </c:pt>
                <c:pt idx="299">
                  <c:v>41844</c:v>
                </c:pt>
                <c:pt idx="300">
                  <c:v>41851</c:v>
                </c:pt>
                <c:pt idx="301">
                  <c:v>41858</c:v>
                </c:pt>
                <c:pt idx="302">
                  <c:v>41865</c:v>
                </c:pt>
                <c:pt idx="303">
                  <c:v>41872</c:v>
                </c:pt>
                <c:pt idx="304">
                  <c:v>41879</c:v>
                </c:pt>
                <c:pt idx="305">
                  <c:v>41886</c:v>
                </c:pt>
                <c:pt idx="306">
                  <c:v>41893</c:v>
                </c:pt>
                <c:pt idx="307">
                  <c:v>41900</c:v>
                </c:pt>
                <c:pt idx="308">
                  <c:v>41907</c:v>
                </c:pt>
                <c:pt idx="309">
                  <c:v>41914</c:v>
                </c:pt>
                <c:pt idx="310">
                  <c:v>41921</c:v>
                </c:pt>
                <c:pt idx="311">
                  <c:v>41928</c:v>
                </c:pt>
                <c:pt idx="312">
                  <c:v>41935</c:v>
                </c:pt>
                <c:pt idx="313">
                  <c:v>41942</c:v>
                </c:pt>
                <c:pt idx="314">
                  <c:v>41949</c:v>
                </c:pt>
                <c:pt idx="315">
                  <c:v>41956</c:v>
                </c:pt>
                <c:pt idx="316">
                  <c:v>41963</c:v>
                </c:pt>
                <c:pt idx="317">
                  <c:v>41969</c:v>
                </c:pt>
                <c:pt idx="318">
                  <c:v>41977</c:v>
                </c:pt>
                <c:pt idx="319">
                  <c:v>41984</c:v>
                </c:pt>
                <c:pt idx="320">
                  <c:v>41991</c:v>
                </c:pt>
                <c:pt idx="321">
                  <c:v>41997</c:v>
                </c:pt>
                <c:pt idx="322">
                  <c:v>42004</c:v>
                </c:pt>
                <c:pt idx="323">
                  <c:v>42012</c:v>
                </c:pt>
                <c:pt idx="324">
                  <c:v>42019</c:v>
                </c:pt>
                <c:pt idx="325">
                  <c:v>42026</c:v>
                </c:pt>
                <c:pt idx="326">
                  <c:v>42033</c:v>
                </c:pt>
                <c:pt idx="327">
                  <c:v>42040</c:v>
                </c:pt>
                <c:pt idx="328">
                  <c:v>42047</c:v>
                </c:pt>
                <c:pt idx="329">
                  <c:v>42054</c:v>
                </c:pt>
                <c:pt idx="330">
                  <c:v>42061</c:v>
                </c:pt>
                <c:pt idx="331">
                  <c:v>42068</c:v>
                </c:pt>
                <c:pt idx="332">
                  <c:v>42075</c:v>
                </c:pt>
                <c:pt idx="333">
                  <c:v>42082</c:v>
                </c:pt>
                <c:pt idx="334">
                  <c:v>42089</c:v>
                </c:pt>
                <c:pt idx="335">
                  <c:v>42096</c:v>
                </c:pt>
                <c:pt idx="336">
                  <c:v>42103</c:v>
                </c:pt>
                <c:pt idx="337">
                  <c:v>42110</c:v>
                </c:pt>
                <c:pt idx="338">
                  <c:v>42117</c:v>
                </c:pt>
                <c:pt idx="339">
                  <c:v>42124</c:v>
                </c:pt>
                <c:pt idx="340">
                  <c:v>42131</c:v>
                </c:pt>
                <c:pt idx="341">
                  <c:v>42138</c:v>
                </c:pt>
                <c:pt idx="342">
                  <c:v>42145</c:v>
                </c:pt>
                <c:pt idx="343">
                  <c:v>42152</c:v>
                </c:pt>
                <c:pt idx="344">
                  <c:v>42159</c:v>
                </c:pt>
                <c:pt idx="345">
                  <c:v>42166</c:v>
                </c:pt>
                <c:pt idx="346">
                  <c:v>42173</c:v>
                </c:pt>
                <c:pt idx="347">
                  <c:v>42180</c:v>
                </c:pt>
                <c:pt idx="348">
                  <c:v>42187</c:v>
                </c:pt>
                <c:pt idx="349">
                  <c:v>42194</c:v>
                </c:pt>
                <c:pt idx="350">
                  <c:v>42201</c:v>
                </c:pt>
                <c:pt idx="351">
                  <c:v>42208</c:v>
                </c:pt>
                <c:pt idx="352">
                  <c:v>42215</c:v>
                </c:pt>
                <c:pt idx="353">
                  <c:v>42222</c:v>
                </c:pt>
                <c:pt idx="354">
                  <c:v>42229</c:v>
                </c:pt>
                <c:pt idx="355">
                  <c:v>42236</c:v>
                </c:pt>
                <c:pt idx="356">
                  <c:v>42243</c:v>
                </c:pt>
                <c:pt idx="357">
                  <c:v>42250</c:v>
                </c:pt>
                <c:pt idx="358">
                  <c:v>42257</c:v>
                </c:pt>
                <c:pt idx="359">
                  <c:v>42264</c:v>
                </c:pt>
                <c:pt idx="360">
                  <c:v>42271</c:v>
                </c:pt>
                <c:pt idx="361">
                  <c:v>42278</c:v>
                </c:pt>
                <c:pt idx="362">
                  <c:v>42285</c:v>
                </c:pt>
                <c:pt idx="363">
                  <c:v>42292</c:v>
                </c:pt>
                <c:pt idx="364">
                  <c:v>42299</c:v>
                </c:pt>
                <c:pt idx="365">
                  <c:v>42306</c:v>
                </c:pt>
                <c:pt idx="366">
                  <c:v>42313</c:v>
                </c:pt>
                <c:pt idx="367">
                  <c:v>42320</c:v>
                </c:pt>
                <c:pt idx="368">
                  <c:v>42327</c:v>
                </c:pt>
                <c:pt idx="369">
                  <c:v>42333</c:v>
                </c:pt>
                <c:pt idx="370">
                  <c:v>42341</c:v>
                </c:pt>
                <c:pt idx="371">
                  <c:v>42348</c:v>
                </c:pt>
                <c:pt idx="372">
                  <c:v>42355</c:v>
                </c:pt>
                <c:pt idx="373">
                  <c:v>42362</c:v>
                </c:pt>
                <c:pt idx="374">
                  <c:v>42369</c:v>
                </c:pt>
                <c:pt idx="375">
                  <c:v>42376</c:v>
                </c:pt>
                <c:pt idx="376">
                  <c:v>42383</c:v>
                </c:pt>
                <c:pt idx="377">
                  <c:v>42390</c:v>
                </c:pt>
                <c:pt idx="378">
                  <c:v>42397</c:v>
                </c:pt>
                <c:pt idx="379">
                  <c:v>42404</c:v>
                </c:pt>
                <c:pt idx="380">
                  <c:v>42411</c:v>
                </c:pt>
                <c:pt idx="381">
                  <c:v>42418</c:v>
                </c:pt>
                <c:pt idx="382">
                  <c:v>42425</c:v>
                </c:pt>
                <c:pt idx="383">
                  <c:v>42432</c:v>
                </c:pt>
                <c:pt idx="384">
                  <c:v>42439</c:v>
                </c:pt>
                <c:pt idx="385">
                  <c:v>42446</c:v>
                </c:pt>
                <c:pt idx="386">
                  <c:v>42453</c:v>
                </c:pt>
                <c:pt idx="387">
                  <c:v>42460</c:v>
                </c:pt>
                <c:pt idx="388">
                  <c:v>42467</c:v>
                </c:pt>
                <c:pt idx="389">
                  <c:v>42474</c:v>
                </c:pt>
                <c:pt idx="390">
                  <c:v>42481</c:v>
                </c:pt>
                <c:pt idx="391">
                  <c:v>42488</c:v>
                </c:pt>
                <c:pt idx="392">
                  <c:v>42495</c:v>
                </c:pt>
                <c:pt idx="393">
                  <c:v>42502</c:v>
                </c:pt>
                <c:pt idx="394">
                  <c:v>42509</c:v>
                </c:pt>
                <c:pt idx="395">
                  <c:v>42516</c:v>
                </c:pt>
                <c:pt idx="396">
                  <c:v>42523</c:v>
                </c:pt>
                <c:pt idx="397">
                  <c:v>42530</c:v>
                </c:pt>
                <c:pt idx="398">
                  <c:v>42537</c:v>
                </c:pt>
                <c:pt idx="399">
                  <c:v>42544</c:v>
                </c:pt>
                <c:pt idx="400">
                  <c:v>42551</c:v>
                </c:pt>
                <c:pt idx="401">
                  <c:v>42558</c:v>
                </c:pt>
                <c:pt idx="402">
                  <c:v>42565</c:v>
                </c:pt>
                <c:pt idx="403">
                  <c:v>42572</c:v>
                </c:pt>
                <c:pt idx="404">
                  <c:v>42579</c:v>
                </c:pt>
                <c:pt idx="405">
                  <c:v>42586</c:v>
                </c:pt>
                <c:pt idx="406">
                  <c:v>42593</c:v>
                </c:pt>
                <c:pt idx="407">
                  <c:v>42600</c:v>
                </c:pt>
                <c:pt idx="408">
                  <c:v>42607</c:v>
                </c:pt>
                <c:pt idx="409">
                  <c:v>42614</c:v>
                </c:pt>
                <c:pt idx="410">
                  <c:v>42621</c:v>
                </c:pt>
                <c:pt idx="411">
                  <c:v>42628</c:v>
                </c:pt>
                <c:pt idx="412">
                  <c:v>42635</c:v>
                </c:pt>
                <c:pt idx="413">
                  <c:v>42642</c:v>
                </c:pt>
                <c:pt idx="414">
                  <c:v>42649</c:v>
                </c:pt>
                <c:pt idx="415">
                  <c:v>42656</c:v>
                </c:pt>
                <c:pt idx="416">
                  <c:v>42663</c:v>
                </c:pt>
                <c:pt idx="417">
                  <c:v>42670</c:v>
                </c:pt>
                <c:pt idx="418">
                  <c:v>42677</c:v>
                </c:pt>
                <c:pt idx="419">
                  <c:v>42684</c:v>
                </c:pt>
                <c:pt idx="420">
                  <c:v>42691</c:v>
                </c:pt>
                <c:pt idx="421">
                  <c:v>42697</c:v>
                </c:pt>
                <c:pt idx="422">
                  <c:v>42705</c:v>
                </c:pt>
                <c:pt idx="423">
                  <c:v>42712</c:v>
                </c:pt>
                <c:pt idx="424">
                  <c:v>42719</c:v>
                </c:pt>
                <c:pt idx="425">
                  <c:v>42726</c:v>
                </c:pt>
                <c:pt idx="426">
                  <c:v>42733</c:v>
                </c:pt>
                <c:pt idx="427">
                  <c:v>42740</c:v>
                </c:pt>
                <c:pt idx="428">
                  <c:v>42747</c:v>
                </c:pt>
                <c:pt idx="429">
                  <c:v>42754</c:v>
                </c:pt>
                <c:pt idx="430">
                  <c:v>42761</c:v>
                </c:pt>
                <c:pt idx="431">
                  <c:v>42768</c:v>
                </c:pt>
                <c:pt idx="432">
                  <c:v>42775</c:v>
                </c:pt>
                <c:pt idx="433">
                  <c:v>42782</c:v>
                </c:pt>
                <c:pt idx="434">
                  <c:v>42789</c:v>
                </c:pt>
                <c:pt idx="435">
                  <c:v>42796</c:v>
                </c:pt>
                <c:pt idx="436">
                  <c:v>42803</c:v>
                </c:pt>
                <c:pt idx="437">
                  <c:v>42810</c:v>
                </c:pt>
                <c:pt idx="438">
                  <c:v>42817</c:v>
                </c:pt>
                <c:pt idx="439">
                  <c:v>42824</c:v>
                </c:pt>
                <c:pt idx="440">
                  <c:v>42831</c:v>
                </c:pt>
                <c:pt idx="441">
                  <c:v>42838</c:v>
                </c:pt>
                <c:pt idx="442">
                  <c:v>42845</c:v>
                </c:pt>
                <c:pt idx="443">
                  <c:v>42852</c:v>
                </c:pt>
                <c:pt idx="444">
                  <c:v>42859</c:v>
                </c:pt>
                <c:pt idx="445">
                  <c:v>42866</c:v>
                </c:pt>
                <c:pt idx="446">
                  <c:v>42873</c:v>
                </c:pt>
                <c:pt idx="447">
                  <c:v>42880</c:v>
                </c:pt>
                <c:pt idx="448">
                  <c:v>42887</c:v>
                </c:pt>
                <c:pt idx="449">
                  <c:v>42894</c:v>
                </c:pt>
                <c:pt idx="450">
                  <c:v>42901</c:v>
                </c:pt>
                <c:pt idx="451">
                  <c:v>42908</c:v>
                </c:pt>
                <c:pt idx="452">
                  <c:v>42915</c:v>
                </c:pt>
                <c:pt idx="453">
                  <c:v>42922</c:v>
                </c:pt>
                <c:pt idx="454">
                  <c:v>42929</c:v>
                </c:pt>
                <c:pt idx="455">
                  <c:v>42936</c:v>
                </c:pt>
                <c:pt idx="456">
                  <c:v>42943</c:v>
                </c:pt>
                <c:pt idx="457">
                  <c:v>42950</c:v>
                </c:pt>
                <c:pt idx="458">
                  <c:v>42957</c:v>
                </c:pt>
                <c:pt idx="459">
                  <c:v>42964</c:v>
                </c:pt>
                <c:pt idx="460">
                  <c:v>42971</c:v>
                </c:pt>
                <c:pt idx="461">
                  <c:v>42978</c:v>
                </c:pt>
                <c:pt idx="462">
                  <c:v>42985</c:v>
                </c:pt>
                <c:pt idx="463">
                  <c:v>42992</c:v>
                </c:pt>
                <c:pt idx="464">
                  <c:v>42999</c:v>
                </c:pt>
                <c:pt idx="465">
                  <c:v>43006</c:v>
                </c:pt>
                <c:pt idx="466">
                  <c:v>43013</c:v>
                </c:pt>
                <c:pt idx="467">
                  <c:v>43020</c:v>
                </c:pt>
                <c:pt idx="468">
                  <c:v>43027</c:v>
                </c:pt>
                <c:pt idx="469">
                  <c:v>43034</c:v>
                </c:pt>
                <c:pt idx="470">
                  <c:v>43041</c:v>
                </c:pt>
                <c:pt idx="471">
                  <c:v>43048</c:v>
                </c:pt>
                <c:pt idx="472">
                  <c:v>43055</c:v>
                </c:pt>
                <c:pt idx="473">
                  <c:v>43061</c:v>
                </c:pt>
                <c:pt idx="474">
                  <c:v>43069</c:v>
                </c:pt>
                <c:pt idx="475">
                  <c:v>43076</c:v>
                </c:pt>
                <c:pt idx="476">
                  <c:v>43083</c:v>
                </c:pt>
                <c:pt idx="477">
                  <c:v>43090</c:v>
                </c:pt>
                <c:pt idx="478">
                  <c:v>43097</c:v>
                </c:pt>
                <c:pt idx="479">
                  <c:v>43104</c:v>
                </c:pt>
                <c:pt idx="480">
                  <c:v>43111</c:v>
                </c:pt>
                <c:pt idx="481">
                  <c:v>43118</c:v>
                </c:pt>
                <c:pt idx="482">
                  <c:v>43125</c:v>
                </c:pt>
                <c:pt idx="483">
                  <c:v>43132</c:v>
                </c:pt>
                <c:pt idx="484">
                  <c:v>43139</c:v>
                </c:pt>
                <c:pt idx="485">
                  <c:v>43146</c:v>
                </c:pt>
                <c:pt idx="486">
                  <c:v>43153</c:v>
                </c:pt>
                <c:pt idx="487">
                  <c:v>43160</c:v>
                </c:pt>
                <c:pt idx="488">
                  <c:v>43167</c:v>
                </c:pt>
                <c:pt idx="489">
                  <c:v>43174</c:v>
                </c:pt>
                <c:pt idx="490">
                  <c:v>43181</c:v>
                </c:pt>
                <c:pt idx="491">
                  <c:v>43188</c:v>
                </c:pt>
                <c:pt idx="492">
                  <c:v>43195</c:v>
                </c:pt>
                <c:pt idx="493">
                  <c:v>43202</c:v>
                </c:pt>
                <c:pt idx="494">
                  <c:v>43209</c:v>
                </c:pt>
                <c:pt idx="495">
                  <c:v>43216</c:v>
                </c:pt>
                <c:pt idx="496">
                  <c:v>43223</c:v>
                </c:pt>
                <c:pt idx="497">
                  <c:v>43230</c:v>
                </c:pt>
                <c:pt idx="498">
                  <c:v>43237</c:v>
                </c:pt>
                <c:pt idx="499">
                  <c:v>43244</c:v>
                </c:pt>
                <c:pt idx="500">
                  <c:v>43251</c:v>
                </c:pt>
                <c:pt idx="501">
                  <c:v>43258</c:v>
                </c:pt>
                <c:pt idx="502">
                  <c:v>43265</c:v>
                </c:pt>
                <c:pt idx="503">
                  <c:v>43272</c:v>
                </c:pt>
                <c:pt idx="504">
                  <c:v>43279</c:v>
                </c:pt>
                <c:pt idx="505">
                  <c:v>43286</c:v>
                </c:pt>
                <c:pt idx="506">
                  <c:v>43293</c:v>
                </c:pt>
                <c:pt idx="507">
                  <c:v>43300</c:v>
                </c:pt>
                <c:pt idx="508">
                  <c:v>43307</c:v>
                </c:pt>
                <c:pt idx="509">
                  <c:v>43314</c:v>
                </c:pt>
                <c:pt idx="510">
                  <c:v>43321</c:v>
                </c:pt>
                <c:pt idx="511">
                  <c:v>43328</c:v>
                </c:pt>
                <c:pt idx="512">
                  <c:v>43335</c:v>
                </c:pt>
                <c:pt idx="513">
                  <c:v>43342</c:v>
                </c:pt>
                <c:pt idx="514">
                  <c:v>43349</c:v>
                </c:pt>
                <c:pt idx="515">
                  <c:v>43356</c:v>
                </c:pt>
                <c:pt idx="516">
                  <c:v>43363</c:v>
                </c:pt>
                <c:pt idx="517">
                  <c:v>43370</c:v>
                </c:pt>
                <c:pt idx="518">
                  <c:v>43377</c:v>
                </c:pt>
                <c:pt idx="519">
                  <c:v>43384</c:v>
                </c:pt>
                <c:pt idx="520">
                  <c:v>43391</c:v>
                </c:pt>
                <c:pt idx="521">
                  <c:v>43398</c:v>
                </c:pt>
                <c:pt idx="522">
                  <c:v>43405</c:v>
                </c:pt>
                <c:pt idx="523">
                  <c:v>43412</c:v>
                </c:pt>
                <c:pt idx="524">
                  <c:v>43419</c:v>
                </c:pt>
                <c:pt idx="525">
                  <c:v>43425</c:v>
                </c:pt>
                <c:pt idx="526">
                  <c:v>43433</c:v>
                </c:pt>
                <c:pt idx="527">
                  <c:v>43440</c:v>
                </c:pt>
                <c:pt idx="528">
                  <c:v>43447</c:v>
                </c:pt>
                <c:pt idx="529">
                  <c:v>43454</c:v>
                </c:pt>
                <c:pt idx="530">
                  <c:v>43461</c:v>
                </c:pt>
                <c:pt idx="531">
                  <c:v>43468</c:v>
                </c:pt>
                <c:pt idx="532">
                  <c:v>43475</c:v>
                </c:pt>
                <c:pt idx="533">
                  <c:v>43482</c:v>
                </c:pt>
                <c:pt idx="534">
                  <c:v>43489</c:v>
                </c:pt>
                <c:pt idx="535">
                  <c:v>43496</c:v>
                </c:pt>
                <c:pt idx="536">
                  <c:v>43503</c:v>
                </c:pt>
                <c:pt idx="537">
                  <c:v>43510</c:v>
                </c:pt>
                <c:pt idx="538">
                  <c:v>43517</c:v>
                </c:pt>
                <c:pt idx="539">
                  <c:v>43524</c:v>
                </c:pt>
                <c:pt idx="540">
                  <c:v>43531</c:v>
                </c:pt>
                <c:pt idx="541">
                  <c:v>43538</c:v>
                </c:pt>
                <c:pt idx="542">
                  <c:v>43545</c:v>
                </c:pt>
                <c:pt idx="543">
                  <c:v>43552</c:v>
                </c:pt>
                <c:pt idx="544">
                  <c:v>43559</c:v>
                </c:pt>
                <c:pt idx="545">
                  <c:v>43566</c:v>
                </c:pt>
                <c:pt idx="546">
                  <c:v>43573</c:v>
                </c:pt>
                <c:pt idx="547">
                  <c:v>43580</c:v>
                </c:pt>
                <c:pt idx="548">
                  <c:v>43587</c:v>
                </c:pt>
                <c:pt idx="549">
                  <c:v>43594</c:v>
                </c:pt>
                <c:pt idx="550">
                  <c:v>43601</c:v>
                </c:pt>
                <c:pt idx="551">
                  <c:v>43608</c:v>
                </c:pt>
                <c:pt idx="552">
                  <c:v>43615</c:v>
                </c:pt>
                <c:pt idx="553">
                  <c:v>43622</c:v>
                </c:pt>
                <c:pt idx="554">
                  <c:v>43629</c:v>
                </c:pt>
                <c:pt idx="555">
                  <c:v>43636</c:v>
                </c:pt>
                <c:pt idx="556">
                  <c:v>43643</c:v>
                </c:pt>
                <c:pt idx="557">
                  <c:v>43649</c:v>
                </c:pt>
                <c:pt idx="558">
                  <c:v>43657</c:v>
                </c:pt>
                <c:pt idx="559">
                  <c:v>43664</c:v>
                </c:pt>
                <c:pt idx="560">
                  <c:v>43671</c:v>
                </c:pt>
                <c:pt idx="561">
                  <c:v>43678</c:v>
                </c:pt>
                <c:pt idx="562">
                  <c:v>43685</c:v>
                </c:pt>
                <c:pt idx="563">
                  <c:v>43692</c:v>
                </c:pt>
                <c:pt idx="564">
                  <c:v>43699</c:v>
                </c:pt>
                <c:pt idx="565">
                  <c:v>43706</c:v>
                </c:pt>
                <c:pt idx="566">
                  <c:v>43713</c:v>
                </c:pt>
                <c:pt idx="567">
                  <c:v>43720</c:v>
                </c:pt>
                <c:pt idx="568">
                  <c:v>43727</c:v>
                </c:pt>
                <c:pt idx="569">
                  <c:v>43734</c:v>
                </c:pt>
                <c:pt idx="570">
                  <c:v>43741</c:v>
                </c:pt>
                <c:pt idx="571">
                  <c:v>43748</c:v>
                </c:pt>
                <c:pt idx="572">
                  <c:v>43755</c:v>
                </c:pt>
                <c:pt idx="573">
                  <c:v>43762</c:v>
                </c:pt>
                <c:pt idx="574">
                  <c:v>43769</c:v>
                </c:pt>
                <c:pt idx="575">
                  <c:v>43776</c:v>
                </c:pt>
                <c:pt idx="576">
                  <c:v>43783</c:v>
                </c:pt>
                <c:pt idx="577">
                  <c:v>43790</c:v>
                </c:pt>
                <c:pt idx="578">
                  <c:v>43796</c:v>
                </c:pt>
                <c:pt idx="579">
                  <c:v>43804</c:v>
                </c:pt>
                <c:pt idx="580">
                  <c:v>43811</c:v>
                </c:pt>
                <c:pt idx="581">
                  <c:v>43818</c:v>
                </c:pt>
                <c:pt idx="582">
                  <c:v>43825</c:v>
                </c:pt>
                <c:pt idx="583">
                  <c:v>43832</c:v>
                </c:pt>
                <c:pt idx="584">
                  <c:v>43839</c:v>
                </c:pt>
                <c:pt idx="585">
                  <c:v>43846</c:v>
                </c:pt>
                <c:pt idx="586">
                  <c:v>43853</c:v>
                </c:pt>
                <c:pt idx="587">
                  <c:v>43860</c:v>
                </c:pt>
                <c:pt idx="588">
                  <c:v>43867</c:v>
                </c:pt>
                <c:pt idx="589">
                  <c:v>43874</c:v>
                </c:pt>
                <c:pt idx="590">
                  <c:v>43881</c:v>
                </c:pt>
                <c:pt idx="591">
                  <c:v>43888</c:v>
                </c:pt>
                <c:pt idx="592">
                  <c:v>43895</c:v>
                </c:pt>
                <c:pt idx="593">
                  <c:v>43902</c:v>
                </c:pt>
                <c:pt idx="594">
                  <c:v>43909</c:v>
                </c:pt>
                <c:pt idx="595">
                  <c:v>43916</c:v>
                </c:pt>
                <c:pt idx="596">
                  <c:v>43923</c:v>
                </c:pt>
                <c:pt idx="597">
                  <c:v>43930</c:v>
                </c:pt>
                <c:pt idx="598">
                  <c:v>43937</c:v>
                </c:pt>
                <c:pt idx="599">
                  <c:v>43944</c:v>
                </c:pt>
                <c:pt idx="600">
                  <c:v>43951</c:v>
                </c:pt>
                <c:pt idx="601">
                  <c:v>43958</c:v>
                </c:pt>
                <c:pt idx="602">
                  <c:v>43965</c:v>
                </c:pt>
                <c:pt idx="603">
                  <c:v>43972</c:v>
                </c:pt>
                <c:pt idx="604">
                  <c:v>43979</c:v>
                </c:pt>
                <c:pt idx="605">
                  <c:v>43986</c:v>
                </c:pt>
                <c:pt idx="606">
                  <c:v>43993</c:v>
                </c:pt>
                <c:pt idx="607">
                  <c:v>44000</c:v>
                </c:pt>
                <c:pt idx="608">
                  <c:v>44007</c:v>
                </c:pt>
                <c:pt idx="609">
                  <c:v>44014</c:v>
                </c:pt>
                <c:pt idx="610">
                  <c:v>44021</c:v>
                </c:pt>
                <c:pt idx="611">
                  <c:v>44028</c:v>
                </c:pt>
                <c:pt idx="612">
                  <c:v>44035</c:v>
                </c:pt>
                <c:pt idx="613">
                  <c:v>44042</c:v>
                </c:pt>
                <c:pt idx="614">
                  <c:v>44049</c:v>
                </c:pt>
                <c:pt idx="615">
                  <c:v>44056</c:v>
                </c:pt>
                <c:pt idx="616">
                  <c:v>44063</c:v>
                </c:pt>
                <c:pt idx="617">
                  <c:v>44070</c:v>
                </c:pt>
                <c:pt idx="618">
                  <c:v>44077</c:v>
                </c:pt>
                <c:pt idx="619">
                  <c:v>44084</c:v>
                </c:pt>
                <c:pt idx="620">
                  <c:v>44091</c:v>
                </c:pt>
                <c:pt idx="621">
                  <c:v>44098</c:v>
                </c:pt>
                <c:pt idx="622">
                  <c:v>44105</c:v>
                </c:pt>
                <c:pt idx="623">
                  <c:v>44112</c:v>
                </c:pt>
                <c:pt idx="624">
                  <c:v>44119</c:v>
                </c:pt>
                <c:pt idx="625">
                  <c:v>44126</c:v>
                </c:pt>
                <c:pt idx="626">
                  <c:v>44133</c:v>
                </c:pt>
                <c:pt idx="627">
                  <c:v>44140</c:v>
                </c:pt>
                <c:pt idx="628">
                  <c:v>44147</c:v>
                </c:pt>
                <c:pt idx="629">
                  <c:v>44154</c:v>
                </c:pt>
                <c:pt idx="630">
                  <c:v>44160</c:v>
                </c:pt>
                <c:pt idx="631">
                  <c:v>44168</c:v>
                </c:pt>
                <c:pt idx="632">
                  <c:v>44175</c:v>
                </c:pt>
                <c:pt idx="633">
                  <c:v>44182</c:v>
                </c:pt>
                <c:pt idx="634">
                  <c:v>44189</c:v>
                </c:pt>
                <c:pt idx="635">
                  <c:v>44196</c:v>
                </c:pt>
                <c:pt idx="636">
                  <c:v>44203</c:v>
                </c:pt>
                <c:pt idx="637">
                  <c:v>44210</c:v>
                </c:pt>
                <c:pt idx="638">
                  <c:v>44217</c:v>
                </c:pt>
                <c:pt idx="639">
                  <c:v>44224</c:v>
                </c:pt>
                <c:pt idx="640">
                  <c:v>44231</c:v>
                </c:pt>
                <c:pt idx="641">
                  <c:v>44238</c:v>
                </c:pt>
                <c:pt idx="642">
                  <c:v>44245</c:v>
                </c:pt>
                <c:pt idx="643">
                  <c:v>44252</c:v>
                </c:pt>
                <c:pt idx="644">
                  <c:v>44259</c:v>
                </c:pt>
                <c:pt idx="645">
                  <c:v>44266</c:v>
                </c:pt>
                <c:pt idx="646">
                  <c:v>44273</c:v>
                </c:pt>
                <c:pt idx="647">
                  <c:v>44280</c:v>
                </c:pt>
                <c:pt idx="648">
                  <c:v>44287</c:v>
                </c:pt>
                <c:pt idx="649">
                  <c:v>44294</c:v>
                </c:pt>
                <c:pt idx="650">
                  <c:v>44301</c:v>
                </c:pt>
                <c:pt idx="651">
                  <c:v>44308</c:v>
                </c:pt>
                <c:pt idx="652">
                  <c:v>44315</c:v>
                </c:pt>
                <c:pt idx="653">
                  <c:v>44322</c:v>
                </c:pt>
                <c:pt idx="654">
                  <c:v>44329</c:v>
                </c:pt>
                <c:pt idx="655">
                  <c:v>44336</c:v>
                </c:pt>
                <c:pt idx="656">
                  <c:v>44343</c:v>
                </c:pt>
                <c:pt idx="657">
                  <c:v>44350</c:v>
                </c:pt>
                <c:pt idx="658">
                  <c:v>44357</c:v>
                </c:pt>
                <c:pt idx="659">
                  <c:v>44364</c:v>
                </c:pt>
                <c:pt idx="660">
                  <c:v>44371</c:v>
                </c:pt>
                <c:pt idx="661">
                  <c:v>44378</c:v>
                </c:pt>
                <c:pt idx="662">
                  <c:v>44385</c:v>
                </c:pt>
                <c:pt idx="663">
                  <c:v>44392</c:v>
                </c:pt>
                <c:pt idx="664">
                  <c:v>44399</c:v>
                </c:pt>
                <c:pt idx="665">
                  <c:v>44406</c:v>
                </c:pt>
                <c:pt idx="666">
                  <c:v>44413</c:v>
                </c:pt>
                <c:pt idx="667">
                  <c:v>44420</c:v>
                </c:pt>
                <c:pt idx="668">
                  <c:v>44427</c:v>
                </c:pt>
                <c:pt idx="669">
                  <c:v>44434</c:v>
                </c:pt>
                <c:pt idx="670">
                  <c:v>44441</c:v>
                </c:pt>
                <c:pt idx="671">
                  <c:v>44448</c:v>
                </c:pt>
                <c:pt idx="672">
                  <c:v>44455</c:v>
                </c:pt>
                <c:pt idx="673">
                  <c:v>44462</c:v>
                </c:pt>
                <c:pt idx="674">
                  <c:v>44469</c:v>
                </c:pt>
                <c:pt idx="675">
                  <c:v>44476</c:v>
                </c:pt>
                <c:pt idx="676">
                  <c:v>44483</c:v>
                </c:pt>
                <c:pt idx="677">
                  <c:v>44490</c:v>
                </c:pt>
                <c:pt idx="678">
                  <c:v>44497</c:v>
                </c:pt>
                <c:pt idx="679">
                  <c:v>44504</c:v>
                </c:pt>
                <c:pt idx="680">
                  <c:v>44510</c:v>
                </c:pt>
                <c:pt idx="681">
                  <c:v>44518</c:v>
                </c:pt>
                <c:pt idx="682">
                  <c:v>44524</c:v>
                </c:pt>
                <c:pt idx="683">
                  <c:v>44532</c:v>
                </c:pt>
                <c:pt idx="684">
                  <c:v>44539</c:v>
                </c:pt>
                <c:pt idx="685">
                  <c:v>44546</c:v>
                </c:pt>
                <c:pt idx="686">
                  <c:v>44553</c:v>
                </c:pt>
                <c:pt idx="687">
                  <c:v>44560</c:v>
                </c:pt>
                <c:pt idx="688">
                  <c:v>44567</c:v>
                </c:pt>
                <c:pt idx="689">
                  <c:v>44574</c:v>
                </c:pt>
                <c:pt idx="690">
                  <c:v>44581</c:v>
                </c:pt>
                <c:pt idx="691">
                  <c:v>44588</c:v>
                </c:pt>
                <c:pt idx="692">
                  <c:v>44595</c:v>
                </c:pt>
                <c:pt idx="693">
                  <c:v>44602</c:v>
                </c:pt>
                <c:pt idx="694">
                  <c:v>44609</c:v>
                </c:pt>
                <c:pt idx="695">
                  <c:v>44616</c:v>
                </c:pt>
                <c:pt idx="696">
                  <c:v>44623</c:v>
                </c:pt>
                <c:pt idx="697">
                  <c:v>44630</c:v>
                </c:pt>
                <c:pt idx="698">
                  <c:v>44637</c:v>
                </c:pt>
                <c:pt idx="699">
                  <c:v>44644</c:v>
                </c:pt>
                <c:pt idx="700">
                  <c:v>44651</c:v>
                </c:pt>
                <c:pt idx="701">
                  <c:v>44658</c:v>
                </c:pt>
                <c:pt idx="702">
                  <c:v>44665</c:v>
                </c:pt>
                <c:pt idx="703">
                  <c:v>44672</c:v>
                </c:pt>
                <c:pt idx="704">
                  <c:v>44679</c:v>
                </c:pt>
                <c:pt idx="705">
                  <c:v>44686</c:v>
                </c:pt>
                <c:pt idx="706">
                  <c:v>44693</c:v>
                </c:pt>
                <c:pt idx="707">
                  <c:v>44700</c:v>
                </c:pt>
                <c:pt idx="708">
                  <c:v>44707</c:v>
                </c:pt>
                <c:pt idx="709">
                  <c:v>44714</c:v>
                </c:pt>
                <c:pt idx="710">
                  <c:v>44721</c:v>
                </c:pt>
                <c:pt idx="711">
                  <c:v>44728</c:v>
                </c:pt>
                <c:pt idx="712">
                  <c:v>44735</c:v>
                </c:pt>
                <c:pt idx="713">
                  <c:v>44742</c:v>
                </c:pt>
                <c:pt idx="714">
                  <c:v>44749</c:v>
                </c:pt>
                <c:pt idx="715">
                  <c:v>44756</c:v>
                </c:pt>
                <c:pt idx="716">
                  <c:v>44763</c:v>
                </c:pt>
                <c:pt idx="717">
                  <c:v>44770</c:v>
                </c:pt>
                <c:pt idx="718">
                  <c:v>44777</c:v>
                </c:pt>
                <c:pt idx="719">
                  <c:v>44784</c:v>
                </c:pt>
                <c:pt idx="720">
                  <c:v>44791</c:v>
                </c:pt>
                <c:pt idx="721">
                  <c:v>44798</c:v>
                </c:pt>
                <c:pt idx="722">
                  <c:v>44805</c:v>
                </c:pt>
                <c:pt idx="723">
                  <c:v>44812</c:v>
                </c:pt>
                <c:pt idx="724">
                  <c:v>44819</c:v>
                </c:pt>
                <c:pt idx="725">
                  <c:v>44826</c:v>
                </c:pt>
                <c:pt idx="726">
                  <c:v>44833</c:v>
                </c:pt>
                <c:pt idx="727">
                  <c:v>44840</c:v>
                </c:pt>
                <c:pt idx="728">
                  <c:v>44847</c:v>
                </c:pt>
                <c:pt idx="729">
                  <c:v>44854</c:v>
                </c:pt>
                <c:pt idx="730">
                  <c:v>44861</c:v>
                </c:pt>
                <c:pt idx="731">
                  <c:v>44868</c:v>
                </c:pt>
                <c:pt idx="732">
                  <c:v>44875</c:v>
                </c:pt>
                <c:pt idx="733">
                  <c:v>44882</c:v>
                </c:pt>
                <c:pt idx="734">
                  <c:v>44888</c:v>
                </c:pt>
                <c:pt idx="735">
                  <c:v>44896</c:v>
                </c:pt>
                <c:pt idx="736">
                  <c:v>44903</c:v>
                </c:pt>
                <c:pt idx="737">
                  <c:v>44910</c:v>
                </c:pt>
                <c:pt idx="738">
                  <c:v>44917</c:v>
                </c:pt>
                <c:pt idx="739">
                  <c:v>44924</c:v>
                </c:pt>
                <c:pt idx="740">
                  <c:v>44931</c:v>
                </c:pt>
                <c:pt idx="741">
                  <c:v>44938</c:v>
                </c:pt>
                <c:pt idx="742">
                  <c:v>44945</c:v>
                </c:pt>
                <c:pt idx="743">
                  <c:v>44952</c:v>
                </c:pt>
                <c:pt idx="744">
                  <c:v>44959</c:v>
                </c:pt>
                <c:pt idx="745">
                  <c:v>44966</c:v>
                </c:pt>
                <c:pt idx="746">
                  <c:v>44973</c:v>
                </c:pt>
                <c:pt idx="747">
                  <c:v>44980</c:v>
                </c:pt>
                <c:pt idx="748">
                  <c:v>44987</c:v>
                </c:pt>
                <c:pt idx="749">
                  <c:v>44994</c:v>
                </c:pt>
                <c:pt idx="750">
                  <c:v>45001</c:v>
                </c:pt>
                <c:pt idx="751">
                  <c:v>45008</c:v>
                </c:pt>
                <c:pt idx="752">
                  <c:v>45015</c:v>
                </c:pt>
                <c:pt idx="753">
                  <c:v>45022</c:v>
                </c:pt>
                <c:pt idx="754">
                  <c:v>45029</c:v>
                </c:pt>
                <c:pt idx="755">
                  <c:v>45036</c:v>
                </c:pt>
                <c:pt idx="756">
                  <c:v>45043</c:v>
                </c:pt>
                <c:pt idx="757">
                  <c:v>45050</c:v>
                </c:pt>
                <c:pt idx="758">
                  <c:v>45057</c:v>
                </c:pt>
                <c:pt idx="759">
                  <c:v>45064</c:v>
                </c:pt>
                <c:pt idx="760">
                  <c:v>45071</c:v>
                </c:pt>
                <c:pt idx="761">
                  <c:v>45078</c:v>
                </c:pt>
                <c:pt idx="762">
                  <c:v>45085</c:v>
                </c:pt>
                <c:pt idx="763">
                  <c:v>45092</c:v>
                </c:pt>
                <c:pt idx="764">
                  <c:v>45099</c:v>
                </c:pt>
                <c:pt idx="765">
                  <c:v>45106</c:v>
                </c:pt>
                <c:pt idx="766">
                  <c:v>45113</c:v>
                </c:pt>
                <c:pt idx="767">
                  <c:v>45120</c:v>
                </c:pt>
                <c:pt idx="768">
                  <c:v>45127</c:v>
                </c:pt>
                <c:pt idx="769">
                  <c:v>45134</c:v>
                </c:pt>
                <c:pt idx="770">
                  <c:v>45141</c:v>
                </c:pt>
                <c:pt idx="771">
                  <c:v>45148</c:v>
                </c:pt>
                <c:pt idx="772">
                  <c:v>45155</c:v>
                </c:pt>
                <c:pt idx="773">
                  <c:v>45162</c:v>
                </c:pt>
                <c:pt idx="774">
                  <c:v>45169</c:v>
                </c:pt>
                <c:pt idx="775">
                  <c:v>45176</c:v>
                </c:pt>
                <c:pt idx="776">
                  <c:v>45183</c:v>
                </c:pt>
                <c:pt idx="777">
                  <c:v>45190</c:v>
                </c:pt>
                <c:pt idx="778">
                  <c:v>45197</c:v>
                </c:pt>
                <c:pt idx="779">
                  <c:v>45204</c:v>
                </c:pt>
                <c:pt idx="780">
                  <c:v>45211</c:v>
                </c:pt>
                <c:pt idx="781">
                  <c:v>45218</c:v>
                </c:pt>
                <c:pt idx="782">
                  <c:v>45225</c:v>
                </c:pt>
              </c:numCache>
            </c:numRef>
          </c:cat>
          <c:val>
            <c:numRef>
              <c:f>Sheet1!$B$2:$B$784</c:f>
              <c:numCache>
                <c:formatCode>General</c:formatCode>
                <c:ptCount val="783"/>
                <c:pt idx="0">
                  <c:v>6.4600000000000005E-2</c:v>
                </c:pt>
                <c:pt idx="1">
                  <c:v>6.2E-2</c:v>
                </c:pt>
                <c:pt idx="2">
                  <c:v>6.1399999999999996E-2</c:v>
                </c:pt>
                <c:pt idx="3">
                  <c:v>6.0400000000000002E-2</c:v>
                </c:pt>
                <c:pt idx="4">
                  <c:v>5.9699999999999996E-2</c:v>
                </c:pt>
                <c:pt idx="5">
                  <c:v>5.5300000000000002E-2</c:v>
                </c:pt>
                <c:pt idx="6">
                  <c:v>5.4699999999999999E-2</c:v>
                </c:pt>
                <c:pt idx="7">
                  <c:v>5.1900000000000002E-2</c:v>
                </c:pt>
                <c:pt idx="8">
                  <c:v>5.1399999999999994E-2</c:v>
                </c:pt>
                <c:pt idx="9">
                  <c:v>5.0999999999999997E-2</c:v>
                </c:pt>
                <c:pt idx="10">
                  <c:v>5.0099999999999999E-2</c:v>
                </c:pt>
                <c:pt idx="11">
                  <c:v>4.9599999999999998E-2</c:v>
                </c:pt>
                <c:pt idx="12">
                  <c:v>5.1200000000000002E-2</c:v>
                </c:pt>
                <c:pt idx="13">
                  <c:v>5.0999999999999997E-2</c:v>
                </c:pt>
                <c:pt idx="14">
                  <c:v>5.2499999999999998E-2</c:v>
                </c:pt>
                <c:pt idx="15">
                  <c:v>5.16E-2</c:v>
                </c:pt>
                <c:pt idx="16">
                  <c:v>5.04E-2</c:v>
                </c:pt>
                <c:pt idx="17">
                  <c:v>5.0700000000000002E-2</c:v>
                </c:pt>
                <c:pt idx="18">
                  <c:v>5.1500000000000004E-2</c:v>
                </c:pt>
                <c:pt idx="19">
                  <c:v>5.0300000000000004E-2</c:v>
                </c:pt>
                <c:pt idx="20">
                  <c:v>4.9800000000000004E-2</c:v>
                </c:pt>
                <c:pt idx="21">
                  <c:v>4.8499999999999995E-2</c:v>
                </c:pt>
                <c:pt idx="22">
                  <c:v>4.7800000000000002E-2</c:v>
                </c:pt>
                <c:pt idx="23">
                  <c:v>4.87E-2</c:v>
                </c:pt>
                <c:pt idx="24">
                  <c:v>4.82E-2</c:v>
                </c:pt>
                <c:pt idx="25">
                  <c:v>4.8000000000000001E-2</c:v>
                </c:pt>
                <c:pt idx="26">
                  <c:v>4.7800000000000002E-2</c:v>
                </c:pt>
                <c:pt idx="27">
                  <c:v>4.8399999999999999E-2</c:v>
                </c:pt>
                <c:pt idx="28">
                  <c:v>4.8600000000000004E-2</c:v>
                </c:pt>
                <c:pt idx="29">
                  <c:v>4.82E-2</c:v>
                </c:pt>
                <c:pt idx="30">
                  <c:v>4.9100000000000005E-2</c:v>
                </c:pt>
                <c:pt idx="31">
                  <c:v>5.2900000000000003E-2</c:v>
                </c:pt>
                <c:pt idx="32">
                  <c:v>5.5899999999999998E-2</c:v>
                </c:pt>
                <c:pt idx="33">
                  <c:v>5.3800000000000001E-2</c:v>
                </c:pt>
                <c:pt idx="34">
                  <c:v>5.4199999999999998E-2</c:v>
                </c:pt>
                <c:pt idx="35">
                  <c:v>5.3200000000000004E-2</c:v>
                </c:pt>
                <c:pt idx="36">
                  <c:v>5.2000000000000005E-2</c:v>
                </c:pt>
                <c:pt idx="37">
                  <c:v>5.1399999999999994E-2</c:v>
                </c:pt>
                <c:pt idx="38">
                  <c:v>5.2000000000000005E-2</c:v>
                </c:pt>
                <c:pt idx="39">
                  <c:v>5.2499999999999998E-2</c:v>
                </c:pt>
                <c:pt idx="40">
                  <c:v>5.2199999999999996E-2</c:v>
                </c:pt>
                <c:pt idx="41">
                  <c:v>5.2900000000000003E-2</c:v>
                </c:pt>
                <c:pt idx="42">
                  <c:v>5.1200000000000002E-2</c:v>
                </c:pt>
                <c:pt idx="43">
                  <c:v>5.1399999999999994E-2</c:v>
                </c:pt>
                <c:pt idx="44">
                  <c:v>5.0799999999999998E-2</c:v>
                </c:pt>
                <c:pt idx="45">
                  <c:v>5.0700000000000002E-2</c:v>
                </c:pt>
                <c:pt idx="46">
                  <c:v>5.04E-2</c:v>
                </c:pt>
                <c:pt idx="47">
                  <c:v>5.04E-2</c:v>
                </c:pt>
                <c:pt idx="48">
                  <c:v>4.9400000000000006E-2</c:v>
                </c:pt>
                <c:pt idx="49">
                  <c:v>4.87E-2</c:v>
                </c:pt>
                <c:pt idx="50">
                  <c:v>4.9200000000000001E-2</c:v>
                </c:pt>
                <c:pt idx="51">
                  <c:v>0.05</c:v>
                </c:pt>
                <c:pt idx="52">
                  <c:v>5.0300000000000004E-2</c:v>
                </c:pt>
                <c:pt idx="53">
                  <c:v>4.9800000000000004E-2</c:v>
                </c:pt>
                <c:pt idx="54">
                  <c:v>4.9100000000000005E-2</c:v>
                </c:pt>
                <c:pt idx="55">
                  <c:v>4.8300000000000003E-2</c:v>
                </c:pt>
                <c:pt idx="56">
                  <c:v>4.7800000000000002E-2</c:v>
                </c:pt>
                <c:pt idx="57">
                  <c:v>4.7100000000000003E-2</c:v>
                </c:pt>
                <c:pt idx="58">
                  <c:v>4.8099999999999997E-2</c:v>
                </c:pt>
                <c:pt idx="59">
                  <c:v>4.9400000000000006E-2</c:v>
                </c:pt>
                <c:pt idx="60">
                  <c:v>5.0499999999999996E-2</c:v>
                </c:pt>
                <c:pt idx="61">
                  <c:v>5.1399999999999994E-2</c:v>
                </c:pt>
                <c:pt idx="62">
                  <c:v>5.0900000000000001E-2</c:v>
                </c:pt>
                <c:pt idx="63">
                  <c:v>5.0599999999999999E-2</c:v>
                </c:pt>
                <c:pt idx="64">
                  <c:v>4.99E-2</c:v>
                </c:pt>
                <c:pt idx="65">
                  <c:v>4.9800000000000004E-2</c:v>
                </c:pt>
                <c:pt idx="66">
                  <c:v>5.0099999999999999E-2</c:v>
                </c:pt>
                <c:pt idx="67">
                  <c:v>4.9699999999999994E-2</c:v>
                </c:pt>
                <c:pt idx="68">
                  <c:v>4.9299999999999997E-2</c:v>
                </c:pt>
                <c:pt idx="69">
                  <c:v>5.0499999999999996E-2</c:v>
                </c:pt>
                <c:pt idx="70">
                  <c:v>4.9699999999999994E-2</c:v>
                </c:pt>
                <c:pt idx="71">
                  <c:v>4.9500000000000002E-2</c:v>
                </c:pt>
                <c:pt idx="72">
                  <c:v>4.9599999999999998E-2</c:v>
                </c:pt>
                <c:pt idx="73">
                  <c:v>4.99E-2</c:v>
                </c:pt>
                <c:pt idx="74">
                  <c:v>5.0799999999999998E-2</c:v>
                </c:pt>
                <c:pt idx="75">
                  <c:v>5.21E-2</c:v>
                </c:pt>
                <c:pt idx="76">
                  <c:v>5.0700000000000002E-2</c:v>
                </c:pt>
                <c:pt idx="77">
                  <c:v>5.0700000000000002E-2</c:v>
                </c:pt>
                <c:pt idx="78">
                  <c:v>5.0599999999999999E-2</c:v>
                </c:pt>
                <c:pt idx="79">
                  <c:v>0.05</c:v>
                </c:pt>
                <c:pt idx="80">
                  <c:v>4.9299999999999997E-2</c:v>
                </c:pt>
                <c:pt idx="81">
                  <c:v>4.8399999999999999E-2</c:v>
                </c:pt>
                <c:pt idx="82">
                  <c:v>4.7800000000000002E-2</c:v>
                </c:pt>
                <c:pt idx="83">
                  <c:v>4.7899999999999998E-2</c:v>
                </c:pt>
                <c:pt idx="84">
                  <c:v>4.7199999999999999E-2</c:v>
                </c:pt>
                <c:pt idx="85">
                  <c:v>4.7500000000000001E-2</c:v>
                </c:pt>
                <c:pt idx="86">
                  <c:v>4.6900000000000004E-2</c:v>
                </c:pt>
                <c:pt idx="87">
                  <c:v>4.58E-2</c:v>
                </c:pt>
                <c:pt idx="88">
                  <c:v>4.5700000000000005E-2</c:v>
                </c:pt>
                <c:pt idx="89">
                  <c:v>4.5700000000000005E-2</c:v>
                </c:pt>
                <c:pt idx="90">
                  <c:v>4.5599999999999995E-2</c:v>
                </c:pt>
                <c:pt idx="91">
                  <c:v>4.5400000000000003E-2</c:v>
                </c:pt>
                <c:pt idx="92">
                  <c:v>4.4900000000000002E-2</c:v>
                </c:pt>
                <c:pt idx="93">
                  <c:v>4.4400000000000002E-2</c:v>
                </c:pt>
                <c:pt idx="94">
                  <c:v>4.4199999999999996E-2</c:v>
                </c:pt>
                <c:pt idx="95">
                  <c:v>4.36E-2</c:v>
                </c:pt>
                <c:pt idx="96">
                  <c:v>4.3200000000000002E-2</c:v>
                </c:pt>
                <c:pt idx="97">
                  <c:v>4.3499999999999997E-2</c:v>
                </c:pt>
                <c:pt idx="98">
                  <c:v>4.3700000000000003E-2</c:v>
                </c:pt>
                <c:pt idx="99">
                  <c:v>4.3700000000000003E-2</c:v>
                </c:pt>
                <c:pt idx="100">
                  <c:v>4.3200000000000002E-2</c:v>
                </c:pt>
                <c:pt idx="101">
                  <c:v>4.2699999999999995E-2</c:v>
                </c:pt>
                <c:pt idx="102">
                  <c:v>4.1900000000000007E-2</c:v>
                </c:pt>
                <c:pt idx="103">
                  <c:v>4.2099999999999999E-2</c:v>
                </c:pt>
                <c:pt idx="104">
                  <c:v>4.2300000000000004E-2</c:v>
                </c:pt>
                <c:pt idx="105">
                  <c:v>4.24E-2</c:v>
                </c:pt>
                <c:pt idx="106">
                  <c:v>4.1700000000000001E-2</c:v>
                </c:pt>
                <c:pt idx="107">
                  <c:v>4.3899999999999995E-2</c:v>
                </c:pt>
                <c:pt idx="108">
                  <c:v>4.4000000000000004E-2</c:v>
                </c:pt>
                <c:pt idx="109">
                  <c:v>4.4600000000000001E-2</c:v>
                </c:pt>
                <c:pt idx="110">
                  <c:v>4.6100000000000002E-2</c:v>
                </c:pt>
                <c:pt idx="111">
                  <c:v>4.8300000000000003E-2</c:v>
                </c:pt>
                <c:pt idx="112">
                  <c:v>4.8099999999999997E-2</c:v>
                </c:pt>
                <c:pt idx="113">
                  <c:v>4.8600000000000004E-2</c:v>
                </c:pt>
                <c:pt idx="114">
                  <c:v>4.7699999999999992E-2</c:v>
                </c:pt>
                <c:pt idx="115">
                  <c:v>4.7100000000000003E-2</c:v>
                </c:pt>
                <c:pt idx="116">
                  <c:v>4.7400000000000005E-2</c:v>
                </c:pt>
                <c:pt idx="117">
                  <c:v>4.8000000000000001E-2</c:v>
                </c:pt>
                <c:pt idx="118">
                  <c:v>4.8099999999999997E-2</c:v>
                </c:pt>
                <c:pt idx="119">
                  <c:v>5.0499999999999996E-2</c:v>
                </c:pt>
                <c:pt idx="120">
                  <c:v>0.05</c:v>
                </c:pt>
                <c:pt idx="121">
                  <c:v>4.9500000000000002E-2</c:v>
                </c:pt>
                <c:pt idx="122">
                  <c:v>4.87E-2</c:v>
                </c:pt>
                <c:pt idx="123">
                  <c:v>4.8799999999999996E-2</c:v>
                </c:pt>
                <c:pt idx="124">
                  <c:v>4.7599999999999996E-2</c:v>
                </c:pt>
                <c:pt idx="125">
                  <c:v>4.8099999999999997E-2</c:v>
                </c:pt>
                <c:pt idx="126">
                  <c:v>4.8600000000000004E-2</c:v>
                </c:pt>
                <c:pt idx="127">
                  <c:v>4.87E-2</c:v>
                </c:pt>
                <c:pt idx="128">
                  <c:v>4.9100000000000005E-2</c:v>
                </c:pt>
                <c:pt idx="129">
                  <c:v>4.8000000000000001E-2</c:v>
                </c:pt>
                <c:pt idx="130">
                  <c:v>4.7800000000000002E-2</c:v>
                </c:pt>
                <c:pt idx="131">
                  <c:v>4.7100000000000003E-2</c:v>
                </c:pt>
                <c:pt idx="132">
                  <c:v>4.6300000000000001E-2</c:v>
                </c:pt>
                <c:pt idx="133">
                  <c:v>4.6100000000000002E-2</c:v>
                </c:pt>
                <c:pt idx="134">
                  <c:v>4.5999999999999999E-2</c:v>
                </c:pt>
                <c:pt idx="135">
                  <c:v>4.5499999999999999E-2</c:v>
                </c:pt>
                <c:pt idx="136">
                  <c:v>4.4900000000000002E-2</c:v>
                </c:pt>
                <c:pt idx="137">
                  <c:v>4.4999999999999998E-2</c:v>
                </c:pt>
                <c:pt idx="138">
                  <c:v>4.4999999999999998E-2</c:v>
                </c:pt>
                <c:pt idx="139">
                  <c:v>4.5100000000000001E-2</c:v>
                </c:pt>
                <c:pt idx="140">
                  <c:v>4.5999999999999999E-2</c:v>
                </c:pt>
                <c:pt idx="141">
                  <c:v>4.5100000000000001E-2</c:v>
                </c:pt>
                <c:pt idx="142">
                  <c:v>4.5199999999999997E-2</c:v>
                </c:pt>
                <c:pt idx="143">
                  <c:v>4.5499999999999999E-2</c:v>
                </c:pt>
                <c:pt idx="144">
                  <c:v>4.3899999999999995E-2</c:v>
                </c:pt>
                <c:pt idx="145">
                  <c:v>4.3200000000000002E-2</c:v>
                </c:pt>
                <c:pt idx="146">
                  <c:v>4.1500000000000002E-2</c:v>
                </c:pt>
                <c:pt idx="147">
                  <c:v>4.2199999999999994E-2</c:v>
                </c:pt>
                <c:pt idx="148">
                  <c:v>4.2199999999999994E-2</c:v>
                </c:pt>
                <c:pt idx="149">
                  <c:v>4.1200000000000001E-2</c:v>
                </c:pt>
                <c:pt idx="150">
                  <c:v>4.0899999999999999E-2</c:v>
                </c:pt>
                <c:pt idx="151">
                  <c:v>4.0899999999999999E-2</c:v>
                </c:pt>
                <c:pt idx="152">
                  <c:v>4.0099999999999997E-2</c:v>
                </c:pt>
                <c:pt idx="153">
                  <c:v>3.9399999999999998E-2</c:v>
                </c:pt>
                <c:pt idx="154">
                  <c:v>4.1200000000000001E-2</c:v>
                </c:pt>
                <c:pt idx="155">
                  <c:v>4.1100000000000005E-2</c:v>
                </c:pt>
                <c:pt idx="156">
                  <c:v>4.0999999999999995E-2</c:v>
                </c:pt>
                <c:pt idx="157">
                  <c:v>0.04</c:v>
                </c:pt>
                <c:pt idx="158">
                  <c:v>3.9900000000000005E-2</c:v>
                </c:pt>
                <c:pt idx="159">
                  <c:v>0.04</c:v>
                </c:pt>
                <c:pt idx="160">
                  <c:v>3.9800000000000002E-2</c:v>
                </c:pt>
                <c:pt idx="161">
                  <c:v>0.04</c:v>
                </c:pt>
                <c:pt idx="162">
                  <c:v>3.9900000000000005E-2</c:v>
                </c:pt>
                <c:pt idx="163">
                  <c:v>3.9399999999999998E-2</c:v>
                </c:pt>
                <c:pt idx="164">
                  <c:v>3.9100000000000003E-2</c:v>
                </c:pt>
                <c:pt idx="165">
                  <c:v>3.95E-2</c:v>
                </c:pt>
                <c:pt idx="166">
                  <c:v>3.9100000000000003E-2</c:v>
                </c:pt>
                <c:pt idx="167">
                  <c:v>3.8900000000000004E-2</c:v>
                </c:pt>
                <c:pt idx="168">
                  <c:v>3.8800000000000001E-2</c:v>
                </c:pt>
                <c:pt idx="169">
                  <c:v>3.9800000000000002E-2</c:v>
                </c:pt>
                <c:pt idx="170">
                  <c:v>3.8699999999999998E-2</c:v>
                </c:pt>
                <c:pt idx="171">
                  <c:v>3.8699999999999998E-2</c:v>
                </c:pt>
                <c:pt idx="172">
                  <c:v>3.8699999999999998E-2</c:v>
                </c:pt>
                <c:pt idx="173">
                  <c:v>3.95E-2</c:v>
                </c:pt>
                <c:pt idx="174">
                  <c:v>3.9E-2</c:v>
                </c:pt>
                <c:pt idx="175">
                  <c:v>3.8800000000000001E-2</c:v>
                </c:pt>
                <c:pt idx="176">
                  <c:v>3.9199999999999999E-2</c:v>
                </c:pt>
                <c:pt idx="177">
                  <c:v>4.0800000000000003E-2</c:v>
                </c:pt>
                <c:pt idx="178">
                  <c:v>3.9900000000000005E-2</c:v>
                </c:pt>
                <c:pt idx="179">
                  <c:v>3.9800000000000002E-2</c:v>
                </c:pt>
                <c:pt idx="180">
                  <c:v>3.8800000000000001E-2</c:v>
                </c:pt>
                <c:pt idx="181">
                  <c:v>3.9E-2</c:v>
                </c:pt>
                <c:pt idx="182">
                  <c:v>3.8800000000000001E-2</c:v>
                </c:pt>
                <c:pt idx="183">
                  <c:v>3.8399999999999997E-2</c:v>
                </c:pt>
                <c:pt idx="184">
                  <c:v>3.8300000000000001E-2</c:v>
                </c:pt>
                <c:pt idx="185">
                  <c:v>3.7900000000000003E-2</c:v>
                </c:pt>
                <c:pt idx="186">
                  <c:v>3.78E-2</c:v>
                </c:pt>
                <c:pt idx="187">
                  <c:v>3.7499999999999999E-2</c:v>
                </c:pt>
                <c:pt idx="188">
                  <c:v>3.6699999999999997E-2</c:v>
                </c:pt>
                <c:pt idx="189">
                  <c:v>3.7100000000000001E-2</c:v>
                </c:pt>
                <c:pt idx="190">
                  <c:v>3.6600000000000001E-2</c:v>
                </c:pt>
                <c:pt idx="191">
                  <c:v>3.6600000000000001E-2</c:v>
                </c:pt>
                <c:pt idx="192">
                  <c:v>3.6200000000000003E-2</c:v>
                </c:pt>
                <c:pt idx="193">
                  <c:v>3.56E-2</c:v>
                </c:pt>
                <c:pt idx="194">
                  <c:v>3.5299999999999998E-2</c:v>
                </c:pt>
                <c:pt idx="195">
                  <c:v>3.49E-2</c:v>
                </c:pt>
                <c:pt idx="196">
                  <c:v>3.5499999999999997E-2</c:v>
                </c:pt>
                <c:pt idx="197">
                  <c:v>3.5900000000000001E-2</c:v>
                </c:pt>
                <c:pt idx="198">
                  <c:v>3.6200000000000003E-2</c:v>
                </c:pt>
                <c:pt idx="199">
                  <c:v>3.6600000000000001E-2</c:v>
                </c:pt>
                <c:pt idx="200">
                  <c:v>3.5900000000000001E-2</c:v>
                </c:pt>
                <c:pt idx="201">
                  <c:v>3.5499999999999997E-2</c:v>
                </c:pt>
                <c:pt idx="202">
                  <c:v>3.5499999999999997E-2</c:v>
                </c:pt>
                <c:pt idx="203">
                  <c:v>3.49E-2</c:v>
                </c:pt>
                <c:pt idx="204">
                  <c:v>3.4000000000000002E-2</c:v>
                </c:pt>
                <c:pt idx="205">
                  <c:v>3.3599999999999998E-2</c:v>
                </c:pt>
                <c:pt idx="206">
                  <c:v>3.39E-2</c:v>
                </c:pt>
                <c:pt idx="207">
                  <c:v>3.3700000000000001E-2</c:v>
                </c:pt>
                <c:pt idx="208">
                  <c:v>3.4099999999999998E-2</c:v>
                </c:pt>
                <c:pt idx="209">
                  <c:v>3.39E-2</c:v>
                </c:pt>
                <c:pt idx="210">
                  <c:v>3.4000000000000002E-2</c:v>
                </c:pt>
                <c:pt idx="211">
                  <c:v>3.3399999999999999E-2</c:v>
                </c:pt>
                <c:pt idx="212">
                  <c:v>3.3099999999999997E-2</c:v>
                </c:pt>
                <c:pt idx="213">
                  <c:v>3.32E-2</c:v>
                </c:pt>
                <c:pt idx="214">
                  <c:v>3.3399999999999999E-2</c:v>
                </c:pt>
                <c:pt idx="215">
                  <c:v>3.32E-2</c:v>
                </c:pt>
                <c:pt idx="216">
                  <c:v>3.3700000000000001E-2</c:v>
                </c:pt>
                <c:pt idx="217">
                  <c:v>3.3500000000000002E-2</c:v>
                </c:pt>
                <c:pt idx="218">
                  <c:v>3.3399999999999999E-2</c:v>
                </c:pt>
                <c:pt idx="219">
                  <c:v>3.4000000000000002E-2</c:v>
                </c:pt>
                <c:pt idx="220">
                  <c:v>3.3799999999999997E-2</c:v>
                </c:pt>
                <c:pt idx="221">
                  <c:v>3.4200000000000001E-2</c:v>
                </c:pt>
                <c:pt idx="222">
                  <c:v>3.5299999999999998E-2</c:v>
                </c:pt>
                <c:pt idx="223">
                  <c:v>3.5299999999999998E-2</c:v>
                </c:pt>
                <c:pt idx="224">
                  <c:v>3.5299999999999998E-2</c:v>
                </c:pt>
                <c:pt idx="225">
                  <c:v>3.56E-2</c:v>
                </c:pt>
                <c:pt idx="226">
                  <c:v>3.5099999999999999E-2</c:v>
                </c:pt>
                <c:pt idx="227">
                  <c:v>3.5200000000000002E-2</c:v>
                </c:pt>
                <c:pt idx="228">
                  <c:v>3.6299999999999999E-2</c:v>
                </c:pt>
                <c:pt idx="229">
                  <c:v>3.5400000000000001E-2</c:v>
                </c:pt>
                <c:pt idx="230">
                  <c:v>3.5699999999999996E-2</c:v>
                </c:pt>
                <c:pt idx="231">
                  <c:v>3.5400000000000001E-2</c:v>
                </c:pt>
                <c:pt idx="232">
                  <c:v>3.4300000000000004E-2</c:v>
                </c:pt>
                <c:pt idx="233">
                  <c:v>3.4099999999999998E-2</c:v>
                </c:pt>
                <c:pt idx="234">
                  <c:v>3.4000000000000002E-2</c:v>
                </c:pt>
                <c:pt idx="235">
                  <c:v>3.3500000000000002E-2</c:v>
                </c:pt>
                <c:pt idx="236">
                  <c:v>3.4200000000000001E-2</c:v>
                </c:pt>
                <c:pt idx="237">
                  <c:v>3.5099999999999999E-2</c:v>
                </c:pt>
                <c:pt idx="238">
                  <c:v>3.5900000000000001E-2</c:v>
                </c:pt>
                <c:pt idx="239">
                  <c:v>3.8100000000000002E-2</c:v>
                </c:pt>
                <c:pt idx="240">
                  <c:v>3.9100000000000003E-2</c:v>
                </c:pt>
                <c:pt idx="241">
                  <c:v>3.9800000000000002E-2</c:v>
                </c:pt>
                <c:pt idx="242">
                  <c:v>3.9300000000000002E-2</c:v>
                </c:pt>
                <c:pt idx="243">
                  <c:v>4.4600000000000001E-2</c:v>
                </c:pt>
                <c:pt idx="244">
                  <c:v>4.2900000000000001E-2</c:v>
                </c:pt>
                <c:pt idx="245">
                  <c:v>4.5100000000000001E-2</c:v>
                </c:pt>
                <c:pt idx="246">
                  <c:v>4.3700000000000003E-2</c:v>
                </c:pt>
                <c:pt idx="247">
                  <c:v>4.3099999999999999E-2</c:v>
                </c:pt>
                <c:pt idx="248">
                  <c:v>4.3899999999999995E-2</c:v>
                </c:pt>
                <c:pt idx="249">
                  <c:v>4.4000000000000004E-2</c:v>
                </c:pt>
                <c:pt idx="250">
                  <c:v>4.4000000000000004E-2</c:v>
                </c:pt>
                <c:pt idx="251">
                  <c:v>4.58E-2</c:v>
                </c:pt>
                <c:pt idx="252">
                  <c:v>4.5100000000000001E-2</c:v>
                </c:pt>
                <c:pt idx="253">
                  <c:v>4.5700000000000005E-2</c:v>
                </c:pt>
                <c:pt idx="254">
                  <c:v>4.5700000000000005E-2</c:v>
                </c:pt>
                <c:pt idx="255">
                  <c:v>4.4999999999999998E-2</c:v>
                </c:pt>
                <c:pt idx="256">
                  <c:v>4.3200000000000002E-2</c:v>
                </c:pt>
                <c:pt idx="257">
                  <c:v>4.2199999999999994E-2</c:v>
                </c:pt>
                <c:pt idx="258">
                  <c:v>4.2300000000000004E-2</c:v>
                </c:pt>
                <c:pt idx="259">
                  <c:v>4.2800000000000005E-2</c:v>
                </c:pt>
                <c:pt idx="260">
                  <c:v>4.1299999999999996E-2</c:v>
                </c:pt>
                <c:pt idx="261">
                  <c:v>4.0999999999999995E-2</c:v>
                </c:pt>
                <c:pt idx="262">
                  <c:v>4.1599999999999998E-2</c:v>
                </c:pt>
                <c:pt idx="263">
                  <c:v>4.3499999999999997E-2</c:v>
                </c:pt>
                <c:pt idx="264">
                  <c:v>4.2199999999999994E-2</c:v>
                </c:pt>
                <c:pt idx="265">
                  <c:v>4.2900000000000001E-2</c:v>
                </c:pt>
                <c:pt idx="266">
                  <c:v>4.4600000000000001E-2</c:v>
                </c:pt>
                <c:pt idx="267">
                  <c:v>4.4199999999999996E-2</c:v>
                </c:pt>
                <c:pt idx="268">
                  <c:v>4.4699999999999997E-2</c:v>
                </c:pt>
                <c:pt idx="269">
                  <c:v>4.4800000000000006E-2</c:v>
                </c:pt>
                <c:pt idx="270">
                  <c:v>4.53E-2</c:v>
                </c:pt>
                <c:pt idx="271">
                  <c:v>4.5100000000000001E-2</c:v>
                </c:pt>
                <c:pt idx="272">
                  <c:v>4.41E-2</c:v>
                </c:pt>
                <c:pt idx="273">
                  <c:v>4.3899999999999995E-2</c:v>
                </c:pt>
                <c:pt idx="274">
                  <c:v>4.3200000000000002E-2</c:v>
                </c:pt>
                <c:pt idx="275">
                  <c:v>4.2300000000000004E-2</c:v>
                </c:pt>
                <c:pt idx="276">
                  <c:v>4.2800000000000005E-2</c:v>
                </c:pt>
                <c:pt idx="277">
                  <c:v>4.3299999999999998E-2</c:v>
                </c:pt>
                <c:pt idx="278">
                  <c:v>4.3700000000000003E-2</c:v>
                </c:pt>
                <c:pt idx="279">
                  <c:v>4.2800000000000005E-2</c:v>
                </c:pt>
                <c:pt idx="280">
                  <c:v>4.3700000000000003E-2</c:v>
                </c:pt>
                <c:pt idx="281">
                  <c:v>4.3200000000000002E-2</c:v>
                </c:pt>
                <c:pt idx="282">
                  <c:v>4.4000000000000004E-2</c:v>
                </c:pt>
                <c:pt idx="283">
                  <c:v>4.41E-2</c:v>
                </c:pt>
                <c:pt idx="284">
                  <c:v>4.3400000000000001E-2</c:v>
                </c:pt>
                <c:pt idx="285">
                  <c:v>4.2699999999999995E-2</c:v>
                </c:pt>
                <c:pt idx="286">
                  <c:v>4.3299999999999998E-2</c:v>
                </c:pt>
                <c:pt idx="287">
                  <c:v>4.2900000000000001E-2</c:v>
                </c:pt>
                <c:pt idx="288">
                  <c:v>4.2099999999999999E-2</c:v>
                </c:pt>
                <c:pt idx="289">
                  <c:v>4.2000000000000003E-2</c:v>
                </c:pt>
                <c:pt idx="290">
                  <c:v>4.1399999999999999E-2</c:v>
                </c:pt>
                <c:pt idx="291">
                  <c:v>4.1200000000000001E-2</c:v>
                </c:pt>
                <c:pt idx="292">
                  <c:v>4.1399999999999999E-2</c:v>
                </c:pt>
                <c:pt idx="293">
                  <c:v>4.2000000000000003E-2</c:v>
                </c:pt>
                <c:pt idx="294">
                  <c:v>4.1700000000000001E-2</c:v>
                </c:pt>
                <c:pt idx="295">
                  <c:v>4.1399999999999999E-2</c:v>
                </c:pt>
                <c:pt idx="296">
                  <c:v>4.1200000000000001E-2</c:v>
                </c:pt>
                <c:pt idx="297">
                  <c:v>4.1500000000000002E-2</c:v>
                </c:pt>
                <c:pt idx="298">
                  <c:v>4.1299999999999996E-2</c:v>
                </c:pt>
                <c:pt idx="299">
                  <c:v>4.1299999999999996E-2</c:v>
                </c:pt>
                <c:pt idx="300">
                  <c:v>4.1200000000000001E-2</c:v>
                </c:pt>
                <c:pt idx="301">
                  <c:v>4.1399999999999999E-2</c:v>
                </c:pt>
                <c:pt idx="302">
                  <c:v>4.1200000000000001E-2</c:v>
                </c:pt>
                <c:pt idx="303">
                  <c:v>4.0999999999999995E-2</c:v>
                </c:pt>
                <c:pt idx="304">
                  <c:v>4.0999999999999995E-2</c:v>
                </c:pt>
                <c:pt idx="305">
                  <c:v>4.0999999999999995E-2</c:v>
                </c:pt>
                <c:pt idx="306">
                  <c:v>4.1200000000000001E-2</c:v>
                </c:pt>
                <c:pt idx="307">
                  <c:v>4.2300000000000004E-2</c:v>
                </c:pt>
                <c:pt idx="308">
                  <c:v>4.2000000000000003E-2</c:v>
                </c:pt>
                <c:pt idx="309">
                  <c:v>4.1900000000000007E-2</c:v>
                </c:pt>
                <c:pt idx="310">
                  <c:v>4.1200000000000001E-2</c:v>
                </c:pt>
                <c:pt idx="311">
                  <c:v>3.9699999999999999E-2</c:v>
                </c:pt>
                <c:pt idx="312">
                  <c:v>3.9199999999999999E-2</c:v>
                </c:pt>
                <c:pt idx="313">
                  <c:v>3.9800000000000002E-2</c:v>
                </c:pt>
                <c:pt idx="314">
                  <c:v>4.0199999999999993E-2</c:v>
                </c:pt>
                <c:pt idx="315">
                  <c:v>4.0099999999999997E-2</c:v>
                </c:pt>
                <c:pt idx="316">
                  <c:v>3.9900000000000005E-2</c:v>
                </c:pt>
                <c:pt idx="317">
                  <c:v>3.9699999999999999E-2</c:v>
                </c:pt>
                <c:pt idx="318">
                  <c:v>3.8900000000000004E-2</c:v>
                </c:pt>
                <c:pt idx="319">
                  <c:v>3.9300000000000002E-2</c:v>
                </c:pt>
                <c:pt idx="320">
                  <c:v>3.7999999999999999E-2</c:v>
                </c:pt>
                <c:pt idx="321">
                  <c:v>3.8300000000000001E-2</c:v>
                </c:pt>
                <c:pt idx="322">
                  <c:v>3.8699999999999998E-2</c:v>
                </c:pt>
                <c:pt idx="323">
                  <c:v>3.73E-2</c:v>
                </c:pt>
                <c:pt idx="324">
                  <c:v>3.6600000000000001E-2</c:v>
                </c:pt>
                <c:pt idx="325">
                  <c:v>3.6299999999999999E-2</c:v>
                </c:pt>
                <c:pt idx="326">
                  <c:v>3.6600000000000001E-2</c:v>
                </c:pt>
                <c:pt idx="327">
                  <c:v>3.5900000000000001E-2</c:v>
                </c:pt>
                <c:pt idx="328">
                  <c:v>3.6900000000000002E-2</c:v>
                </c:pt>
                <c:pt idx="329">
                  <c:v>3.7599999999999995E-2</c:v>
                </c:pt>
                <c:pt idx="330">
                  <c:v>3.7999999999999999E-2</c:v>
                </c:pt>
                <c:pt idx="331">
                  <c:v>3.7499999999999999E-2</c:v>
                </c:pt>
                <c:pt idx="332">
                  <c:v>3.8599999999999995E-2</c:v>
                </c:pt>
                <c:pt idx="333">
                  <c:v>3.78E-2</c:v>
                </c:pt>
                <c:pt idx="334">
                  <c:v>3.6900000000000002E-2</c:v>
                </c:pt>
                <c:pt idx="335">
                  <c:v>3.7000000000000005E-2</c:v>
                </c:pt>
                <c:pt idx="336">
                  <c:v>3.6600000000000001E-2</c:v>
                </c:pt>
                <c:pt idx="337">
                  <c:v>3.6699999999999997E-2</c:v>
                </c:pt>
                <c:pt idx="338">
                  <c:v>3.6499999999999998E-2</c:v>
                </c:pt>
                <c:pt idx="339">
                  <c:v>3.6799999999999999E-2</c:v>
                </c:pt>
                <c:pt idx="340">
                  <c:v>3.7999999999999999E-2</c:v>
                </c:pt>
                <c:pt idx="341">
                  <c:v>3.85E-2</c:v>
                </c:pt>
                <c:pt idx="342">
                  <c:v>3.8399999999999997E-2</c:v>
                </c:pt>
                <c:pt idx="343">
                  <c:v>3.8699999999999998E-2</c:v>
                </c:pt>
                <c:pt idx="344">
                  <c:v>3.8699999999999998E-2</c:v>
                </c:pt>
                <c:pt idx="345">
                  <c:v>4.0399999999999998E-2</c:v>
                </c:pt>
                <c:pt idx="346">
                  <c:v>0.04</c:v>
                </c:pt>
                <c:pt idx="347">
                  <c:v>4.0199999999999993E-2</c:v>
                </c:pt>
                <c:pt idx="348">
                  <c:v>4.0800000000000003E-2</c:v>
                </c:pt>
                <c:pt idx="349">
                  <c:v>4.0399999999999998E-2</c:v>
                </c:pt>
                <c:pt idx="350">
                  <c:v>4.0899999999999999E-2</c:v>
                </c:pt>
                <c:pt idx="351">
                  <c:v>4.0399999999999998E-2</c:v>
                </c:pt>
                <c:pt idx="352">
                  <c:v>3.9800000000000002E-2</c:v>
                </c:pt>
                <c:pt idx="353">
                  <c:v>3.9100000000000003E-2</c:v>
                </c:pt>
                <c:pt idx="354">
                  <c:v>3.9399999999999998E-2</c:v>
                </c:pt>
                <c:pt idx="355">
                  <c:v>3.9300000000000002E-2</c:v>
                </c:pt>
                <c:pt idx="356">
                  <c:v>3.8399999999999997E-2</c:v>
                </c:pt>
                <c:pt idx="357">
                  <c:v>3.8900000000000004E-2</c:v>
                </c:pt>
                <c:pt idx="358">
                  <c:v>3.9E-2</c:v>
                </c:pt>
                <c:pt idx="359">
                  <c:v>3.9100000000000003E-2</c:v>
                </c:pt>
                <c:pt idx="360">
                  <c:v>3.8599999999999995E-2</c:v>
                </c:pt>
                <c:pt idx="361">
                  <c:v>3.85E-2</c:v>
                </c:pt>
                <c:pt idx="362">
                  <c:v>3.7599999999999995E-2</c:v>
                </c:pt>
                <c:pt idx="363">
                  <c:v>3.8199999999999998E-2</c:v>
                </c:pt>
                <c:pt idx="364">
                  <c:v>3.7900000000000003E-2</c:v>
                </c:pt>
                <c:pt idx="365">
                  <c:v>3.7599999999999995E-2</c:v>
                </c:pt>
                <c:pt idx="366">
                  <c:v>3.8699999999999998E-2</c:v>
                </c:pt>
                <c:pt idx="367">
                  <c:v>3.9800000000000002E-2</c:v>
                </c:pt>
                <c:pt idx="368">
                  <c:v>3.9699999999999999E-2</c:v>
                </c:pt>
                <c:pt idx="369">
                  <c:v>3.95E-2</c:v>
                </c:pt>
                <c:pt idx="370">
                  <c:v>3.9300000000000002E-2</c:v>
                </c:pt>
                <c:pt idx="371">
                  <c:v>3.95E-2</c:v>
                </c:pt>
                <c:pt idx="372">
                  <c:v>3.9699999999999999E-2</c:v>
                </c:pt>
                <c:pt idx="373">
                  <c:v>3.9599999999999996E-2</c:v>
                </c:pt>
                <c:pt idx="374">
                  <c:v>4.0099999999999997E-2</c:v>
                </c:pt>
                <c:pt idx="375">
                  <c:v>3.9699999999999999E-2</c:v>
                </c:pt>
                <c:pt idx="376">
                  <c:v>3.9199999999999999E-2</c:v>
                </c:pt>
                <c:pt idx="377">
                  <c:v>3.8100000000000002E-2</c:v>
                </c:pt>
                <c:pt idx="378">
                  <c:v>3.7900000000000003E-2</c:v>
                </c:pt>
                <c:pt idx="379">
                  <c:v>3.7200000000000004E-2</c:v>
                </c:pt>
                <c:pt idx="380">
                  <c:v>3.6499999999999998E-2</c:v>
                </c:pt>
                <c:pt idx="381">
                  <c:v>3.6499999999999998E-2</c:v>
                </c:pt>
                <c:pt idx="382">
                  <c:v>3.6200000000000003E-2</c:v>
                </c:pt>
                <c:pt idx="383">
                  <c:v>3.6400000000000002E-2</c:v>
                </c:pt>
                <c:pt idx="384">
                  <c:v>3.6799999999999999E-2</c:v>
                </c:pt>
                <c:pt idx="385">
                  <c:v>3.73E-2</c:v>
                </c:pt>
                <c:pt idx="386">
                  <c:v>3.7100000000000001E-2</c:v>
                </c:pt>
                <c:pt idx="387">
                  <c:v>3.7100000000000001E-2</c:v>
                </c:pt>
                <c:pt idx="388">
                  <c:v>3.5900000000000001E-2</c:v>
                </c:pt>
                <c:pt idx="389">
                  <c:v>3.5799999999999998E-2</c:v>
                </c:pt>
                <c:pt idx="390">
                  <c:v>3.5900000000000001E-2</c:v>
                </c:pt>
                <c:pt idx="391">
                  <c:v>3.6600000000000001E-2</c:v>
                </c:pt>
                <c:pt idx="392">
                  <c:v>3.61E-2</c:v>
                </c:pt>
                <c:pt idx="393">
                  <c:v>3.5699999999999996E-2</c:v>
                </c:pt>
                <c:pt idx="394">
                  <c:v>3.5799999999999998E-2</c:v>
                </c:pt>
                <c:pt idx="395">
                  <c:v>3.6400000000000002E-2</c:v>
                </c:pt>
                <c:pt idx="396">
                  <c:v>3.6600000000000001E-2</c:v>
                </c:pt>
                <c:pt idx="397">
                  <c:v>3.6000000000000004E-2</c:v>
                </c:pt>
                <c:pt idx="398">
                  <c:v>3.5400000000000001E-2</c:v>
                </c:pt>
                <c:pt idx="399">
                  <c:v>3.56E-2</c:v>
                </c:pt>
                <c:pt idx="400">
                  <c:v>3.4799999999999998E-2</c:v>
                </c:pt>
                <c:pt idx="401">
                  <c:v>3.4099999999999998E-2</c:v>
                </c:pt>
                <c:pt idx="402">
                  <c:v>3.4200000000000001E-2</c:v>
                </c:pt>
                <c:pt idx="403">
                  <c:v>3.4500000000000003E-2</c:v>
                </c:pt>
                <c:pt idx="404">
                  <c:v>3.4799999999999998E-2</c:v>
                </c:pt>
                <c:pt idx="405">
                  <c:v>3.4300000000000004E-2</c:v>
                </c:pt>
                <c:pt idx="406">
                  <c:v>3.4500000000000003E-2</c:v>
                </c:pt>
                <c:pt idx="407">
                  <c:v>3.4300000000000004E-2</c:v>
                </c:pt>
                <c:pt idx="408">
                  <c:v>3.4300000000000004E-2</c:v>
                </c:pt>
                <c:pt idx="409">
                  <c:v>3.4599999999999999E-2</c:v>
                </c:pt>
                <c:pt idx="410">
                  <c:v>3.44E-2</c:v>
                </c:pt>
                <c:pt idx="411">
                  <c:v>3.5000000000000003E-2</c:v>
                </c:pt>
                <c:pt idx="412">
                  <c:v>3.4799999999999998E-2</c:v>
                </c:pt>
                <c:pt idx="413">
                  <c:v>3.4200000000000001E-2</c:v>
                </c:pt>
                <c:pt idx="414">
                  <c:v>3.4200000000000001E-2</c:v>
                </c:pt>
                <c:pt idx="415">
                  <c:v>3.4700000000000002E-2</c:v>
                </c:pt>
                <c:pt idx="416">
                  <c:v>3.5200000000000002E-2</c:v>
                </c:pt>
                <c:pt idx="417">
                  <c:v>3.4700000000000002E-2</c:v>
                </c:pt>
                <c:pt idx="418">
                  <c:v>3.5400000000000001E-2</c:v>
                </c:pt>
                <c:pt idx="419">
                  <c:v>3.5699999999999996E-2</c:v>
                </c:pt>
                <c:pt idx="420">
                  <c:v>3.9399999999999998E-2</c:v>
                </c:pt>
                <c:pt idx="421">
                  <c:v>4.0300000000000002E-2</c:v>
                </c:pt>
                <c:pt idx="422">
                  <c:v>4.0800000000000003E-2</c:v>
                </c:pt>
                <c:pt idx="423">
                  <c:v>4.1299999999999996E-2</c:v>
                </c:pt>
                <c:pt idx="424">
                  <c:v>4.1599999999999998E-2</c:v>
                </c:pt>
                <c:pt idx="425">
                  <c:v>4.2999999999999997E-2</c:v>
                </c:pt>
                <c:pt idx="426">
                  <c:v>4.3200000000000002E-2</c:v>
                </c:pt>
                <c:pt idx="427">
                  <c:v>4.2000000000000003E-2</c:v>
                </c:pt>
                <c:pt idx="428">
                  <c:v>4.1200000000000001E-2</c:v>
                </c:pt>
                <c:pt idx="429">
                  <c:v>4.0899999999999999E-2</c:v>
                </c:pt>
                <c:pt idx="430">
                  <c:v>4.1900000000000007E-2</c:v>
                </c:pt>
                <c:pt idx="431">
                  <c:v>4.1900000000000007E-2</c:v>
                </c:pt>
                <c:pt idx="432">
                  <c:v>4.1700000000000001E-2</c:v>
                </c:pt>
                <c:pt idx="433">
                  <c:v>4.1500000000000002E-2</c:v>
                </c:pt>
                <c:pt idx="434">
                  <c:v>4.1599999999999998E-2</c:v>
                </c:pt>
                <c:pt idx="435">
                  <c:v>4.0999999999999995E-2</c:v>
                </c:pt>
                <c:pt idx="436">
                  <c:v>4.2099999999999999E-2</c:v>
                </c:pt>
                <c:pt idx="437">
                  <c:v>4.2999999999999997E-2</c:v>
                </c:pt>
                <c:pt idx="438">
                  <c:v>4.2300000000000004E-2</c:v>
                </c:pt>
                <c:pt idx="439">
                  <c:v>4.1399999999999999E-2</c:v>
                </c:pt>
                <c:pt idx="440">
                  <c:v>4.0999999999999995E-2</c:v>
                </c:pt>
                <c:pt idx="441">
                  <c:v>4.0800000000000003E-2</c:v>
                </c:pt>
                <c:pt idx="442">
                  <c:v>3.9699999999999999E-2</c:v>
                </c:pt>
                <c:pt idx="443">
                  <c:v>4.0300000000000002E-2</c:v>
                </c:pt>
                <c:pt idx="444">
                  <c:v>4.0199999999999993E-2</c:v>
                </c:pt>
                <c:pt idx="445">
                  <c:v>4.0500000000000001E-2</c:v>
                </c:pt>
                <c:pt idx="446">
                  <c:v>4.0199999999999993E-2</c:v>
                </c:pt>
                <c:pt idx="447">
                  <c:v>3.95E-2</c:v>
                </c:pt>
                <c:pt idx="448">
                  <c:v>3.9399999999999998E-2</c:v>
                </c:pt>
                <c:pt idx="449">
                  <c:v>3.8900000000000004E-2</c:v>
                </c:pt>
                <c:pt idx="450">
                  <c:v>3.9100000000000003E-2</c:v>
                </c:pt>
                <c:pt idx="451">
                  <c:v>3.9E-2</c:v>
                </c:pt>
                <c:pt idx="452">
                  <c:v>3.8800000000000001E-2</c:v>
                </c:pt>
                <c:pt idx="453">
                  <c:v>3.9599999999999996E-2</c:v>
                </c:pt>
                <c:pt idx="454">
                  <c:v>4.0300000000000002E-2</c:v>
                </c:pt>
                <c:pt idx="455">
                  <c:v>3.9599999999999996E-2</c:v>
                </c:pt>
                <c:pt idx="456">
                  <c:v>3.9199999999999999E-2</c:v>
                </c:pt>
                <c:pt idx="457">
                  <c:v>3.9300000000000002E-2</c:v>
                </c:pt>
                <c:pt idx="458">
                  <c:v>3.9E-2</c:v>
                </c:pt>
                <c:pt idx="459">
                  <c:v>3.8900000000000004E-2</c:v>
                </c:pt>
                <c:pt idx="460">
                  <c:v>3.8599999999999995E-2</c:v>
                </c:pt>
                <c:pt idx="461">
                  <c:v>3.8199999999999998E-2</c:v>
                </c:pt>
                <c:pt idx="462">
                  <c:v>3.78E-2</c:v>
                </c:pt>
                <c:pt idx="463">
                  <c:v>3.78E-2</c:v>
                </c:pt>
                <c:pt idx="464">
                  <c:v>3.8300000000000001E-2</c:v>
                </c:pt>
                <c:pt idx="465">
                  <c:v>3.8300000000000001E-2</c:v>
                </c:pt>
                <c:pt idx="466">
                  <c:v>3.85E-2</c:v>
                </c:pt>
                <c:pt idx="467">
                  <c:v>3.9100000000000003E-2</c:v>
                </c:pt>
                <c:pt idx="468">
                  <c:v>3.8800000000000001E-2</c:v>
                </c:pt>
                <c:pt idx="469">
                  <c:v>3.9399999999999998E-2</c:v>
                </c:pt>
                <c:pt idx="470">
                  <c:v>3.9399999999999998E-2</c:v>
                </c:pt>
                <c:pt idx="471">
                  <c:v>3.9E-2</c:v>
                </c:pt>
                <c:pt idx="472">
                  <c:v>3.95E-2</c:v>
                </c:pt>
                <c:pt idx="473">
                  <c:v>3.9199999999999999E-2</c:v>
                </c:pt>
                <c:pt idx="474">
                  <c:v>3.9E-2</c:v>
                </c:pt>
                <c:pt idx="475">
                  <c:v>3.9399999999999998E-2</c:v>
                </c:pt>
                <c:pt idx="476">
                  <c:v>3.9300000000000002E-2</c:v>
                </c:pt>
                <c:pt idx="477">
                  <c:v>3.9399999999999998E-2</c:v>
                </c:pt>
                <c:pt idx="478">
                  <c:v>3.9900000000000005E-2</c:v>
                </c:pt>
                <c:pt idx="479">
                  <c:v>3.95E-2</c:v>
                </c:pt>
                <c:pt idx="480">
                  <c:v>3.9900000000000005E-2</c:v>
                </c:pt>
                <c:pt idx="481">
                  <c:v>4.0399999999999998E-2</c:v>
                </c:pt>
                <c:pt idx="482">
                  <c:v>4.1500000000000002E-2</c:v>
                </c:pt>
                <c:pt idx="483">
                  <c:v>4.2199999999999994E-2</c:v>
                </c:pt>
                <c:pt idx="484">
                  <c:v>4.3200000000000002E-2</c:v>
                </c:pt>
                <c:pt idx="485">
                  <c:v>4.3799999999999999E-2</c:v>
                </c:pt>
                <c:pt idx="486">
                  <c:v>4.4000000000000004E-2</c:v>
                </c:pt>
                <c:pt idx="487">
                  <c:v>4.4299999999999999E-2</c:v>
                </c:pt>
                <c:pt idx="488">
                  <c:v>4.4600000000000001E-2</c:v>
                </c:pt>
                <c:pt idx="489">
                  <c:v>4.4400000000000002E-2</c:v>
                </c:pt>
                <c:pt idx="490">
                  <c:v>4.4500000000000005E-2</c:v>
                </c:pt>
                <c:pt idx="491">
                  <c:v>4.4400000000000002E-2</c:v>
                </c:pt>
                <c:pt idx="492">
                  <c:v>4.4000000000000004E-2</c:v>
                </c:pt>
                <c:pt idx="493">
                  <c:v>4.4199999999999996E-2</c:v>
                </c:pt>
                <c:pt idx="494">
                  <c:v>4.4699999999999997E-2</c:v>
                </c:pt>
                <c:pt idx="495">
                  <c:v>4.58E-2</c:v>
                </c:pt>
                <c:pt idx="496">
                  <c:v>4.5499999999999999E-2</c:v>
                </c:pt>
                <c:pt idx="497">
                  <c:v>4.5499999999999999E-2</c:v>
                </c:pt>
                <c:pt idx="498">
                  <c:v>4.6100000000000002E-2</c:v>
                </c:pt>
                <c:pt idx="499">
                  <c:v>4.6600000000000003E-2</c:v>
                </c:pt>
                <c:pt idx="500">
                  <c:v>4.5599999999999995E-2</c:v>
                </c:pt>
                <c:pt idx="501">
                  <c:v>4.5400000000000003E-2</c:v>
                </c:pt>
                <c:pt idx="502">
                  <c:v>4.6199999999999998E-2</c:v>
                </c:pt>
                <c:pt idx="503">
                  <c:v>4.5700000000000005E-2</c:v>
                </c:pt>
                <c:pt idx="504">
                  <c:v>4.5499999999999999E-2</c:v>
                </c:pt>
                <c:pt idx="505">
                  <c:v>4.5199999999999997E-2</c:v>
                </c:pt>
                <c:pt idx="506">
                  <c:v>4.53E-2</c:v>
                </c:pt>
                <c:pt idx="507">
                  <c:v>4.5199999999999997E-2</c:v>
                </c:pt>
                <c:pt idx="508">
                  <c:v>4.5400000000000003E-2</c:v>
                </c:pt>
                <c:pt idx="509">
                  <c:v>4.5999999999999999E-2</c:v>
                </c:pt>
                <c:pt idx="510">
                  <c:v>4.5899999999999996E-2</c:v>
                </c:pt>
                <c:pt idx="511">
                  <c:v>4.53E-2</c:v>
                </c:pt>
                <c:pt idx="512">
                  <c:v>4.5100000000000001E-2</c:v>
                </c:pt>
                <c:pt idx="513">
                  <c:v>4.5199999999999997E-2</c:v>
                </c:pt>
                <c:pt idx="514">
                  <c:v>4.5400000000000003E-2</c:v>
                </c:pt>
                <c:pt idx="515">
                  <c:v>4.5999999999999999E-2</c:v>
                </c:pt>
                <c:pt idx="516">
                  <c:v>4.6500000000000007E-2</c:v>
                </c:pt>
                <c:pt idx="517">
                  <c:v>4.7199999999999999E-2</c:v>
                </c:pt>
                <c:pt idx="518">
                  <c:v>4.7100000000000003E-2</c:v>
                </c:pt>
                <c:pt idx="519">
                  <c:v>4.9000000000000002E-2</c:v>
                </c:pt>
                <c:pt idx="520">
                  <c:v>4.8499999999999995E-2</c:v>
                </c:pt>
                <c:pt idx="521">
                  <c:v>4.8600000000000004E-2</c:v>
                </c:pt>
                <c:pt idx="522">
                  <c:v>4.8300000000000003E-2</c:v>
                </c:pt>
                <c:pt idx="523">
                  <c:v>4.9400000000000006E-2</c:v>
                </c:pt>
                <c:pt idx="524">
                  <c:v>4.9400000000000006E-2</c:v>
                </c:pt>
                <c:pt idx="525">
                  <c:v>4.8099999999999997E-2</c:v>
                </c:pt>
                <c:pt idx="526">
                  <c:v>4.8099999999999997E-2</c:v>
                </c:pt>
                <c:pt idx="527">
                  <c:v>4.7500000000000001E-2</c:v>
                </c:pt>
                <c:pt idx="528">
                  <c:v>4.6300000000000001E-2</c:v>
                </c:pt>
                <c:pt idx="529">
                  <c:v>4.6199999999999998E-2</c:v>
                </c:pt>
                <c:pt idx="530">
                  <c:v>4.5499999999999999E-2</c:v>
                </c:pt>
                <c:pt idx="531">
                  <c:v>4.5100000000000001E-2</c:v>
                </c:pt>
                <c:pt idx="532">
                  <c:v>4.4500000000000005E-2</c:v>
                </c:pt>
                <c:pt idx="533">
                  <c:v>4.4500000000000005E-2</c:v>
                </c:pt>
                <c:pt idx="534">
                  <c:v>4.4500000000000005E-2</c:v>
                </c:pt>
                <c:pt idx="535">
                  <c:v>4.4600000000000001E-2</c:v>
                </c:pt>
                <c:pt idx="536">
                  <c:v>4.41E-2</c:v>
                </c:pt>
                <c:pt idx="537">
                  <c:v>4.3700000000000003E-2</c:v>
                </c:pt>
                <c:pt idx="538">
                  <c:v>4.3499999999999997E-2</c:v>
                </c:pt>
                <c:pt idx="539">
                  <c:v>4.3499999999999997E-2</c:v>
                </c:pt>
                <c:pt idx="540">
                  <c:v>4.41E-2</c:v>
                </c:pt>
                <c:pt idx="541">
                  <c:v>4.3099999999999999E-2</c:v>
                </c:pt>
                <c:pt idx="542">
                  <c:v>4.2800000000000005E-2</c:v>
                </c:pt>
                <c:pt idx="543">
                  <c:v>4.0599999999999997E-2</c:v>
                </c:pt>
                <c:pt idx="544">
                  <c:v>4.0800000000000003E-2</c:v>
                </c:pt>
                <c:pt idx="545">
                  <c:v>4.1200000000000001E-2</c:v>
                </c:pt>
                <c:pt idx="546">
                  <c:v>4.1700000000000001E-2</c:v>
                </c:pt>
                <c:pt idx="547">
                  <c:v>4.2000000000000003E-2</c:v>
                </c:pt>
                <c:pt idx="548">
                  <c:v>4.1399999999999999E-2</c:v>
                </c:pt>
                <c:pt idx="549">
                  <c:v>4.0999999999999995E-2</c:v>
                </c:pt>
                <c:pt idx="550">
                  <c:v>4.07E-2</c:v>
                </c:pt>
                <c:pt idx="551">
                  <c:v>4.0599999999999997E-2</c:v>
                </c:pt>
                <c:pt idx="552">
                  <c:v>3.9900000000000005E-2</c:v>
                </c:pt>
                <c:pt idx="553">
                  <c:v>3.8199999999999998E-2</c:v>
                </c:pt>
                <c:pt idx="554">
                  <c:v>3.8199999999999998E-2</c:v>
                </c:pt>
                <c:pt idx="555">
                  <c:v>3.8399999999999997E-2</c:v>
                </c:pt>
                <c:pt idx="556">
                  <c:v>3.73E-2</c:v>
                </c:pt>
                <c:pt idx="557">
                  <c:v>3.7499999999999999E-2</c:v>
                </c:pt>
                <c:pt idx="558">
                  <c:v>3.7499999999999999E-2</c:v>
                </c:pt>
                <c:pt idx="559">
                  <c:v>3.8100000000000002E-2</c:v>
                </c:pt>
                <c:pt idx="560">
                  <c:v>3.7499999999999999E-2</c:v>
                </c:pt>
                <c:pt idx="561">
                  <c:v>3.7499999999999999E-2</c:v>
                </c:pt>
                <c:pt idx="562">
                  <c:v>3.6000000000000004E-2</c:v>
                </c:pt>
                <c:pt idx="563">
                  <c:v>3.6000000000000004E-2</c:v>
                </c:pt>
                <c:pt idx="564">
                  <c:v>3.5499999999999997E-2</c:v>
                </c:pt>
                <c:pt idx="565">
                  <c:v>3.5799999999999998E-2</c:v>
                </c:pt>
                <c:pt idx="566">
                  <c:v>3.49E-2</c:v>
                </c:pt>
                <c:pt idx="567">
                  <c:v>3.56E-2</c:v>
                </c:pt>
                <c:pt idx="568">
                  <c:v>3.73E-2</c:v>
                </c:pt>
                <c:pt idx="569">
                  <c:v>3.6400000000000002E-2</c:v>
                </c:pt>
                <c:pt idx="570">
                  <c:v>3.6499999999999998E-2</c:v>
                </c:pt>
                <c:pt idx="571">
                  <c:v>3.5699999999999996E-2</c:v>
                </c:pt>
                <c:pt idx="572">
                  <c:v>3.6900000000000002E-2</c:v>
                </c:pt>
                <c:pt idx="573">
                  <c:v>3.7499999999999999E-2</c:v>
                </c:pt>
                <c:pt idx="574">
                  <c:v>3.78E-2</c:v>
                </c:pt>
                <c:pt idx="575">
                  <c:v>3.6900000000000002E-2</c:v>
                </c:pt>
                <c:pt idx="576">
                  <c:v>3.7499999999999999E-2</c:v>
                </c:pt>
                <c:pt idx="577">
                  <c:v>3.6600000000000001E-2</c:v>
                </c:pt>
                <c:pt idx="578">
                  <c:v>3.6799999999999999E-2</c:v>
                </c:pt>
                <c:pt idx="579">
                  <c:v>3.6799999999999999E-2</c:v>
                </c:pt>
                <c:pt idx="580">
                  <c:v>3.73E-2</c:v>
                </c:pt>
                <c:pt idx="581">
                  <c:v>3.73E-2</c:v>
                </c:pt>
                <c:pt idx="582">
                  <c:v>3.7400000000000003E-2</c:v>
                </c:pt>
                <c:pt idx="583">
                  <c:v>3.7200000000000004E-2</c:v>
                </c:pt>
                <c:pt idx="584">
                  <c:v>3.6400000000000002E-2</c:v>
                </c:pt>
                <c:pt idx="585">
                  <c:v>3.6499999999999998E-2</c:v>
                </c:pt>
                <c:pt idx="586">
                  <c:v>3.6000000000000004E-2</c:v>
                </c:pt>
                <c:pt idx="587">
                  <c:v>3.5099999999999999E-2</c:v>
                </c:pt>
                <c:pt idx="588">
                  <c:v>3.4500000000000003E-2</c:v>
                </c:pt>
                <c:pt idx="589">
                  <c:v>3.4700000000000002E-2</c:v>
                </c:pt>
                <c:pt idx="590">
                  <c:v>3.49E-2</c:v>
                </c:pt>
                <c:pt idx="591">
                  <c:v>3.4500000000000003E-2</c:v>
                </c:pt>
                <c:pt idx="592">
                  <c:v>3.2899999999999999E-2</c:v>
                </c:pt>
                <c:pt idx="593">
                  <c:v>3.3599999999999998E-2</c:v>
                </c:pt>
                <c:pt idx="594">
                  <c:v>3.6499999999999998E-2</c:v>
                </c:pt>
                <c:pt idx="595">
                  <c:v>3.5000000000000003E-2</c:v>
                </c:pt>
                <c:pt idx="596">
                  <c:v>3.3300000000000003E-2</c:v>
                </c:pt>
                <c:pt idx="597">
                  <c:v>3.3300000000000003E-2</c:v>
                </c:pt>
                <c:pt idx="598">
                  <c:v>3.3099999999999997E-2</c:v>
                </c:pt>
                <c:pt idx="599">
                  <c:v>3.3300000000000003E-2</c:v>
                </c:pt>
                <c:pt idx="600">
                  <c:v>3.2300000000000002E-2</c:v>
                </c:pt>
                <c:pt idx="601">
                  <c:v>3.2599999999999997E-2</c:v>
                </c:pt>
                <c:pt idx="602">
                  <c:v>3.2799999999999996E-2</c:v>
                </c:pt>
                <c:pt idx="603">
                  <c:v>3.2400000000000005E-2</c:v>
                </c:pt>
                <c:pt idx="604">
                  <c:v>3.15E-2</c:v>
                </c:pt>
                <c:pt idx="605">
                  <c:v>3.1800000000000002E-2</c:v>
                </c:pt>
                <c:pt idx="606">
                  <c:v>3.2099999999999997E-2</c:v>
                </c:pt>
                <c:pt idx="607">
                  <c:v>3.1300000000000001E-2</c:v>
                </c:pt>
                <c:pt idx="608">
                  <c:v>3.1300000000000001E-2</c:v>
                </c:pt>
                <c:pt idx="609">
                  <c:v>3.0699999999999998E-2</c:v>
                </c:pt>
                <c:pt idx="610">
                  <c:v>3.0299999999999997E-2</c:v>
                </c:pt>
                <c:pt idx="611">
                  <c:v>2.98E-2</c:v>
                </c:pt>
                <c:pt idx="612">
                  <c:v>3.0099999999999998E-2</c:v>
                </c:pt>
                <c:pt idx="613">
                  <c:v>2.9900000000000003E-2</c:v>
                </c:pt>
                <c:pt idx="614">
                  <c:v>2.8799999999999999E-2</c:v>
                </c:pt>
                <c:pt idx="615">
                  <c:v>2.9600000000000001E-2</c:v>
                </c:pt>
                <c:pt idx="616">
                  <c:v>2.9900000000000003E-2</c:v>
                </c:pt>
                <c:pt idx="617">
                  <c:v>2.9100000000000001E-2</c:v>
                </c:pt>
                <c:pt idx="618">
                  <c:v>2.9300000000000003E-2</c:v>
                </c:pt>
                <c:pt idx="619">
                  <c:v>2.86E-2</c:v>
                </c:pt>
                <c:pt idx="620">
                  <c:v>2.87E-2</c:v>
                </c:pt>
                <c:pt idx="621">
                  <c:v>2.8999999999999998E-2</c:v>
                </c:pt>
                <c:pt idx="622">
                  <c:v>2.8799999999999999E-2</c:v>
                </c:pt>
                <c:pt idx="623">
                  <c:v>2.87E-2</c:v>
                </c:pt>
                <c:pt idx="624">
                  <c:v>2.81E-2</c:v>
                </c:pt>
                <c:pt idx="625">
                  <c:v>2.7999999999999997E-2</c:v>
                </c:pt>
                <c:pt idx="626">
                  <c:v>2.81E-2</c:v>
                </c:pt>
                <c:pt idx="627">
                  <c:v>2.7799999999999998E-2</c:v>
                </c:pt>
                <c:pt idx="628">
                  <c:v>2.8399999999999998E-2</c:v>
                </c:pt>
                <c:pt idx="629">
                  <c:v>2.7200000000000002E-2</c:v>
                </c:pt>
                <c:pt idx="630">
                  <c:v>2.7200000000000002E-2</c:v>
                </c:pt>
                <c:pt idx="631">
                  <c:v>2.7099999999999999E-2</c:v>
                </c:pt>
                <c:pt idx="632">
                  <c:v>2.7099999999999999E-2</c:v>
                </c:pt>
                <c:pt idx="633">
                  <c:v>2.6699999999999998E-2</c:v>
                </c:pt>
                <c:pt idx="634">
                  <c:v>2.6600000000000002E-2</c:v>
                </c:pt>
                <c:pt idx="635">
                  <c:v>2.6699999999999998E-2</c:v>
                </c:pt>
                <c:pt idx="636">
                  <c:v>2.6499999999999999E-2</c:v>
                </c:pt>
                <c:pt idx="637">
                  <c:v>2.7900000000000001E-2</c:v>
                </c:pt>
                <c:pt idx="638">
                  <c:v>2.7699999999999999E-2</c:v>
                </c:pt>
                <c:pt idx="639">
                  <c:v>2.7300000000000001E-2</c:v>
                </c:pt>
                <c:pt idx="640">
                  <c:v>2.7300000000000001E-2</c:v>
                </c:pt>
                <c:pt idx="641">
                  <c:v>2.7300000000000001E-2</c:v>
                </c:pt>
                <c:pt idx="642">
                  <c:v>2.81E-2</c:v>
                </c:pt>
                <c:pt idx="643">
                  <c:v>2.9700000000000001E-2</c:v>
                </c:pt>
                <c:pt idx="644">
                  <c:v>3.0200000000000001E-2</c:v>
                </c:pt>
                <c:pt idx="645">
                  <c:v>3.0499999999999999E-2</c:v>
                </c:pt>
                <c:pt idx="646">
                  <c:v>3.0899999999999997E-2</c:v>
                </c:pt>
                <c:pt idx="647">
                  <c:v>3.1699999999999999E-2</c:v>
                </c:pt>
                <c:pt idx="648">
                  <c:v>3.1800000000000002E-2</c:v>
                </c:pt>
                <c:pt idx="649">
                  <c:v>3.1300000000000001E-2</c:v>
                </c:pt>
                <c:pt idx="650">
                  <c:v>3.04E-2</c:v>
                </c:pt>
                <c:pt idx="651">
                  <c:v>2.9700000000000001E-2</c:v>
                </c:pt>
                <c:pt idx="652">
                  <c:v>2.98E-2</c:v>
                </c:pt>
                <c:pt idx="653">
                  <c:v>2.9600000000000001E-2</c:v>
                </c:pt>
                <c:pt idx="654">
                  <c:v>2.9399999999999999E-2</c:v>
                </c:pt>
                <c:pt idx="655">
                  <c:v>0.03</c:v>
                </c:pt>
                <c:pt idx="656">
                  <c:v>2.9500000000000002E-2</c:v>
                </c:pt>
                <c:pt idx="657">
                  <c:v>2.9900000000000003E-2</c:v>
                </c:pt>
                <c:pt idx="658">
                  <c:v>2.9600000000000001E-2</c:v>
                </c:pt>
                <c:pt idx="659">
                  <c:v>2.9300000000000003E-2</c:v>
                </c:pt>
                <c:pt idx="660">
                  <c:v>3.0200000000000001E-2</c:v>
                </c:pt>
                <c:pt idx="661">
                  <c:v>2.98E-2</c:v>
                </c:pt>
                <c:pt idx="662">
                  <c:v>2.8999999999999998E-2</c:v>
                </c:pt>
                <c:pt idx="663">
                  <c:v>2.8799999999999999E-2</c:v>
                </c:pt>
                <c:pt idx="664">
                  <c:v>2.7799999999999998E-2</c:v>
                </c:pt>
                <c:pt idx="665">
                  <c:v>2.7999999999999997E-2</c:v>
                </c:pt>
                <c:pt idx="666">
                  <c:v>2.7699999999999999E-2</c:v>
                </c:pt>
                <c:pt idx="667">
                  <c:v>2.87E-2</c:v>
                </c:pt>
                <c:pt idx="668">
                  <c:v>2.86E-2</c:v>
                </c:pt>
                <c:pt idx="669">
                  <c:v>2.87E-2</c:v>
                </c:pt>
                <c:pt idx="670">
                  <c:v>2.87E-2</c:v>
                </c:pt>
                <c:pt idx="671">
                  <c:v>2.8799999999999999E-2</c:v>
                </c:pt>
                <c:pt idx="672">
                  <c:v>2.86E-2</c:v>
                </c:pt>
                <c:pt idx="673">
                  <c:v>2.8799999999999999E-2</c:v>
                </c:pt>
                <c:pt idx="674">
                  <c:v>3.0099999999999998E-2</c:v>
                </c:pt>
                <c:pt idx="675">
                  <c:v>2.9900000000000003E-2</c:v>
                </c:pt>
                <c:pt idx="676">
                  <c:v>3.0499999999999999E-2</c:v>
                </c:pt>
                <c:pt idx="677">
                  <c:v>3.0899999999999997E-2</c:v>
                </c:pt>
                <c:pt idx="678">
                  <c:v>3.1400000000000004E-2</c:v>
                </c:pt>
                <c:pt idx="679">
                  <c:v>3.0899999999999997E-2</c:v>
                </c:pt>
                <c:pt idx="680">
                  <c:v>2.98E-2</c:v>
                </c:pt>
                <c:pt idx="681">
                  <c:v>3.1E-2</c:v>
                </c:pt>
                <c:pt idx="682">
                  <c:v>3.1E-2</c:v>
                </c:pt>
                <c:pt idx="683">
                  <c:v>3.1099999999999999E-2</c:v>
                </c:pt>
                <c:pt idx="684">
                  <c:v>3.1E-2</c:v>
                </c:pt>
                <c:pt idx="685">
                  <c:v>3.1200000000000002E-2</c:v>
                </c:pt>
                <c:pt idx="686">
                  <c:v>3.0499999999999999E-2</c:v>
                </c:pt>
                <c:pt idx="687">
                  <c:v>3.1099999999999999E-2</c:v>
                </c:pt>
                <c:pt idx="688">
                  <c:v>3.2199999999999999E-2</c:v>
                </c:pt>
                <c:pt idx="689">
                  <c:v>3.4500000000000003E-2</c:v>
                </c:pt>
                <c:pt idx="690">
                  <c:v>3.56E-2</c:v>
                </c:pt>
                <c:pt idx="691">
                  <c:v>3.5499999999999997E-2</c:v>
                </c:pt>
                <c:pt idx="692">
                  <c:v>3.5499999999999997E-2</c:v>
                </c:pt>
                <c:pt idx="693">
                  <c:v>3.6900000000000002E-2</c:v>
                </c:pt>
                <c:pt idx="694">
                  <c:v>3.9199999999999999E-2</c:v>
                </c:pt>
                <c:pt idx="695">
                  <c:v>3.8900000000000004E-2</c:v>
                </c:pt>
                <c:pt idx="696">
                  <c:v>3.7599999999999995E-2</c:v>
                </c:pt>
                <c:pt idx="697">
                  <c:v>3.85E-2</c:v>
                </c:pt>
                <c:pt idx="698">
                  <c:v>4.1599999999999998E-2</c:v>
                </c:pt>
                <c:pt idx="699">
                  <c:v>4.4199999999999996E-2</c:v>
                </c:pt>
                <c:pt idx="700">
                  <c:v>4.6699999999999998E-2</c:v>
                </c:pt>
                <c:pt idx="701">
                  <c:v>4.7199999999999999E-2</c:v>
                </c:pt>
                <c:pt idx="702">
                  <c:v>0.05</c:v>
                </c:pt>
                <c:pt idx="703">
                  <c:v>5.1100000000000007E-2</c:v>
                </c:pt>
                <c:pt idx="704">
                  <c:v>5.0999999999999997E-2</c:v>
                </c:pt>
                <c:pt idx="705">
                  <c:v>5.2699999999999997E-2</c:v>
                </c:pt>
                <c:pt idx="706">
                  <c:v>5.2999999999999999E-2</c:v>
                </c:pt>
                <c:pt idx="707">
                  <c:v>5.2499999999999998E-2</c:v>
                </c:pt>
                <c:pt idx="708">
                  <c:v>5.0999999999999997E-2</c:v>
                </c:pt>
                <c:pt idx="709">
                  <c:v>5.0900000000000001E-2</c:v>
                </c:pt>
                <c:pt idx="710">
                  <c:v>5.2300000000000006E-2</c:v>
                </c:pt>
                <c:pt idx="711">
                  <c:v>5.7800000000000004E-2</c:v>
                </c:pt>
                <c:pt idx="712">
                  <c:v>5.8099999999999999E-2</c:v>
                </c:pt>
                <c:pt idx="713">
                  <c:v>5.7000000000000002E-2</c:v>
                </c:pt>
                <c:pt idx="714">
                  <c:v>5.2999999999999999E-2</c:v>
                </c:pt>
                <c:pt idx="715">
                  <c:v>5.5099999999999996E-2</c:v>
                </c:pt>
                <c:pt idx="716">
                  <c:v>5.5399999999999998E-2</c:v>
                </c:pt>
                <c:pt idx="717">
                  <c:v>5.2999999999999999E-2</c:v>
                </c:pt>
                <c:pt idx="718">
                  <c:v>4.99E-2</c:v>
                </c:pt>
                <c:pt idx="719">
                  <c:v>5.2199999999999996E-2</c:v>
                </c:pt>
                <c:pt idx="720">
                  <c:v>5.1299999999999998E-2</c:v>
                </c:pt>
                <c:pt idx="721">
                  <c:v>5.5500000000000001E-2</c:v>
                </c:pt>
                <c:pt idx="722">
                  <c:v>5.6600000000000004E-2</c:v>
                </c:pt>
                <c:pt idx="723">
                  <c:v>5.8899999999999994E-2</c:v>
                </c:pt>
                <c:pt idx="724">
                  <c:v>6.0199999999999997E-2</c:v>
                </c:pt>
                <c:pt idx="725">
                  <c:v>6.2899999999999998E-2</c:v>
                </c:pt>
                <c:pt idx="726">
                  <c:v>6.7000000000000004E-2</c:v>
                </c:pt>
                <c:pt idx="727">
                  <c:v>6.6600000000000006E-2</c:v>
                </c:pt>
                <c:pt idx="728">
                  <c:v>6.9199999999999998E-2</c:v>
                </c:pt>
                <c:pt idx="729">
                  <c:v>6.9400000000000003E-2</c:v>
                </c:pt>
                <c:pt idx="730">
                  <c:v>7.0800000000000002E-2</c:v>
                </c:pt>
                <c:pt idx="731">
                  <c:v>6.9500000000000006E-2</c:v>
                </c:pt>
                <c:pt idx="732">
                  <c:v>7.0800000000000002E-2</c:v>
                </c:pt>
                <c:pt idx="733">
                  <c:v>6.6100000000000006E-2</c:v>
                </c:pt>
                <c:pt idx="734">
                  <c:v>6.5799999999999997E-2</c:v>
                </c:pt>
                <c:pt idx="735">
                  <c:v>6.4899999999999999E-2</c:v>
                </c:pt>
                <c:pt idx="736">
                  <c:v>6.3299999999999995E-2</c:v>
                </c:pt>
                <c:pt idx="737">
                  <c:v>6.3099999999999989E-2</c:v>
                </c:pt>
                <c:pt idx="738">
                  <c:v>6.2699999999999992E-2</c:v>
                </c:pt>
                <c:pt idx="739">
                  <c:v>6.4199999999999993E-2</c:v>
                </c:pt>
                <c:pt idx="740">
                  <c:v>6.480000000000001E-2</c:v>
                </c:pt>
                <c:pt idx="741">
                  <c:v>6.3299999999999995E-2</c:v>
                </c:pt>
                <c:pt idx="742">
                  <c:v>6.1500000000000006E-2</c:v>
                </c:pt>
                <c:pt idx="743">
                  <c:v>6.13E-2</c:v>
                </c:pt>
                <c:pt idx="744">
                  <c:v>6.0899999999999996E-2</c:v>
                </c:pt>
                <c:pt idx="745">
                  <c:v>6.1200000000000004E-2</c:v>
                </c:pt>
                <c:pt idx="746">
                  <c:v>6.3200000000000006E-2</c:v>
                </c:pt>
                <c:pt idx="747">
                  <c:v>6.5000000000000002E-2</c:v>
                </c:pt>
                <c:pt idx="748">
                  <c:v>6.6500000000000004E-2</c:v>
                </c:pt>
                <c:pt idx="749">
                  <c:v>6.7299999999999999E-2</c:v>
                </c:pt>
                <c:pt idx="750">
                  <c:v>6.6000000000000003E-2</c:v>
                </c:pt>
                <c:pt idx="751">
                  <c:v>6.4199999999999993E-2</c:v>
                </c:pt>
                <c:pt idx="752">
                  <c:v>6.3200000000000006E-2</c:v>
                </c:pt>
                <c:pt idx="753">
                  <c:v>6.2800000000000009E-2</c:v>
                </c:pt>
                <c:pt idx="754">
                  <c:v>6.2699999999999992E-2</c:v>
                </c:pt>
                <c:pt idx="755">
                  <c:v>6.3899999999999998E-2</c:v>
                </c:pt>
                <c:pt idx="756">
                  <c:v>6.4299999999999996E-2</c:v>
                </c:pt>
                <c:pt idx="757">
                  <c:v>6.3899999999999998E-2</c:v>
                </c:pt>
                <c:pt idx="758">
                  <c:v>6.3500000000000001E-2</c:v>
                </c:pt>
                <c:pt idx="759">
                  <c:v>6.3899999999999998E-2</c:v>
                </c:pt>
                <c:pt idx="760">
                  <c:v>6.5700000000000008E-2</c:v>
                </c:pt>
                <c:pt idx="761">
                  <c:v>6.7900000000000002E-2</c:v>
                </c:pt>
                <c:pt idx="762">
                  <c:v>6.7099999999999993E-2</c:v>
                </c:pt>
                <c:pt idx="763">
                  <c:v>6.6900000000000001E-2</c:v>
                </c:pt>
                <c:pt idx="764">
                  <c:v>6.6699999999999995E-2</c:v>
                </c:pt>
                <c:pt idx="765">
                  <c:v>6.7099999999999993E-2</c:v>
                </c:pt>
                <c:pt idx="766">
                  <c:v>6.8099999999999994E-2</c:v>
                </c:pt>
                <c:pt idx="767">
                  <c:v>6.9599999999999995E-2</c:v>
                </c:pt>
                <c:pt idx="768">
                  <c:v>6.7799999999999999E-2</c:v>
                </c:pt>
                <c:pt idx="769">
                  <c:v>6.8099999999999994E-2</c:v>
                </c:pt>
                <c:pt idx="770">
                  <c:v>6.9000000000000006E-2</c:v>
                </c:pt>
                <c:pt idx="771">
                  <c:v>6.9599999999999995E-2</c:v>
                </c:pt>
                <c:pt idx="772">
                  <c:v>7.0900000000000005E-2</c:v>
                </c:pt>
                <c:pt idx="773">
                  <c:v>7.2300000000000003E-2</c:v>
                </c:pt>
                <c:pt idx="774">
                  <c:v>7.1800000000000003E-2</c:v>
                </c:pt>
                <c:pt idx="775">
                  <c:v>7.1199999999999999E-2</c:v>
                </c:pt>
                <c:pt idx="776">
                  <c:v>7.1800000000000003E-2</c:v>
                </c:pt>
                <c:pt idx="777">
                  <c:v>7.1900000000000006E-2</c:v>
                </c:pt>
                <c:pt idx="778">
                  <c:v>7.3099999999999998E-2</c:v>
                </c:pt>
                <c:pt idx="779">
                  <c:v>7.4900000000000008E-2</c:v>
                </c:pt>
                <c:pt idx="780">
                  <c:v>7.5700000000000003E-2</c:v>
                </c:pt>
                <c:pt idx="781">
                  <c:v>7.6299999999999993E-2</c:v>
                </c:pt>
                <c:pt idx="782">
                  <c:v>7.7899999999999997E-2</c:v>
                </c:pt>
              </c:numCache>
            </c:numRef>
          </c:val>
          <c:smooth val="0"/>
          <c:extLst>
            <c:ext xmlns:c16="http://schemas.microsoft.com/office/drawing/2014/chart" uri="{C3380CC4-5D6E-409C-BE32-E72D297353CC}">
              <c16:uniqueId val="{00000000-1007-401D-892A-8730546DEC69}"/>
            </c:ext>
          </c:extLst>
        </c:ser>
        <c:dLbls>
          <c:dLblPos val="ctr"/>
          <c:showLegendKey val="0"/>
          <c:showVal val="1"/>
          <c:showCatName val="0"/>
          <c:showSerName val="0"/>
          <c:showPercent val="0"/>
          <c:showBubbleSize val="0"/>
        </c:dLbls>
        <c:smooth val="0"/>
        <c:axId val="684260624"/>
        <c:axId val="684262264"/>
      </c:lineChart>
      <c:dateAx>
        <c:axId val="684260624"/>
        <c:scaling>
          <c:orientation val="minMax"/>
        </c:scaling>
        <c:delete val="1"/>
        <c:axPos val="b"/>
        <c:numFmt formatCode="yyyy\-mm\-dd" sourceLinked="1"/>
        <c:majorTickMark val="none"/>
        <c:minorTickMark val="none"/>
        <c:tickLblPos val="nextTo"/>
        <c:crossAx val="684262264"/>
        <c:crosses val="autoZero"/>
        <c:auto val="1"/>
        <c:lblOffset val="100"/>
        <c:baseTimeUnit val="days"/>
      </c:dateAx>
      <c:valAx>
        <c:axId val="684262264"/>
        <c:scaling>
          <c:orientation val="minMax"/>
        </c:scaling>
        <c:delete val="0"/>
        <c:axPos val="l"/>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6842606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no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black">
                    <a:lumMod val="65000"/>
                    <a:lumOff val="35000"/>
                  </a:prstClr>
                </a:solidFill>
                <a:latin typeface="+mn-lt"/>
                <a:ea typeface="+mn-ea"/>
                <a:cs typeface="+mn-cs"/>
              </a:defRPr>
            </a:pPr>
            <a:r>
              <a:rPr lang="en-US" sz="1400" b="1" i="0" u="none" strike="noStrike" kern="1200" cap="none" spc="0" baseline="0">
                <a:solidFill>
                  <a:srgbClr val="004C92"/>
                </a:solidFill>
              </a:rPr>
              <a:t>Change (</a:t>
            </a:r>
            <a:r>
              <a:rPr lang="el-GR" sz="1400">
                <a:solidFill>
                  <a:srgbClr val="002060"/>
                </a:solidFill>
              </a:rPr>
              <a:t>Δ</a:t>
            </a:r>
            <a:r>
              <a:rPr lang="en-US" sz="1400" b="1" i="0" u="none" strike="noStrike" kern="1200" cap="none" spc="0" baseline="0">
                <a:solidFill>
                  <a:srgbClr val="004C92"/>
                </a:solidFill>
              </a:rPr>
              <a:t>) from 2020 Covid Lows</a:t>
            </a:r>
          </a:p>
        </c:rich>
      </c:tx>
      <c:layout>
        <c:manualLayout>
          <c:xMode val="edge"/>
          <c:yMode val="edge"/>
          <c:x val="0.20166742192856629"/>
          <c:y val="2.7352145280594826E-3"/>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9.2775390019699283E-2"/>
          <c:y val="0.20616994393009094"/>
          <c:w val="0.81351218189939178"/>
          <c:h val="0.58567355707379332"/>
        </c:manualLayout>
      </c:layout>
      <c:barChart>
        <c:barDir val="col"/>
        <c:grouping val="stacked"/>
        <c:varyColors val="0"/>
        <c:ser>
          <c:idx val="0"/>
          <c:order val="0"/>
          <c:tx>
            <c:strRef>
              <c:f>Sheet1!$B$1</c:f>
              <c:strCache>
                <c:ptCount val="1"/>
                <c:pt idx="0">
                  <c:v>Sales</c:v>
                </c:pt>
              </c:strCache>
            </c:strRef>
          </c:tx>
          <c:spPr>
            <a:solidFill>
              <a:schemeClr val="accent1"/>
            </a:solidFill>
            <a:ln>
              <a:noFill/>
            </a:ln>
            <a:effectLst/>
          </c:spPr>
          <c:invertIfNegative val="0"/>
          <c:dPt>
            <c:idx val="2"/>
            <c:invertIfNegative val="0"/>
            <c:bubble3D val="0"/>
            <c:spPr>
              <a:solidFill>
                <a:schemeClr val="accent1"/>
              </a:solidFill>
              <a:ln>
                <a:noFill/>
              </a:ln>
              <a:effectLst/>
            </c:spPr>
            <c:extLst>
              <c:ext xmlns:c16="http://schemas.microsoft.com/office/drawing/2014/chart" uri="{C3380CC4-5D6E-409C-BE32-E72D297353CC}">
                <c16:uniqueId val="{00000001-0BBB-4CAD-A8BD-C8E4FEDD7963}"/>
              </c:ext>
            </c:extLst>
          </c:dPt>
          <c:dLbls>
            <c:dLbl>
              <c:idx val="0"/>
              <c:layout>
                <c:manualLayout>
                  <c:x val="0"/>
                  <c:y val="-8.386179233671467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1DD-43A3-9870-1B3832C7FF7E}"/>
                </c:ext>
              </c:extLst>
            </c:dLbl>
            <c:dLbl>
              <c:idx val="3"/>
              <c:layout>
                <c:manualLayout>
                  <c:x val="5.1949221333654098E-17"/>
                  <c:y val="-0.1334001558307711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1DD-43A3-9870-1B3832C7FF7E}"/>
                </c:ext>
              </c:extLst>
            </c:dLbl>
            <c:dLbl>
              <c:idx val="6"/>
              <c:layout>
                <c:manualLayout>
                  <c:x val="0"/>
                  <c:y val="-0.2981207056491085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1DD-43A3-9870-1B3832C7FF7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Income</c:v>
                </c:pt>
                <c:pt idx="3">
                  <c:v>Home Price</c:v>
                </c:pt>
                <c:pt idx="6">
                  <c:v>Mortgage Payment</c:v>
                </c:pt>
              </c:strCache>
            </c:strRef>
          </c:cat>
          <c:val>
            <c:numRef>
              <c:f>Sheet1!$B$2:$B$8</c:f>
              <c:numCache>
                <c:formatCode>General</c:formatCode>
                <c:ptCount val="7"/>
                <c:pt idx="0" formatCode="0%">
                  <c:v>0.11</c:v>
                </c:pt>
                <c:pt idx="3" formatCode="0%">
                  <c:v>0.23</c:v>
                </c:pt>
                <c:pt idx="6" formatCode="0%">
                  <c:v>0.68</c:v>
                </c:pt>
              </c:numCache>
            </c:numRef>
          </c:val>
          <c:extLst>
            <c:ext xmlns:c16="http://schemas.microsoft.com/office/drawing/2014/chart" uri="{C3380CC4-5D6E-409C-BE32-E72D297353CC}">
              <c16:uniqueId val="{00000002-0BBB-4CAD-A8BD-C8E4FEDD7963}"/>
            </c:ext>
          </c:extLst>
        </c:ser>
        <c:dLbls>
          <c:showLegendKey val="0"/>
          <c:showVal val="0"/>
          <c:showCatName val="0"/>
          <c:showSerName val="0"/>
          <c:showPercent val="0"/>
          <c:showBubbleSize val="0"/>
        </c:dLbls>
        <c:gapWidth val="150"/>
        <c:overlap val="100"/>
        <c:axId val="443658128"/>
        <c:axId val="443653808"/>
      </c:barChart>
      <c:catAx>
        <c:axId val="443658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443653808"/>
        <c:crosses val="autoZero"/>
        <c:auto val="1"/>
        <c:lblAlgn val="ctr"/>
        <c:lblOffset val="100"/>
        <c:noMultiLvlLbl val="0"/>
      </c:catAx>
      <c:valAx>
        <c:axId val="44365380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4436581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600" b="1"/>
              <a:t>REITs vs. Stocks historical performance in Sustained High</a:t>
            </a:r>
            <a:r>
              <a:rPr lang="en-US" sz="1600" b="1" baseline="0"/>
              <a:t>-Rate Environments</a:t>
            </a:r>
            <a:endParaRPr lang="en-US" sz="1600" b="1"/>
          </a:p>
        </c:rich>
      </c:tx>
      <c:layout>
        <c:manualLayout>
          <c:xMode val="edge"/>
          <c:yMode val="edge"/>
          <c:x val="0.12148950131233596"/>
          <c:y val="4.120792592905848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9806758530183722E-2"/>
          <c:y val="0.16979766965424517"/>
          <c:w val="0.90491546369203846"/>
          <c:h val="0.73963639898278066"/>
        </c:manualLayout>
      </c:layout>
      <c:barChart>
        <c:barDir val="col"/>
        <c:grouping val="clustered"/>
        <c:varyColors val="0"/>
        <c:ser>
          <c:idx val="0"/>
          <c:order val="0"/>
          <c:tx>
            <c:strRef>
              <c:f>Sheet1!$B$1</c:f>
              <c:strCache>
                <c:ptCount val="1"/>
                <c:pt idx="0">
                  <c:v>REITs Cumulative Total Return</c:v>
                </c:pt>
              </c:strCache>
            </c:strRef>
          </c:tx>
          <c:spPr>
            <a:solidFill>
              <a:srgbClr val="005EB4"/>
            </a:solidFill>
            <a:ln>
              <a:noFill/>
            </a:ln>
            <a:effectLst/>
          </c:spPr>
          <c:invertIfNegative val="0"/>
          <c:cat>
            <c:strRef>
              <c:f>Sheet1!$A$2:$A$7</c:f>
              <c:strCache>
                <c:ptCount val="6"/>
                <c:pt idx="0">
                  <c:v>Dec 1976 - Sept 1981</c:v>
                </c:pt>
                <c:pt idx="1">
                  <c:v>Jan 1983 - June 1984</c:v>
                </c:pt>
                <c:pt idx="2">
                  <c:v>Aug 1986 - Oct 1987</c:v>
                </c:pt>
                <c:pt idx="3">
                  <c:v>Oct 1993 - Nov 1994</c:v>
                </c:pt>
                <c:pt idx="4">
                  <c:v>Oct 1998 - Jan 2001</c:v>
                </c:pt>
                <c:pt idx="5">
                  <c:v>June 2003 - June 2006</c:v>
                </c:pt>
              </c:strCache>
            </c:strRef>
          </c:cat>
          <c:val>
            <c:numRef>
              <c:f>Sheet1!$B$2:$B$7</c:f>
              <c:numCache>
                <c:formatCode>General</c:formatCode>
                <c:ptCount val="6"/>
                <c:pt idx="0">
                  <c:v>137.4</c:v>
                </c:pt>
                <c:pt idx="1">
                  <c:v>35.6</c:v>
                </c:pt>
                <c:pt idx="2">
                  <c:v>-10.1</c:v>
                </c:pt>
                <c:pt idx="3">
                  <c:v>-10.3</c:v>
                </c:pt>
                <c:pt idx="4">
                  <c:v>27.4</c:v>
                </c:pt>
                <c:pt idx="5">
                  <c:v>108.2</c:v>
                </c:pt>
              </c:numCache>
            </c:numRef>
          </c:val>
          <c:extLst>
            <c:ext xmlns:c16="http://schemas.microsoft.com/office/drawing/2014/chart" uri="{C3380CC4-5D6E-409C-BE32-E72D297353CC}">
              <c16:uniqueId val="{00000000-99D6-FF4F-8917-A89AAED4C5CC}"/>
            </c:ext>
          </c:extLst>
        </c:ser>
        <c:ser>
          <c:idx val="1"/>
          <c:order val="1"/>
          <c:tx>
            <c:strRef>
              <c:f>Sheet1!$C$1</c:f>
              <c:strCache>
                <c:ptCount val="1"/>
                <c:pt idx="0">
                  <c:v>Stocks Cumulative Total Return</c:v>
                </c:pt>
              </c:strCache>
            </c:strRef>
          </c:tx>
          <c:spPr>
            <a:solidFill>
              <a:srgbClr val="00396B"/>
            </a:solidFill>
            <a:ln>
              <a:noFill/>
            </a:ln>
            <a:effectLst/>
          </c:spPr>
          <c:invertIfNegative val="0"/>
          <c:cat>
            <c:strRef>
              <c:f>Sheet1!$A$2:$A$7</c:f>
              <c:strCache>
                <c:ptCount val="6"/>
                <c:pt idx="0">
                  <c:v>Dec 1976 - Sept 1981</c:v>
                </c:pt>
                <c:pt idx="1">
                  <c:v>Jan 1983 - June 1984</c:v>
                </c:pt>
                <c:pt idx="2">
                  <c:v>Aug 1986 - Oct 1987</c:v>
                </c:pt>
                <c:pt idx="3">
                  <c:v>Oct 1993 - Nov 1994</c:v>
                </c:pt>
                <c:pt idx="4">
                  <c:v>Oct 1998 - Jan 2001</c:v>
                </c:pt>
                <c:pt idx="5">
                  <c:v>June 2003 - June 2006</c:v>
                </c:pt>
              </c:strCache>
            </c:strRef>
          </c:cat>
          <c:val>
            <c:numRef>
              <c:f>Sheet1!$C$2:$C$7</c:f>
              <c:numCache>
                <c:formatCode>General</c:formatCode>
                <c:ptCount val="6"/>
                <c:pt idx="0">
                  <c:v>46</c:v>
                </c:pt>
                <c:pt idx="1">
                  <c:v>16.5</c:v>
                </c:pt>
                <c:pt idx="2">
                  <c:v>10.9</c:v>
                </c:pt>
                <c:pt idx="3">
                  <c:v>0.1</c:v>
                </c:pt>
                <c:pt idx="4">
                  <c:v>27.8</c:v>
                </c:pt>
                <c:pt idx="5">
                  <c:v>37.6</c:v>
                </c:pt>
              </c:numCache>
            </c:numRef>
          </c:val>
          <c:extLst>
            <c:ext xmlns:c16="http://schemas.microsoft.com/office/drawing/2014/chart" uri="{C3380CC4-5D6E-409C-BE32-E72D297353CC}">
              <c16:uniqueId val="{00000001-99D6-FF4F-8917-A89AAED4C5CC}"/>
            </c:ext>
          </c:extLst>
        </c:ser>
        <c:dLbls>
          <c:showLegendKey val="0"/>
          <c:showVal val="0"/>
          <c:showCatName val="0"/>
          <c:showSerName val="0"/>
          <c:showPercent val="0"/>
          <c:showBubbleSize val="0"/>
        </c:dLbls>
        <c:gapWidth val="219"/>
        <c:overlap val="-27"/>
        <c:axId val="1966285776"/>
        <c:axId val="1966245920"/>
      </c:barChart>
      <c:catAx>
        <c:axId val="1966285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66245920"/>
        <c:crosses val="autoZero"/>
        <c:auto val="1"/>
        <c:lblAlgn val="ctr"/>
        <c:lblOffset val="100"/>
        <c:noMultiLvlLbl val="0"/>
      </c:catAx>
      <c:valAx>
        <c:axId val="1966245920"/>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Yield (%)</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66285776"/>
        <c:crosses val="autoZero"/>
        <c:crossBetween val="between"/>
      </c:valAx>
      <c:spPr>
        <a:noFill/>
        <a:ln>
          <a:noFill/>
        </a:ln>
        <a:effectLst/>
      </c:spPr>
    </c:plotArea>
    <c:legend>
      <c:legendPos val="b"/>
      <c:layout>
        <c:manualLayout>
          <c:xMode val="edge"/>
          <c:yMode val="edge"/>
          <c:x val="0.23106014873140862"/>
          <c:y val="0.90966946851323149"/>
          <c:w val="0.53787970253718287"/>
          <c:h val="8.741497785560817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600"/>
              <a:t>Top 5 Counties</a:t>
            </a:r>
            <a:r>
              <a:rPr lang="en-US" sz="1600" baseline="0"/>
              <a:t> by</a:t>
            </a:r>
            <a:r>
              <a:rPr lang="en-US" sz="1600"/>
              <a:t> Pop. Growth </a:t>
            </a:r>
          </a:p>
          <a:p>
            <a:pPr>
              <a:defRPr/>
            </a:pPr>
            <a:r>
              <a:rPr lang="en-US" sz="1600"/>
              <a:t>(2010-2019)</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5069618520000844"/>
          <c:y val="0.20810728106866927"/>
          <c:w val="0.81799822609133699"/>
          <c:h val="0.6033896719231967"/>
        </c:manualLayout>
      </c:layout>
      <c:barChart>
        <c:barDir val="col"/>
        <c:grouping val="clustered"/>
        <c:varyColors val="0"/>
        <c:ser>
          <c:idx val="0"/>
          <c:order val="0"/>
          <c:tx>
            <c:strRef>
              <c:f>Sheet1!$B$1</c:f>
              <c:strCache>
                <c:ptCount val="1"/>
                <c:pt idx="0">
                  <c:v>Miami-Dade</c:v>
                </c:pt>
              </c:strCache>
            </c:strRef>
          </c:tx>
          <c:spPr>
            <a:solidFill>
              <a:schemeClr val="accent1">
                <a:shade val="53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#,##0</c:formatCode>
                <c:ptCount val="1"/>
                <c:pt idx="0">
                  <c:v>315673</c:v>
                </c:pt>
              </c:numCache>
            </c:numRef>
          </c:val>
          <c:extLst>
            <c:ext xmlns:c16="http://schemas.microsoft.com/office/drawing/2014/chart" uri="{C3380CC4-5D6E-409C-BE32-E72D297353CC}">
              <c16:uniqueId val="{00000000-FF14-4CE0-8D78-E7241572DD7B}"/>
            </c:ext>
          </c:extLst>
        </c:ser>
        <c:ser>
          <c:idx val="1"/>
          <c:order val="1"/>
          <c:tx>
            <c:strRef>
              <c:f>Sheet1!$C$1</c:f>
              <c:strCache>
                <c:ptCount val="1"/>
                <c:pt idx="0">
                  <c:v>Orange</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Sheet1!$C$2</c:f>
              <c:numCache>
                <c:formatCode>#,##0</c:formatCode>
                <c:ptCount val="1"/>
                <c:pt idx="0">
                  <c:v>240124</c:v>
                </c:pt>
              </c:numCache>
            </c:numRef>
          </c:val>
          <c:extLst>
            <c:ext xmlns:c16="http://schemas.microsoft.com/office/drawing/2014/chart" uri="{C3380CC4-5D6E-409C-BE32-E72D297353CC}">
              <c16:uniqueId val="{00000001-FF14-4CE0-8D78-E7241572DD7B}"/>
            </c:ext>
          </c:extLst>
        </c:ser>
        <c:ser>
          <c:idx val="2"/>
          <c:order val="2"/>
          <c:tx>
            <c:strRef>
              <c:f>Sheet1!$D$1</c:f>
              <c:strCache>
                <c:ptCount val="1"/>
                <c:pt idx="0">
                  <c:v>Hillsborough</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Sheet1!$D$2</c:f>
              <c:numCache>
                <c:formatCode>#,##0</c:formatCode>
                <c:ptCount val="1"/>
                <c:pt idx="0">
                  <c:v>215644</c:v>
                </c:pt>
              </c:numCache>
            </c:numRef>
          </c:val>
          <c:extLst>
            <c:ext xmlns:c16="http://schemas.microsoft.com/office/drawing/2014/chart" uri="{C3380CC4-5D6E-409C-BE32-E72D297353CC}">
              <c16:uniqueId val="{00000002-FF14-4CE0-8D78-E7241572DD7B}"/>
            </c:ext>
          </c:extLst>
        </c:ser>
        <c:ser>
          <c:idx val="3"/>
          <c:order val="3"/>
          <c:tx>
            <c:strRef>
              <c:f>Sheet1!$E$1</c:f>
              <c:strCache>
                <c:ptCount val="1"/>
                <c:pt idx="0">
                  <c:v>Broward</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Sheet1!$E$2</c:f>
              <c:numCache>
                <c:formatCode>#,##0</c:formatCode>
                <c:ptCount val="1"/>
                <c:pt idx="0">
                  <c:v>171578</c:v>
                </c:pt>
              </c:numCache>
            </c:numRef>
          </c:val>
          <c:extLst>
            <c:ext xmlns:c16="http://schemas.microsoft.com/office/drawing/2014/chart" uri="{C3380CC4-5D6E-409C-BE32-E72D297353CC}">
              <c16:uniqueId val="{00000003-FF14-4CE0-8D78-E7241572DD7B}"/>
            </c:ext>
          </c:extLst>
        </c:ser>
        <c:ser>
          <c:idx val="4"/>
          <c:order val="4"/>
          <c:tx>
            <c:strRef>
              <c:f>Sheet1!$F$1</c:f>
              <c:strCache>
                <c:ptCount val="1"/>
                <c:pt idx="0">
                  <c:v>Palm Beach</c:v>
                </c:pt>
              </c:strCache>
            </c:strRef>
          </c:tx>
          <c:spPr>
            <a:solidFill>
              <a:schemeClr val="accent1">
                <a:tint val="54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Sheet1!$F$2</c:f>
              <c:numCache>
                <c:formatCode>#,##0</c:formatCode>
                <c:ptCount val="1"/>
                <c:pt idx="0">
                  <c:v>127723</c:v>
                </c:pt>
              </c:numCache>
            </c:numRef>
          </c:val>
          <c:extLst>
            <c:ext xmlns:c16="http://schemas.microsoft.com/office/drawing/2014/chart" uri="{C3380CC4-5D6E-409C-BE32-E72D297353CC}">
              <c16:uniqueId val="{00000004-FF14-4CE0-8D78-E7241572DD7B}"/>
            </c:ext>
          </c:extLst>
        </c:ser>
        <c:dLbls>
          <c:dLblPos val="outEnd"/>
          <c:showLegendKey val="0"/>
          <c:showVal val="1"/>
          <c:showCatName val="0"/>
          <c:showSerName val="0"/>
          <c:showPercent val="0"/>
          <c:showBubbleSize val="0"/>
        </c:dLbls>
        <c:gapWidth val="219"/>
        <c:overlap val="-27"/>
        <c:axId val="473311935"/>
        <c:axId val="481074047"/>
      </c:barChart>
      <c:catAx>
        <c:axId val="473311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81074047"/>
        <c:crosses val="autoZero"/>
        <c:auto val="1"/>
        <c:lblAlgn val="ctr"/>
        <c:lblOffset val="100"/>
        <c:noMultiLvlLbl val="0"/>
      </c:catAx>
      <c:valAx>
        <c:axId val="481074047"/>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73311935"/>
        <c:crosses val="autoZero"/>
        <c:crossBetween val="between"/>
      </c:valAx>
      <c:spPr>
        <a:noFill/>
        <a:ln>
          <a:noFill/>
        </a:ln>
        <a:effectLst/>
      </c:spPr>
    </c:plotArea>
    <c:legend>
      <c:legendPos val="b"/>
      <c:layout>
        <c:manualLayout>
          <c:xMode val="edge"/>
          <c:yMode val="edge"/>
          <c:x val="4.9999977590845582E-2"/>
          <c:y val="0.81300590350138713"/>
          <c:w val="0.89999982072676477"/>
          <c:h val="0.1058796079053783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 Population Growth</c:v>
                </c:pt>
              </c:strCache>
            </c:strRef>
          </c:tx>
          <c:spPr>
            <a:solidFill>
              <a:schemeClr val="accent1"/>
            </a:solidFill>
            <a:ln>
              <a:noFill/>
            </a:ln>
            <a:effectLst/>
          </c:spPr>
          <c:invertIfNegative val="0"/>
          <c:cat>
            <c:strRef>
              <c:f>Sheet1!$A$2:$A$8</c:f>
              <c:strCache>
                <c:ptCount val="7"/>
                <c:pt idx="0">
                  <c:v>Dallas</c:v>
                </c:pt>
                <c:pt idx="1">
                  <c:v>Boston</c:v>
                </c:pt>
                <c:pt idx="2">
                  <c:v>Atlanta</c:v>
                </c:pt>
                <c:pt idx="3">
                  <c:v>Charlotte</c:v>
                </c:pt>
                <c:pt idx="4">
                  <c:v>New York City</c:v>
                </c:pt>
                <c:pt idx="5">
                  <c:v>Los Angeles</c:v>
                </c:pt>
                <c:pt idx="6">
                  <c:v>Chicago</c:v>
                </c:pt>
              </c:strCache>
            </c:strRef>
          </c:cat>
          <c:val>
            <c:numRef>
              <c:f>Sheet1!$B$2:$B$8</c:f>
              <c:numCache>
                <c:formatCode>0.00%</c:formatCode>
                <c:ptCount val="7"/>
                <c:pt idx="0">
                  <c:v>1.2999999999999999E-2</c:v>
                </c:pt>
                <c:pt idx="1">
                  <c:v>-6.0000000000000001E-3</c:v>
                </c:pt>
                <c:pt idx="2">
                  <c:v>7.0000000000000001E-3</c:v>
                </c:pt>
                <c:pt idx="3">
                  <c:v>1.2E-2</c:v>
                </c:pt>
                <c:pt idx="4">
                  <c:v>-1.4999999999999999E-2</c:v>
                </c:pt>
                <c:pt idx="5">
                  <c:v>-4.0000000000000001E-3</c:v>
                </c:pt>
                <c:pt idx="6">
                  <c:v>-1.2E-2</c:v>
                </c:pt>
              </c:numCache>
            </c:numRef>
          </c:val>
          <c:extLst>
            <c:ext xmlns:c16="http://schemas.microsoft.com/office/drawing/2014/chart" uri="{C3380CC4-5D6E-409C-BE32-E72D297353CC}">
              <c16:uniqueId val="{00000000-F6BE-4C02-A779-8E5A051B7CCD}"/>
            </c:ext>
          </c:extLst>
        </c:ser>
        <c:dLbls>
          <c:showLegendKey val="0"/>
          <c:showVal val="0"/>
          <c:showCatName val="0"/>
          <c:showSerName val="0"/>
          <c:showPercent val="0"/>
          <c:showBubbleSize val="0"/>
        </c:dLbls>
        <c:gapWidth val="219"/>
        <c:overlap val="100"/>
        <c:axId val="740709967"/>
        <c:axId val="793750335"/>
      </c:barChart>
      <c:catAx>
        <c:axId val="7407099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crossAx val="793750335"/>
        <c:crosses val="autoZero"/>
        <c:auto val="1"/>
        <c:lblAlgn val="ctr"/>
        <c:lblOffset val="100"/>
        <c:noMultiLvlLbl val="0"/>
      </c:catAx>
      <c:valAx>
        <c:axId val="793750335"/>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407099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 of</a:t>
            </a:r>
            <a:r>
              <a:rPr lang="en-US" sz="1200" b="1" baseline="0"/>
              <a:t> Renovated Units</a:t>
            </a:r>
            <a:endParaRPr lang="en-US" sz="1200" b="1"/>
          </a:p>
        </c:rich>
      </c:tx>
      <c:layout>
        <c:manualLayout>
          <c:xMode val="edge"/>
          <c:yMode val="edge"/>
          <c:x val="0.45189584770645147"/>
          <c:y val="8.2156530871309641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7852134498073064E-3"/>
          <c:y val="5.5744155072168962E-2"/>
          <c:w val="0.47049726453970087"/>
          <c:h val="0.88673199405713854"/>
        </c:manualLayout>
      </c:layout>
      <c:pieChart>
        <c:varyColors val="1"/>
        <c:ser>
          <c:idx val="0"/>
          <c:order val="0"/>
          <c:tx>
            <c:strRef>
              <c:f>Sheet1!$B$1</c:f>
              <c:strCache>
                <c:ptCount val="1"/>
                <c:pt idx="0">
                  <c:v>Renovations</c:v>
                </c:pt>
              </c:strCache>
            </c:strRef>
          </c:tx>
          <c:dPt>
            <c:idx val="0"/>
            <c:bubble3D val="0"/>
            <c:spPr>
              <a:solidFill>
                <a:srgbClr val="1E1F49"/>
              </a:solidFill>
              <a:ln w="19050">
                <a:solidFill>
                  <a:schemeClr val="lt1"/>
                </a:solidFill>
              </a:ln>
              <a:effectLst/>
            </c:spPr>
            <c:extLst>
              <c:ext xmlns:c16="http://schemas.microsoft.com/office/drawing/2014/chart" uri="{C3380CC4-5D6E-409C-BE32-E72D297353CC}">
                <c16:uniqueId val="{00000001-7C06-7242-AC43-75FD7CE3577F}"/>
              </c:ext>
            </c:extLst>
          </c:dPt>
          <c:dPt>
            <c:idx val="1"/>
            <c:bubble3D val="0"/>
            <c:spPr>
              <a:solidFill>
                <a:srgbClr val="007DEE"/>
              </a:solidFill>
              <a:ln w="19050">
                <a:solidFill>
                  <a:schemeClr val="lt1"/>
                </a:solidFill>
              </a:ln>
              <a:effectLst/>
            </c:spPr>
            <c:extLst>
              <c:ext xmlns:c16="http://schemas.microsoft.com/office/drawing/2014/chart" uri="{C3380CC4-5D6E-409C-BE32-E72D297353CC}">
                <c16:uniqueId val="{00000002-7C06-7242-AC43-75FD7CE3577F}"/>
              </c:ext>
            </c:extLst>
          </c:dPt>
          <c:dLbls>
            <c:delete val="1"/>
          </c:dLbls>
          <c:cat>
            <c:strRef>
              <c:f>Sheet1!$A$2:$A$3</c:f>
              <c:strCache>
                <c:ptCount val="2"/>
                <c:pt idx="0">
                  <c:v>Renovated Units</c:v>
                </c:pt>
                <c:pt idx="1">
                  <c:v>Others</c:v>
                </c:pt>
              </c:strCache>
            </c:strRef>
          </c:cat>
          <c:val>
            <c:numRef>
              <c:f>Sheet1!$B$2:$B$3</c:f>
              <c:numCache>
                <c:formatCode>General</c:formatCode>
                <c:ptCount val="2"/>
                <c:pt idx="0">
                  <c:v>7633</c:v>
                </c:pt>
                <c:pt idx="1">
                  <c:v>7494</c:v>
                </c:pt>
              </c:numCache>
            </c:numRef>
          </c:val>
          <c:extLst>
            <c:ext xmlns:c16="http://schemas.microsoft.com/office/drawing/2014/chart" uri="{C3380CC4-5D6E-409C-BE32-E72D297353CC}">
              <c16:uniqueId val="{00000000-7C06-7242-AC43-75FD7CE3577F}"/>
            </c:ext>
          </c:extLst>
        </c:ser>
        <c:dLbls>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53220673176852418"/>
          <c:y val="0.52430946760946806"/>
          <c:w val="0.41451424365333173"/>
          <c:h val="0.2373816612542250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865006119106906"/>
          <c:y val="6.642550702919045E-2"/>
          <c:w val="0.84000473764944905"/>
          <c:h val="0.47389467864926238"/>
        </c:manualLayout>
      </c:layout>
      <c:barChart>
        <c:barDir val="bar"/>
        <c:grouping val="stacked"/>
        <c:varyColors val="0"/>
        <c:ser>
          <c:idx val="0"/>
          <c:order val="0"/>
          <c:tx>
            <c:strRef>
              <c:f>Sheet1!$B$1</c:f>
              <c:strCache>
                <c:ptCount val="1"/>
                <c:pt idx="0">
                  <c:v>Property Management Fees</c:v>
                </c:pt>
              </c:strCache>
            </c:strRef>
          </c:tx>
          <c:spPr>
            <a:solidFill>
              <a:schemeClr val="accent1"/>
            </a:solidFill>
            <a:ln>
              <a:noFill/>
            </a:ln>
            <a:effectLst/>
          </c:spPr>
          <c:invertIfNegative val="0"/>
          <c:cat>
            <c:strRef>
              <c:f>Sheet1!$A$2</c:f>
              <c:strCache>
                <c:ptCount val="1"/>
                <c:pt idx="0">
                  <c:v>BH Fees</c:v>
                </c:pt>
              </c:strCache>
            </c:strRef>
          </c:cat>
          <c:val>
            <c:numRef>
              <c:f>Sheet1!$B$2</c:f>
              <c:numCache>
                <c:formatCode>General</c:formatCode>
                <c:ptCount val="1"/>
                <c:pt idx="0">
                  <c:v>7606</c:v>
                </c:pt>
              </c:numCache>
            </c:numRef>
          </c:val>
          <c:extLst>
            <c:ext xmlns:c16="http://schemas.microsoft.com/office/drawing/2014/chart" uri="{C3380CC4-5D6E-409C-BE32-E72D297353CC}">
              <c16:uniqueId val="{00000000-6F70-8B49-9BCD-225528E5172C}"/>
            </c:ext>
          </c:extLst>
        </c:ser>
        <c:ser>
          <c:idx val="1"/>
          <c:order val="1"/>
          <c:tx>
            <c:strRef>
              <c:f>Sheet1!$C$1</c:f>
              <c:strCache>
                <c:ptCount val="1"/>
                <c:pt idx="0">
                  <c:v>Consrtuction Supervision Fees</c:v>
                </c:pt>
              </c:strCache>
            </c:strRef>
          </c:tx>
          <c:spPr>
            <a:solidFill>
              <a:srgbClr val="1E1F49"/>
            </a:solidFill>
            <a:ln>
              <a:noFill/>
            </a:ln>
            <a:effectLst/>
          </c:spPr>
          <c:invertIfNegative val="0"/>
          <c:cat>
            <c:strRef>
              <c:f>Sheet1!$A$2</c:f>
              <c:strCache>
                <c:ptCount val="1"/>
                <c:pt idx="0">
                  <c:v>BH Fees</c:v>
                </c:pt>
              </c:strCache>
            </c:strRef>
          </c:cat>
          <c:val>
            <c:numRef>
              <c:f>Sheet1!$C$2</c:f>
              <c:numCache>
                <c:formatCode>General</c:formatCode>
                <c:ptCount val="1"/>
                <c:pt idx="0">
                  <c:v>2000</c:v>
                </c:pt>
              </c:numCache>
            </c:numRef>
          </c:val>
          <c:extLst>
            <c:ext xmlns:c16="http://schemas.microsoft.com/office/drawing/2014/chart" uri="{C3380CC4-5D6E-409C-BE32-E72D297353CC}">
              <c16:uniqueId val="{00000003-6F70-8B49-9BCD-225528E5172C}"/>
            </c:ext>
          </c:extLst>
        </c:ser>
        <c:ser>
          <c:idx val="2"/>
          <c:order val="2"/>
          <c:tx>
            <c:strRef>
              <c:f>Sheet1!$D$1</c:f>
              <c:strCache>
                <c:ptCount val="1"/>
                <c:pt idx="0">
                  <c:v>Design Fees</c:v>
                </c:pt>
              </c:strCache>
            </c:strRef>
          </c:tx>
          <c:spPr>
            <a:solidFill>
              <a:schemeClr val="accent3"/>
            </a:solidFill>
            <a:ln>
              <a:noFill/>
            </a:ln>
            <a:effectLst/>
          </c:spPr>
          <c:invertIfNegative val="0"/>
          <c:cat>
            <c:strRef>
              <c:f>Sheet1!$A$2</c:f>
              <c:strCache>
                <c:ptCount val="1"/>
                <c:pt idx="0">
                  <c:v>BH Fees</c:v>
                </c:pt>
              </c:strCache>
            </c:strRef>
          </c:cat>
          <c:val>
            <c:numRef>
              <c:f>Sheet1!$D$2</c:f>
              <c:numCache>
                <c:formatCode>General</c:formatCode>
                <c:ptCount val="1"/>
                <c:pt idx="0">
                  <c:v>198</c:v>
                </c:pt>
              </c:numCache>
            </c:numRef>
          </c:val>
          <c:extLst>
            <c:ext xmlns:c16="http://schemas.microsoft.com/office/drawing/2014/chart" uri="{C3380CC4-5D6E-409C-BE32-E72D297353CC}">
              <c16:uniqueId val="{00000004-6F70-8B49-9BCD-225528E5172C}"/>
            </c:ext>
          </c:extLst>
        </c:ser>
        <c:ser>
          <c:idx val="3"/>
          <c:order val="3"/>
          <c:tx>
            <c:strRef>
              <c:f>Sheet1!$E$1</c:f>
              <c:strCache>
                <c:ptCount val="1"/>
                <c:pt idx="0">
                  <c:v>Acquisition Fees</c:v>
                </c:pt>
              </c:strCache>
            </c:strRef>
          </c:tx>
          <c:spPr>
            <a:solidFill>
              <a:srgbClr val="007DEE"/>
            </a:solidFill>
            <a:ln>
              <a:noFill/>
            </a:ln>
            <a:effectLst/>
          </c:spPr>
          <c:invertIfNegative val="0"/>
          <c:cat>
            <c:strRef>
              <c:f>Sheet1!$A$2</c:f>
              <c:strCache>
                <c:ptCount val="1"/>
                <c:pt idx="0">
                  <c:v>BH Fees</c:v>
                </c:pt>
              </c:strCache>
            </c:strRef>
          </c:cat>
          <c:val>
            <c:numRef>
              <c:f>Sheet1!$E$2</c:f>
              <c:numCache>
                <c:formatCode>General</c:formatCode>
                <c:ptCount val="1"/>
                <c:pt idx="0">
                  <c:v>45</c:v>
                </c:pt>
              </c:numCache>
            </c:numRef>
          </c:val>
          <c:extLst>
            <c:ext xmlns:c16="http://schemas.microsoft.com/office/drawing/2014/chart" uri="{C3380CC4-5D6E-409C-BE32-E72D297353CC}">
              <c16:uniqueId val="{00000005-6F70-8B49-9BCD-225528E5172C}"/>
            </c:ext>
          </c:extLst>
        </c:ser>
        <c:dLbls>
          <c:showLegendKey val="0"/>
          <c:showVal val="0"/>
          <c:showCatName val="0"/>
          <c:showSerName val="0"/>
          <c:showPercent val="0"/>
          <c:showBubbleSize val="0"/>
        </c:dLbls>
        <c:gapWidth val="150"/>
        <c:overlap val="100"/>
        <c:axId val="1286799567"/>
        <c:axId val="1286801295"/>
      </c:barChart>
      <c:catAx>
        <c:axId val="128679956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86801295"/>
        <c:crosses val="autoZero"/>
        <c:auto val="1"/>
        <c:lblAlgn val="ctr"/>
        <c:lblOffset val="100"/>
        <c:noMultiLvlLbl val="0"/>
      </c:catAx>
      <c:valAx>
        <c:axId val="128680129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crossAx val="1286799567"/>
        <c:crosses val="autoZero"/>
        <c:crossBetween val="between"/>
      </c:valAx>
      <c:spPr>
        <a:noFill/>
        <a:ln>
          <a:noFill/>
        </a:ln>
        <a:effectLst/>
      </c:spPr>
    </c:plotArea>
    <c:legend>
      <c:legendPos val="b"/>
      <c:layout>
        <c:manualLayout>
          <c:xMode val="edge"/>
          <c:yMode val="edge"/>
          <c:x val="3.7169558589002914E-2"/>
          <c:y val="0.85331562138774542"/>
          <c:w val="0.92294080379834409"/>
          <c:h val="0.10316599123692737"/>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600" b="1" i="1"/>
              <a:t>Strong ROI on Renovation</a:t>
            </a:r>
            <a:r>
              <a:rPr lang="en-US" sz="1600" b="1" i="1" baseline="0"/>
              <a:t> Investments</a:t>
            </a:r>
          </a:p>
        </c:rich>
      </c:tx>
      <c:layout>
        <c:manualLayout>
          <c:xMode val="edge"/>
          <c:yMode val="edge"/>
          <c:x val="0.21163242669781596"/>
          <c:y val="4.48459946170681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5571711283404432"/>
          <c:y val="0.20750312069060553"/>
          <c:w val="0.79353691778353808"/>
          <c:h val="0.56179142445709873"/>
        </c:manualLayout>
      </c:layout>
      <c:barChart>
        <c:barDir val="col"/>
        <c:grouping val="clustered"/>
        <c:varyColors val="0"/>
        <c:ser>
          <c:idx val="0"/>
          <c:order val="0"/>
          <c:tx>
            <c:strRef>
              <c:f>Sheet1!$B$1</c:f>
              <c:strCache>
                <c:ptCount val="1"/>
                <c:pt idx="0">
                  <c:v>Return on Renovation Investments</c:v>
                </c:pt>
              </c:strCache>
            </c:strRef>
          </c:tx>
          <c:spPr>
            <a:solidFill>
              <a:srgbClr val="1E1F49"/>
            </a:solidFill>
            <a:ln>
              <a:noFill/>
            </a:ln>
            <a:effectLst/>
          </c:spPr>
          <c:invertIfNegative val="0"/>
          <c:cat>
            <c:strRef>
              <c:f>Sheet1!$A$2:$A$4</c:f>
              <c:strCache>
                <c:ptCount val="3"/>
                <c:pt idx="0">
                  <c:v>Interiors</c:v>
                </c:pt>
                <c:pt idx="1">
                  <c:v>Kitchen and Laundry Appliances</c:v>
                </c:pt>
                <c:pt idx="2">
                  <c:v>Smart Home Technology Packages</c:v>
                </c:pt>
              </c:strCache>
            </c:strRef>
          </c:cat>
          <c:val>
            <c:numRef>
              <c:f>Sheet1!$B$2:$B$4</c:f>
              <c:numCache>
                <c:formatCode>0.00%</c:formatCode>
                <c:ptCount val="3"/>
                <c:pt idx="0">
                  <c:v>0.218</c:v>
                </c:pt>
                <c:pt idx="1">
                  <c:v>0.65600000000000003</c:v>
                </c:pt>
                <c:pt idx="2">
                  <c:v>0.374</c:v>
                </c:pt>
              </c:numCache>
            </c:numRef>
          </c:val>
          <c:extLst>
            <c:ext xmlns:c16="http://schemas.microsoft.com/office/drawing/2014/chart" uri="{C3380CC4-5D6E-409C-BE32-E72D297353CC}">
              <c16:uniqueId val="{00000000-874D-5A41-B12B-60F8509A958A}"/>
            </c:ext>
          </c:extLst>
        </c:ser>
        <c:dLbls>
          <c:showLegendKey val="0"/>
          <c:showVal val="0"/>
          <c:showCatName val="0"/>
          <c:showSerName val="0"/>
          <c:showPercent val="0"/>
          <c:showBubbleSize val="0"/>
        </c:dLbls>
        <c:gapWidth val="219"/>
        <c:overlap val="-27"/>
        <c:axId val="1307078927"/>
        <c:axId val="1307081375"/>
      </c:barChart>
      <c:catAx>
        <c:axId val="13070789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307081375"/>
        <c:crosses val="autoZero"/>
        <c:auto val="1"/>
        <c:lblAlgn val="ctr"/>
        <c:lblOffset val="100"/>
        <c:noMultiLvlLbl val="0"/>
      </c:catAx>
      <c:valAx>
        <c:axId val="1307081375"/>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307078927"/>
        <c:crosses val="autoZero"/>
        <c:crossBetween val="between"/>
      </c:valAx>
      <c:spPr>
        <a:noFill/>
        <a:ln>
          <a:noFill/>
        </a:ln>
        <a:effectLst/>
      </c:spPr>
    </c:plotArea>
    <c:legend>
      <c:legendPos val="b"/>
      <c:layout>
        <c:manualLayout>
          <c:xMode val="edge"/>
          <c:yMode val="edge"/>
          <c:x val="0.27150185340164967"/>
          <c:y val="0.93557431475673347"/>
          <c:w val="0.45106175689283368"/>
          <c:h val="6.442568524326657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600" b="1" i="1" dirty="0"/>
              <a:t>Weighted</a:t>
            </a:r>
            <a:r>
              <a:rPr lang="en-US" sz="1600" b="1" i="1" baseline="0" dirty="0"/>
              <a:t> Average Monthly Effective Rent Increased by 17.4% from 2021 to 2022</a:t>
            </a:r>
            <a:endParaRPr lang="en-US" sz="1600" b="1" i="1" dirty="0"/>
          </a:p>
        </c:rich>
      </c:tx>
      <c:layout>
        <c:manualLayout>
          <c:xMode val="edge"/>
          <c:yMode val="edge"/>
          <c:x val="0.15407484762930138"/>
          <c:y val="0"/>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416879129586916"/>
          <c:y val="0.22930978307762509"/>
          <c:w val="0.79353691778353808"/>
          <c:h val="0.5678590178416969"/>
        </c:manualLayout>
      </c:layout>
      <c:barChart>
        <c:barDir val="col"/>
        <c:grouping val="clustered"/>
        <c:varyColors val="0"/>
        <c:ser>
          <c:idx val="0"/>
          <c:order val="0"/>
          <c:tx>
            <c:strRef>
              <c:f>Sheet1!$B$1</c:f>
              <c:strCache>
                <c:ptCount val="1"/>
                <c:pt idx="0">
                  <c:v>Average Rental Price Per Unit</c:v>
                </c:pt>
              </c:strCache>
            </c:strRef>
          </c:tx>
          <c:spPr>
            <a:solidFill>
              <a:srgbClr val="1E1F49"/>
            </a:solidFill>
            <a:ln>
              <a:noFill/>
            </a:ln>
            <a:effectLst/>
          </c:spPr>
          <c:invertIfNegative val="0"/>
          <c:cat>
            <c:strRef>
              <c:f>Sheet1!$A$2:$A$3</c:f>
              <c:strCache>
                <c:ptCount val="2"/>
                <c:pt idx="0">
                  <c:v>FY2021</c:v>
                </c:pt>
                <c:pt idx="1">
                  <c:v>FY2022</c:v>
                </c:pt>
              </c:strCache>
            </c:strRef>
          </c:cat>
          <c:val>
            <c:numRef>
              <c:f>Sheet1!$B$2:$B$3</c:f>
              <c:numCache>
                <c:formatCode>General</c:formatCode>
                <c:ptCount val="2"/>
                <c:pt idx="0">
                  <c:v>1261</c:v>
                </c:pt>
                <c:pt idx="1">
                  <c:v>1480</c:v>
                </c:pt>
              </c:numCache>
            </c:numRef>
          </c:val>
          <c:extLst>
            <c:ext xmlns:c16="http://schemas.microsoft.com/office/drawing/2014/chart" uri="{C3380CC4-5D6E-409C-BE32-E72D297353CC}">
              <c16:uniqueId val="{00000000-8C95-0A43-84CD-3E3BC45EB318}"/>
            </c:ext>
          </c:extLst>
        </c:ser>
        <c:dLbls>
          <c:showLegendKey val="0"/>
          <c:showVal val="0"/>
          <c:showCatName val="0"/>
          <c:showSerName val="0"/>
          <c:showPercent val="0"/>
          <c:showBubbleSize val="0"/>
        </c:dLbls>
        <c:gapWidth val="219"/>
        <c:overlap val="-27"/>
        <c:axId val="1307078927"/>
        <c:axId val="1307081375"/>
      </c:barChart>
      <c:catAx>
        <c:axId val="13070789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307081375"/>
        <c:crosses val="autoZero"/>
        <c:auto val="1"/>
        <c:lblAlgn val="ctr"/>
        <c:lblOffset val="100"/>
        <c:noMultiLvlLbl val="0"/>
      </c:catAx>
      <c:valAx>
        <c:axId val="130708137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307078927"/>
        <c:crosses val="autoZero"/>
        <c:crossBetween val="between"/>
      </c:valAx>
      <c:spPr>
        <a:noFill/>
        <a:ln>
          <a:noFill/>
        </a:ln>
        <a:effectLst/>
      </c:spPr>
    </c:plotArea>
    <c:legend>
      <c:legendPos val="b"/>
      <c:layout>
        <c:manualLayout>
          <c:xMode val="edge"/>
          <c:yMode val="edge"/>
          <c:x val="0.27150183287112428"/>
          <c:y val="0.88937860081467635"/>
          <c:w val="0.45106175689283368"/>
          <c:h val="0.1003024983542835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lineChart>
        <c:grouping val="standard"/>
        <c:varyColors val="0"/>
        <c:ser>
          <c:idx val="0"/>
          <c:order val="0"/>
          <c:tx>
            <c:strRef>
              <c:f>Sheet1!$B$1</c:f>
              <c:strCache>
                <c:ptCount val="1"/>
                <c:pt idx="0">
                  <c:v>NXRT</c:v>
                </c:pt>
              </c:strCache>
            </c:strRef>
          </c:tx>
          <c:spPr>
            <a:ln w="19050" cap="rnd" cmpd="sng" algn="ctr">
              <a:solidFill>
                <a:schemeClr val="accent2">
                  <a:shade val="76000"/>
                  <a:shade val="95000"/>
                  <a:satMod val="105000"/>
                </a:schemeClr>
              </a:solidFill>
              <a:round/>
            </a:ln>
            <a:effectLst/>
          </c:spPr>
          <c:marker>
            <c:symbol val="none"/>
          </c:marker>
          <c:dLbls>
            <c:delete val="1"/>
          </c:dLbls>
          <c:cat>
            <c:numRef>
              <c:f>Sheet1!$A$2:$A$757</c:f>
              <c:numCache>
                <c:formatCode>General</c:formatCode>
                <c:ptCount val="756"/>
                <c:pt idx="252" formatCode="m/d/yyyy">
                  <c:v>44510</c:v>
                </c:pt>
                <c:pt idx="253" formatCode="m/d/yyyy">
                  <c:v>44511</c:v>
                </c:pt>
                <c:pt idx="254" formatCode="m/d/yyyy">
                  <c:v>44512</c:v>
                </c:pt>
                <c:pt idx="255" formatCode="m/d/yyyy">
                  <c:v>44515</c:v>
                </c:pt>
                <c:pt idx="256" formatCode="m/d/yyyy">
                  <c:v>44516</c:v>
                </c:pt>
                <c:pt idx="257" formatCode="m/d/yyyy">
                  <c:v>44517</c:v>
                </c:pt>
                <c:pt idx="258" formatCode="m/d/yyyy">
                  <c:v>44518</c:v>
                </c:pt>
                <c:pt idx="259" formatCode="m/d/yyyy">
                  <c:v>44519</c:v>
                </c:pt>
                <c:pt idx="260" formatCode="m/d/yyyy">
                  <c:v>44522</c:v>
                </c:pt>
                <c:pt idx="261" formatCode="m/d/yyyy">
                  <c:v>44523</c:v>
                </c:pt>
                <c:pt idx="262" formatCode="m/d/yyyy">
                  <c:v>44524</c:v>
                </c:pt>
                <c:pt idx="263" formatCode="m/d/yyyy">
                  <c:v>44526</c:v>
                </c:pt>
                <c:pt idx="264" formatCode="m/d/yyyy">
                  <c:v>44529</c:v>
                </c:pt>
                <c:pt idx="265" formatCode="m/d/yyyy">
                  <c:v>44530</c:v>
                </c:pt>
                <c:pt idx="266" formatCode="m/d/yyyy">
                  <c:v>44531</c:v>
                </c:pt>
                <c:pt idx="267" formatCode="m/d/yyyy">
                  <c:v>44532</c:v>
                </c:pt>
                <c:pt idx="268" formatCode="m/d/yyyy">
                  <c:v>44533</c:v>
                </c:pt>
                <c:pt idx="269" formatCode="m/d/yyyy">
                  <c:v>44536</c:v>
                </c:pt>
                <c:pt idx="270" formatCode="m/d/yyyy">
                  <c:v>44537</c:v>
                </c:pt>
                <c:pt idx="271" formatCode="m/d/yyyy">
                  <c:v>44538</c:v>
                </c:pt>
                <c:pt idx="272" formatCode="m/d/yyyy">
                  <c:v>44539</c:v>
                </c:pt>
                <c:pt idx="273" formatCode="m/d/yyyy">
                  <c:v>44540</c:v>
                </c:pt>
                <c:pt idx="274" formatCode="m/d/yyyy">
                  <c:v>44543</c:v>
                </c:pt>
                <c:pt idx="275" formatCode="m/d/yyyy">
                  <c:v>44544</c:v>
                </c:pt>
                <c:pt idx="276" formatCode="m/d/yyyy">
                  <c:v>44545</c:v>
                </c:pt>
                <c:pt idx="277" formatCode="m/d/yyyy">
                  <c:v>44546</c:v>
                </c:pt>
                <c:pt idx="278" formatCode="m/d/yyyy">
                  <c:v>44547</c:v>
                </c:pt>
                <c:pt idx="279" formatCode="m/d/yyyy">
                  <c:v>44550</c:v>
                </c:pt>
                <c:pt idx="280" formatCode="m/d/yyyy">
                  <c:v>44551</c:v>
                </c:pt>
                <c:pt idx="281" formatCode="m/d/yyyy">
                  <c:v>44552</c:v>
                </c:pt>
                <c:pt idx="282" formatCode="m/d/yyyy">
                  <c:v>44553</c:v>
                </c:pt>
                <c:pt idx="283" formatCode="m/d/yyyy">
                  <c:v>44557</c:v>
                </c:pt>
                <c:pt idx="284" formatCode="m/d/yyyy">
                  <c:v>44558</c:v>
                </c:pt>
                <c:pt idx="285" formatCode="m/d/yyyy">
                  <c:v>44559</c:v>
                </c:pt>
                <c:pt idx="286" formatCode="m/d/yyyy">
                  <c:v>44560</c:v>
                </c:pt>
                <c:pt idx="287" formatCode="m/d/yyyy">
                  <c:v>44561</c:v>
                </c:pt>
                <c:pt idx="288" formatCode="m/d/yyyy">
                  <c:v>44564</c:v>
                </c:pt>
                <c:pt idx="289" formatCode="m/d/yyyy">
                  <c:v>44565</c:v>
                </c:pt>
                <c:pt idx="290" formatCode="m/d/yyyy">
                  <c:v>44566</c:v>
                </c:pt>
                <c:pt idx="291" formatCode="m/d/yyyy">
                  <c:v>44567</c:v>
                </c:pt>
                <c:pt idx="292" formatCode="m/d/yyyy">
                  <c:v>44568</c:v>
                </c:pt>
                <c:pt idx="293" formatCode="m/d/yyyy">
                  <c:v>44571</c:v>
                </c:pt>
                <c:pt idx="294" formatCode="m/d/yyyy">
                  <c:v>44572</c:v>
                </c:pt>
                <c:pt idx="295" formatCode="m/d/yyyy">
                  <c:v>44573</c:v>
                </c:pt>
                <c:pt idx="296" formatCode="m/d/yyyy">
                  <c:v>44574</c:v>
                </c:pt>
                <c:pt idx="297" formatCode="m/d/yyyy">
                  <c:v>44575</c:v>
                </c:pt>
                <c:pt idx="298" formatCode="m/d/yyyy">
                  <c:v>44579</c:v>
                </c:pt>
                <c:pt idx="299" formatCode="m/d/yyyy">
                  <c:v>44580</c:v>
                </c:pt>
                <c:pt idx="300" formatCode="m/d/yyyy">
                  <c:v>44581</c:v>
                </c:pt>
                <c:pt idx="301" formatCode="m/d/yyyy">
                  <c:v>44582</c:v>
                </c:pt>
                <c:pt idx="302" formatCode="m/d/yyyy">
                  <c:v>44585</c:v>
                </c:pt>
                <c:pt idx="303" formatCode="m/d/yyyy">
                  <c:v>44586</c:v>
                </c:pt>
                <c:pt idx="304" formatCode="m/d/yyyy">
                  <c:v>44587</c:v>
                </c:pt>
                <c:pt idx="305" formatCode="m/d/yyyy">
                  <c:v>44588</c:v>
                </c:pt>
                <c:pt idx="306" formatCode="m/d/yyyy">
                  <c:v>44589</c:v>
                </c:pt>
                <c:pt idx="307" formatCode="m/d/yyyy">
                  <c:v>44592</c:v>
                </c:pt>
                <c:pt idx="308" formatCode="m/d/yyyy">
                  <c:v>44593</c:v>
                </c:pt>
                <c:pt idx="309" formatCode="m/d/yyyy">
                  <c:v>44594</c:v>
                </c:pt>
                <c:pt idx="310" formatCode="m/d/yyyy">
                  <c:v>44595</c:v>
                </c:pt>
                <c:pt idx="311" formatCode="m/d/yyyy">
                  <c:v>44596</c:v>
                </c:pt>
                <c:pt idx="312" formatCode="m/d/yyyy">
                  <c:v>44599</c:v>
                </c:pt>
                <c:pt idx="313" formatCode="m/d/yyyy">
                  <c:v>44600</c:v>
                </c:pt>
                <c:pt idx="314" formatCode="m/d/yyyy">
                  <c:v>44601</c:v>
                </c:pt>
                <c:pt idx="315" formatCode="m/d/yyyy">
                  <c:v>44602</c:v>
                </c:pt>
                <c:pt idx="316" formatCode="m/d/yyyy">
                  <c:v>44603</c:v>
                </c:pt>
                <c:pt idx="317" formatCode="m/d/yyyy">
                  <c:v>44606</c:v>
                </c:pt>
                <c:pt idx="318" formatCode="m/d/yyyy">
                  <c:v>44607</c:v>
                </c:pt>
                <c:pt idx="319" formatCode="m/d/yyyy">
                  <c:v>44608</c:v>
                </c:pt>
                <c:pt idx="320" formatCode="m/d/yyyy">
                  <c:v>44609</c:v>
                </c:pt>
                <c:pt idx="321" formatCode="m/d/yyyy">
                  <c:v>44610</c:v>
                </c:pt>
                <c:pt idx="322" formatCode="m/d/yyyy">
                  <c:v>44614</c:v>
                </c:pt>
                <c:pt idx="323" formatCode="m/d/yyyy">
                  <c:v>44615</c:v>
                </c:pt>
                <c:pt idx="324" formatCode="m/d/yyyy">
                  <c:v>44616</c:v>
                </c:pt>
                <c:pt idx="325" formatCode="m/d/yyyy">
                  <c:v>44617</c:v>
                </c:pt>
                <c:pt idx="326" formatCode="m/d/yyyy">
                  <c:v>44620</c:v>
                </c:pt>
                <c:pt idx="327" formatCode="m/d/yyyy">
                  <c:v>44621</c:v>
                </c:pt>
                <c:pt idx="328" formatCode="m/d/yyyy">
                  <c:v>44622</c:v>
                </c:pt>
                <c:pt idx="329" formatCode="m/d/yyyy">
                  <c:v>44623</c:v>
                </c:pt>
                <c:pt idx="330" formatCode="m/d/yyyy">
                  <c:v>44624</c:v>
                </c:pt>
                <c:pt idx="331" formatCode="m/d/yyyy">
                  <c:v>44627</c:v>
                </c:pt>
                <c:pt idx="332" formatCode="m/d/yyyy">
                  <c:v>44628</c:v>
                </c:pt>
                <c:pt idx="333" formatCode="m/d/yyyy">
                  <c:v>44629</c:v>
                </c:pt>
                <c:pt idx="334" formatCode="m/d/yyyy">
                  <c:v>44630</c:v>
                </c:pt>
                <c:pt idx="335" formatCode="m/d/yyyy">
                  <c:v>44631</c:v>
                </c:pt>
                <c:pt idx="336" formatCode="m/d/yyyy">
                  <c:v>44634</c:v>
                </c:pt>
                <c:pt idx="337" formatCode="m/d/yyyy">
                  <c:v>44635</c:v>
                </c:pt>
                <c:pt idx="338" formatCode="m/d/yyyy">
                  <c:v>44636</c:v>
                </c:pt>
                <c:pt idx="339" formatCode="m/d/yyyy">
                  <c:v>44637</c:v>
                </c:pt>
                <c:pt idx="340" formatCode="m/d/yyyy">
                  <c:v>44638</c:v>
                </c:pt>
                <c:pt idx="341" formatCode="m/d/yyyy">
                  <c:v>44641</c:v>
                </c:pt>
                <c:pt idx="342" formatCode="m/d/yyyy">
                  <c:v>44642</c:v>
                </c:pt>
                <c:pt idx="343" formatCode="m/d/yyyy">
                  <c:v>44643</c:v>
                </c:pt>
                <c:pt idx="344" formatCode="m/d/yyyy">
                  <c:v>44644</c:v>
                </c:pt>
                <c:pt idx="345" formatCode="m/d/yyyy">
                  <c:v>44645</c:v>
                </c:pt>
                <c:pt idx="346" formatCode="m/d/yyyy">
                  <c:v>44648</c:v>
                </c:pt>
                <c:pt idx="347" formatCode="m/d/yyyy">
                  <c:v>44649</c:v>
                </c:pt>
                <c:pt idx="348" formatCode="m/d/yyyy">
                  <c:v>44650</c:v>
                </c:pt>
                <c:pt idx="349" formatCode="m/d/yyyy">
                  <c:v>44651</c:v>
                </c:pt>
                <c:pt idx="350" formatCode="m/d/yyyy">
                  <c:v>44652</c:v>
                </c:pt>
                <c:pt idx="351" formatCode="m/d/yyyy">
                  <c:v>44655</c:v>
                </c:pt>
                <c:pt idx="352" formatCode="m/d/yyyy">
                  <c:v>44656</c:v>
                </c:pt>
                <c:pt idx="353" formatCode="m/d/yyyy">
                  <c:v>44657</c:v>
                </c:pt>
                <c:pt idx="354" formatCode="m/d/yyyy">
                  <c:v>44658</c:v>
                </c:pt>
                <c:pt idx="355" formatCode="m/d/yyyy">
                  <c:v>44659</c:v>
                </c:pt>
                <c:pt idx="356" formatCode="m/d/yyyy">
                  <c:v>44662</c:v>
                </c:pt>
                <c:pt idx="357" formatCode="m/d/yyyy">
                  <c:v>44663</c:v>
                </c:pt>
                <c:pt idx="358" formatCode="m/d/yyyy">
                  <c:v>44664</c:v>
                </c:pt>
                <c:pt idx="359" formatCode="m/d/yyyy">
                  <c:v>44665</c:v>
                </c:pt>
                <c:pt idx="360" formatCode="m/d/yyyy">
                  <c:v>44669</c:v>
                </c:pt>
                <c:pt idx="361" formatCode="m/d/yyyy">
                  <c:v>44670</c:v>
                </c:pt>
                <c:pt idx="362" formatCode="m/d/yyyy">
                  <c:v>44671</c:v>
                </c:pt>
                <c:pt idx="363" formatCode="m/d/yyyy">
                  <c:v>44672</c:v>
                </c:pt>
                <c:pt idx="364" formatCode="m/d/yyyy">
                  <c:v>44673</c:v>
                </c:pt>
                <c:pt idx="365" formatCode="m/d/yyyy">
                  <c:v>44676</c:v>
                </c:pt>
                <c:pt idx="366" formatCode="m/d/yyyy">
                  <c:v>44677</c:v>
                </c:pt>
                <c:pt idx="367" formatCode="m/d/yyyy">
                  <c:v>44678</c:v>
                </c:pt>
                <c:pt idx="368" formatCode="m/d/yyyy">
                  <c:v>44679</c:v>
                </c:pt>
                <c:pt idx="369" formatCode="m/d/yyyy">
                  <c:v>44680</c:v>
                </c:pt>
                <c:pt idx="370" formatCode="m/d/yyyy">
                  <c:v>44683</c:v>
                </c:pt>
                <c:pt idx="371" formatCode="m/d/yyyy">
                  <c:v>44684</c:v>
                </c:pt>
                <c:pt idx="372" formatCode="m/d/yyyy">
                  <c:v>44685</c:v>
                </c:pt>
                <c:pt idx="373" formatCode="m/d/yyyy">
                  <c:v>44686</c:v>
                </c:pt>
                <c:pt idx="374" formatCode="m/d/yyyy">
                  <c:v>44687</c:v>
                </c:pt>
                <c:pt idx="375" formatCode="m/d/yyyy">
                  <c:v>44690</c:v>
                </c:pt>
                <c:pt idx="376" formatCode="m/d/yyyy">
                  <c:v>44691</c:v>
                </c:pt>
                <c:pt idx="377" formatCode="m/d/yyyy">
                  <c:v>44692</c:v>
                </c:pt>
                <c:pt idx="378" formatCode="m/d/yyyy">
                  <c:v>44693</c:v>
                </c:pt>
                <c:pt idx="379" formatCode="m/d/yyyy">
                  <c:v>44694</c:v>
                </c:pt>
                <c:pt idx="380" formatCode="m/d/yyyy">
                  <c:v>44697</c:v>
                </c:pt>
                <c:pt idx="381" formatCode="m/d/yyyy">
                  <c:v>44698</c:v>
                </c:pt>
                <c:pt idx="382" formatCode="m/d/yyyy">
                  <c:v>44699</c:v>
                </c:pt>
                <c:pt idx="383" formatCode="m/d/yyyy">
                  <c:v>44700</c:v>
                </c:pt>
                <c:pt idx="384" formatCode="m/d/yyyy">
                  <c:v>44701</c:v>
                </c:pt>
                <c:pt idx="385" formatCode="m/d/yyyy">
                  <c:v>44704</c:v>
                </c:pt>
                <c:pt idx="386" formatCode="m/d/yyyy">
                  <c:v>44705</c:v>
                </c:pt>
                <c:pt idx="387" formatCode="m/d/yyyy">
                  <c:v>44706</c:v>
                </c:pt>
                <c:pt idx="388" formatCode="m/d/yyyy">
                  <c:v>44707</c:v>
                </c:pt>
                <c:pt idx="389" formatCode="m/d/yyyy">
                  <c:v>44708</c:v>
                </c:pt>
                <c:pt idx="390" formatCode="m/d/yyyy">
                  <c:v>44712</c:v>
                </c:pt>
                <c:pt idx="391" formatCode="m/d/yyyy">
                  <c:v>44713</c:v>
                </c:pt>
                <c:pt idx="392" formatCode="m/d/yyyy">
                  <c:v>44714</c:v>
                </c:pt>
                <c:pt idx="393" formatCode="m/d/yyyy">
                  <c:v>44715</c:v>
                </c:pt>
                <c:pt idx="394" formatCode="m/d/yyyy">
                  <c:v>44718</c:v>
                </c:pt>
                <c:pt idx="395" formatCode="m/d/yyyy">
                  <c:v>44719</c:v>
                </c:pt>
                <c:pt idx="396" formatCode="m/d/yyyy">
                  <c:v>44720</c:v>
                </c:pt>
                <c:pt idx="397" formatCode="m/d/yyyy">
                  <c:v>44721</c:v>
                </c:pt>
                <c:pt idx="398" formatCode="m/d/yyyy">
                  <c:v>44722</c:v>
                </c:pt>
                <c:pt idx="399" formatCode="m/d/yyyy">
                  <c:v>44725</c:v>
                </c:pt>
                <c:pt idx="400" formatCode="m/d/yyyy">
                  <c:v>44726</c:v>
                </c:pt>
                <c:pt idx="401" formatCode="m/d/yyyy">
                  <c:v>44727</c:v>
                </c:pt>
                <c:pt idx="402" formatCode="m/d/yyyy">
                  <c:v>44728</c:v>
                </c:pt>
                <c:pt idx="403" formatCode="m/d/yyyy">
                  <c:v>44729</c:v>
                </c:pt>
                <c:pt idx="404" formatCode="m/d/yyyy">
                  <c:v>44733</c:v>
                </c:pt>
                <c:pt idx="405" formatCode="m/d/yyyy">
                  <c:v>44734</c:v>
                </c:pt>
                <c:pt idx="406" formatCode="m/d/yyyy">
                  <c:v>44735</c:v>
                </c:pt>
                <c:pt idx="407" formatCode="m/d/yyyy">
                  <c:v>44736</c:v>
                </c:pt>
                <c:pt idx="408" formatCode="m/d/yyyy">
                  <c:v>44739</c:v>
                </c:pt>
                <c:pt idx="409" formatCode="m/d/yyyy">
                  <c:v>44740</c:v>
                </c:pt>
                <c:pt idx="410" formatCode="m/d/yyyy">
                  <c:v>44741</c:v>
                </c:pt>
                <c:pt idx="411" formatCode="m/d/yyyy">
                  <c:v>44742</c:v>
                </c:pt>
                <c:pt idx="412" formatCode="m/d/yyyy">
                  <c:v>44743</c:v>
                </c:pt>
                <c:pt idx="413" formatCode="m/d/yyyy">
                  <c:v>44747</c:v>
                </c:pt>
                <c:pt idx="414" formatCode="m/d/yyyy">
                  <c:v>44748</c:v>
                </c:pt>
                <c:pt idx="415" formatCode="m/d/yyyy">
                  <c:v>44749</c:v>
                </c:pt>
                <c:pt idx="416" formatCode="m/d/yyyy">
                  <c:v>44750</c:v>
                </c:pt>
                <c:pt idx="417" formatCode="m/d/yyyy">
                  <c:v>44753</c:v>
                </c:pt>
                <c:pt idx="418" formatCode="m/d/yyyy">
                  <c:v>44754</c:v>
                </c:pt>
                <c:pt idx="419" formatCode="m/d/yyyy">
                  <c:v>44755</c:v>
                </c:pt>
                <c:pt idx="420" formatCode="m/d/yyyy">
                  <c:v>44756</c:v>
                </c:pt>
                <c:pt idx="421" formatCode="m/d/yyyy">
                  <c:v>44757</c:v>
                </c:pt>
                <c:pt idx="422" formatCode="m/d/yyyy">
                  <c:v>44760</c:v>
                </c:pt>
                <c:pt idx="423" formatCode="m/d/yyyy">
                  <c:v>44761</c:v>
                </c:pt>
                <c:pt idx="424" formatCode="m/d/yyyy">
                  <c:v>44762</c:v>
                </c:pt>
                <c:pt idx="425" formatCode="m/d/yyyy">
                  <c:v>44763</c:v>
                </c:pt>
                <c:pt idx="426" formatCode="m/d/yyyy">
                  <c:v>44764</c:v>
                </c:pt>
                <c:pt idx="427" formatCode="m/d/yyyy">
                  <c:v>44767</c:v>
                </c:pt>
                <c:pt idx="428" formatCode="m/d/yyyy">
                  <c:v>44768</c:v>
                </c:pt>
                <c:pt idx="429" formatCode="m/d/yyyy">
                  <c:v>44769</c:v>
                </c:pt>
                <c:pt idx="430" formatCode="m/d/yyyy">
                  <c:v>44770</c:v>
                </c:pt>
                <c:pt idx="431" formatCode="m/d/yyyy">
                  <c:v>44771</c:v>
                </c:pt>
                <c:pt idx="432" formatCode="m/d/yyyy">
                  <c:v>44774</c:v>
                </c:pt>
                <c:pt idx="433" formatCode="m/d/yyyy">
                  <c:v>44775</c:v>
                </c:pt>
                <c:pt idx="434" formatCode="m/d/yyyy">
                  <c:v>44776</c:v>
                </c:pt>
                <c:pt idx="435" formatCode="m/d/yyyy">
                  <c:v>44777</c:v>
                </c:pt>
                <c:pt idx="436" formatCode="m/d/yyyy">
                  <c:v>44778</c:v>
                </c:pt>
                <c:pt idx="437" formatCode="m/d/yyyy">
                  <c:v>44781</c:v>
                </c:pt>
                <c:pt idx="438" formatCode="m/d/yyyy">
                  <c:v>44782</c:v>
                </c:pt>
                <c:pt idx="439" formatCode="m/d/yyyy">
                  <c:v>44783</c:v>
                </c:pt>
                <c:pt idx="440" formatCode="m/d/yyyy">
                  <c:v>44784</c:v>
                </c:pt>
                <c:pt idx="441" formatCode="m/d/yyyy">
                  <c:v>44785</c:v>
                </c:pt>
                <c:pt idx="442" formatCode="m/d/yyyy">
                  <c:v>44788</c:v>
                </c:pt>
                <c:pt idx="443" formatCode="m/d/yyyy">
                  <c:v>44789</c:v>
                </c:pt>
                <c:pt idx="444" formatCode="m/d/yyyy">
                  <c:v>44790</c:v>
                </c:pt>
                <c:pt idx="445" formatCode="m/d/yyyy">
                  <c:v>44791</c:v>
                </c:pt>
                <c:pt idx="446" formatCode="m/d/yyyy">
                  <c:v>44792</c:v>
                </c:pt>
                <c:pt idx="447" formatCode="m/d/yyyy">
                  <c:v>44795</c:v>
                </c:pt>
                <c:pt idx="448" formatCode="m/d/yyyy">
                  <c:v>44796</c:v>
                </c:pt>
                <c:pt idx="449" formatCode="m/d/yyyy">
                  <c:v>44797</c:v>
                </c:pt>
                <c:pt idx="450" formatCode="m/d/yyyy">
                  <c:v>44798</c:v>
                </c:pt>
                <c:pt idx="451" formatCode="m/d/yyyy">
                  <c:v>44799</c:v>
                </c:pt>
                <c:pt idx="452" formatCode="m/d/yyyy">
                  <c:v>44802</c:v>
                </c:pt>
                <c:pt idx="453" formatCode="m/d/yyyy">
                  <c:v>44803</c:v>
                </c:pt>
                <c:pt idx="454" formatCode="m/d/yyyy">
                  <c:v>44804</c:v>
                </c:pt>
                <c:pt idx="455" formatCode="m/d/yyyy">
                  <c:v>44805</c:v>
                </c:pt>
                <c:pt idx="456" formatCode="m/d/yyyy">
                  <c:v>44806</c:v>
                </c:pt>
                <c:pt idx="457" formatCode="m/d/yyyy">
                  <c:v>44810</c:v>
                </c:pt>
                <c:pt idx="458" formatCode="m/d/yyyy">
                  <c:v>44811</c:v>
                </c:pt>
                <c:pt idx="459" formatCode="m/d/yyyy">
                  <c:v>44812</c:v>
                </c:pt>
                <c:pt idx="460" formatCode="m/d/yyyy">
                  <c:v>44813</c:v>
                </c:pt>
                <c:pt idx="461" formatCode="m/d/yyyy">
                  <c:v>44816</c:v>
                </c:pt>
                <c:pt idx="462" formatCode="m/d/yyyy">
                  <c:v>44817</c:v>
                </c:pt>
                <c:pt idx="463" formatCode="m/d/yyyy">
                  <c:v>44818</c:v>
                </c:pt>
                <c:pt idx="464" formatCode="m/d/yyyy">
                  <c:v>44819</c:v>
                </c:pt>
                <c:pt idx="465" formatCode="m/d/yyyy">
                  <c:v>44820</c:v>
                </c:pt>
                <c:pt idx="466" formatCode="m/d/yyyy">
                  <c:v>44823</c:v>
                </c:pt>
                <c:pt idx="467" formatCode="m/d/yyyy">
                  <c:v>44824</c:v>
                </c:pt>
                <c:pt idx="468" formatCode="m/d/yyyy">
                  <c:v>44825</c:v>
                </c:pt>
                <c:pt idx="469" formatCode="m/d/yyyy">
                  <c:v>44826</c:v>
                </c:pt>
                <c:pt idx="470" formatCode="m/d/yyyy">
                  <c:v>44827</c:v>
                </c:pt>
                <c:pt idx="471" formatCode="m/d/yyyy">
                  <c:v>44830</c:v>
                </c:pt>
                <c:pt idx="472" formatCode="m/d/yyyy">
                  <c:v>44831</c:v>
                </c:pt>
                <c:pt idx="473" formatCode="m/d/yyyy">
                  <c:v>44832</c:v>
                </c:pt>
                <c:pt idx="474" formatCode="m/d/yyyy">
                  <c:v>44833</c:v>
                </c:pt>
                <c:pt idx="475" formatCode="m/d/yyyy">
                  <c:v>44834</c:v>
                </c:pt>
                <c:pt idx="476" formatCode="m/d/yyyy">
                  <c:v>44837</c:v>
                </c:pt>
                <c:pt idx="477" formatCode="m/d/yyyy">
                  <c:v>44838</c:v>
                </c:pt>
                <c:pt idx="478" formatCode="m/d/yyyy">
                  <c:v>44839</c:v>
                </c:pt>
                <c:pt idx="479" formatCode="m/d/yyyy">
                  <c:v>44840</c:v>
                </c:pt>
                <c:pt idx="480" formatCode="m/d/yyyy">
                  <c:v>44841</c:v>
                </c:pt>
                <c:pt idx="481" formatCode="m/d/yyyy">
                  <c:v>44844</c:v>
                </c:pt>
                <c:pt idx="482" formatCode="m/d/yyyy">
                  <c:v>44845</c:v>
                </c:pt>
                <c:pt idx="483" formatCode="m/d/yyyy">
                  <c:v>44846</c:v>
                </c:pt>
                <c:pt idx="484" formatCode="m/d/yyyy">
                  <c:v>44847</c:v>
                </c:pt>
                <c:pt idx="485" formatCode="m/d/yyyy">
                  <c:v>44848</c:v>
                </c:pt>
                <c:pt idx="486" formatCode="m/d/yyyy">
                  <c:v>44851</c:v>
                </c:pt>
                <c:pt idx="487" formatCode="m/d/yyyy">
                  <c:v>44852</c:v>
                </c:pt>
                <c:pt idx="488" formatCode="m/d/yyyy">
                  <c:v>44853</c:v>
                </c:pt>
                <c:pt idx="489" formatCode="m/d/yyyy">
                  <c:v>44854</c:v>
                </c:pt>
                <c:pt idx="490" formatCode="m/d/yyyy">
                  <c:v>44855</c:v>
                </c:pt>
                <c:pt idx="491" formatCode="m/d/yyyy">
                  <c:v>44858</c:v>
                </c:pt>
                <c:pt idx="492" formatCode="m/d/yyyy">
                  <c:v>44859</c:v>
                </c:pt>
                <c:pt idx="493" formatCode="m/d/yyyy">
                  <c:v>44860</c:v>
                </c:pt>
                <c:pt idx="494" formatCode="m/d/yyyy">
                  <c:v>44861</c:v>
                </c:pt>
                <c:pt idx="495" formatCode="m/d/yyyy">
                  <c:v>44862</c:v>
                </c:pt>
                <c:pt idx="496" formatCode="m/d/yyyy">
                  <c:v>44865</c:v>
                </c:pt>
                <c:pt idx="497" formatCode="m/d/yyyy">
                  <c:v>44866</c:v>
                </c:pt>
                <c:pt idx="498" formatCode="m/d/yyyy">
                  <c:v>44867</c:v>
                </c:pt>
                <c:pt idx="499" formatCode="m/d/yyyy">
                  <c:v>44868</c:v>
                </c:pt>
                <c:pt idx="500" formatCode="m/d/yyyy">
                  <c:v>44869</c:v>
                </c:pt>
                <c:pt idx="501" formatCode="m/d/yyyy">
                  <c:v>44872</c:v>
                </c:pt>
                <c:pt idx="502" formatCode="m/d/yyyy">
                  <c:v>44873</c:v>
                </c:pt>
                <c:pt idx="503" formatCode="m/d/yyyy">
                  <c:v>44874</c:v>
                </c:pt>
                <c:pt idx="504" formatCode="m/d/yyyy">
                  <c:v>44875</c:v>
                </c:pt>
                <c:pt idx="505" formatCode="m/d/yyyy">
                  <c:v>44876</c:v>
                </c:pt>
                <c:pt idx="506" formatCode="m/d/yyyy">
                  <c:v>44879</c:v>
                </c:pt>
                <c:pt idx="507" formatCode="m/d/yyyy">
                  <c:v>44880</c:v>
                </c:pt>
                <c:pt idx="508" formatCode="m/d/yyyy">
                  <c:v>44881</c:v>
                </c:pt>
                <c:pt idx="509" formatCode="m/d/yyyy">
                  <c:v>44882</c:v>
                </c:pt>
                <c:pt idx="510" formatCode="m/d/yyyy">
                  <c:v>44883</c:v>
                </c:pt>
                <c:pt idx="511" formatCode="m/d/yyyy">
                  <c:v>44886</c:v>
                </c:pt>
                <c:pt idx="512" formatCode="m/d/yyyy">
                  <c:v>44887</c:v>
                </c:pt>
                <c:pt idx="513" formatCode="m/d/yyyy">
                  <c:v>44888</c:v>
                </c:pt>
                <c:pt idx="514" formatCode="m/d/yyyy">
                  <c:v>44890</c:v>
                </c:pt>
                <c:pt idx="515" formatCode="m/d/yyyy">
                  <c:v>44893</c:v>
                </c:pt>
                <c:pt idx="516" formatCode="m/d/yyyy">
                  <c:v>44894</c:v>
                </c:pt>
                <c:pt idx="517" formatCode="m/d/yyyy">
                  <c:v>44895</c:v>
                </c:pt>
                <c:pt idx="518" formatCode="m/d/yyyy">
                  <c:v>44896</c:v>
                </c:pt>
                <c:pt idx="519" formatCode="m/d/yyyy">
                  <c:v>44897</c:v>
                </c:pt>
                <c:pt idx="520" formatCode="m/d/yyyy">
                  <c:v>44900</c:v>
                </c:pt>
                <c:pt idx="521" formatCode="m/d/yyyy">
                  <c:v>44901</c:v>
                </c:pt>
                <c:pt idx="522" formatCode="m/d/yyyy">
                  <c:v>44902</c:v>
                </c:pt>
                <c:pt idx="523" formatCode="m/d/yyyy">
                  <c:v>44903</c:v>
                </c:pt>
                <c:pt idx="524" formatCode="m/d/yyyy">
                  <c:v>44904</c:v>
                </c:pt>
                <c:pt idx="525" formatCode="m/d/yyyy">
                  <c:v>44907</c:v>
                </c:pt>
                <c:pt idx="526" formatCode="m/d/yyyy">
                  <c:v>44908</c:v>
                </c:pt>
                <c:pt idx="527" formatCode="m/d/yyyy">
                  <c:v>44909</c:v>
                </c:pt>
                <c:pt idx="528" formatCode="m/d/yyyy">
                  <c:v>44910</c:v>
                </c:pt>
                <c:pt idx="529" formatCode="m/d/yyyy">
                  <c:v>44911</c:v>
                </c:pt>
                <c:pt idx="530" formatCode="m/d/yyyy">
                  <c:v>44914</c:v>
                </c:pt>
                <c:pt idx="531" formatCode="m/d/yyyy">
                  <c:v>44915</c:v>
                </c:pt>
                <c:pt idx="532" formatCode="m/d/yyyy">
                  <c:v>44916</c:v>
                </c:pt>
                <c:pt idx="533" formatCode="m/d/yyyy">
                  <c:v>44917</c:v>
                </c:pt>
                <c:pt idx="534" formatCode="m/d/yyyy">
                  <c:v>44918</c:v>
                </c:pt>
                <c:pt idx="535" formatCode="m/d/yyyy">
                  <c:v>44922</c:v>
                </c:pt>
                <c:pt idx="536" formatCode="m/d/yyyy">
                  <c:v>44923</c:v>
                </c:pt>
                <c:pt idx="537" formatCode="m/d/yyyy">
                  <c:v>44924</c:v>
                </c:pt>
                <c:pt idx="538" formatCode="m/d/yyyy">
                  <c:v>44925</c:v>
                </c:pt>
                <c:pt idx="539" formatCode="m/d/yyyy">
                  <c:v>44929</c:v>
                </c:pt>
                <c:pt idx="540" formatCode="m/d/yyyy">
                  <c:v>44930</c:v>
                </c:pt>
                <c:pt idx="541" formatCode="m/d/yyyy">
                  <c:v>44931</c:v>
                </c:pt>
                <c:pt idx="542" formatCode="m/d/yyyy">
                  <c:v>44932</c:v>
                </c:pt>
                <c:pt idx="543" formatCode="m/d/yyyy">
                  <c:v>44935</c:v>
                </c:pt>
                <c:pt idx="544" formatCode="m/d/yyyy">
                  <c:v>44936</c:v>
                </c:pt>
                <c:pt idx="545" formatCode="m/d/yyyy">
                  <c:v>44937</c:v>
                </c:pt>
                <c:pt idx="546" formatCode="m/d/yyyy">
                  <c:v>44938</c:v>
                </c:pt>
                <c:pt idx="547" formatCode="m/d/yyyy">
                  <c:v>44939</c:v>
                </c:pt>
                <c:pt idx="548" formatCode="m/d/yyyy">
                  <c:v>44943</c:v>
                </c:pt>
                <c:pt idx="549" formatCode="m/d/yyyy">
                  <c:v>44944</c:v>
                </c:pt>
                <c:pt idx="550" formatCode="m/d/yyyy">
                  <c:v>44945</c:v>
                </c:pt>
                <c:pt idx="551" formatCode="m/d/yyyy">
                  <c:v>44946</c:v>
                </c:pt>
                <c:pt idx="552" formatCode="m/d/yyyy">
                  <c:v>44949</c:v>
                </c:pt>
                <c:pt idx="553" formatCode="m/d/yyyy">
                  <c:v>44950</c:v>
                </c:pt>
                <c:pt idx="554" formatCode="m/d/yyyy">
                  <c:v>44951</c:v>
                </c:pt>
                <c:pt idx="555" formatCode="m/d/yyyy">
                  <c:v>44952</c:v>
                </c:pt>
                <c:pt idx="556" formatCode="m/d/yyyy">
                  <c:v>44953</c:v>
                </c:pt>
                <c:pt idx="557" formatCode="m/d/yyyy">
                  <c:v>44956</c:v>
                </c:pt>
                <c:pt idx="558" formatCode="m/d/yyyy">
                  <c:v>44957</c:v>
                </c:pt>
                <c:pt idx="559" formatCode="m/d/yyyy">
                  <c:v>44958</c:v>
                </c:pt>
                <c:pt idx="560" formatCode="m/d/yyyy">
                  <c:v>44959</c:v>
                </c:pt>
                <c:pt idx="561" formatCode="m/d/yyyy">
                  <c:v>44960</c:v>
                </c:pt>
                <c:pt idx="562" formatCode="m/d/yyyy">
                  <c:v>44963</c:v>
                </c:pt>
                <c:pt idx="563" formatCode="m/d/yyyy">
                  <c:v>44964</c:v>
                </c:pt>
                <c:pt idx="564" formatCode="m/d/yyyy">
                  <c:v>44965</c:v>
                </c:pt>
                <c:pt idx="565" formatCode="m/d/yyyy">
                  <c:v>44966</c:v>
                </c:pt>
                <c:pt idx="566" formatCode="m/d/yyyy">
                  <c:v>44967</c:v>
                </c:pt>
                <c:pt idx="567" formatCode="m/d/yyyy">
                  <c:v>44970</c:v>
                </c:pt>
                <c:pt idx="568" formatCode="m/d/yyyy">
                  <c:v>44971</c:v>
                </c:pt>
                <c:pt idx="569" formatCode="m/d/yyyy">
                  <c:v>44972</c:v>
                </c:pt>
                <c:pt idx="570" formatCode="m/d/yyyy">
                  <c:v>44973</c:v>
                </c:pt>
                <c:pt idx="571" formatCode="m/d/yyyy">
                  <c:v>44974</c:v>
                </c:pt>
                <c:pt idx="572" formatCode="m/d/yyyy">
                  <c:v>44978</c:v>
                </c:pt>
                <c:pt idx="573" formatCode="m/d/yyyy">
                  <c:v>44979</c:v>
                </c:pt>
                <c:pt idx="574" formatCode="m/d/yyyy">
                  <c:v>44980</c:v>
                </c:pt>
                <c:pt idx="575" formatCode="m/d/yyyy">
                  <c:v>44981</c:v>
                </c:pt>
                <c:pt idx="576" formatCode="m/d/yyyy">
                  <c:v>44984</c:v>
                </c:pt>
                <c:pt idx="577" formatCode="m/d/yyyy">
                  <c:v>44985</c:v>
                </c:pt>
                <c:pt idx="578" formatCode="m/d/yyyy">
                  <c:v>44986</c:v>
                </c:pt>
                <c:pt idx="579" formatCode="m/d/yyyy">
                  <c:v>44987</c:v>
                </c:pt>
                <c:pt idx="580" formatCode="m/d/yyyy">
                  <c:v>44988</c:v>
                </c:pt>
                <c:pt idx="581" formatCode="m/d/yyyy">
                  <c:v>44991</c:v>
                </c:pt>
                <c:pt idx="582" formatCode="m/d/yyyy">
                  <c:v>44992</c:v>
                </c:pt>
                <c:pt idx="583" formatCode="m/d/yyyy">
                  <c:v>44993</c:v>
                </c:pt>
                <c:pt idx="584" formatCode="m/d/yyyy">
                  <c:v>44994</c:v>
                </c:pt>
                <c:pt idx="585" formatCode="m/d/yyyy">
                  <c:v>44995</c:v>
                </c:pt>
                <c:pt idx="586" formatCode="m/d/yyyy">
                  <c:v>44998</c:v>
                </c:pt>
                <c:pt idx="587" formatCode="m/d/yyyy">
                  <c:v>44999</c:v>
                </c:pt>
                <c:pt idx="588" formatCode="m/d/yyyy">
                  <c:v>45000</c:v>
                </c:pt>
                <c:pt idx="589" formatCode="m/d/yyyy">
                  <c:v>45001</c:v>
                </c:pt>
                <c:pt idx="590" formatCode="m/d/yyyy">
                  <c:v>45002</c:v>
                </c:pt>
                <c:pt idx="591" formatCode="m/d/yyyy">
                  <c:v>45005</c:v>
                </c:pt>
                <c:pt idx="592" formatCode="m/d/yyyy">
                  <c:v>45006</c:v>
                </c:pt>
                <c:pt idx="593" formatCode="m/d/yyyy">
                  <c:v>45007</c:v>
                </c:pt>
                <c:pt idx="594" formatCode="m/d/yyyy">
                  <c:v>45008</c:v>
                </c:pt>
                <c:pt idx="595" formatCode="m/d/yyyy">
                  <c:v>45009</c:v>
                </c:pt>
                <c:pt idx="596" formatCode="m/d/yyyy">
                  <c:v>45012</c:v>
                </c:pt>
                <c:pt idx="597" formatCode="m/d/yyyy">
                  <c:v>45013</c:v>
                </c:pt>
                <c:pt idx="598" formatCode="m/d/yyyy">
                  <c:v>45014</c:v>
                </c:pt>
                <c:pt idx="599" formatCode="m/d/yyyy">
                  <c:v>45015</c:v>
                </c:pt>
                <c:pt idx="600" formatCode="m/d/yyyy">
                  <c:v>45016</c:v>
                </c:pt>
                <c:pt idx="601" formatCode="m/d/yyyy">
                  <c:v>45019</c:v>
                </c:pt>
                <c:pt idx="602" formatCode="m/d/yyyy">
                  <c:v>45020</c:v>
                </c:pt>
                <c:pt idx="603" formatCode="m/d/yyyy">
                  <c:v>45021</c:v>
                </c:pt>
                <c:pt idx="604" formatCode="m/d/yyyy">
                  <c:v>45022</c:v>
                </c:pt>
                <c:pt idx="605" formatCode="m/d/yyyy">
                  <c:v>45026</c:v>
                </c:pt>
                <c:pt idx="606" formatCode="m/d/yyyy">
                  <c:v>45027</c:v>
                </c:pt>
                <c:pt idx="607" formatCode="m/d/yyyy">
                  <c:v>45028</c:v>
                </c:pt>
                <c:pt idx="608" formatCode="m/d/yyyy">
                  <c:v>45029</c:v>
                </c:pt>
                <c:pt idx="609" formatCode="m/d/yyyy">
                  <c:v>45030</c:v>
                </c:pt>
                <c:pt idx="610" formatCode="m/d/yyyy">
                  <c:v>45033</c:v>
                </c:pt>
                <c:pt idx="611" formatCode="m/d/yyyy">
                  <c:v>45034</c:v>
                </c:pt>
                <c:pt idx="612" formatCode="m/d/yyyy">
                  <c:v>45035</c:v>
                </c:pt>
                <c:pt idx="613" formatCode="m/d/yyyy">
                  <c:v>45036</c:v>
                </c:pt>
                <c:pt idx="614" formatCode="m/d/yyyy">
                  <c:v>45037</c:v>
                </c:pt>
                <c:pt idx="615" formatCode="m/d/yyyy">
                  <c:v>45040</c:v>
                </c:pt>
                <c:pt idx="616" formatCode="m/d/yyyy">
                  <c:v>45041</c:v>
                </c:pt>
                <c:pt idx="617" formatCode="m/d/yyyy">
                  <c:v>45042</c:v>
                </c:pt>
                <c:pt idx="618" formatCode="m/d/yyyy">
                  <c:v>45043</c:v>
                </c:pt>
                <c:pt idx="619" formatCode="m/d/yyyy">
                  <c:v>45044</c:v>
                </c:pt>
                <c:pt idx="620" formatCode="m/d/yyyy">
                  <c:v>45047</c:v>
                </c:pt>
                <c:pt idx="621" formatCode="m/d/yyyy">
                  <c:v>45048</c:v>
                </c:pt>
                <c:pt idx="622" formatCode="m/d/yyyy">
                  <c:v>45049</c:v>
                </c:pt>
                <c:pt idx="623" formatCode="m/d/yyyy">
                  <c:v>45050</c:v>
                </c:pt>
                <c:pt idx="624" formatCode="m/d/yyyy">
                  <c:v>45051</c:v>
                </c:pt>
                <c:pt idx="625" formatCode="m/d/yyyy">
                  <c:v>45054</c:v>
                </c:pt>
                <c:pt idx="626" formatCode="m/d/yyyy">
                  <c:v>45055</c:v>
                </c:pt>
                <c:pt idx="627" formatCode="m/d/yyyy">
                  <c:v>45056</c:v>
                </c:pt>
                <c:pt idx="628" formatCode="m/d/yyyy">
                  <c:v>45057</c:v>
                </c:pt>
                <c:pt idx="629" formatCode="m/d/yyyy">
                  <c:v>45058</c:v>
                </c:pt>
                <c:pt idx="630" formatCode="m/d/yyyy">
                  <c:v>45061</c:v>
                </c:pt>
                <c:pt idx="631" formatCode="m/d/yyyy">
                  <c:v>45062</c:v>
                </c:pt>
                <c:pt idx="632" formatCode="m/d/yyyy">
                  <c:v>45063</c:v>
                </c:pt>
                <c:pt idx="633" formatCode="m/d/yyyy">
                  <c:v>45064</c:v>
                </c:pt>
                <c:pt idx="634" formatCode="m/d/yyyy">
                  <c:v>45065</c:v>
                </c:pt>
                <c:pt idx="635" formatCode="m/d/yyyy">
                  <c:v>45068</c:v>
                </c:pt>
                <c:pt idx="636" formatCode="m/d/yyyy">
                  <c:v>45069</c:v>
                </c:pt>
                <c:pt idx="637" formatCode="m/d/yyyy">
                  <c:v>45070</c:v>
                </c:pt>
                <c:pt idx="638" formatCode="m/d/yyyy">
                  <c:v>45071</c:v>
                </c:pt>
                <c:pt idx="639" formatCode="m/d/yyyy">
                  <c:v>45072</c:v>
                </c:pt>
                <c:pt idx="640" formatCode="m/d/yyyy">
                  <c:v>45076</c:v>
                </c:pt>
                <c:pt idx="641" formatCode="m/d/yyyy">
                  <c:v>45077</c:v>
                </c:pt>
                <c:pt idx="642" formatCode="m/d/yyyy">
                  <c:v>45078</c:v>
                </c:pt>
                <c:pt idx="643" formatCode="m/d/yyyy">
                  <c:v>45079</c:v>
                </c:pt>
                <c:pt idx="644" formatCode="m/d/yyyy">
                  <c:v>45082</c:v>
                </c:pt>
                <c:pt idx="645" formatCode="m/d/yyyy">
                  <c:v>45083</c:v>
                </c:pt>
                <c:pt idx="646" formatCode="m/d/yyyy">
                  <c:v>45084</c:v>
                </c:pt>
                <c:pt idx="647" formatCode="m/d/yyyy">
                  <c:v>45085</c:v>
                </c:pt>
                <c:pt idx="648" formatCode="m/d/yyyy">
                  <c:v>45086</c:v>
                </c:pt>
                <c:pt idx="649" formatCode="m/d/yyyy">
                  <c:v>45089</c:v>
                </c:pt>
                <c:pt idx="650" formatCode="m/d/yyyy">
                  <c:v>45090</c:v>
                </c:pt>
                <c:pt idx="651" formatCode="m/d/yyyy">
                  <c:v>45091</c:v>
                </c:pt>
                <c:pt idx="652" formatCode="m/d/yyyy">
                  <c:v>45092</c:v>
                </c:pt>
                <c:pt idx="653" formatCode="m/d/yyyy">
                  <c:v>45093</c:v>
                </c:pt>
                <c:pt idx="654" formatCode="m/d/yyyy">
                  <c:v>45097</c:v>
                </c:pt>
                <c:pt idx="655" formatCode="m/d/yyyy">
                  <c:v>45098</c:v>
                </c:pt>
                <c:pt idx="656" formatCode="m/d/yyyy">
                  <c:v>45099</c:v>
                </c:pt>
                <c:pt idx="657" formatCode="m/d/yyyy">
                  <c:v>45100</c:v>
                </c:pt>
                <c:pt idx="658" formatCode="m/d/yyyy">
                  <c:v>45103</c:v>
                </c:pt>
                <c:pt idx="659" formatCode="m/d/yyyy">
                  <c:v>45104</c:v>
                </c:pt>
                <c:pt idx="660" formatCode="m/d/yyyy">
                  <c:v>45105</c:v>
                </c:pt>
                <c:pt idx="661" formatCode="m/d/yyyy">
                  <c:v>45106</c:v>
                </c:pt>
                <c:pt idx="662" formatCode="m/d/yyyy">
                  <c:v>45107</c:v>
                </c:pt>
                <c:pt idx="663" formatCode="m/d/yyyy">
                  <c:v>45110</c:v>
                </c:pt>
                <c:pt idx="664" formatCode="m/d/yyyy">
                  <c:v>45112</c:v>
                </c:pt>
                <c:pt idx="665" formatCode="m/d/yyyy">
                  <c:v>45113</c:v>
                </c:pt>
                <c:pt idx="666" formatCode="m/d/yyyy">
                  <c:v>45114</c:v>
                </c:pt>
                <c:pt idx="667" formatCode="m/d/yyyy">
                  <c:v>45117</c:v>
                </c:pt>
                <c:pt idx="668" formatCode="m/d/yyyy">
                  <c:v>45118</c:v>
                </c:pt>
                <c:pt idx="669" formatCode="m/d/yyyy">
                  <c:v>45119</c:v>
                </c:pt>
                <c:pt idx="670" formatCode="m/d/yyyy">
                  <c:v>45120</c:v>
                </c:pt>
                <c:pt idx="671" formatCode="m/d/yyyy">
                  <c:v>45121</c:v>
                </c:pt>
                <c:pt idx="672" formatCode="m/d/yyyy">
                  <c:v>45124</c:v>
                </c:pt>
                <c:pt idx="673" formatCode="m/d/yyyy">
                  <c:v>45125</c:v>
                </c:pt>
                <c:pt idx="674" formatCode="m/d/yyyy">
                  <c:v>45126</c:v>
                </c:pt>
                <c:pt idx="675" formatCode="m/d/yyyy">
                  <c:v>45127</c:v>
                </c:pt>
                <c:pt idx="676" formatCode="m/d/yyyy">
                  <c:v>45128</c:v>
                </c:pt>
                <c:pt idx="677" formatCode="m/d/yyyy">
                  <c:v>45131</c:v>
                </c:pt>
                <c:pt idx="678" formatCode="m/d/yyyy">
                  <c:v>45132</c:v>
                </c:pt>
                <c:pt idx="679" formatCode="m/d/yyyy">
                  <c:v>45133</c:v>
                </c:pt>
                <c:pt idx="680" formatCode="m/d/yyyy">
                  <c:v>45134</c:v>
                </c:pt>
                <c:pt idx="681" formatCode="m/d/yyyy">
                  <c:v>45135</c:v>
                </c:pt>
                <c:pt idx="682" formatCode="m/d/yyyy">
                  <c:v>45138</c:v>
                </c:pt>
                <c:pt idx="683" formatCode="m/d/yyyy">
                  <c:v>45139</c:v>
                </c:pt>
                <c:pt idx="684" formatCode="m/d/yyyy">
                  <c:v>45140</c:v>
                </c:pt>
                <c:pt idx="685" formatCode="m/d/yyyy">
                  <c:v>45141</c:v>
                </c:pt>
                <c:pt idx="686" formatCode="m/d/yyyy">
                  <c:v>45142</c:v>
                </c:pt>
                <c:pt idx="687" formatCode="m/d/yyyy">
                  <c:v>45145</c:v>
                </c:pt>
                <c:pt idx="688" formatCode="m/d/yyyy">
                  <c:v>45146</c:v>
                </c:pt>
                <c:pt idx="689" formatCode="m/d/yyyy">
                  <c:v>45147</c:v>
                </c:pt>
                <c:pt idx="690" formatCode="m/d/yyyy">
                  <c:v>45148</c:v>
                </c:pt>
                <c:pt idx="691" formatCode="m/d/yyyy">
                  <c:v>45149</c:v>
                </c:pt>
                <c:pt idx="692" formatCode="m/d/yyyy">
                  <c:v>45152</c:v>
                </c:pt>
                <c:pt idx="693" formatCode="m/d/yyyy">
                  <c:v>45153</c:v>
                </c:pt>
                <c:pt idx="694" formatCode="m/d/yyyy">
                  <c:v>45154</c:v>
                </c:pt>
                <c:pt idx="695" formatCode="m/d/yyyy">
                  <c:v>45155</c:v>
                </c:pt>
                <c:pt idx="696" formatCode="m/d/yyyy">
                  <c:v>45156</c:v>
                </c:pt>
                <c:pt idx="697" formatCode="m/d/yyyy">
                  <c:v>45159</c:v>
                </c:pt>
                <c:pt idx="698" formatCode="m/d/yyyy">
                  <c:v>45160</c:v>
                </c:pt>
                <c:pt idx="699" formatCode="m/d/yyyy">
                  <c:v>45161</c:v>
                </c:pt>
                <c:pt idx="700" formatCode="m/d/yyyy">
                  <c:v>45162</c:v>
                </c:pt>
                <c:pt idx="701" formatCode="m/d/yyyy">
                  <c:v>45163</c:v>
                </c:pt>
                <c:pt idx="702" formatCode="m/d/yyyy">
                  <c:v>45166</c:v>
                </c:pt>
                <c:pt idx="703" formatCode="m/d/yyyy">
                  <c:v>45167</c:v>
                </c:pt>
                <c:pt idx="704" formatCode="m/d/yyyy">
                  <c:v>45168</c:v>
                </c:pt>
                <c:pt idx="705" formatCode="m/d/yyyy">
                  <c:v>45169</c:v>
                </c:pt>
                <c:pt idx="706" formatCode="m/d/yyyy">
                  <c:v>45170</c:v>
                </c:pt>
                <c:pt idx="707" formatCode="m/d/yyyy">
                  <c:v>45174</c:v>
                </c:pt>
                <c:pt idx="708" formatCode="m/d/yyyy">
                  <c:v>45175</c:v>
                </c:pt>
                <c:pt idx="709" formatCode="m/d/yyyy">
                  <c:v>45176</c:v>
                </c:pt>
                <c:pt idx="710" formatCode="m/d/yyyy">
                  <c:v>45177</c:v>
                </c:pt>
                <c:pt idx="711" formatCode="m/d/yyyy">
                  <c:v>45180</c:v>
                </c:pt>
                <c:pt idx="712" formatCode="m/d/yyyy">
                  <c:v>45181</c:v>
                </c:pt>
                <c:pt idx="713" formatCode="m/d/yyyy">
                  <c:v>45182</c:v>
                </c:pt>
                <c:pt idx="714" formatCode="m/d/yyyy">
                  <c:v>45183</c:v>
                </c:pt>
                <c:pt idx="715" formatCode="m/d/yyyy">
                  <c:v>45184</c:v>
                </c:pt>
                <c:pt idx="716" formatCode="m/d/yyyy">
                  <c:v>45187</c:v>
                </c:pt>
                <c:pt idx="717" formatCode="m/d/yyyy">
                  <c:v>45188</c:v>
                </c:pt>
                <c:pt idx="718" formatCode="m/d/yyyy">
                  <c:v>45189</c:v>
                </c:pt>
                <c:pt idx="719" formatCode="m/d/yyyy">
                  <c:v>45190</c:v>
                </c:pt>
                <c:pt idx="720" formatCode="m/d/yyyy">
                  <c:v>45191</c:v>
                </c:pt>
                <c:pt idx="721" formatCode="m/d/yyyy">
                  <c:v>45194</c:v>
                </c:pt>
                <c:pt idx="722" formatCode="m/d/yyyy">
                  <c:v>45195</c:v>
                </c:pt>
                <c:pt idx="723" formatCode="m/d/yyyy">
                  <c:v>45196</c:v>
                </c:pt>
                <c:pt idx="724" formatCode="m/d/yyyy">
                  <c:v>45197</c:v>
                </c:pt>
                <c:pt idx="725" formatCode="m/d/yyyy">
                  <c:v>45198</c:v>
                </c:pt>
                <c:pt idx="726" formatCode="m/d/yyyy">
                  <c:v>45201</c:v>
                </c:pt>
                <c:pt idx="727" formatCode="m/d/yyyy">
                  <c:v>45202</c:v>
                </c:pt>
                <c:pt idx="728" formatCode="m/d/yyyy">
                  <c:v>45203</c:v>
                </c:pt>
                <c:pt idx="729" formatCode="m/d/yyyy">
                  <c:v>45204</c:v>
                </c:pt>
                <c:pt idx="730" formatCode="m/d/yyyy">
                  <c:v>45205</c:v>
                </c:pt>
                <c:pt idx="731" formatCode="m/d/yyyy">
                  <c:v>45208</c:v>
                </c:pt>
                <c:pt idx="732" formatCode="m/d/yyyy">
                  <c:v>45209</c:v>
                </c:pt>
                <c:pt idx="733" formatCode="m/d/yyyy">
                  <c:v>45210</c:v>
                </c:pt>
                <c:pt idx="734" formatCode="m/d/yyyy">
                  <c:v>45211</c:v>
                </c:pt>
                <c:pt idx="735" formatCode="m/d/yyyy">
                  <c:v>45212</c:v>
                </c:pt>
                <c:pt idx="736" formatCode="m/d/yyyy">
                  <c:v>45215</c:v>
                </c:pt>
                <c:pt idx="737" formatCode="m/d/yyyy">
                  <c:v>45216</c:v>
                </c:pt>
                <c:pt idx="738" formatCode="m/d/yyyy">
                  <c:v>45217</c:v>
                </c:pt>
                <c:pt idx="739" formatCode="m/d/yyyy">
                  <c:v>45218</c:v>
                </c:pt>
                <c:pt idx="740" formatCode="m/d/yyyy">
                  <c:v>45219</c:v>
                </c:pt>
                <c:pt idx="741" formatCode="m/d/yyyy">
                  <c:v>45222</c:v>
                </c:pt>
                <c:pt idx="742" formatCode="m/d/yyyy">
                  <c:v>45223</c:v>
                </c:pt>
                <c:pt idx="743" formatCode="m/d/yyyy">
                  <c:v>45224</c:v>
                </c:pt>
                <c:pt idx="744" formatCode="m/d/yyyy">
                  <c:v>45225</c:v>
                </c:pt>
                <c:pt idx="745" formatCode="m/d/yyyy">
                  <c:v>45226</c:v>
                </c:pt>
                <c:pt idx="746" formatCode="m/d/yyyy">
                  <c:v>45229</c:v>
                </c:pt>
                <c:pt idx="747" formatCode="m/d/yyyy">
                  <c:v>45230</c:v>
                </c:pt>
                <c:pt idx="748" formatCode="m/d/yyyy">
                  <c:v>45231</c:v>
                </c:pt>
                <c:pt idx="749" formatCode="m/d/yyyy">
                  <c:v>45232</c:v>
                </c:pt>
                <c:pt idx="750" formatCode="m/d/yyyy">
                  <c:v>45233</c:v>
                </c:pt>
                <c:pt idx="751" formatCode="m/d/yyyy">
                  <c:v>45236</c:v>
                </c:pt>
                <c:pt idx="752" formatCode="m/d/yyyy">
                  <c:v>45237</c:v>
                </c:pt>
                <c:pt idx="753" formatCode="m/d/yyyy">
                  <c:v>45238</c:v>
                </c:pt>
                <c:pt idx="754" formatCode="m/d/yyyy">
                  <c:v>45239</c:v>
                </c:pt>
                <c:pt idx="755" formatCode="m/d/yyyy">
                  <c:v>45240</c:v>
                </c:pt>
              </c:numCache>
            </c:numRef>
          </c:cat>
          <c:val>
            <c:numRef>
              <c:f>Sheet1!$B$2:$B$757</c:f>
              <c:numCache>
                <c:formatCode>General</c:formatCode>
                <c:ptCount val="756"/>
                <c:pt idx="252">
                  <c:v>75.389999000000003</c:v>
                </c:pt>
                <c:pt idx="253">
                  <c:v>76.400002000000001</c:v>
                </c:pt>
                <c:pt idx="254">
                  <c:v>77.779999000000004</c:v>
                </c:pt>
                <c:pt idx="255">
                  <c:v>79.660004000000001</c:v>
                </c:pt>
                <c:pt idx="256">
                  <c:v>78.699996999999996</c:v>
                </c:pt>
                <c:pt idx="257">
                  <c:v>77.529999000000004</c:v>
                </c:pt>
                <c:pt idx="258">
                  <c:v>77.739998</c:v>
                </c:pt>
                <c:pt idx="259">
                  <c:v>76.639999000000003</c:v>
                </c:pt>
                <c:pt idx="260">
                  <c:v>76.919998000000007</c:v>
                </c:pt>
                <c:pt idx="261">
                  <c:v>77.860000999999997</c:v>
                </c:pt>
                <c:pt idx="262">
                  <c:v>78.849997999999999</c:v>
                </c:pt>
                <c:pt idx="263">
                  <c:v>76.180000000000007</c:v>
                </c:pt>
                <c:pt idx="264">
                  <c:v>77.010002</c:v>
                </c:pt>
                <c:pt idx="265">
                  <c:v>74.580001999999993</c:v>
                </c:pt>
                <c:pt idx="266">
                  <c:v>73.470000999999996</c:v>
                </c:pt>
                <c:pt idx="267">
                  <c:v>76.800003000000004</c:v>
                </c:pt>
                <c:pt idx="268">
                  <c:v>77.430000000000007</c:v>
                </c:pt>
                <c:pt idx="269">
                  <c:v>79.010002</c:v>
                </c:pt>
                <c:pt idx="270">
                  <c:v>78.959998999999996</c:v>
                </c:pt>
                <c:pt idx="271">
                  <c:v>79.480002999999996</c:v>
                </c:pt>
                <c:pt idx="272">
                  <c:v>77.889999000000003</c:v>
                </c:pt>
                <c:pt idx="273">
                  <c:v>78.089995999999999</c:v>
                </c:pt>
                <c:pt idx="274">
                  <c:v>78.290001000000004</c:v>
                </c:pt>
                <c:pt idx="275">
                  <c:v>76.360000999999997</c:v>
                </c:pt>
                <c:pt idx="276">
                  <c:v>77.870002999999997</c:v>
                </c:pt>
                <c:pt idx="277">
                  <c:v>77.180000000000007</c:v>
                </c:pt>
                <c:pt idx="278">
                  <c:v>78.470000999999996</c:v>
                </c:pt>
                <c:pt idx="279">
                  <c:v>78.180000000000007</c:v>
                </c:pt>
                <c:pt idx="280">
                  <c:v>78.790001000000004</c:v>
                </c:pt>
                <c:pt idx="281">
                  <c:v>79.410004000000001</c:v>
                </c:pt>
                <c:pt idx="282">
                  <c:v>78.709998999999996</c:v>
                </c:pt>
                <c:pt idx="283">
                  <c:v>80.959998999999996</c:v>
                </c:pt>
                <c:pt idx="284">
                  <c:v>81.529999000000004</c:v>
                </c:pt>
                <c:pt idx="285">
                  <c:v>82.480002999999996</c:v>
                </c:pt>
                <c:pt idx="286">
                  <c:v>82.739998</c:v>
                </c:pt>
                <c:pt idx="287">
                  <c:v>83.830001999999993</c:v>
                </c:pt>
                <c:pt idx="288">
                  <c:v>82.230002999999996</c:v>
                </c:pt>
                <c:pt idx="289">
                  <c:v>82.629997000000003</c:v>
                </c:pt>
                <c:pt idx="290">
                  <c:v>81.540001000000004</c:v>
                </c:pt>
                <c:pt idx="291">
                  <c:v>80.910004000000001</c:v>
                </c:pt>
                <c:pt idx="292">
                  <c:v>79.190002000000007</c:v>
                </c:pt>
                <c:pt idx="293">
                  <c:v>79.620002999999997</c:v>
                </c:pt>
                <c:pt idx="294">
                  <c:v>78.819999999999993</c:v>
                </c:pt>
                <c:pt idx="295">
                  <c:v>80.099997999999999</c:v>
                </c:pt>
                <c:pt idx="296">
                  <c:v>82.790001000000004</c:v>
                </c:pt>
                <c:pt idx="297">
                  <c:v>82.459998999999996</c:v>
                </c:pt>
                <c:pt idx="298">
                  <c:v>82.440002000000007</c:v>
                </c:pt>
                <c:pt idx="299">
                  <c:v>79.870002999999997</c:v>
                </c:pt>
                <c:pt idx="300">
                  <c:v>78.400002000000001</c:v>
                </c:pt>
                <c:pt idx="301">
                  <c:v>78.029999000000004</c:v>
                </c:pt>
                <c:pt idx="302">
                  <c:v>78.480002999999996</c:v>
                </c:pt>
                <c:pt idx="303">
                  <c:v>77.059997999999993</c:v>
                </c:pt>
                <c:pt idx="304">
                  <c:v>75.800003000000004</c:v>
                </c:pt>
                <c:pt idx="305">
                  <c:v>74.800003000000004</c:v>
                </c:pt>
                <c:pt idx="306">
                  <c:v>77.839995999999999</c:v>
                </c:pt>
                <c:pt idx="307">
                  <c:v>79.300003000000004</c:v>
                </c:pt>
                <c:pt idx="308">
                  <c:v>78.220000999999996</c:v>
                </c:pt>
                <c:pt idx="309">
                  <c:v>79.010002</c:v>
                </c:pt>
                <c:pt idx="310">
                  <c:v>78.209998999999996</c:v>
                </c:pt>
                <c:pt idx="311">
                  <c:v>77.569999999999993</c:v>
                </c:pt>
                <c:pt idx="312">
                  <c:v>77.849997999999999</c:v>
                </c:pt>
                <c:pt idx="313">
                  <c:v>76.379997000000003</c:v>
                </c:pt>
                <c:pt idx="314">
                  <c:v>77.410004000000001</c:v>
                </c:pt>
                <c:pt idx="315">
                  <c:v>77.800003000000004</c:v>
                </c:pt>
                <c:pt idx="316">
                  <c:v>78.860000999999997</c:v>
                </c:pt>
                <c:pt idx="317">
                  <c:v>78.540001000000004</c:v>
                </c:pt>
                <c:pt idx="318">
                  <c:v>81.589995999999999</c:v>
                </c:pt>
                <c:pt idx="319">
                  <c:v>86.029999000000004</c:v>
                </c:pt>
                <c:pt idx="320">
                  <c:v>83.879997000000003</c:v>
                </c:pt>
                <c:pt idx="321">
                  <c:v>84.660004000000001</c:v>
                </c:pt>
                <c:pt idx="322">
                  <c:v>84.660004000000001</c:v>
                </c:pt>
                <c:pt idx="323">
                  <c:v>84.790001000000004</c:v>
                </c:pt>
                <c:pt idx="324">
                  <c:v>83.860000999999997</c:v>
                </c:pt>
                <c:pt idx="325">
                  <c:v>87.269997000000004</c:v>
                </c:pt>
                <c:pt idx="326">
                  <c:v>84.970000999999996</c:v>
                </c:pt>
                <c:pt idx="327">
                  <c:v>83.629997000000003</c:v>
                </c:pt>
                <c:pt idx="328">
                  <c:v>86.519997000000004</c:v>
                </c:pt>
                <c:pt idx="329">
                  <c:v>87.839995999999999</c:v>
                </c:pt>
                <c:pt idx="330">
                  <c:v>91.279999000000004</c:v>
                </c:pt>
                <c:pt idx="331">
                  <c:v>90.760002</c:v>
                </c:pt>
                <c:pt idx="332">
                  <c:v>88.68</c:v>
                </c:pt>
                <c:pt idx="333">
                  <c:v>89.870002999999997</c:v>
                </c:pt>
                <c:pt idx="334">
                  <c:v>88.330001999999993</c:v>
                </c:pt>
                <c:pt idx="335">
                  <c:v>89.129997000000003</c:v>
                </c:pt>
                <c:pt idx="336">
                  <c:v>87.709998999999996</c:v>
                </c:pt>
                <c:pt idx="337">
                  <c:v>86.75</c:v>
                </c:pt>
                <c:pt idx="338">
                  <c:v>86.400002000000001</c:v>
                </c:pt>
                <c:pt idx="339">
                  <c:v>88.080001999999993</c:v>
                </c:pt>
                <c:pt idx="340">
                  <c:v>87.75</c:v>
                </c:pt>
                <c:pt idx="341">
                  <c:v>86.779999000000004</c:v>
                </c:pt>
                <c:pt idx="342">
                  <c:v>88.07</c:v>
                </c:pt>
                <c:pt idx="343">
                  <c:v>87.040001000000004</c:v>
                </c:pt>
                <c:pt idx="344">
                  <c:v>87.199996999999996</c:v>
                </c:pt>
                <c:pt idx="345">
                  <c:v>88.230002999999996</c:v>
                </c:pt>
                <c:pt idx="346">
                  <c:v>89.089995999999999</c:v>
                </c:pt>
                <c:pt idx="347">
                  <c:v>92.449996999999996</c:v>
                </c:pt>
                <c:pt idx="348">
                  <c:v>90.440002000000007</c:v>
                </c:pt>
                <c:pt idx="349">
                  <c:v>90.309997999999993</c:v>
                </c:pt>
                <c:pt idx="350">
                  <c:v>92.029999000000004</c:v>
                </c:pt>
                <c:pt idx="351">
                  <c:v>89.730002999999996</c:v>
                </c:pt>
                <c:pt idx="352">
                  <c:v>88.139999000000003</c:v>
                </c:pt>
                <c:pt idx="353">
                  <c:v>90.139999000000003</c:v>
                </c:pt>
                <c:pt idx="354">
                  <c:v>88.550003000000004</c:v>
                </c:pt>
                <c:pt idx="355">
                  <c:v>87.160004000000001</c:v>
                </c:pt>
                <c:pt idx="356">
                  <c:v>84.650002000000001</c:v>
                </c:pt>
                <c:pt idx="357">
                  <c:v>84.75</c:v>
                </c:pt>
                <c:pt idx="358">
                  <c:v>86.709998999999996</c:v>
                </c:pt>
                <c:pt idx="359">
                  <c:v>87.050003000000004</c:v>
                </c:pt>
                <c:pt idx="360">
                  <c:v>85.879997000000003</c:v>
                </c:pt>
                <c:pt idx="361">
                  <c:v>88.540001000000004</c:v>
                </c:pt>
                <c:pt idx="362">
                  <c:v>90.949996999999996</c:v>
                </c:pt>
                <c:pt idx="363">
                  <c:v>90.080001999999993</c:v>
                </c:pt>
                <c:pt idx="364">
                  <c:v>89.279999000000004</c:v>
                </c:pt>
                <c:pt idx="365">
                  <c:v>89.559997999999993</c:v>
                </c:pt>
                <c:pt idx="366">
                  <c:v>93.290001000000004</c:v>
                </c:pt>
                <c:pt idx="367">
                  <c:v>92.839995999999999</c:v>
                </c:pt>
                <c:pt idx="368">
                  <c:v>95</c:v>
                </c:pt>
                <c:pt idx="369">
                  <c:v>89.160004000000001</c:v>
                </c:pt>
                <c:pt idx="370">
                  <c:v>82.129997000000003</c:v>
                </c:pt>
                <c:pt idx="371">
                  <c:v>83.699996999999996</c:v>
                </c:pt>
                <c:pt idx="372">
                  <c:v>81.209998999999996</c:v>
                </c:pt>
                <c:pt idx="373">
                  <c:v>77.360000999999997</c:v>
                </c:pt>
                <c:pt idx="374">
                  <c:v>76.160004000000001</c:v>
                </c:pt>
                <c:pt idx="375">
                  <c:v>71.910004000000001</c:v>
                </c:pt>
                <c:pt idx="376">
                  <c:v>74.449996999999996</c:v>
                </c:pt>
                <c:pt idx="377">
                  <c:v>75.769997000000004</c:v>
                </c:pt>
                <c:pt idx="378">
                  <c:v>73.949996999999996</c:v>
                </c:pt>
                <c:pt idx="379">
                  <c:v>74.470000999999996</c:v>
                </c:pt>
                <c:pt idx="380">
                  <c:v>72.930000000000007</c:v>
                </c:pt>
                <c:pt idx="381">
                  <c:v>73.879997000000003</c:v>
                </c:pt>
                <c:pt idx="382">
                  <c:v>72.300003000000004</c:v>
                </c:pt>
                <c:pt idx="383">
                  <c:v>71.120002999999997</c:v>
                </c:pt>
                <c:pt idx="384">
                  <c:v>70.989998</c:v>
                </c:pt>
                <c:pt idx="385">
                  <c:v>71.629997000000003</c:v>
                </c:pt>
                <c:pt idx="386">
                  <c:v>72.199996999999996</c:v>
                </c:pt>
                <c:pt idx="387">
                  <c:v>71.739998</c:v>
                </c:pt>
                <c:pt idx="388">
                  <c:v>72.110000999999997</c:v>
                </c:pt>
                <c:pt idx="389">
                  <c:v>74.419998000000007</c:v>
                </c:pt>
                <c:pt idx="390">
                  <c:v>73.480002999999996</c:v>
                </c:pt>
                <c:pt idx="391">
                  <c:v>74.739998</c:v>
                </c:pt>
                <c:pt idx="392">
                  <c:v>75.730002999999996</c:v>
                </c:pt>
                <c:pt idx="393">
                  <c:v>74.169998000000007</c:v>
                </c:pt>
                <c:pt idx="394">
                  <c:v>72.839995999999999</c:v>
                </c:pt>
                <c:pt idx="395">
                  <c:v>73.190002000000007</c:v>
                </c:pt>
                <c:pt idx="396">
                  <c:v>70.690002000000007</c:v>
                </c:pt>
                <c:pt idx="397">
                  <c:v>68.269997000000004</c:v>
                </c:pt>
                <c:pt idx="398">
                  <c:v>65.779999000000004</c:v>
                </c:pt>
                <c:pt idx="399">
                  <c:v>61.009998000000003</c:v>
                </c:pt>
                <c:pt idx="400">
                  <c:v>60.990001999999997</c:v>
                </c:pt>
                <c:pt idx="401">
                  <c:v>60.779998999999997</c:v>
                </c:pt>
                <c:pt idx="402">
                  <c:v>58.400002000000001</c:v>
                </c:pt>
                <c:pt idx="403">
                  <c:v>59.150002000000001</c:v>
                </c:pt>
                <c:pt idx="404">
                  <c:v>58.259998000000003</c:v>
                </c:pt>
                <c:pt idx="405">
                  <c:v>58.860000999999997</c:v>
                </c:pt>
                <c:pt idx="406">
                  <c:v>61.380001</c:v>
                </c:pt>
                <c:pt idx="407">
                  <c:v>60.860000999999997</c:v>
                </c:pt>
                <c:pt idx="408">
                  <c:v>62.549999</c:v>
                </c:pt>
                <c:pt idx="409">
                  <c:v>61.619999</c:v>
                </c:pt>
                <c:pt idx="410">
                  <c:v>61.799999</c:v>
                </c:pt>
                <c:pt idx="411">
                  <c:v>62.509998000000003</c:v>
                </c:pt>
                <c:pt idx="412">
                  <c:v>63.18</c:v>
                </c:pt>
                <c:pt idx="413">
                  <c:v>62.279998999999997</c:v>
                </c:pt>
                <c:pt idx="414">
                  <c:v>61.470001000000003</c:v>
                </c:pt>
                <c:pt idx="415">
                  <c:v>60.790000999999997</c:v>
                </c:pt>
                <c:pt idx="416">
                  <c:v>59.77</c:v>
                </c:pt>
                <c:pt idx="417">
                  <c:v>58.889999000000003</c:v>
                </c:pt>
                <c:pt idx="418">
                  <c:v>59.220001000000003</c:v>
                </c:pt>
                <c:pt idx="419">
                  <c:v>59.48</c:v>
                </c:pt>
                <c:pt idx="420">
                  <c:v>58.639999000000003</c:v>
                </c:pt>
                <c:pt idx="421">
                  <c:v>59.389999000000003</c:v>
                </c:pt>
                <c:pt idx="422">
                  <c:v>59.330002</c:v>
                </c:pt>
                <c:pt idx="423">
                  <c:v>61.43</c:v>
                </c:pt>
                <c:pt idx="424">
                  <c:v>62.060001</c:v>
                </c:pt>
                <c:pt idx="425">
                  <c:v>62.200001</c:v>
                </c:pt>
                <c:pt idx="426">
                  <c:v>63.029998999999997</c:v>
                </c:pt>
                <c:pt idx="427">
                  <c:v>62.98</c:v>
                </c:pt>
                <c:pt idx="428">
                  <c:v>62.66</c:v>
                </c:pt>
                <c:pt idx="429">
                  <c:v>61.970001000000003</c:v>
                </c:pt>
                <c:pt idx="430">
                  <c:v>65.370002999999997</c:v>
                </c:pt>
                <c:pt idx="431">
                  <c:v>66.540001000000004</c:v>
                </c:pt>
                <c:pt idx="432">
                  <c:v>65.339995999999999</c:v>
                </c:pt>
                <c:pt idx="433">
                  <c:v>63.959999000000003</c:v>
                </c:pt>
                <c:pt idx="434">
                  <c:v>64.480002999999996</c:v>
                </c:pt>
                <c:pt idx="435">
                  <c:v>63.18</c:v>
                </c:pt>
                <c:pt idx="436">
                  <c:v>62.040000999999997</c:v>
                </c:pt>
                <c:pt idx="437">
                  <c:v>62.07</c:v>
                </c:pt>
                <c:pt idx="438">
                  <c:v>62.009998000000003</c:v>
                </c:pt>
                <c:pt idx="439">
                  <c:v>62.290000999999997</c:v>
                </c:pt>
                <c:pt idx="440">
                  <c:v>62.439999</c:v>
                </c:pt>
                <c:pt idx="441">
                  <c:v>64.889999000000003</c:v>
                </c:pt>
                <c:pt idx="442">
                  <c:v>64.040001000000004</c:v>
                </c:pt>
                <c:pt idx="443">
                  <c:v>63.43</c:v>
                </c:pt>
                <c:pt idx="444">
                  <c:v>63.709999000000003</c:v>
                </c:pt>
                <c:pt idx="445">
                  <c:v>62.150002000000001</c:v>
                </c:pt>
                <c:pt idx="446">
                  <c:v>60.889999000000003</c:v>
                </c:pt>
                <c:pt idx="447">
                  <c:v>58.970001000000003</c:v>
                </c:pt>
                <c:pt idx="448">
                  <c:v>58.34</c:v>
                </c:pt>
                <c:pt idx="449">
                  <c:v>57.59</c:v>
                </c:pt>
                <c:pt idx="450">
                  <c:v>58.310001</c:v>
                </c:pt>
                <c:pt idx="451">
                  <c:v>55.599997999999999</c:v>
                </c:pt>
                <c:pt idx="452">
                  <c:v>53.650002000000001</c:v>
                </c:pt>
                <c:pt idx="453">
                  <c:v>52.900002000000001</c:v>
                </c:pt>
                <c:pt idx="454">
                  <c:v>52.82</c:v>
                </c:pt>
                <c:pt idx="455">
                  <c:v>52.27</c:v>
                </c:pt>
                <c:pt idx="456">
                  <c:v>52.779998999999997</c:v>
                </c:pt>
                <c:pt idx="457">
                  <c:v>52.580002</c:v>
                </c:pt>
                <c:pt idx="458">
                  <c:v>53.32</c:v>
                </c:pt>
                <c:pt idx="459">
                  <c:v>53.02</c:v>
                </c:pt>
                <c:pt idx="460">
                  <c:v>54.110000999999997</c:v>
                </c:pt>
                <c:pt idx="461">
                  <c:v>54.98</c:v>
                </c:pt>
                <c:pt idx="462">
                  <c:v>53.52</c:v>
                </c:pt>
                <c:pt idx="463">
                  <c:v>52.740001999999997</c:v>
                </c:pt>
                <c:pt idx="464">
                  <c:v>52.369999</c:v>
                </c:pt>
                <c:pt idx="465">
                  <c:v>51.91</c:v>
                </c:pt>
                <c:pt idx="466">
                  <c:v>52.049999</c:v>
                </c:pt>
                <c:pt idx="467">
                  <c:v>49.880001</c:v>
                </c:pt>
                <c:pt idx="468">
                  <c:v>49.119999</c:v>
                </c:pt>
                <c:pt idx="469">
                  <c:v>49.16</c:v>
                </c:pt>
                <c:pt idx="470">
                  <c:v>48.669998</c:v>
                </c:pt>
                <c:pt idx="471">
                  <c:v>47.209999000000003</c:v>
                </c:pt>
                <c:pt idx="472">
                  <c:v>45.709999000000003</c:v>
                </c:pt>
                <c:pt idx="473">
                  <c:v>46.130001</c:v>
                </c:pt>
                <c:pt idx="474">
                  <c:v>44.830002</c:v>
                </c:pt>
                <c:pt idx="475">
                  <c:v>46.209999000000003</c:v>
                </c:pt>
                <c:pt idx="476">
                  <c:v>46.23</c:v>
                </c:pt>
                <c:pt idx="477">
                  <c:v>46.34</c:v>
                </c:pt>
                <c:pt idx="478">
                  <c:v>44.07</c:v>
                </c:pt>
                <c:pt idx="479">
                  <c:v>41.740001999999997</c:v>
                </c:pt>
                <c:pt idx="480">
                  <c:v>40</c:v>
                </c:pt>
                <c:pt idx="481">
                  <c:v>40.369999</c:v>
                </c:pt>
                <c:pt idx="482">
                  <c:v>40.770000000000003</c:v>
                </c:pt>
                <c:pt idx="483">
                  <c:v>40.32</c:v>
                </c:pt>
                <c:pt idx="484">
                  <c:v>41.48</c:v>
                </c:pt>
                <c:pt idx="485">
                  <c:v>40.040000999999997</c:v>
                </c:pt>
                <c:pt idx="486">
                  <c:v>42.09</c:v>
                </c:pt>
                <c:pt idx="487">
                  <c:v>41.389999000000003</c:v>
                </c:pt>
                <c:pt idx="488">
                  <c:v>39.709999000000003</c:v>
                </c:pt>
                <c:pt idx="489">
                  <c:v>40.099997999999999</c:v>
                </c:pt>
                <c:pt idx="490">
                  <c:v>40.57</c:v>
                </c:pt>
                <c:pt idx="491">
                  <c:v>40.869999</c:v>
                </c:pt>
                <c:pt idx="492">
                  <c:v>45.849997999999999</c:v>
                </c:pt>
                <c:pt idx="493">
                  <c:v>44.580002</c:v>
                </c:pt>
                <c:pt idx="494">
                  <c:v>46.049999</c:v>
                </c:pt>
                <c:pt idx="495">
                  <c:v>46.110000999999997</c:v>
                </c:pt>
                <c:pt idx="496">
                  <c:v>45.599997999999999</c:v>
                </c:pt>
                <c:pt idx="497">
                  <c:v>46.349997999999999</c:v>
                </c:pt>
                <c:pt idx="498">
                  <c:v>44.73</c:v>
                </c:pt>
                <c:pt idx="499">
                  <c:v>44.91</c:v>
                </c:pt>
                <c:pt idx="500">
                  <c:v>44.779998999999997</c:v>
                </c:pt>
                <c:pt idx="501">
                  <c:v>44.860000999999997</c:v>
                </c:pt>
                <c:pt idx="502">
                  <c:v>44.610000999999997</c:v>
                </c:pt>
                <c:pt idx="503">
                  <c:v>44.419998</c:v>
                </c:pt>
                <c:pt idx="504">
                  <c:v>47.52</c:v>
                </c:pt>
                <c:pt idx="505">
                  <c:v>46.889999000000003</c:v>
                </c:pt>
                <c:pt idx="506">
                  <c:v>46.759998000000003</c:v>
                </c:pt>
                <c:pt idx="507">
                  <c:v>47.830002</c:v>
                </c:pt>
                <c:pt idx="508">
                  <c:v>47.32</c:v>
                </c:pt>
                <c:pt idx="509">
                  <c:v>47.16</c:v>
                </c:pt>
                <c:pt idx="510">
                  <c:v>47.889999000000003</c:v>
                </c:pt>
                <c:pt idx="511">
                  <c:v>47.470001000000003</c:v>
                </c:pt>
                <c:pt idx="512">
                  <c:v>47.540000999999997</c:v>
                </c:pt>
                <c:pt idx="513">
                  <c:v>46.630001</c:v>
                </c:pt>
                <c:pt idx="514">
                  <c:v>47.09</c:v>
                </c:pt>
                <c:pt idx="515">
                  <c:v>46.139999000000003</c:v>
                </c:pt>
                <c:pt idx="516">
                  <c:v>46.73</c:v>
                </c:pt>
                <c:pt idx="517">
                  <c:v>48.09</c:v>
                </c:pt>
                <c:pt idx="518">
                  <c:v>47.900002000000001</c:v>
                </c:pt>
                <c:pt idx="519">
                  <c:v>48.27</c:v>
                </c:pt>
                <c:pt idx="520">
                  <c:v>46.73</c:v>
                </c:pt>
                <c:pt idx="521">
                  <c:v>45.759998000000003</c:v>
                </c:pt>
                <c:pt idx="522">
                  <c:v>46.549999</c:v>
                </c:pt>
                <c:pt idx="523">
                  <c:v>46.709999000000003</c:v>
                </c:pt>
                <c:pt idx="524">
                  <c:v>46.470001000000003</c:v>
                </c:pt>
                <c:pt idx="525">
                  <c:v>46.240001999999997</c:v>
                </c:pt>
                <c:pt idx="526">
                  <c:v>46.93</c:v>
                </c:pt>
                <c:pt idx="527">
                  <c:v>45.75</c:v>
                </c:pt>
                <c:pt idx="528">
                  <c:v>45.049999</c:v>
                </c:pt>
                <c:pt idx="529">
                  <c:v>43.650002000000001</c:v>
                </c:pt>
                <c:pt idx="530">
                  <c:v>43.389999000000003</c:v>
                </c:pt>
                <c:pt idx="531">
                  <c:v>43.139999000000003</c:v>
                </c:pt>
                <c:pt idx="532">
                  <c:v>43.470001000000003</c:v>
                </c:pt>
                <c:pt idx="533">
                  <c:v>43.049999</c:v>
                </c:pt>
                <c:pt idx="534">
                  <c:v>43.560001</c:v>
                </c:pt>
                <c:pt idx="535">
                  <c:v>43.66</c:v>
                </c:pt>
                <c:pt idx="536">
                  <c:v>42.740001999999997</c:v>
                </c:pt>
                <c:pt idx="537">
                  <c:v>43.68</c:v>
                </c:pt>
                <c:pt idx="538">
                  <c:v>43.52</c:v>
                </c:pt>
                <c:pt idx="539">
                  <c:v>42.259998000000003</c:v>
                </c:pt>
                <c:pt idx="540">
                  <c:v>43.299999</c:v>
                </c:pt>
                <c:pt idx="541">
                  <c:v>41.689999</c:v>
                </c:pt>
                <c:pt idx="542">
                  <c:v>42.509998000000003</c:v>
                </c:pt>
                <c:pt idx="543">
                  <c:v>41.560001</c:v>
                </c:pt>
                <c:pt idx="544">
                  <c:v>41.080002</c:v>
                </c:pt>
                <c:pt idx="545">
                  <c:v>43.150002000000001</c:v>
                </c:pt>
                <c:pt idx="546">
                  <c:v>44.59</c:v>
                </c:pt>
                <c:pt idx="547">
                  <c:v>44.369999</c:v>
                </c:pt>
                <c:pt idx="548">
                  <c:v>45.400002000000001</c:v>
                </c:pt>
                <c:pt idx="549">
                  <c:v>44.59</c:v>
                </c:pt>
                <c:pt idx="550">
                  <c:v>44.830002</c:v>
                </c:pt>
                <c:pt idx="551">
                  <c:v>45.57</c:v>
                </c:pt>
                <c:pt idx="552">
                  <c:v>45.27</c:v>
                </c:pt>
                <c:pt idx="553">
                  <c:v>45.700001</c:v>
                </c:pt>
                <c:pt idx="554">
                  <c:v>46.939999</c:v>
                </c:pt>
                <c:pt idx="555">
                  <c:v>48.580002</c:v>
                </c:pt>
                <c:pt idx="556">
                  <c:v>49.84</c:v>
                </c:pt>
                <c:pt idx="557">
                  <c:v>48.869999</c:v>
                </c:pt>
                <c:pt idx="558">
                  <c:v>50.5</c:v>
                </c:pt>
                <c:pt idx="559">
                  <c:v>50.630001</c:v>
                </c:pt>
                <c:pt idx="560">
                  <c:v>51.849997999999999</c:v>
                </c:pt>
                <c:pt idx="561">
                  <c:v>50.810001</c:v>
                </c:pt>
                <c:pt idx="562">
                  <c:v>50.169998</c:v>
                </c:pt>
                <c:pt idx="563">
                  <c:v>51.220001000000003</c:v>
                </c:pt>
                <c:pt idx="564">
                  <c:v>51.900002000000001</c:v>
                </c:pt>
                <c:pt idx="565">
                  <c:v>51.330002</c:v>
                </c:pt>
                <c:pt idx="566">
                  <c:v>51.380001</c:v>
                </c:pt>
                <c:pt idx="567">
                  <c:v>50.959999000000003</c:v>
                </c:pt>
                <c:pt idx="568">
                  <c:v>50.439999</c:v>
                </c:pt>
                <c:pt idx="569">
                  <c:v>50.360000999999997</c:v>
                </c:pt>
                <c:pt idx="570">
                  <c:v>49.490001999999997</c:v>
                </c:pt>
                <c:pt idx="571">
                  <c:v>48.610000999999997</c:v>
                </c:pt>
                <c:pt idx="572">
                  <c:v>49.73</c:v>
                </c:pt>
                <c:pt idx="573">
                  <c:v>49.139999000000003</c:v>
                </c:pt>
                <c:pt idx="574">
                  <c:v>50.060001</c:v>
                </c:pt>
                <c:pt idx="575">
                  <c:v>48.720001000000003</c:v>
                </c:pt>
                <c:pt idx="576">
                  <c:v>48.669998</c:v>
                </c:pt>
                <c:pt idx="577">
                  <c:v>48.43</c:v>
                </c:pt>
                <c:pt idx="578">
                  <c:v>46.799999</c:v>
                </c:pt>
                <c:pt idx="579">
                  <c:v>46.5</c:v>
                </c:pt>
                <c:pt idx="580">
                  <c:v>47.93</c:v>
                </c:pt>
                <c:pt idx="581">
                  <c:v>46.900002000000001</c:v>
                </c:pt>
                <c:pt idx="582">
                  <c:v>46</c:v>
                </c:pt>
                <c:pt idx="583">
                  <c:v>46.849997999999999</c:v>
                </c:pt>
                <c:pt idx="584">
                  <c:v>44.849997999999999</c:v>
                </c:pt>
                <c:pt idx="585">
                  <c:v>43.279998999999997</c:v>
                </c:pt>
                <c:pt idx="586">
                  <c:v>43.470001000000003</c:v>
                </c:pt>
                <c:pt idx="587">
                  <c:v>44.259998000000003</c:v>
                </c:pt>
                <c:pt idx="588">
                  <c:v>44.220001000000003</c:v>
                </c:pt>
                <c:pt idx="589">
                  <c:v>43.650002000000001</c:v>
                </c:pt>
                <c:pt idx="590">
                  <c:v>42.25</c:v>
                </c:pt>
                <c:pt idx="591">
                  <c:v>42.810001</c:v>
                </c:pt>
                <c:pt idx="592">
                  <c:v>41.990001999999997</c:v>
                </c:pt>
                <c:pt idx="593">
                  <c:v>40.259998000000003</c:v>
                </c:pt>
                <c:pt idx="594">
                  <c:v>39.900002000000001</c:v>
                </c:pt>
                <c:pt idx="595">
                  <c:v>40.689999</c:v>
                </c:pt>
                <c:pt idx="596">
                  <c:v>40.479999999999997</c:v>
                </c:pt>
                <c:pt idx="597">
                  <c:v>39.639999000000003</c:v>
                </c:pt>
                <c:pt idx="598">
                  <c:v>41.220001000000003</c:v>
                </c:pt>
                <c:pt idx="599">
                  <c:v>42.48</c:v>
                </c:pt>
                <c:pt idx="600">
                  <c:v>43.669998</c:v>
                </c:pt>
                <c:pt idx="601">
                  <c:v>43.07</c:v>
                </c:pt>
                <c:pt idx="602">
                  <c:v>43.130001</c:v>
                </c:pt>
                <c:pt idx="603">
                  <c:v>42.91</c:v>
                </c:pt>
                <c:pt idx="604">
                  <c:v>43.610000999999997</c:v>
                </c:pt>
                <c:pt idx="605">
                  <c:v>43.139999000000003</c:v>
                </c:pt>
                <c:pt idx="606">
                  <c:v>43.369999</c:v>
                </c:pt>
                <c:pt idx="607">
                  <c:v>43.48</c:v>
                </c:pt>
                <c:pt idx="608">
                  <c:v>43</c:v>
                </c:pt>
                <c:pt idx="609">
                  <c:v>42.990001999999997</c:v>
                </c:pt>
                <c:pt idx="610">
                  <c:v>43.869999</c:v>
                </c:pt>
                <c:pt idx="611">
                  <c:v>43.389999000000003</c:v>
                </c:pt>
                <c:pt idx="612">
                  <c:v>44.68</c:v>
                </c:pt>
                <c:pt idx="613">
                  <c:v>43.669998</c:v>
                </c:pt>
                <c:pt idx="614">
                  <c:v>44</c:v>
                </c:pt>
                <c:pt idx="615">
                  <c:v>43.82</c:v>
                </c:pt>
                <c:pt idx="616">
                  <c:v>42.150002000000001</c:v>
                </c:pt>
                <c:pt idx="617">
                  <c:v>41.610000999999997</c:v>
                </c:pt>
                <c:pt idx="618">
                  <c:v>42.66</c:v>
                </c:pt>
                <c:pt idx="619">
                  <c:v>42.93</c:v>
                </c:pt>
                <c:pt idx="620">
                  <c:v>42.360000999999997</c:v>
                </c:pt>
                <c:pt idx="621">
                  <c:v>40.5</c:v>
                </c:pt>
                <c:pt idx="622">
                  <c:v>40.57</c:v>
                </c:pt>
                <c:pt idx="623">
                  <c:v>41.66</c:v>
                </c:pt>
                <c:pt idx="624">
                  <c:v>42.560001</c:v>
                </c:pt>
                <c:pt idx="625">
                  <c:v>42.139999000000003</c:v>
                </c:pt>
                <c:pt idx="626">
                  <c:v>41.369999</c:v>
                </c:pt>
                <c:pt idx="627">
                  <c:v>42.110000999999997</c:v>
                </c:pt>
                <c:pt idx="628">
                  <c:v>42.119999</c:v>
                </c:pt>
                <c:pt idx="629">
                  <c:v>41.529998999999997</c:v>
                </c:pt>
                <c:pt idx="630">
                  <c:v>41.5</c:v>
                </c:pt>
                <c:pt idx="631">
                  <c:v>40.080002</c:v>
                </c:pt>
                <c:pt idx="632">
                  <c:v>40.880001</c:v>
                </c:pt>
                <c:pt idx="633">
                  <c:v>41.130001</c:v>
                </c:pt>
                <c:pt idx="634">
                  <c:v>41.349997999999999</c:v>
                </c:pt>
                <c:pt idx="635">
                  <c:v>41.689999</c:v>
                </c:pt>
                <c:pt idx="636">
                  <c:v>41.810001</c:v>
                </c:pt>
                <c:pt idx="637">
                  <c:v>40.740001999999997</c:v>
                </c:pt>
                <c:pt idx="638">
                  <c:v>40.330002</c:v>
                </c:pt>
                <c:pt idx="639">
                  <c:v>40.639999000000003</c:v>
                </c:pt>
                <c:pt idx="640">
                  <c:v>41.009998000000003</c:v>
                </c:pt>
                <c:pt idx="641">
                  <c:v>41.040000999999997</c:v>
                </c:pt>
                <c:pt idx="642">
                  <c:v>40.659999999999997</c:v>
                </c:pt>
                <c:pt idx="643">
                  <c:v>43.580002</c:v>
                </c:pt>
                <c:pt idx="644">
                  <c:v>43.060001</c:v>
                </c:pt>
                <c:pt idx="645">
                  <c:v>45.099997999999999</c:v>
                </c:pt>
                <c:pt idx="646">
                  <c:v>46.57</c:v>
                </c:pt>
                <c:pt idx="647">
                  <c:v>45.650002000000001</c:v>
                </c:pt>
                <c:pt idx="648">
                  <c:v>46.060001</c:v>
                </c:pt>
                <c:pt idx="649">
                  <c:v>45.439999</c:v>
                </c:pt>
                <c:pt idx="650">
                  <c:v>44.700001</c:v>
                </c:pt>
                <c:pt idx="651">
                  <c:v>45.209999000000003</c:v>
                </c:pt>
                <c:pt idx="652">
                  <c:v>45.869999</c:v>
                </c:pt>
                <c:pt idx="653">
                  <c:v>46.720001000000003</c:v>
                </c:pt>
                <c:pt idx="654">
                  <c:v>46.009998000000003</c:v>
                </c:pt>
                <c:pt idx="655">
                  <c:v>45.419998</c:v>
                </c:pt>
                <c:pt idx="656">
                  <c:v>44.349997999999999</c:v>
                </c:pt>
                <c:pt idx="657">
                  <c:v>42.48</c:v>
                </c:pt>
                <c:pt idx="658">
                  <c:v>44.150002000000001</c:v>
                </c:pt>
                <c:pt idx="659">
                  <c:v>44.779998999999997</c:v>
                </c:pt>
                <c:pt idx="660">
                  <c:v>44.849997999999999</c:v>
                </c:pt>
                <c:pt idx="661">
                  <c:v>45.849997999999999</c:v>
                </c:pt>
                <c:pt idx="662">
                  <c:v>45.48</c:v>
                </c:pt>
                <c:pt idx="663">
                  <c:v>46.48</c:v>
                </c:pt>
                <c:pt idx="664">
                  <c:v>46.400002000000001</c:v>
                </c:pt>
                <c:pt idx="665">
                  <c:v>46.93</c:v>
                </c:pt>
                <c:pt idx="666">
                  <c:v>46.5</c:v>
                </c:pt>
                <c:pt idx="667">
                  <c:v>47.09</c:v>
                </c:pt>
                <c:pt idx="668">
                  <c:v>48.459999000000003</c:v>
                </c:pt>
                <c:pt idx="669">
                  <c:v>48.91</c:v>
                </c:pt>
                <c:pt idx="670">
                  <c:v>48.720001000000003</c:v>
                </c:pt>
                <c:pt idx="671">
                  <c:v>47.779998999999997</c:v>
                </c:pt>
                <c:pt idx="672">
                  <c:v>47.93</c:v>
                </c:pt>
                <c:pt idx="673">
                  <c:v>47.259998000000003</c:v>
                </c:pt>
                <c:pt idx="674">
                  <c:v>47.18</c:v>
                </c:pt>
                <c:pt idx="675">
                  <c:v>47.77</c:v>
                </c:pt>
                <c:pt idx="676">
                  <c:v>47.529998999999997</c:v>
                </c:pt>
                <c:pt idx="677">
                  <c:v>47.619999</c:v>
                </c:pt>
                <c:pt idx="678">
                  <c:v>42.779998999999997</c:v>
                </c:pt>
                <c:pt idx="679">
                  <c:v>42.779998999999997</c:v>
                </c:pt>
                <c:pt idx="680">
                  <c:v>40.840000000000003</c:v>
                </c:pt>
                <c:pt idx="681">
                  <c:v>41.080002</c:v>
                </c:pt>
                <c:pt idx="682">
                  <c:v>41.560001</c:v>
                </c:pt>
                <c:pt idx="683">
                  <c:v>40.630001</c:v>
                </c:pt>
                <c:pt idx="684">
                  <c:v>40.200001</c:v>
                </c:pt>
                <c:pt idx="685">
                  <c:v>39.57</c:v>
                </c:pt>
                <c:pt idx="686">
                  <c:v>39.439999</c:v>
                </c:pt>
                <c:pt idx="687">
                  <c:v>39.639999000000003</c:v>
                </c:pt>
                <c:pt idx="688">
                  <c:v>38.849997999999999</c:v>
                </c:pt>
                <c:pt idx="689">
                  <c:v>38.240001999999997</c:v>
                </c:pt>
                <c:pt idx="690">
                  <c:v>37.849997999999999</c:v>
                </c:pt>
                <c:pt idx="691">
                  <c:v>38.049999</c:v>
                </c:pt>
                <c:pt idx="692">
                  <c:v>36.099997999999999</c:v>
                </c:pt>
                <c:pt idx="693">
                  <c:v>36.630001</c:v>
                </c:pt>
                <c:pt idx="694">
                  <c:v>35.57</c:v>
                </c:pt>
                <c:pt idx="695">
                  <c:v>36.759998000000003</c:v>
                </c:pt>
                <c:pt idx="696">
                  <c:v>37.189999</c:v>
                </c:pt>
                <c:pt idx="697">
                  <c:v>36.409999999999997</c:v>
                </c:pt>
                <c:pt idx="698">
                  <c:v>35.979999999999997</c:v>
                </c:pt>
                <c:pt idx="699">
                  <c:v>36.889999000000003</c:v>
                </c:pt>
                <c:pt idx="700">
                  <c:v>37.290000999999997</c:v>
                </c:pt>
                <c:pt idx="701">
                  <c:v>37.43</c:v>
                </c:pt>
                <c:pt idx="702">
                  <c:v>37.439999</c:v>
                </c:pt>
                <c:pt idx="703">
                  <c:v>37.590000000000003</c:v>
                </c:pt>
                <c:pt idx="704">
                  <c:v>37.979999999999997</c:v>
                </c:pt>
                <c:pt idx="705">
                  <c:v>37.549999</c:v>
                </c:pt>
                <c:pt idx="706">
                  <c:v>37.290000999999997</c:v>
                </c:pt>
                <c:pt idx="707">
                  <c:v>36.650002000000001</c:v>
                </c:pt>
                <c:pt idx="708">
                  <c:v>36.5</c:v>
                </c:pt>
                <c:pt idx="709">
                  <c:v>36.380001</c:v>
                </c:pt>
                <c:pt idx="710">
                  <c:v>36.200001</c:v>
                </c:pt>
                <c:pt idx="711">
                  <c:v>35.950001</c:v>
                </c:pt>
                <c:pt idx="712">
                  <c:v>36.310001</c:v>
                </c:pt>
                <c:pt idx="713">
                  <c:v>35.630001</c:v>
                </c:pt>
                <c:pt idx="714">
                  <c:v>36.110000999999997</c:v>
                </c:pt>
                <c:pt idx="715">
                  <c:v>35.790000999999997</c:v>
                </c:pt>
                <c:pt idx="716">
                  <c:v>35.119999</c:v>
                </c:pt>
                <c:pt idx="717">
                  <c:v>34.650002000000001</c:v>
                </c:pt>
                <c:pt idx="718">
                  <c:v>34.509998000000003</c:v>
                </c:pt>
                <c:pt idx="719">
                  <c:v>32.720001000000003</c:v>
                </c:pt>
                <c:pt idx="720">
                  <c:v>33.029998999999997</c:v>
                </c:pt>
                <c:pt idx="721">
                  <c:v>32.709999000000003</c:v>
                </c:pt>
                <c:pt idx="722">
                  <c:v>31.610001</c:v>
                </c:pt>
                <c:pt idx="723">
                  <c:v>31.27</c:v>
                </c:pt>
                <c:pt idx="724">
                  <c:v>31.879999000000002</c:v>
                </c:pt>
                <c:pt idx="725">
                  <c:v>32.18</c:v>
                </c:pt>
                <c:pt idx="726">
                  <c:v>31.290001</c:v>
                </c:pt>
                <c:pt idx="727">
                  <c:v>30.440000999999999</c:v>
                </c:pt>
                <c:pt idx="728">
                  <c:v>30.83</c:v>
                </c:pt>
                <c:pt idx="729">
                  <c:v>31</c:v>
                </c:pt>
                <c:pt idx="730">
                  <c:v>31.23</c:v>
                </c:pt>
                <c:pt idx="731">
                  <c:v>31.93</c:v>
                </c:pt>
                <c:pt idx="732">
                  <c:v>31.59</c:v>
                </c:pt>
                <c:pt idx="733">
                  <c:v>31.469999000000001</c:v>
                </c:pt>
                <c:pt idx="734">
                  <c:v>31.35</c:v>
                </c:pt>
                <c:pt idx="735">
                  <c:v>30</c:v>
                </c:pt>
                <c:pt idx="736">
                  <c:v>31.27</c:v>
                </c:pt>
                <c:pt idx="737">
                  <c:v>31.5</c:v>
                </c:pt>
                <c:pt idx="738">
                  <c:v>30.65</c:v>
                </c:pt>
                <c:pt idx="739">
                  <c:v>30.26</c:v>
                </c:pt>
                <c:pt idx="740">
                  <c:v>29.629999000000002</c:v>
                </c:pt>
                <c:pt idx="741">
                  <c:v>29</c:v>
                </c:pt>
                <c:pt idx="742">
                  <c:v>29.6</c:v>
                </c:pt>
                <c:pt idx="743">
                  <c:v>28.34</c:v>
                </c:pt>
                <c:pt idx="744">
                  <c:v>28.1</c:v>
                </c:pt>
                <c:pt idx="745">
                  <c:v>26.75</c:v>
                </c:pt>
                <c:pt idx="746">
                  <c:v>26.84</c:v>
                </c:pt>
                <c:pt idx="747">
                  <c:v>26.99</c:v>
                </c:pt>
                <c:pt idx="748">
                  <c:v>26.91</c:v>
                </c:pt>
                <c:pt idx="749">
                  <c:v>28.6</c:v>
                </c:pt>
                <c:pt idx="750">
                  <c:v>30.049999</c:v>
                </c:pt>
                <c:pt idx="751">
                  <c:v>29.889999</c:v>
                </c:pt>
                <c:pt idx="752">
                  <c:v>29.4</c:v>
                </c:pt>
                <c:pt idx="753">
                  <c:v>29.799999</c:v>
                </c:pt>
                <c:pt idx="754">
                  <c:v>29.370000999999998</c:v>
                </c:pt>
                <c:pt idx="755">
                  <c:v>30.07</c:v>
                </c:pt>
              </c:numCache>
            </c:numRef>
          </c:val>
          <c:smooth val="0"/>
          <c:extLst>
            <c:ext xmlns:c16="http://schemas.microsoft.com/office/drawing/2014/chart" uri="{C3380CC4-5D6E-409C-BE32-E72D297353CC}">
              <c16:uniqueId val="{00000000-1007-401D-892A-8730546DEC69}"/>
            </c:ext>
          </c:extLst>
        </c:ser>
        <c:ser>
          <c:idx val="1"/>
          <c:order val="1"/>
          <c:tx>
            <c:strRef>
              <c:f>Sheet1!$C$1</c:f>
              <c:strCache>
                <c:ptCount val="1"/>
                <c:pt idx="0">
                  <c:v>S&amp;P SmallCap 600 Real Estate Index</c:v>
                </c:pt>
              </c:strCache>
            </c:strRef>
          </c:tx>
          <c:spPr>
            <a:ln w="19050" cap="rnd" cmpd="sng" algn="ctr">
              <a:solidFill>
                <a:schemeClr val="accent2">
                  <a:tint val="77000"/>
                  <a:shade val="95000"/>
                  <a:satMod val="105000"/>
                </a:schemeClr>
              </a:solidFill>
              <a:round/>
            </a:ln>
            <a:effectLst/>
          </c:spPr>
          <c:marker>
            <c:symbol val="none"/>
          </c:marker>
          <c:dLbls>
            <c:delete val="1"/>
          </c:dLbls>
          <c:cat>
            <c:numRef>
              <c:f>Sheet1!$A$2:$A$757</c:f>
              <c:numCache>
                <c:formatCode>General</c:formatCode>
                <c:ptCount val="756"/>
                <c:pt idx="252" formatCode="m/d/yyyy">
                  <c:v>44510</c:v>
                </c:pt>
                <c:pt idx="253" formatCode="m/d/yyyy">
                  <c:v>44511</c:v>
                </c:pt>
                <c:pt idx="254" formatCode="m/d/yyyy">
                  <c:v>44512</c:v>
                </c:pt>
                <c:pt idx="255" formatCode="m/d/yyyy">
                  <c:v>44515</c:v>
                </c:pt>
                <c:pt idx="256" formatCode="m/d/yyyy">
                  <c:v>44516</c:v>
                </c:pt>
                <c:pt idx="257" formatCode="m/d/yyyy">
                  <c:v>44517</c:v>
                </c:pt>
                <c:pt idx="258" formatCode="m/d/yyyy">
                  <c:v>44518</c:v>
                </c:pt>
                <c:pt idx="259" formatCode="m/d/yyyy">
                  <c:v>44519</c:v>
                </c:pt>
                <c:pt idx="260" formatCode="m/d/yyyy">
                  <c:v>44522</c:v>
                </c:pt>
                <c:pt idx="261" formatCode="m/d/yyyy">
                  <c:v>44523</c:v>
                </c:pt>
                <c:pt idx="262" formatCode="m/d/yyyy">
                  <c:v>44524</c:v>
                </c:pt>
                <c:pt idx="263" formatCode="m/d/yyyy">
                  <c:v>44526</c:v>
                </c:pt>
                <c:pt idx="264" formatCode="m/d/yyyy">
                  <c:v>44529</c:v>
                </c:pt>
                <c:pt idx="265" formatCode="m/d/yyyy">
                  <c:v>44530</c:v>
                </c:pt>
                <c:pt idx="266" formatCode="m/d/yyyy">
                  <c:v>44531</c:v>
                </c:pt>
                <c:pt idx="267" formatCode="m/d/yyyy">
                  <c:v>44532</c:v>
                </c:pt>
                <c:pt idx="268" formatCode="m/d/yyyy">
                  <c:v>44533</c:v>
                </c:pt>
                <c:pt idx="269" formatCode="m/d/yyyy">
                  <c:v>44536</c:v>
                </c:pt>
                <c:pt idx="270" formatCode="m/d/yyyy">
                  <c:v>44537</c:v>
                </c:pt>
                <c:pt idx="271" formatCode="m/d/yyyy">
                  <c:v>44538</c:v>
                </c:pt>
                <c:pt idx="272" formatCode="m/d/yyyy">
                  <c:v>44539</c:v>
                </c:pt>
                <c:pt idx="273" formatCode="m/d/yyyy">
                  <c:v>44540</c:v>
                </c:pt>
                <c:pt idx="274" formatCode="m/d/yyyy">
                  <c:v>44543</c:v>
                </c:pt>
                <c:pt idx="275" formatCode="m/d/yyyy">
                  <c:v>44544</c:v>
                </c:pt>
                <c:pt idx="276" formatCode="m/d/yyyy">
                  <c:v>44545</c:v>
                </c:pt>
                <c:pt idx="277" formatCode="m/d/yyyy">
                  <c:v>44546</c:v>
                </c:pt>
                <c:pt idx="278" formatCode="m/d/yyyy">
                  <c:v>44547</c:v>
                </c:pt>
                <c:pt idx="279" formatCode="m/d/yyyy">
                  <c:v>44550</c:v>
                </c:pt>
                <c:pt idx="280" formatCode="m/d/yyyy">
                  <c:v>44551</c:v>
                </c:pt>
                <c:pt idx="281" formatCode="m/d/yyyy">
                  <c:v>44552</c:v>
                </c:pt>
                <c:pt idx="282" formatCode="m/d/yyyy">
                  <c:v>44553</c:v>
                </c:pt>
                <c:pt idx="283" formatCode="m/d/yyyy">
                  <c:v>44557</c:v>
                </c:pt>
                <c:pt idx="284" formatCode="m/d/yyyy">
                  <c:v>44558</c:v>
                </c:pt>
                <c:pt idx="285" formatCode="m/d/yyyy">
                  <c:v>44559</c:v>
                </c:pt>
                <c:pt idx="286" formatCode="m/d/yyyy">
                  <c:v>44560</c:v>
                </c:pt>
                <c:pt idx="287" formatCode="m/d/yyyy">
                  <c:v>44561</c:v>
                </c:pt>
                <c:pt idx="288" formatCode="m/d/yyyy">
                  <c:v>44564</c:v>
                </c:pt>
                <c:pt idx="289" formatCode="m/d/yyyy">
                  <c:v>44565</c:v>
                </c:pt>
                <c:pt idx="290" formatCode="m/d/yyyy">
                  <c:v>44566</c:v>
                </c:pt>
                <c:pt idx="291" formatCode="m/d/yyyy">
                  <c:v>44567</c:v>
                </c:pt>
                <c:pt idx="292" formatCode="m/d/yyyy">
                  <c:v>44568</c:v>
                </c:pt>
                <c:pt idx="293" formatCode="m/d/yyyy">
                  <c:v>44571</c:v>
                </c:pt>
                <c:pt idx="294" formatCode="m/d/yyyy">
                  <c:v>44572</c:v>
                </c:pt>
                <c:pt idx="295" formatCode="m/d/yyyy">
                  <c:v>44573</c:v>
                </c:pt>
                <c:pt idx="296" formatCode="m/d/yyyy">
                  <c:v>44574</c:v>
                </c:pt>
                <c:pt idx="297" formatCode="m/d/yyyy">
                  <c:v>44575</c:v>
                </c:pt>
                <c:pt idx="298" formatCode="m/d/yyyy">
                  <c:v>44579</c:v>
                </c:pt>
                <c:pt idx="299" formatCode="m/d/yyyy">
                  <c:v>44580</c:v>
                </c:pt>
                <c:pt idx="300" formatCode="m/d/yyyy">
                  <c:v>44581</c:v>
                </c:pt>
                <c:pt idx="301" formatCode="m/d/yyyy">
                  <c:v>44582</c:v>
                </c:pt>
                <c:pt idx="302" formatCode="m/d/yyyy">
                  <c:v>44585</c:v>
                </c:pt>
                <c:pt idx="303" formatCode="m/d/yyyy">
                  <c:v>44586</c:v>
                </c:pt>
                <c:pt idx="304" formatCode="m/d/yyyy">
                  <c:v>44587</c:v>
                </c:pt>
                <c:pt idx="305" formatCode="m/d/yyyy">
                  <c:v>44588</c:v>
                </c:pt>
                <c:pt idx="306" formatCode="m/d/yyyy">
                  <c:v>44589</c:v>
                </c:pt>
                <c:pt idx="307" formatCode="m/d/yyyy">
                  <c:v>44592</c:v>
                </c:pt>
                <c:pt idx="308" formatCode="m/d/yyyy">
                  <c:v>44593</c:v>
                </c:pt>
                <c:pt idx="309" formatCode="m/d/yyyy">
                  <c:v>44594</c:v>
                </c:pt>
                <c:pt idx="310" formatCode="m/d/yyyy">
                  <c:v>44595</c:v>
                </c:pt>
                <c:pt idx="311" formatCode="m/d/yyyy">
                  <c:v>44596</c:v>
                </c:pt>
                <c:pt idx="312" formatCode="m/d/yyyy">
                  <c:v>44599</c:v>
                </c:pt>
                <c:pt idx="313" formatCode="m/d/yyyy">
                  <c:v>44600</c:v>
                </c:pt>
                <c:pt idx="314" formatCode="m/d/yyyy">
                  <c:v>44601</c:v>
                </c:pt>
                <c:pt idx="315" formatCode="m/d/yyyy">
                  <c:v>44602</c:v>
                </c:pt>
                <c:pt idx="316" formatCode="m/d/yyyy">
                  <c:v>44603</c:v>
                </c:pt>
                <c:pt idx="317" formatCode="m/d/yyyy">
                  <c:v>44606</c:v>
                </c:pt>
                <c:pt idx="318" formatCode="m/d/yyyy">
                  <c:v>44607</c:v>
                </c:pt>
                <c:pt idx="319" formatCode="m/d/yyyy">
                  <c:v>44608</c:v>
                </c:pt>
                <c:pt idx="320" formatCode="m/d/yyyy">
                  <c:v>44609</c:v>
                </c:pt>
                <c:pt idx="321" formatCode="m/d/yyyy">
                  <c:v>44610</c:v>
                </c:pt>
                <c:pt idx="322" formatCode="m/d/yyyy">
                  <c:v>44614</c:v>
                </c:pt>
                <c:pt idx="323" formatCode="m/d/yyyy">
                  <c:v>44615</c:v>
                </c:pt>
                <c:pt idx="324" formatCode="m/d/yyyy">
                  <c:v>44616</c:v>
                </c:pt>
                <c:pt idx="325" formatCode="m/d/yyyy">
                  <c:v>44617</c:v>
                </c:pt>
                <c:pt idx="326" formatCode="m/d/yyyy">
                  <c:v>44620</c:v>
                </c:pt>
                <c:pt idx="327" formatCode="m/d/yyyy">
                  <c:v>44621</c:v>
                </c:pt>
                <c:pt idx="328" formatCode="m/d/yyyy">
                  <c:v>44622</c:v>
                </c:pt>
                <c:pt idx="329" formatCode="m/d/yyyy">
                  <c:v>44623</c:v>
                </c:pt>
                <c:pt idx="330" formatCode="m/d/yyyy">
                  <c:v>44624</c:v>
                </c:pt>
                <c:pt idx="331" formatCode="m/d/yyyy">
                  <c:v>44627</c:v>
                </c:pt>
                <c:pt idx="332" formatCode="m/d/yyyy">
                  <c:v>44628</c:v>
                </c:pt>
                <c:pt idx="333" formatCode="m/d/yyyy">
                  <c:v>44629</c:v>
                </c:pt>
                <c:pt idx="334" formatCode="m/d/yyyy">
                  <c:v>44630</c:v>
                </c:pt>
                <c:pt idx="335" formatCode="m/d/yyyy">
                  <c:v>44631</c:v>
                </c:pt>
                <c:pt idx="336" formatCode="m/d/yyyy">
                  <c:v>44634</c:v>
                </c:pt>
                <c:pt idx="337" formatCode="m/d/yyyy">
                  <c:v>44635</c:v>
                </c:pt>
                <c:pt idx="338" formatCode="m/d/yyyy">
                  <c:v>44636</c:v>
                </c:pt>
                <c:pt idx="339" formatCode="m/d/yyyy">
                  <c:v>44637</c:v>
                </c:pt>
                <c:pt idx="340" formatCode="m/d/yyyy">
                  <c:v>44638</c:v>
                </c:pt>
                <c:pt idx="341" formatCode="m/d/yyyy">
                  <c:v>44641</c:v>
                </c:pt>
                <c:pt idx="342" formatCode="m/d/yyyy">
                  <c:v>44642</c:v>
                </c:pt>
                <c:pt idx="343" formatCode="m/d/yyyy">
                  <c:v>44643</c:v>
                </c:pt>
                <c:pt idx="344" formatCode="m/d/yyyy">
                  <c:v>44644</c:v>
                </c:pt>
                <c:pt idx="345" formatCode="m/d/yyyy">
                  <c:v>44645</c:v>
                </c:pt>
                <c:pt idx="346" formatCode="m/d/yyyy">
                  <c:v>44648</c:v>
                </c:pt>
                <c:pt idx="347" formatCode="m/d/yyyy">
                  <c:v>44649</c:v>
                </c:pt>
                <c:pt idx="348" formatCode="m/d/yyyy">
                  <c:v>44650</c:v>
                </c:pt>
                <c:pt idx="349" formatCode="m/d/yyyy">
                  <c:v>44651</c:v>
                </c:pt>
                <c:pt idx="350" formatCode="m/d/yyyy">
                  <c:v>44652</c:v>
                </c:pt>
                <c:pt idx="351" formatCode="m/d/yyyy">
                  <c:v>44655</c:v>
                </c:pt>
                <c:pt idx="352" formatCode="m/d/yyyy">
                  <c:v>44656</c:v>
                </c:pt>
                <c:pt idx="353" formatCode="m/d/yyyy">
                  <c:v>44657</c:v>
                </c:pt>
                <c:pt idx="354" formatCode="m/d/yyyy">
                  <c:v>44658</c:v>
                </c:pt>
                <c:pt idx="355" formatCode="m/d/yyyy">
                  <c:v>44659</c:v>
                </c:pt>
                <c:pt idx="356" formatCode="m/d/yyyy">
                  <c:v>44662</c:v>
                </c:pt>
                <c:pt idx="357" formatCode="m/d/yyyy">
                  <c:v>44663</c:v>
                </c:pt>
                <c:pt idx="358" formatCode="m/d/yyyy">
                  <c:v>44664</c:v>
                </c:pt>
                <c:pt idx="359" formatCode="m/d/yyyy">
                  <c:v>44665</c:v>
                </c:pt>
                <c:pt idx="360" formatCode="m/d/yyyy">
                  <c:v>44669</c:v>
                </c:pt>
                <c:pt idx="361" formatCode="m/d/yyyy">
                  <c:v>44670</c:v>
                </c:pt>
                <c:pt idx="362" formatCode="m/d/yyyy">
                  <c:v>44671</c:v>
                </c:pt>
                <c:pt idx="363" formatCode="m/d/yyyy">
                  <c:v>44672</c:v>
                </c:pt>
                <c:pt idx="364" formatCode="m/d/yyyy">
                  <c:v>44673</c:v>
                </c:pt>
                <c:pt idx="365" formatCode="m/d/yyyy">
                  <c:v>44676</c:v>
                </c:pt>
                <c:pt idx="366" formatCode="m/d/yyyy">
                  <c:v>44677</c:v>
                </c:pt>
                <c:pt idx="367" formatCode="m/d/yyyy">
                  <c:v>44678</c:v>
                </c:pt>
                <c:pt idx="368" formatCode="m/d/yyyy">
                  <c:v>44679</c:v>
                </c:pt>
                <c:pt idx="369" formatCode="m/d/yyyy">
                  <c:v>44680</c:v>
                </c:pt>
                <c:pt idx="370" formatCode="m/d/yyyy">
                  <c:v>44683</c:v>
                </c:pt>
                <c:pt idx="371" formatCode="m/d/yyyy">
                  <c:v>44684</c:v>
                </c:pt>
                <c:pt idx="372" formatCode="m/d/yyyy">
                  <c:v>44685</c:v>
                </c:pt>
                <c:pt idx="373" formatCode="m/d/yyyy">
                  <c:v>44686</c:v>
                </c:pt>
                <c:pt idx="374" formatCode="m/d/yyyy">
                  <c:v>44687</c:v>
                </c:pt>
                <c:pt idx="375" formatCode="m/d/yyyy">
                  <c:v>44690</c:v>
                </c:pt>
                <c:pt idx="376" formatCode="m/d/yyyy">
                  <c:v>44691</c:v>
                </c:pt>
                <c:pt idx="377" formatCode="m/d/yyyy">
                  <c:v>44692</c:v>
                </c:pt>
                <c:pt idx="378" formatCode="m/d/yyyy">
                  <c:v>44693</c:v>
                </c:pt>
                <c:pt idx="379" formatCode="m/d/yyyy">
                  <c:v>44694</c:v>
                </c:pt>
                <c:pt idx="380" formatCode="m/d/yyyy">
                  <c:v>44697</c:v>
                </c:pt>
                <c:pt idx="381" formatCode="m/d/yyyy">
                  <c:v>44698</c:v>
                </c:pt>
                <c:pt idx="382" formatCode="m/d/yyyy">
                  <c:v>44699</c:v>
                </c:pt>
                <c:pt idx="383" formatCode="m/d/yyyy">
                  <c:v>44700</c:v>
                </c:pt>
                <c:pt idx="384" formatCode="m/d/yyyy">
                  <c:v>44701</c:v>
                </c:pt>
                <c:pt idx="385" formatCode="m/d/yyyy">
                  <c:v>44704</c:v>
                </c:pt>
                <c:pt idx="386" formatCode="m/d/yyyy">
                  <c:v>44705</c:v>
                </c:pt>
                <c:pt idx="387" formatCode="m/d/yyyy">
                  <c:v>44706</c:v>
                </c:pt>
                <c:pt idx="388" formatCode="m/d/yyyy">
                  <c:v>44707</c:v>
                </c:pt>
                <c:pt idx="389" formatCode="m/d/yyyy">
                  <c:v>44708</c:v>
                </c:pt>
                <c:pt idx="390" formatCode="m/d/yyyy">
                  <c:v>44712</c:v>
                </c:pt>
                <c:pt idx="391" formatCode="m/d/yyyy">
                  <c:v>44713</c:v>
                </c:pt>
                <c:pt idx="392" formatCode="m/d/yyyy">
                  <c:v>44714</c:v>
                </c:pt>
                <c:pt idx="393" formatCode="m/d/yyyy">
                  <c:v>44715</c:v>
                </c:pt>
                <c:pt idx="394" formatCode="m/d/yyyy">
                  <c:v>44718</c:v>
                </c:pt>
                <c:pt idx="395" formatCode="m/d/yyyy">
                  <c:v>44719</c:v>
                </c:pt>
                <c:pt idx="396" formatCode="m/d/yyyy">
                  <c:v>44720</c:v>
                </c:pt>
                <c:pt idx="397" formatCode="m/d/yyyy">
                  <c:v>44721</c:v>
                </c:pt>
                <c:pt idx="398" formatCode="m/d/yyyy">
                  <c:v>44722</c:v>
                </c:pt>
                <c:pt idx="399" formatCode="m/d/yyyy">
                  <c:v>44725</c:v>
                </c:pt>
                <c:pt idx="400" formatCode="m/d/yyyy">
                  <c:v>44726</c:v>
                </c:pt>
                <c:pt idx="401" formatCode="m/d/yyyy">
                  <c:v>44727</c:v>
                </c:pt>
                <c:pt idx="402" formatCode="m/d/yyyy">
                  <c:v>44728</c:v>
                </c:pt>
                <c:pt idx="403" formatCode="m/d/yyyy">
                  <c:v>44729</c:v>
                </c:pt>
                <c:pt idx="404" formatCode="m/d/yyyy">
                  <c:v>44733</c:v>
                </c:pt>
                <c:pt idx="405" formatCode="m/d/yyyy">
                  <c:v>44734</c:v>
                </c:pt>
                <c:pt idx="406" formatCode="m/d/yyyy">
                  <c:v>44735</c:v>
                </c:pt>
                <c:pt idx="407" formatCode="m/d/yyyy">
                  <c:v>44736</c:v>
                </c:pt>
                <c:pt idx="408" formatCode="m/d/yyyy">
                  <c:v>44739</c:v>
                </c:pt>
                <c:pt idx="409" formatCode="m/d/yyyy">
                  <c:v>44740</c:v>
                </c:pt>
                <c:pt idx="410" formatCode="m/d/yyyy">
                  <c:v>44741</c:v>
                </c:pt>
                <c:pt idx="411" formatCode="m/d/yyyy">
                  <c:v>44742</c:v>
                </c:pt>
                <c:pt idx="412" formatCode="m/d/yyyy">
                  <c:v>44743</c:v>
                </c:pt>
                <c:pt idx="413" formatCode="m/d/yyyy">
                  <c:v>44747</c:v>
                </c:pt>
                <c:pt idx="414" formatCode="m/d/yyyy">
                  <c:v>44748</c:v>
                </c:pt>
                <c:pt idx="415" formatCode="m/d/yyyy">
                  <c:v>44749</c:v>
                </c:pt>
                <c:pt idx="416" formatCode="m/d/yyyy">
                  <c:v>44750</c:v>
                </c:pt>
                <c:pt idx="417" formatCode="m/d/yyyy">
                  <c:v>44753</c:v>
                </c:pt>
                <c:pt idx="418" formatCode="m/d/yyyy">
                  <c:v>44754</c:v>
                </c:pt>
                <c:pt idx="419" formatCode="m/d/yyyy">
                  <c:v>44755</c:v>
                </c:pt>
                <c:pt idx="420" formatCode="m/d/yyyy">
                  <c:v>44756</c:v>
                </c:pt>
                <c:pt idx="421" formatCode="m/d/yyyy">
                  <c:v>44757</c:v>
                </c:pt>
                <c:pt idx="422" formatCode="m/d/yyyy">
                  <c:v>44760</c:v>
                </c:pt>
                <c:pt idx="423" formatCode="m/d/yyyy">
                  <c:v>44761</c:v>
                </c:pt>
                <c:pt idx="424" formatCode="m/d/yyyy">
                  <c:v>44762</c:v>
                </c:pt>
                <c:pt idx="425" formatCode="m/d/yyyy">
                  <c:v>44763</c:v>
                </c:pt>
                <c:pt idx="426" formatCode="m/d/yyyy">
                  <c:v>44764</c:v>
                </c:pt>
                <c:pt idx="427" formatCode="m/d/yyyy">
                  <c:v>44767</c:v>
                </c:pt>
                <c:pt idx="428" formatCode="m/d/yyyy">
                  <c:v>44768</c:v>
                </c:pt>
                <c:pt idx="429" formatCode="m/d/yyyy">
                  <c:v>44769</c:v>
                </c:pt>
                <c:pt idx="430" formatCode="m/d/yyyy">
                  <c:v>44770</c:v>
                </c:pt>
                <c:pt idx="431" formatCode="m/d/yyyy">
                  <c:v>44771</c:v>
                </c:pt>
                <c:pt idx="432" formatCode="m/d/yyyy">
                  <c:v>44774</c:v>
                </c:pt>
                <c:pt idx="433" formatCode="m/d/yyyy">
                  <c:v>44775</c:v>
                </c:pt>
                <c:pt idx="434" formatCode="m/d/yyyy">
                  <c:v>44776</c:v>
                </c:pt>
                <c:pt idx="435" formatCode="m/d/yyyy">
                  <c:v>44777</c:v>
                </c:pt>
                <c:pt idx="436" formatCode="m/d/yyyy">
                  <c:v>44778</c:v>
                </c:pt>
                <c:pt idx="437" formatCode="m/d/yyyy">
                  <c:v>44781</c:v>
                </c:pt>
                <c:pt idx="438" formatCode="m/d/yyyy">
                  <c:v>44782</c:v>
                </c:pt>
                <c:pt idx="439" formatCode="m/d/yyyy">
                  <c:v>44783</c:v>
                </c:pt>
                <c:pt idx="440" formatCode="m/d/yyyy">
                  <c:v>44784</c:v>
                </c:pt>
                <c:pt idx="441" formatCode="m/d/yyyy">
                  <c:v>44785</c:v>
                </c:pt>
                <c:pt idx="442" formatCode="m/d/yyyy">
                  <c:v>44788</c:v>
                </c:pt>
                <c:pt idx="443" formatCode="m/d/yyyy">
                  <c:v>44789</c:v>
                </c:pt>
                <c:pt idx="444" formatCode="m/d/yyyy">
                  <c:v>44790</c:v>
                </c:pt>
                <c:pt idx="445" formatCode="m/d/yyyy">
                  <c:v>44791</c:v>
                </c:pt>
                <c:pt idx="446" formatCode="m/d/yyyy">
                  <c:v>44792</c:v>
                </c:pt>
                <c:pt idx="447" formatCode="m/d/yyyy">
                  <c:v>44795</c:v>
                </c:pt>
                <c:pt idx="448" formatCode="m/d/yyyy">
                  <c:v>44796</c:v>
                </c:pt>
                <c:pt idx="449" formatCode="m/d/yyyy">
                  <c:v>44797</c:v>
                </c:pt>
                <c:pt idx="450" formatCode="m/d/yyyy">
                  <c:v>44798</c:v>
                </c:pt>
                <c:pt idx="451" formatCode="m/d/yyyy">
                  <c:v>44799</c:v>
                </c:pt>
                <c:pt idx="452" formatCode="m/d/yyyy">
                  <c:v>44802</c:v>
                </c:pt>
                <c:pt idx="453" formatCode="m/d/yyyy">
                  <c:v>44803</c:v>
                </c:pt>
                <c:pt idx="454" formatCode="m/d/yyyy">
                  <c:v>44804</c:v>
                </c:pt>
                <c:pt idx="455" formatCode="m/d/yyyy">
                  <c:v>44805</c:v>
                </c:pt>
                <c:pt idx="456" formatCode="m/d/yyyy">
                  <c:v>44806</c:v>
                </c:pt>
                <c:pt idx="457" formatCode="m/d/yyyy">
                  <c:v>44810</c:v>
                </c:pt>
                <c:pt idx="458" formatCode="m/d/yyyy">
                  <c:v>44811</c:v>
                </c:pt>
                <c:pt idx="459" formatCode="m/d/yyyy">
                  <c:v>44812</c:v>
                </c:pt>
                <c:pt idx="460" formatCode="m/d/yyyy">
                  <c:v>44813</c:v>
                </c:pt>
                <c:pt idx="461" formatCode="m/d/yyyy">
                  <c:v>44816</c:v>
                </c:pt>
                <c:pt idx="462" formatCode="m/d/yyyy">
                  <c:v>44817</c:v>
                </c:pt>
                <c:pt idx="463" formatCode="m/d/yyyy">
                  <c:v>44818</c:v>
                </c:pt>
                <c:pt idx="464" formatCode="m/d/yyyy">
                  <c:v>44819</c:v>
                </c:pt>
                <c:pt idx="465" formatCode="m/d/yyyy">
                  <c:v>44820</c:v>
                </c:pt>
                <c:pt idx="466" formatCode="m/d/yyyy">
                  <c:v>44823</c:v>
                </c:pt>
                <c:pt idx="467" formatCode="m/d/yyyy">
                  <c:v>44824</c:v>
                </c:pt>
                <c:pt idx="468" formatCode="m/d/yyyy">
                  <c:v>44825</c:v>
                </c:pt>
                <c:pt idx="469" formatCode="m/d/yyyy">
                  <c:v>44826</c:v>
                </c:pt>
                <c:pt idx="470" formatCode="m/d/yyyy">
                  <c:v>44827</c:v>
                </c:pt>
                <c:pt idx="471" formatCode="m/d/yyyy">
                  <c:v>44830</c:v>
                </c:pt>
                <c:pt idx="472" formatCode="m/d/yyyy">
                  <c:v>44831</c:v>
                </c:pt>
                <c:pt idx="473" formatCode="m/d/yyyy">
                  <c:v>44832</c:v>
                </c:pt>
                <c:pt idx="474" formatCode="m/d/yyyy">
                  <c:v>44833</c:v>
                </c:pt>
                <c:pt idx="475" formatCode="m/d/yyyy">
                  <c:v>44834</c:v>
                </c:pt>
                <c:pt idx="476" formatCode="m/d/yyyy">
                  <c:v>44837</c:v>
                </c:pt>
                <c:pt idx="477" formatCode="m/d/yyyy">
                  <c:v>44838</c:v>
                </c:pt>
                <c:pt idx="478" formatCode="m/d/yyyy">
                  <c:v>44839</c:v>
                </c:pt>
                <c:pt idx="479" formatCode="m/d/yyyy">
                  <c:v>44840</c:v>
                </c:pt>
                <c:pt idx="480" formatCode="m/d/yyyy">
                  <c:v>44841</c:v>
                </c:pt>
                <c:pt idx="481" formatCode="m/d/yyyy">
                  <c:v>44844</c:v>
                </c:pt>
                <c:pt idx="482" formatCode="m/d/yyyy">
                  <c:v>44845</c:v>
                </c:pt>
                <c:pt idx="483" formatCode="m/d/yyyy">
                  <c:v>44846</c:v>
                </c:pt>
                <c:pt idx="484" formatCode="m/d/yyyy">
                  <c:v>44847</c:v>
                </c:pt>
                <c:pt idx="485" formatCode="m/d/yyyy">
                  <c:v>44848</c:v>
                </c:pt>
                <c:pt idx="486" formatCode="m/d/yyyy">
                  <c:v>44851</c:v>
                </c:pt>
                <c:pt idx="487" formatCode="m/d/yyyy">
                  <c:v>44852</c:v>
                </c:pt>
                <c:pt idx="488" formatCode="m/d/yyyy">
                  <c:v>44853</c:v>
                </c:pt>
                <c:pt idx="489" formatCode="m/d/yyyy">
                  <c:v>44854</c:v>
                </c:pt>
                <c:pt idx="490" formatCode="m/d/yyyy">
                  <c:v>44855</c:v>
                </c:pt>
                <c:pt idx="491" formatCode="m/d/yyyy">
                  <c:v>44858</c:v>
                </c:pt>
                <c:pt idx="492" formatCode="m/d/yyyy">
                  <c:v>44859</c:v>
                </c:pt>
                <c:pt idx="493" formatCode="m/d/yyyy">
                  <c:v>44860</c:v>
                </c:pt>
                <c:pt idx="494" formatCode="m/d/yyyy">
                  <c:v>44861</c:v>
                </c:pt>
                <c:pt idx="495" formatCode="m/d/yyyy">
                  <c:v>44862</c:v>
                </c:pt>
                <c:pt idx="496" formatCode="m/d/yyyy">
                  <c:v>44865</c:v>
                </c:pt>
                <c:pt idx="497" formatCode="m/d/yyyy">
                  <c:v>44866</c:v>
                </c:pt>
                <c:pt idx="498" formatCode="m/d/yyyy">
                  <c:v>44867</c:v>
                </c:pt>
                <c:pt idx="499" formatCode="m/d/yyyy">
                  <c:v>44868</c:v>
                </c:pt>
                <c:pt idx="500" formatCode="m/d/yyyy">
                  <c:v>44869</c:v>
                </c:pt>
                <c:pt idx="501" formatCode="m/d/yyyy">
                  <c:v>44872</c:v>
                </c:pt>
                <c:pt idx="502" formatCode="m/d/yyyy">
                  <c:v>44873</c:v>
                </c:pt>
                <c:pt idx="503" formatCode="m/d/yyyy">
                  <c:v>44874</c:v>
                </c:pt>
                <c:pt idx="504" formatCode="m/d/yyyy">
                  <c:v>44875</c:v>
                </c:pt>
                <c:pt idx="505" formatCode="m/d/yyyy">
                  <c:v>44876</c:v>
                </c:pt>
                <c:pt idx="506" formatCode="m/d/yyyy">
                  <c:v>44879</c:v>
                </c:pt>
                <c:pt idx="507" formatCode="m/d/yyyy">
                  <c:v>44880</c:v>
                </c:pt>
                <c:pt idx="508" formatCode="m/d/yyyy">
                  <c:v>44881</c:v>
                </c:pt>
                <c:pt idx="509" formatCode="m/d/yyyy">
                  <c:v>44882</c:v>
                </c:pt>
                <c:pt idx="510" formatCode="m/d/yyyy">
                  <c:v>44883</c:v>
                </c:pt>
                <c:pt idx="511" formatCode="m/d/yyyy">
                  <c:v>44886</c:v>
                </c:pt>
                <c:pt idx="512" formatCode="m/d/yyyy">
                  <c:v>44887</c:v>
                </c:pt>
                <c:pt idx="513" formatCode="m/d/yyyy">
                  <c:v>44888</c:v>
                </c:pt>
                <c:pt idx="514" formatCode="m/d/yyyy">
                  <c:v>44890</c:v>
                </c:pt>
                <c:pt idx="515" formatCode="m/d/yyyy">
                  <c:v>44893</c:v>
                </c:pt>
                <c:pt idx="516" formatCode="m/d/yyyy">
                  <c:v>44894</c:v>
                </c:pt>
                <c:pt idx="517" formatCode="m/d/yyyy">
                  <c:v>44895</c:v>
                </c:pt>
                <c:pt idx="518" formatCode="m/d/yyyy">
                  <c:v>44896</c:v>
                </c:pt>
                <c:pt idx="519" formatCode="m/d/yyyy">
                  <c:v>44897</c:v>
                </c:pt>
                <c:pt idx="520" formatCode="m/d/yyyy">
                  <c:v>44900</c:v>
                </c:pt>
                <c:pt idx="521" formatCode="m/d/yyyy">
                  <c:v>44901</c:v>
                </c:pt>
                <c:pt idx="522" formatCode="m/d/yyyy">
                  <c:v>44902</c:v>
                </c:pt>
                <c:pt idx="523" formatCode="m/d/yyyy">
                  <c:v>44903</c:v>
                </c:pt>
                <c:pt idx="524" formatCode="m/d/yyyy">
                  <c:v>44904</c:v>
                </c:pt>
                <c:pt idx="525" formatCode="m/d/yyyy">
                  <c:v>44907</c:v>
                </c:pt>
                <c:pt idx="526" formatCode="m/d/yyyy">
                  <c:v>44908</c:v>
                </c:pt>
                <c:pt idx="527" formatCode="m/d/yyyy">
                  <c:v>44909</c:v>
                </c:pt>
                <c:pt idx="528" formatCode="m/d/yyyy">
                  <c:v>44910</c:v>
                </c:pt>
                <c:pt idx="529" formatCode="m/d/yyyy">
                  <c:v>44911</c:v>
                </c:pt>
                <c:pt idx="530" formatCode="m/d/yyyy">
                  <c:v>44914</c:v>
                </c:pt>
                <c:pt idx="531" formatCode="m/d/yyyy">
                  <c:v>44915</c:v>
                </c:pt>
                <c:pt idx="532" formatCode="m/d/yyyy">
                  <c:v>44916</c:v>
                </c:pt>
                <c:pt idx="533" formatCode="m/d/yyyy">
                  <c:v>44917</c:v>
                </c:pt>
                <c:pt idx="534" formatCode="m/d/yyyy">
                  <c:v>44918</c:v>
                </c:pt>
                <c:pt idx="535" formatCode="m/d/yyyy">
                  <c:v>44922</c:v>
                </c:pt>
                <c:pt idx="536" formatCode="m/d/yyyy">
                  <c:v>44923</c:v>
                </c:pt>
                <c:pt idx="537" formatCode="m/d/yyyy">
                  <c:v>44924</c:v>
                </c:pt>
                <c:pt idx="538" formatCode="m/d/yyyy">
                  <c:v>44925</c:v>
                </c:pt>
                <c:pt idx="539" formatCode="m/d/yyyy">
                  <c:v>44929</c:v>
                </c:pt>
                <c:pt idx="540" formatCode="m/d/yyyy">
                  <c:v>44930</c:v>
                </c:pt>
                <c:pt idx="541" formatCode="m/d/yyyy">
                  <c:v>44931</c:v>
                </c:pt>
                <c:pt idx="542" formatCode="m/d/yyyy">
                  <c:v>44932</c:v>
                </c:pt>
                <c:pt idx="543" formatCode="m/d/yyyy">
                  <c:v>44935</c:v>
                </c:pt>
                <c:pt idx="544" formatCode="m/d/yyyy">
                  <c:v>44936</c:v>
                </c:pt>
                <c:pt idx="545" formatCode="m/d/yyyy">
                  <c:v>44937</c:v>
                </c:pt>
                <c:pt idx="546" formatCode="m/d/yyyy">
                  <c:v>44938</c:v>
                </c:pt>
                <c:pt idx="547" formatCode="m/d/yyyy">
                  <c:v>44939</c:v>
                </c:pt>
                <c:pt idx="548" formatCode="m/d/yyyy">
                  <c:v>44943</c:v>
                </c:pt>
                <c:pt idx="549" formatCode="m/d/yyyy">
                  <c:v>44944</c:v>
                </c:pt>
                <c:pt idx="550" formatCode="m/d/yyyy">
                  <c:v>44945</c:v>
                </c:pt>
                <c:pt idx="551" formatCode="m/d/yyyy">
                  <c:v>44946</c:v>
                </c:pt>
                <c:pt idx="552" formatCode="m/d/yyyy">
                  <c:v>44949</c:v>
                </c:pt>
                <c:pt idx="553" formatCode="m/d/yyyy">
                  <c:v>44950</c:v>
                </c:pt>
                <c:pt idx="554" formatCode="m/d/yyyy">
                  <c:v>44951</c:v>
                </c:pt>
                <c:pt idx="555" formatCode="m/d/yyyy">
                  <c:v>44952</c:v>
                </c:pt>
                <c:pt idx="556" formatCode="m/d/yyyy">
                  <c:v>44953</c:v>
                </c:pt>
                <c:pt idx="557" formatCode="m/d/yyyy">
                  <c:v>44956</c:v>
                </c:pt>
                <c:pt idx="558" formatCode="m/d/yyyy">
                  <c:v>44957</c:v>
                </c:pt>
                <c:pt idx="559" formatCode="m/d/yyyy">
                  <c:v>44958</c:v>
                </c:pt>
                <c:pt idx="560" formatCode="m/d/yyyy">
                  <c:v>44959</c:v>
                </c:pt>
                <c:pt idx="561" formatCode="m/d/yyyy">
                  <c:v>44960</c:v>
                </c:pt>
                <c:pt idx="562" formatCode="m/d/yyyy">
                  <c:v>44963</c:v>
                </c:pt>
                <c:pt idx="563" formatCode="m/d/yyyy">
                  <c:v>44964</c:v>
                </c:pt>
                <c:pt idx="564" formatCode="m/d/yyyy">
                  <c:v>44965</c:v>
                </c:pt>
                <c:pt idx="565" formatCode="m/d/yyyy">
                  <c:v>44966</c:v>
                </c:pt>
                <c:pt idx="566" formatCode="m/d/yyyy">
                  <c:v>44967</c:v>
                </c:pt>
                <c:pt idx="567" formatCode="m/d/yyyy">
                  <c:v>44970</c:v>
                </c:pt>
                <c:pt idx="568" formatCode="m/d/yyyy">
                  <c:v>44971</c:v>
                </c:pt>
                <c:pt idx="569" formatCode="m/d/yyyy">
                  <c:v>44972</c:v>
                </c:pt>
                <c:pt idx="570" formatCode="m/d/yyyy">
                  <c:v>44973</c:v>
                </c:pt>
                <c:pt idx="571" formatCode="m/d/yyyy">
                  <c:v>44974</c:v>
                </c:pt>
                <c:pt idx="572" formatCode="m/d/yyyy">
                  <c:v>44978</c:v>
                </c:pt>
                <c:pt idx="573" formatCode="m/d/yyyy">
                  <c:v>44979</c:v>
                </c:pt>
                <c:pt idx="574" formatCode="m/d/yyyy">
                  <c:v>44980</c:v>
                </c:pt>
                <c:pt idx="575" formatCode="m/d/yyyy">
                  <c:v>44981</c:v>
                </c:pt>
                <c:pt idx="576" formatCode="m/d/yyyy">
                  <c:v>44984</c:v>
                </c:pt>
                <c:pt idx="577" formatCode="m/d/yyyy">
                  <c:v>44985</c:v>
                </c:pt>
                <c:pt idx="578" formatCode="m/d/yyyy">
                  <c:v>44986</c:v>
                </c:pt>
                <c:pt idx="579" formatCode="m/d/yyyy">
                  <c:v>44987</c:v>
                </c:pt>
                <c:pt idx="580" formatCode="m/d/yyyy">
                  <c:v>44988</c:v>
                </c:pt>
                <c:pt idx="581" formatCode="m/d/yyyy">
                  <c:v>44991</c:v>
                </c:pt>
                <c:pt idx="582" formatCode="m/d/yyyy">
                  <c:v>44992</c:v>
                </c:pt>
                <c:pt idx="583" formatCode="m/d/yyyy">
                  <c:v>44993</c:v>
                </c:pt>
                <c:pt idx="584" formatCode="m/d/yyyy">
                  <c:v>44994</c:v>
                </c:pt>
                <c:pt idx="585" formatCode="m/d/yyyy">
                  <c:v>44995</c:v>
                </c:pt>
                <c:pt idx="586" formatCode="m/d/yyyy">
                  <c:v>44998</c:v>
                </c:pt>
                <c:pt idx="587" formatCode="m/d/yyyy">
                  <c:v>44999</c:v>
                </c:pt>
                <c:pt idx="588" formatCode="m/d/yyyy">
                  <c:v>45000</c:v>
                </c:pt>
                <c:pt idx="589" formatCode="m/d/yyyy">
                  <c:v>45001</c:v>
                </c:pt>
                <c:pt idx="590" formatCode="m/d/yyyy">
                  <c:v>45002</c:v>
                </c:pt>
                <c:pt idx="591" formatCode="m/d/yyyy">
                  <c:v>45005</c:v>
                </c:pt>
                <c:pt idx="592" formatCode="m/d/yyyy">
                  <c:v>45006</c:v>
                </c:pt>
                <c:pt idx="593" formatCode="m/d/yyyy">
                  <c:v>45007</c:v>
                </c:pt>
                <c:pt idx="594" formatCode="m/d/yyyy">
                  <c:v>45008</c:v>
                </c:pt>
                <c:pt idx="595" formatCode="m/d/yyyy">
                  <c:v>45009</c:v>
                </c:pt>
                <c:pt idx="596" formatCode="m/d/yyyy">
                  <c:v>45012</c:v>
                </c:pt>
                <c:pt idx="597" formatCode="m/d/yyyy">
                  <c:v>45013</c:v>
                </c:pt>
                <c:pt idx="598" formatCode="m/d/yyyy">
                  <c:v>45014</c:v>
                </c:pt>
                <c:pt idx="599" formatCode="m/d/yyyy">
                  <c:v>45015</c:v>
                </c:pt>
                <c:pt idx="600" formatCode="m/d/yyyy">
                  <c:v>45016</c:v>
                </c:pt>
                <c:pt idx="601" formatCode="m/d/yyyy">
                  <c:v>45019</c:v>
                </c:pt>
                <c:pt idx="602" formatCode="m/d/yyyy">
                  <c:v>45020</c:v>
                </c:pt>
                <c:pt idx="603" formatCode="m/d/yyyy">
                  <c:v>45021</c:v>
                </c:pt>
                <c:pt idx="604" formatCode="m/d/yyyy">
                  <c:v>45022</c:v>
                </c:pt>
                <c:pt idx="605" formatCode="m/d/yyyy">
                  <c:v>45026</c:v>
                </c:pt>
                <c:pt idx="606" formatCode="m/d/yyyy">
                  <c:v>45027</c:v>
                </c:pt>
                <c:pt idx="607" formatCode="m/d/yyyy">
                  <c:v>45028</c:v>
                </c:pt>
                <c:pt idx="608" formatCode="m/d/yyyy">
                  <c:v>45029</c:v>
                </c:pt>
                <c:pt idx="609" formatCode="m/d/yyyy">
                  <c:v>45030</c:v>
                </c:pt>
                <c:pt idx="610" formatCode="m/d/yyyy">
                  <c:v>45033</c:v>
                </c:pt>
                <c:pt idx="611" formatCode="m/d/yyyy">
                  <c:v>45034</c:v>
                </c:pt>
                <c:pt idx="612" formatCode="m/d/yyyy">
                  <c:v>45035</c:v>
                </c:pt>
                <c:pt idx="613" formatCode="m/d/yyyy">
                  <c:v>45036</c:v>
                </c:pt>
                <c:pt idx="614" formatCode="m/d/yyyy">
                  <c:v>45037</c:v>
                </c:pt>
                <c:pt idx="615" formatCode="m/d/yyyy">
                  <c:v>45040</c:v>
                </c:pt>
                <c:pt idx="616" formatCode="m/d/yyyy">
                  <c:v>45041</c:v>
                </c:pt>
                <c:pt idx="617" formatCode="m/d/yyyy">
                  <c:v>45042</c:v>
                </c:pt>
                <c:pt idx="618" formatCode="m/d/yyyy">
                  <c:v>45043</c:v>
                </c:pt>
                <c:pt idx="619" formatCode="m/d/yyyy">
                  <c:v>45044</c:v>
                </c:pt>
                <c:pt idx="620" formatCode="m/d/yyyy">
                  <c:v>45047</c:v>
                </c:pt>
                <c:pt idx="621" formatCode="m/d/yyyy">
                  <c:v>45048</c:v>
                </c:pt>
                <c:pt idx="622" formatCode="m/d/yyyy">
                  <c:v>45049</c:v>
                </c:pt>
                <c:pt idx="623" formatCode="m/d/yyyy">
                  <c:v>45050</c:v>
                </c:pt>
                <c:pt idx="624" formatCode="m/d/yyyy">
                  <c:v>45051</c:v>
                </c:pt>
                <c:pt idx="625" formatCode="m/d/yyyy">
                  <c:v>45054</c:v>
                </c:pt>
                <c:pt idx="626" formatCode="m/d/yyyy">
                  <c:v>45055</c:v>
                </c:pt>
                <c:pt idx="627" formatCode="m/d/yyyy">
                  <c:v>45056</c:v>
                </c:pt>
                <c:pt idx="628" formatCode="m/d/yyyy">
                  <c:v>45057</c:v>
                </c:pt>
                <c:pt idx="629" formatCode="m/d/yyyy">
                  <c:v>45058</c:v>
                </c:pt>
                <c:pt idx="630" formatCode="m/d/yyyy">
                  <c:v>45061</c:v>
                </c:pt>
                <c:pt idx="631" formatCode="m/d/yyyy">
                  <c:v>45062</c:v>
                </c:pt>
                <c:pt idx="632" formatCode="m/d/yyyy">
                  <c:v>45063</c:v>
                </c:pt>
                <c:pt idx="633" formatCode="m/d/yyyy">
                  <c:v>45064</c:v>
                </c:pt>
                <c:pt idx="634" formatCode="m/d/yyyy">
                  <c:v>45065</c:v>
                </c:pt>
                <c:pt idx="635" formatCode="m/d/yyyy">
                  <c:v>45068</c:v>
                </c:pt>
                <c:pt idx="636" formatCode="m/d/yyyy">
                  <c:v>45069</c:v>
                </c:pt>
                <c:pt idx="637" formatCode="m/d/yyyy">
                  <c:v>45070</c:v>
                </c:pt>
                <c:pt idx="638" formatCode="m/d/yyyy">
                  <c:v>45071</c:v>
                </c:pt>
                <c:pt idx="639" formatCode="m/d/yyyy">
                  <c:v>45072</c:v>
                </c:pt>
                <c:pt idx="640" formatCode="m/d/yyyy">
                  <c:v>45076</c:v>
                </c:pt>
                <c:pt idx="641" formatCode="m/d/yyyy">
                  <c:v>45077</c:v>
                </c:pt>
                <c:pt idx="642" formatCode="m/d/yyyy">
                  <c:v>45078</c:v>
                </c:pt>
                <c:pt idx="643" formatCode="m/d/yyyy">
                  <c:v>45079</c:v>
                </c:pt>
                <c:pt idx="644" formatCode="m/d/yyyy">
                  <c:v>45082</c:v>
                </c:pt>
                <c:pt idx="645" formatCode="m/d/yyyy">
                  <c:v>45083</c:v>
                </c:pt>
                <c:pt idx="646" formatCode="m/d/yyyy">
                  <c:v>45084</c:v>
                </c:pt>
                <c:pt idx="647" formatCode="m/d/yyyy">
                  <c:v>45085</c:v>
                </c:pt>
                <c:pt idx="648" formatCode="m/d/yyyy">
                  <c:v>45086</c:v>
                </c:pt>
                <c:pt idx="649" formatCode="m/d/yyyy">
                  <c:v>45089</c:v>
                </c:pt>
                <c:pt idx="650" formatCode="m/d/yyyy">
                  <c:v>45090</c:v>
                </c:pt>
                <c:pt idx="651" formatCode="m/d/yyyy">
                  <c:v>45091</c:v>
                </c:pt>
                <c:pt idx="652" formatCode="m/d/yyyy">
                  <c:v>45092</c:v>
                </c:pt>
                <c:pt idx="653" formatCode="m/d/yyyy">
                  <c:v>45093</c:v>
                </c:pt>
                <c:pt idx="654" formatCode="m/d/yyyy">
                  <c:v>45097</c:v>
                </c:pt>
                <c:pt idx="655" formatCode="m/d/yyyy">
                  <c:v>45098</c:v>
                </c:pt>
                <c:pt idx="656" formatCode="m/d/yyyy">
                  <c:v>45099</c:v>
                </c:pt>
                <c:pt idx="657" formatCode="m/d/yyyy">
                  <c:v>45100</c:v>
                </c:pt>
                <c:pt idx="658" formatCode="m/d/yyyy">
                  <c:v>45103</c:v>
                </c:pt>
                <c:pt idx="659" formatCode="m/d/yyyy">
                  <c:v>45104</c:v>
                </c:pt>
                <c:pt idx="660" formatCode="m/d/yyyy">
                  <c:v>45105</c:v>
                </c:pt>
                <c:pt idx="661" formatCode="m/d/yyyy">
                  <c:v>45106</c:v>
                </c:pt>
                <c:pt idx="662" formatCode="m/d/yyyy">
                  <c:v>45107</c:v>
                </c:pt>
                <c:pt idx="663" formatCode="m/d/yyyy">
                  <c:v>45110</c:v>
                </c:pt>
                <c:pt idx="664" formatCode="m/d/yyyy">
                  <c:v>45112</c:v>
                </c:pt>
                <c:pt idx="665" formatCode="m/d/yyyy">
                  <c:v>45113</c:v>
                </c:pt>
                <c:pt idx="666" formatCode="m/d/yyyy">
                  <c:v>45114</c:v>
                </c:pt>
                <c:pt idx="667" formatCode="m/d/yyyy">
                  <c:v>45117</c:v>
                </c:pt>
                <c:pt idx="668" formatCode="m/d/yyyy">
                  <c:v>45118</c:v>
                </c:pt>
                <c:pt idx="669" formatCode="m/d/yyyy">
                  <c:v>45119</c:v>
                </c:pt>
                <c:pt idx="670" formatCode="m/d/yyyy">
                  <c:v>45120</c:v>
                </c:pt>
                <c:pt idx="671" formatCode="m/d/yyyy">
                  <c:v>45121</c:v>
                </c:pt>
                <c:pt idx="672" formatCode="m/d/yyyy">
                  <c:v>45124</c:v>
                </c:pt>
                <c:pt idx="673" formatCode="m/d/yyyy">
                  <c:v>45125</c:v>
                </c:pt>
                <c:pt idx="674" formatCode="m/d/yyyy">
                  <c:v>45126</c:v>
                </c:pt>
                <c:pt idx="675" formatCode="m/d/yyyy">
                  <c:v>45127</c:v>
                </c:pt>
                <c:pt idx="676" formatCode="m/d/yyyy">
                  <c:v>45128</c:v>
                </c:pt>
                <c:pt idx="677" formatCode="m/d/yyyy">
                  <c:v>45131</c:v>
                </c:pt>
                <c:pt idx="678" formatCode="m/d/yyyy">
                  <c:v>45132</c:v>
                </c:pt>
                <c:pt idx="679" formatCode="m/d/yyyy">
                  <c:v>45133</c:v>
                </c:pt>
                <c:pt idx="680" formatCode="m/d/yyyy">
                  <c:v>45134</c:v>
                </c:pt>
                <c:pt idx="681" formatCode="m/d/yyyy">
                  <c:v>45135</c:v>
                </c:pt>
                <c:pt idx="682" formatCode="m/d/yyyy">
                  <c:v>45138</c:v>
                </c:pt>
                <c:pt idx="683" formatCode="m/d/yyyy">
                  <c:v>45139</c:v>
                </c:pt>
                <c:pt idx="684" formatCode="m/d/yyyy">
                  <c:v>45140</c:v>
                </c:pt>
                <c:pt idx="685" formatCode="m/d/yyyy">
                  <c:v>45141</c:v>
                </c:pt>
                <c:pt idx="686" formatCode="m/d/yyyy">
                  <c:v>45142</c:v>
                </c:pt>
                <c:pt idx="687" formatCode="m/d/yyyy">
                  <c:v>45145</c:v>
                </c:pt>
                <c:pt idx="688" formatCode="m/d/yyyy">
                  <c:v>45146</c:v>
                </c:pt>
                <c:pt idx="689" formatCode="m/d/yyyy">
                  <c:v>45147</c:v>
                </c:pt>
                <c:pt idx="690" formatCode="m/d/yyyy">
                  <c:v>45148</c:v>
                </c:pt>
                <c:pt idx="691" formatCode="m/d/yyyy">
                  <c:v>45149</c:v>
                </c:pt>
                <c:pt idx="692" formatCode="m/d/yyyy">
                  <c:v>45152</c:v>
                </c:pt>
                <c:pt idx="693" formatCode="m/d/yyyy">
                  <c:v>45153</c:v>
                </c:pt>
                <c:pt idx="694" formatCode="m/d/yyyy">
                  <c:v>45154</c:v>
                </c:pt>
                <c:pt idx="695" formatCode="m/d/yyyy">
                  <c:v>45155</c:v>
                </c:pt>
                <c:pt idx="696" formatCode="m/d/yyyy">
                  <c:v>45156</c:v>
                </c:pt>
                <c:pt idx="697" formatCode="m/d/yyyy">
                  <c:v>45159</c:v>
                </c:pt>
                <c:pt idx="698" formatCode="m/d/yyyy">
                  <c:v>45160</c:v>
                </c:pt>
                <c:pt idx="699" formatCode="m/d/yyyy">
                  <c:v>45161</c:v>
                </c:pt>
                <c:pt idx="700" formatCode="m/d/yyyy">
                  <c:v>45162</c:v>
                </c:pt>
                <c:pt idx="701" formatCode="m/d/yyyy">
                  <c:v>45163</c:v>
                </c:pt>
                <c:pt idx="702" formatCode="m/d/yyyy">
                  <c:v>45166</c:v>
                </c:pt>
                <c:pt idx="703" formatCode="m/d/yyyy">
                  <c:v>45167</c:v>
                </c:pt>
                <c:pt idx="704" formatCode="m/d/yyyy">
                  <c:v>45168</c:v>
                </c:pt>
                <c:pt idx="705" formatCode="m/d/yyyy">
                  <c:v>45169</c:v>
                </c:pt>
                <c:pt idx="706" formatCode="m/d/yyyy">
                  <c:v>45170</c:v>
                </c:pt>
                <c:pt idx="707" formatCode="m/d/yyyy">
                  <c:v>45174</c:v>
                </c:pt>
                <c:pt idx="708" formatCode="m/d/yyyy">
                  <c:v>45175</c:v>
                </c:pt>
                <c:pt idx="709" formatCode="m/d/yyyy">
                  <c:v>45176</c:v>
                </c:pt>
                <c:pt idx="710" formatCode="m/d/yyyy">
                  <c:v>45177</c:v>
                </c:pt>
                <c:pt idx="711" formatCode="m/d/yyyy">
                  <c:v>45180</c:v>
                </c:pt>
                <c:pt idx="712" formatCode="m/d/yyyy">
                  <c:v>45181</c:v>
                </c:pt>
                <c:pt idx="713" formatCode="m/d/yyyy">
                  <c:v>45182</c:v>
                </c:pt>
                <c:pt idx="714" formatCode="m/d/yyyy">
                  <c:v>45183</c:v>
                </c:pt>
                <c:pt idx="715" formatCode="m/d/yyyy">
                  <c:v>45184</c:v>
                </c:pt>
                <c:pt idx="716" formatCode="m/d/yyyy">
                  <c:v>45187</c:v>
                </c:pt>
                <c:pt idx="717" formatCode="m/d/yyyy">
                  <c:v>45188</c:v>
                </c:pt>
                <c:pt idx="718" formatCode="m/d/yyyy">
                  <c:v>45189</c:v>
                </c:pt>
                <c:pt idx="719" formatCode="m/d/yyyy">
                  <c:v>45190</c:v>
                </c:pt>
                <c:pt idx="720" formatCode="m/d/yyyy">
                  <c:v>45191</c:v>
                </c:pt>
                <c:pt idx="721" formatCode="m/d/yyyy">
                  <c:v>45194</c:v>
                </c:pt>
                <c:pt idx="722" formatCode="m/d/yyyy">
                  <c:v>45195</c:v>
                </c:pt>
                <c:pt idx="723" formatCode="m/d/yyyy">
                  <c:v>45196</c:v>
                </c:pt>
                <c:pt idx="724" formatCode="m/d/yyyy">
                  <c:v>45197</c:v>
                </c:pt>
                <c:pt idx="725" formatCode="m/d/yyyy">
                  <c:v>45198</c:v>
                </c:pt>
                <c:pt idx="726" formatCode="m/d/yyyy">
                  <c:v>45201</c:v>
                </c:pt>
                <c:pt idx="727" formatCode="m/d/yyyy">
                  <c:v>45202</c:v>
                </c:pt>
                <c:pt idx="728" formatCode="m/d/yyyy">
                  <c:v>45203</c:v>
                </c:pt>
                <c:pt idx="729" formatCode="m/d/yyyy">
                  <c:v>45204</c:v>
                </c:pt>
                <c:pt idx="730" formatCode="m/d/yyyy">
                  <c:v>45205</c:v>
                </c:pt>
                <c:pt idx="731" formatCode="m/d/yyyy">
                  <c:v>45208</c:v>
                </c:pt>
                <c:pt idx="732" formatCode="m/d/yyyy">
                  <c:v>45209</c:v>
                </c:pt>
                <c:pt idx="733" formatCode="m/d/yyyy">
                  <c:v>45210</c:v>
                </c:pt>
                <c:pt idx="734" formatCode="m/d/yyyy">
                  <c:v>45211</c:v>
                </c:pt>
                <c:pt idx="735" formatCode="m/d/yyyy">
                  <c:v>45212</c:v>
                </c:pt>
                <c:pt idx="736" formatCode="m/d/yyyy">
                  <c:v>45215</c:v>
                </c:pt>
                <c:pt idx="737" formatCode="m/d/yyyy">
                  <c:v>45216</c:v>
                </c:pt>
                <c:pt idx="738" formatCode="m/d/yyyy">
                  <c:v>45217</c:v>
                </c:pt>
                <c:pt idx="739" formatCode="m/d/yyyy">
                  <c:v>45218</c:v>
                </c:pt>
                <c:pt idx="740" formatCode="m/d/yyyy">
                  <c:v>45219</c:v>
                </c:pt>
                <c:pt idx="741" formatCode="m/d/yyyy">
                  <c:v>45222</c:v>
                </c:pt>
                <c:pt idx="742" formatCode="m/d/yyyy">
                  <c:v>45223</c:v>
                </c:pt>
                <c:pt idx="743" formatCode="m/d/yyyy">
                  <c:v>45224</c:v>
                </c:pt>
                <c:pt idx="744" formatCode="m/d/yyyy">
                  <c:v>45225</c:v>
                </c:pt>
                <c:pt idx="745" formatCode="m/d/yyyy">
                  <c:v>45226</c:v>
                </c:pt>
                <c:pt idx="746" formatCode="m/d/yyyy">
                  <c:v>45229</c:v>
                </c:pt>
                <c:pt idx="747" formatCode="m/d/yyyy">
                  <c:v>45230</c:v>
                </c:pt>
                <c:pt idx="748" formatCode="m/d/yyyy">
                  <c:v>45231</c:v>
                </c:pt>
                <c:pt idx="749" formatCode="m/d/yyyy">
                  <c:v>45232</c:v>
                </c:pt>
                <c:pt idx="750" formatCode="m/d/yyyy">
                  <c:v>45233</c:v>
                </c:pt>
                <c:pt idx="751" formatCode="m/d/yyyy">
                  <c:v>45236</c:v>
                </c:pt>
                <c:pt idx="752" formatCode="m/d/yyyy">
                  <c:v>45237</c:v>
                </c:pt>
                <c:pt idx="753" formatCode="m/d/yyyy">
                  <c:v>45238</c:v>
                </c:pt>
                <c:pt idx="754" formatCode="m/d/yyyy">
                  <c:v>45239</c:v>
                </c:pt>
                <c:pt idx="755" formatCode="m/d/yyyy">
                  <c:v>45240</c:v>
                </c:pt>
              </c:numCache>
            </c:numRef>
          </c:cat>
          <c:val>
            <c:numRef>
              <c:f>Sheet1!$C$2:$C$757</c:f>
              <c:numCache>
                <c:formatCode>General</c:formatCode>
                <c:ptCount val="756"/>
                <c:pt idx="252">
                  <c:v>226.14</c:v>
                </c:pt>
                <c:pt idx="253">
                  <c:v>226.82</c:v>
                </c:pt>
                <c:pt idx="254">
                  <c:v>225.16</c:v>
                </c:pt>
                <c:pt idx="255">
                  <c:v>227.58</c:v>
                </c:pt>
                <c:pt idx="256">
                  <c:v>225.29</c:v>
                </c:pt>
                <c:pt idx="257">
                  <c:v>224.26</c:v>
                </c:pt>
                <c:pt idx="258">
                  <c:v>223.34</c:v>
                </c:pt>
                <c:pt idx="259">
                  <c:v>220.9</c:v>
                </c:pt>
                <c:pt idx="260">
                  <c:v>220.62</c:v>
                </c:pt>
                <c:pt idx="261">
                  <c:v>220.47</c:v>
                </c:pt>
                <c:pt idx="262">
                  <c:v>222.6</c:v>
                </c:pt>
                <c:pt idx="263">
                  <c:v>213.7</c:v>
                </c:pt>
                <c:pt idx="264">
                  <c:v>213.58</c:v>
                </c:pt>
                <c:pt idx="265">
                  <c:v>209.23</c:v>
                </c:pt>
                <c:pt idx="266">
                  <c:v>205.03</c:v>
                </c:pt>
                <c:pt idx="267">
                  <c:v>212.49</c:v>
                </c:pt>
                <c:pt idx="268">
                  <c:v>211.53</c:v>
                </c:pt>
                <c:pt idx="269">
                  <c:v>218.63</c:v>
                </c:pt>
                <c:pt idx="270">
                  <c:v>219.75</c:v>
                </c:pt>
                <c:pt idx="271">
                  <c:v>221.65</c:v>
                </c:pt>
                <c:pt idx="272">
                  <c:v>217.24</c:v>
                </c:pt>
                <c:pt idx="273">
                  <c:v>215.79</c:v>
                </c:pt>
                <c:pt idx="274">
                  <c:v>214.02</c:v>
                </c:pt>
                <c:pt idx="275">
                  <c:v>210.98</c:v>
                </c:pt>
                <c:pt idx="276">
                  <c:v>213.32</c:v>
                </c:pt>
                <c:pt idx="277">
                  <c:v>211.61</c:v>
                </c:pt>
                <c:pt idx="278">
                  <c:v>212.39</c:v>
                </c:pt>
                <c:pt idx="279">
                  <c:v>209.67</c:v>
                </c:pt>
                <c:pt idx="280">
                  <c:v>215.61</c:v>
                </c:pt>
                <c:pt idx="281">
                  <c:v>218.03</c:v>
                </c:pt>
                <c:pt idx="282">
                  <c:v>218.1</c:v>
                </c:pt>
                <c:pt idx="283">
                  <c:v>220.65</c:v>
                </c:pt>
                <c:pt idx="284">
                  <c:v>221.77</c:v>
                </c:pt>
                <c:pt idx="285">
                  <c:v>222.95</c:v>
                </c:pt>
                <c:pt idx="286">
                  <c:v>223.93</c:v>
                </c:pt>
                <c:pt idx="287">
                  <c:v>224.12</c:v>
                </c:pt>
                <c:pt idx="288">
                  <c:v>224.01</c:v>
                </c:pt>
                <c:pt idx="289">
                  <c:v>225.21</c:v>
                </c:pt>
                <c:pt idx="290">
                  <c:v>219.45</c:v>
                </c:pt>
                <c:pt idx="291">
                  <c:v>220.5</c:v>
                </c:pt>
                <c:pt idx="292">
                  <c:v>220.25</c:v>
                </c:pt>
                <c:pt idx="293">
                  <c:v>217.73</c:v>
                </c:pt>
                <c:pt idx="294">
                  <c:v>217.92</c:v>
                </c:pt>
                <c:pt idx="295">
                  <c:v>216.71</c:v>
                </c:pt>
                <c:pt idx="296">
                  <c:v>218.11</c:v>
                </c:pt>
                <c:pt idx="297">
                  <c:v>217.57</c:v>
                </c:pt>
                <c:pt idx="298">
                  <c:v>214.38</c:v>
                </c:pt>
                <c:pt idx="299">
                  <c:v>209.18</c:v>
                </c:pt>
                <c:pt idx="300">
                  <c:v>204.61</c:v>
                </c:pt>
                <c:pt idx="301">
                  <c:v>202.74</c:v>
                </c:pt>
                <c:pt idx="302">
                  <c:v>203.03</c:v>
                </c:pt>
                <c:pt idx="303">
                  <c:v>202.72</c:v>
                </c:pt>
                <c:pt idx="304">
                  <c:v>199.75</c:v>
                </c:pt>
                <c:pt idx="305">
                  <c:v>195.58</c:v>
                </c:pt>
                <c:pt idx="306">
                  <c:v>200.44</c:v>
                </c:pt>
                <c:pt idx="307">
                  <c:v>204.81</c:v>
                </c:pt>
                <c:pt idx="308">
                  <c:v>204.47</c:v>
                </c:pt>
                <c:pt idx="309">
                  <c:v>205.11</c:v>
                </c:pt>
                <c:pt idx="310">
                  <c:v>201.71</c:v>
                </c:pt>
                <c:pt idx="311">
                  <c:v>200.95</c:v>
                </c:pt>
                <c:pt idx="312">
                  <c:v>201.12</c:v>
                </c:pt>
                <c:pt idx="313">
                  <c:v>201.89</c:v>
                </c:pt>
                <c:pt idx="314">
                  <c:v>205.7</c:v>
                </c:pt>
                <c:pt idx="315">
                  <c:v>203.18</c:v>
                </c:pt>
                <c:pt idx="316">
                  <c:v>203.59</c:v>
                </c:pt>
                <c:pt idx="317">
                  <c:v>201.17</c:v>
                </c:pt>
                <c:pt idx="318">
                  <c:v>205.09</c:v>
                </c:pt>
                <c:pt idx="319">
                  <c:v>208.71</c:v>
                </c:pt>
                <c:pt idx="320">
                  <c:v>206.91</c:v>
                </c:pt>
                <c:pt idx="321">
                  <c:v>205.16</c:v>
                </c:pt>
                <c:pt idx="322">
                  <c:v>203.33</c:v>
                </c:pt>
                <c:pt idx="323">
                  <c:v>200.13</c:v>
                </c:pt>
                <c:pt idx="324">
                  <c:v>203.47</c:v>
                </c:pt>
                <c:pt idx="325">
                  <c:v>208.31</c:v>
                </c:pt>
                <c:pt idx="326">
                  <c:v>206.63</c:v>
                </c:pt>
                <c:pt idx="327">
                  <c:v>204.21</c:v>
                </c:pt>
                <c:pt idx="328">
                  <c:v>209.22</c:v>
                </c:pt>
                <c:pt idx="329">
                  <c:v>209.54</c:v>
                </c:pt>
                <c:pt idx="330">
                  <c:v>209.45</c:v>
                </c:pt>
                <c:pt idx="331">
                  <c:v>204.32</c:v>
                </c:pt>
                <c:pt idx="332">
                  <c:v>205.66</c:v>
                </c:pt>
                <c:pt idx="333">
                  <c:v>208.25</c:v>
                </c:pt>
                <c:pt idx="334">
                  <c:v>208.77</c:v>
                </c:pt>
                <c:pt idx="335">
                  <c:v>207.18</c:v>
                </c:pt>
                <c:pt idx="336">
                  <c:v>205.05</c:v>
                </c:pt>
                <c:pt idx="337">
                  <c:v>206.34</c:v>
                </c:pt>
                <c:pt idx="338">
                  <c:v>208.63</c:v>
                </c:pt>
                <c:pt idx="339">
                  <c:v>210.99</c:v>
                </c:pt>
                <c:pt idx="340">
                  <c:v>211.82</c:v>
                </c:pt>
                <c:pt idx="341">
                  <c:v>209.99</c:v>
                </c:pt>
                <c:pt idx="342">
                  <c:v>211.55</c:v>
                </c:pt>
                <c:pt idx="343">
                  <c:v>208.02</c:v>
                </c:pt>
                <c:pt idx="344">
                  <c:v>209.94</c:v>
                </c:pt>
                <c:pt idx="345">
                  <c:v>211.91</c:v>
                </c:pt>
                <c:pt idx="346">
                  <c:v>212.03</c:v>
                </c:pt>
                <c:pt idx="347">
                  <c:v>218.9</c:v>
                </c:pt>
                <c:pt idx="348">
                  <c:v>215.58</c:v>
                </c:pt>
                <c:pt idx="349">
                  <c:v>214.34</c:v>
                </c:pt>
                <c:pt idx="350">
                  <c:v>217.46</c:v>
                </c:pt>
                <c:pt idx="351">
                  <c:v>215.48</c:v>
                </c:pt>
                <c:pt idx="352">
                  <c:v>211.3</c:v>
                </c:pt>
                <c:pt idx="353">
                  <c:v>210.62</c:v>
                </c:pt>
                <c:pt idx="354">
                  <c:v>207.93</c:v>
                </c:pt>
                <c:pt idx="355">
                  <c:v>205.29</c:v>
                </c:pt>
                <c:pt idx="356">
                  <c:v>204.15</c:v>
                </c:pt>
                <c:pt idx="357">
                  <c:v>204.73</c:v>
                </c:pt>
                <c:pt idx="358">
                  <c:v>207.98</c:v>
                </c:pt>
                <c:pt idx="359">
                  <c:v>206.16</c:v>
                </c:pt>
                <c:pt idx="360">
                  <c:v>204.42</c:v>
                </c:pt>
                <c:pt idx="361">
                  <c:v>207.57</c:v>
                </c:pt>
                <c:pt idx="362">
                  <c:v>209.59</c:v>
                </c:pt>
                <c:pt idx="363">
                  <c:v>207.78</c:v>
                </c:pt>
                <c:pt idx="364">
                  <c:v>204.65</c:v>
                </c:pt>
                <c:pt idx="365">
                  <c:v>204.77</c:v>
                </c:pt>
                <c:pt idx="366">
                  <c:v>200.87</c:v>
                </c:pt>
                <c:pt idx="367">
                  <c:v>198.99</c:v>
                </c:pt>
                <c:pt idx="368">
                  <c:v>202.89</c:v>
                </c:pt>
                <c:pt idx="369">
                  <c:v>194.45</c:v>
                </c:pt>
                <c:pt idx="370">
                  <c:v>190.21</c:v>
                </c:pt>
                <c:pt idx="371">
                  <c:v>193.09</c:v>
                </c:pt>
                <c:pt idx="372">
                  <c:v>195.02</c:v>
                </c:pt>
                <c:pt idx="373">
                  <c:v>187.77</c:v>
                </c:pt>
                <c:pt idx="374">
                  <c:v>185.65</c:v>
                </c:pt>
                <c:pt idx="375">
                  <c:v>179.47</c:v>
                </c:pt>
                <c:pt idx="376">
                  <c:v>177.87</c:v>
                </c:pt>
                <c:pt idx="377">
                  <c:v>176.34</c:v>
                </c:pt>
                <c:pt idx="378">
                  <c:v>178.71</c:v>
                </c:pt>
                <c:pt idx="379">
                  <c:v>183.24</c:v>
                </c:pt>
                <c:pt idx="380">
                  <c:v>183.29</c:v>
                </c:pt>
                <c:pt idx="381">
                  <c:v>188</c:v>
                </c:pt>
                <c:pt idx="382">
                  <c:v>182.18</c:v>
                </c:pt>
                <c:pt idx="383">
                  <c:v>179.18</c:v>
                </c:pt>
                <c:pt idx="384">
                  <c:v>177.66</c:v>
                </c:pt>
                <c:pt idx="385">
                  <c:v>179.35</c:v>
                </c:pt>
                <c:pt idx="386">
                  <c:v>181.27</c:v>
                </c:pt>
                <c:pt idx="387">
                  <c:v>183.9</c:v>
                </c:pt>
                <c:pt idx="388">
                  <c:v>185.13</c:v>
                </c:pt>
                <c:pt idx="389">
                  <c:v>188.89</c:v>
                </c:pt>
                <c:pt idx="390">
                  <c:v>187.72</c:v>
                </c:pt>
                <c:pt idx="391">
                  <c:v>186.88</c:v>
                </c:pt>
                <c:pt idx="392">
                  <c:v>188.73</c:v>
                </c:pt>
                <c:pt idx="393">
                  <c:v>185.96</c:v>
                </c:pt>
                <c:pt idx="394">
                  <c:v>185.94</c:v>
                </c:pt>
                <c:pt idx="395">
                  <c:v>188.94</c:v>
                </c:pt>
                <c:pt idx="396">
                  <c:v>185.37</c:v>
                </c:pt>
                <c:pt idx="397">
                  <c:v>180.81</c:v>
                </c:pt>
                <c:pt idx="398">
                  <c:v>177.16</c:v>
                </c:pt>
                <c:pt idx="399">
                  <c:v>166.02</c:v>
                </c:pt>
                <c:pt idx="400">
                  <c:v>163.41</c:v>
                </c:pt>
                <c:pt idx="401">
                  <c:v>167.42</c:v>
                </c:pt>
                <c:pt idx="402">
                  <c:v>161.29</c:v>
                </c:pt>
                <c:pt idx="403">
                  <c:v>162.99</c:v>
                </c:pt>
                <c:pt idx="404">
                  <c:v>163.19</c:v>
                </c:pt>
                <c:pt idx="405">
                  <c:v>163.62</c:v>
                </c:pt>
                <c:pt idx="406">
                  <c:v>166.54</c:v>
                </c:pt>
                <c:pt idx="407">
                  <c:v>170.58</c:v>
                </c:pt>
                <c:pt idx="408">
                  <c:v>170.34</c:v>
                </c:pt>
                <c:pt idx="409">
                  <c:v>168.75</c:v>
                </c:pt>
                <c:pt idx="410">
                  <c:v>167.25</c:v>
                </c:pt>
                <c:pt idx="411">
                  <c:v>166.42</c:v>
                </c:pt>
                <c:pt idx="412">
                  <c:v>169.37</c:v>
                </c:pt>
                <c:pt idx="413">
                  <c:v>169.16</c:v>
                </c:pt>
                <c:pt idx="414">
                  <c:v>167.21</c:v>
                </c:pt>
                <c:pt idx="415">
                  <c:v>168.2</c:v>
                </c:pt>
                <c:pt idx="416">
                  <c:v>167.17</c:v>
                </c:pt>
                <c:pt idx="417">
                  <c:v>165.66</c:v>
                </c:pt>
                <c:pt idx="418">
                  <c:v>166.97</c:v>
                </c:pt>
                <c:pt idx="419">
                  <c:v>165.91</c:v>
                </c:pt>
                <c:pt idx="420">
                  <c:v>164.27</c:v>
                </c:pt>
                <c:pt idx="421">
                  <c:v>166.36</c:v>
                </c:pt>
                <c:pt idx="422">
                  <c:v>166.1</c:v>
                </c:pt>
                <c:pt idx="423">
                  <c:v>170.45</c:v>
                </c:pt>
                <c:pt idx="424">
                  <c:v>171.45</c:v>
                </c:pt>
                <c:pt idx="425">
                  <c:v>171.26</c:v>
                </c:pt>
                <c:pt idx="426">
                  <c:v>170.82</c:v>
                </c:pt>
                <c:pt idx="427">
                  <c:v>172.18</c:v>
                </c:pt>
                <c:pt idx="428">
                  <c:v>171.12</c:v>
                </c:pt>
                <c:pt idx="429">
                  <c:v>173.21</c:v>
                </c:pt>
                <c:pt idx="430">
                  <c:v>176.63</c:v>
                </c:pt>
                <c:pt idx="431">
                  <c:v>177.87</c:v>
                </c:pt>
                <c:pt idx="432">
                  <c:v>177.02</c:v>
                </c:pt>
                <c:pt idx="433">
                  <c:v>174.75</c:v>
                </c:pt>
                <c:pt idx="434">
                  <c:v>174.88</c:v>
                </c:pt>
                <c:pt idx="435">
                  <c:v>173.84</c:v>
                </c:pt>
                <c:pt idx="436">
                  <c:v>173.93</c:v>
                </c:pt>
                <c:pt idx="437">
                  <c:v>176.11</c:v>
                </c:pt>
                <c:pt idx="438">
                  <c:v>175.74</c:v>
                </c:pt>
                <c:pt idx="439">
                  <c:v>178.65</c:v>
                </c:pt>
                <c:pt idx="440">
                  <c:v>180.36</c:v>
                </c:pt>
                <c:pt idx="441">
                  <c:v>183.38</c:v>
                </c:pt>
                <c:pt idx="442">
                  <c:v>184.12</c:v>
                </c:pt>
                <c:pt idx="443">
                  <c:v>184.47</c:v>
                </c:pt>
                <c:pt idx="444">
                  <c:v>181.83</c:v>
                </c:pt>
                <c:pt idx="445">
                  <c:v>181.94</c:v>
                </c:pt>
                <c:pt idx="446">
                  <c:v>178.73</c:v>
                </c:pt>
                <c:pt idx="447">
                  <c:v>174.01</c:v>
                </c:pt>
                <c:pt idx="448">
                  <c:v>173.04</c:v>
                </c:pt>
                <c:pt idx="449">
                  <c:v>173.26</c:v>
                </c:pt>
                <c:pt idx="450">
                  <c:v>175.68</c:v>
                </c:pt>
                <c:pt idx="451">
                  <c:v>170.63</c:v>
                </c:pt>
                <c:pt idx="452">
                  <c:v>169.28</c:v>
                </c:pt>
                <c:pt idx="453">
                  <c:v>167.17</c:v>
                </c:pt>
                <c:pt idx="454">
                  <c:v>165.22</c:v>
                </c:pt>
                <c:pt idx="455">
                  <c:v>164.17</c:v>
                </c:pt>
                <c:pt idx="456">
                  <c:v>163.12</c:v>
                </c:pt>
                <c:pt idx="457">
                  <c:v>162.63</c:v>
                </c:pt>
                <c:pt idx="458">
                  <c:v>165.78</c:v>
                </c:pt>
                <c:pt idx="459">
                  <c:v>165.25</c:v>
                </c:pt>
                <c:pt idx="460">
                  <c:v>168.1</c:v>
                </c:pt>
                <c:pt idx="461">
                  <c:v>170.49</c:v>
                </c:pt>
                <c:pt idx="462">
                  <c:v>163.33000000000001</c:v>
                </c:pt>
                <c:pt idx="463">
                  <c:v>161.96</c:v>
                </c:pt>
                <c:pt idx="464">
                  <c:v>160.01</c:v>
                </c:pt>
                <c:pt idx="465">
                  <c:v>161.33000000000001</c:v>
                </c:pt>
                <c:pt idx="466">
                  <c:v>162.30000000000001</c:v>
                </c:pt>
                <c:pt idx="467">
                  <c:v>158.85</c:v>
                </c:pt>
                <c:pt idx="468">
                  <c:v>155.44</c:v>
                </c:pt>
                <c:pt idx="469">
                  <c:v>151.30000000000001</c:v>
                </c:pt>
                <c:pt idx="470">
                  <c:v>147.96</c:v>
                </c:pt>
                <c:pt idx="471">
                  <c:v>141.9</c:v>
                </c:pt>
                <c:pt idx="472">
                  <c:v>140.25</c:v>
                </c:pt>
                <c:pt idx="473">
                  <c:v>144.83000000000001</c:v>
                </c:pt>
                <c:pt idx="474">
                  <c:v>138.4</c:v>
                </c:pt>
                <c:pt idx="475">
                  <c:v>140.68</c:v>
                </c:pt>
                <c:pt idx="476">
                  <c:v>142.51</c:v>
                </c:pt>
                <c:pt idx="477">
                  <c:v>147.21</c:v>
                </c:pt>
                <c:pt idx="478">
                  <c:v>143.41999999999999</c:v>
                </c:pt>
                <c:pt idx="479">
                  <c:v>141.28</c:v>
                </c:pt>
                <c:pt idx="480">
                  <c:v>138.12</c:v>
                </c:pt>
                <c:pt idx="481">
                  <c:v>138.29</c:v>
                </c:pt>
                <c:pt idx="482">
                  <c:v>140.43</c:v>
                </c:pt>
                <c:pt idx="483">
                  <c:v>140.26</c:v>
                </c:pt>
                <c:pt idx="484">
                  <c:v>144.33000000000001</c:v>
                </c:pt>
                <c:pt idx="485">
                  <c:v>141.63999999999999</c:v>
                </c:pt>
                <c:pt idx="486">
                  <c:v>146.41999999999999</c:v>
                </c:pt>
                <c:pt idx="487">
                  <c:v>148.11000000000001</c:v>
                </c:pt>
                <c:pt idx="488">
                  <c:v>144.94</c:v>
                </c:pt>
                <c:pt idx="489">
                  <c:v>144.03</c:v>
                </c:pt>
                <c:pt idx="490">
                  <c:v>147.38999999999999</c:v>
                </c:pt>
                <c:pt idx="491">
                  <c:v>148.16</c:v>
                </c:pt>
                <c:pt idx="492">
                  <c:v>153.54</c:v>
                </c:pt>
                <c:pt idx="493">
                  <c:v>153.34</c:v>
                </c:pt>
                <c:pt idx="494">
                  <c:v>154.35</c:v>
                </c:pt>
                <c:pt idx="495">
                  <c:v>157.31</c:v>
                </c:pt>
                <c:pt idx="496">
                  <c:v>157.34</c:v>
                </c:pt>
                <c:pt idx="497">
                  <c:v>158.11000000000001</c:v>
                </c:pt>
                <c:pt idx="498">
                  <c:v>152.72999999999999</c:v>
                </c:pt>
                <c:pt idx="499">
                  <c:v>152.63999999999999</c:v>
                </c:pt>
                <c:pt idx="500">
                  <c:v>154.38999999999999</c:v>
                </c:pt>
                <c:pt idx="501">
                  <c:v>154.41999999999999</c:v>
                </c:pt>
                <c:pt idx="502">
                  <c:v>153.86000000000001</c:v>
                </c:pt>
                <c:pt idx="503">
                  <c:v>150.9</c:v>
                </c:pt>
                <c:pt idx="504">
                  <c:v>161.27000000000001</c:v>
                </c:pt>
                <c:pt idx="505">
                  <c:v>161.51</c:v>
                </c:pt>
                <c:pt idx="506">
                  <c:v>158.43</c:v>
                </c:pt>
                <c:pt idx="507">
                  <c:v>159.72</c:v>
                </c:pt>
                <c:pt idx="508">
                  <c:v>157.12</c:v>
                </c:pt>
                <c:pt idx="509">
                  <c:v>156.82</c:v>
                </c:pt>
                <c:pt idx="510">
                  <c:v>159.07</c:v>
                </c:pt>
                <c:pt idx="511">
                  <c:v>158.54</c:v>
                </c:pt>
                <c:pt idx="512">
                  <c:v>160.49</c:v>
                </c:pt>
                <c:pt idx="513">
                  <c:v>159.63999999999999</c:v>
                </c:pt>
                <c:pt idx="514">
                  <c:v>160.79</c:v>
                </c:pt>
                <c:pt idx="515">
                  <c:v>157.38</c:v>
                </c:pt>
                <c:pt idx="516">
                  <c:v>160.09</c:v>
                </c:pt>
                <c:pt idx="517">
                  <c:v>162.97999999999999</c:v>
                </c:pt>
                <c:pt idx="518">
                  <c:v>162.47</c:v>
                </c:pt>
                <c:pt idx="519">
                  <c:v>162.4</c:v>
                </c:pt>
                <c:pt idx="520">
                  <c:v>158.71</c:v>
                </c:pt>
                <c:pt idx="521">
                  <c:v>157.1</c:v>
                </c:pt>
                <c:pt idx="522">
                  <c:v>157.01</c:v>
                </c:pt>
                <c:pt idx="523">
                  <c:v>157.93</c:v>
                </c:pt>
                <c:pt idx="524">
                  <c:v>157.58000000000001</c:v>
                </c:pt>
                <c:pt idx="525">
                  <c:v>158.41</c:v>
                </c:pt>
                <c:pt idx="526">
                  <c:v>159.72</c:v>
                </c:pt>
                <c:pt idx="527">
                  <c:v>159.16</c:v>
                </c:pt>
                <c:pt idx="528">
                  <c:v>156.94</c:v>
                </c:pt>
                <c:pt idx="529">
                  <c:v>153.54</c:v>
                </c:pt>
                <c:pt idx="530">
                  <c:v>151.63</c:v>
                </c:pt>
                <c:pt idx="531">
                  <c:v>151.58000000000001</c:v>
                </c:pt>
                <c:pt idx="532">
                  <c:v>151.59</c:v>
                </c:pt>
                <c:pt idx="533">
                  <c:v>150.72999999999999</c:v>
                </c:pt>
                <c:pt idx="534">
                  <c:v>152.6</c:v>
                </c:pt>
                <c:pt idx="535">
                  <c:v>152.34</c:v>
                </c:pt>
                <c:pt idx="536">
                  <c:v>149.09</c:v>
                </c:pt>
                <c:pt idx="537">
                  <c:v>152.02000000000001</c:v>
                </c:pt>
                <c:pt idx="538">
                  <c:v>151.47</c:v>
                </c:pt>
                <c:pt idx="539">
                  <c:v>151.32</c:v>
                </c:pt>
                <c:pt idx="540">
                  <c:v>154.37</c:v>
                </c:pt>
                <c:pt idx="541">
                  <c:v>150.52000000000001</c:v>
                </c:pt>
                <c:pt idx="542">
                  <c:v>154.16999999999999</c:v>
                </c:pt>
                <c:pt idx="543">
                  <c:v>153.96</c:v>
                </c:pt>
                <c:pt idx="544">
                  <c:v>153.9</c:v>
                </c:pt>
                <c:pt idx="545">
                  <c:v>159.31</c:v>
                </c:pt>
                <c:pt idx="546">
                  <c:v>162.55000000000001</c:v>
                </c:pt>
                <c:pt idx="547">
                  <c:v>162.24</c:v>
                </c:pt>
                <c:pt idx="548">
                  <c:v>163.27000000000001</c:v>
                </c:pt>
                <c:pt idx="549">
                  <c:v>160.94999999999999</c:v>
                </c:pt>
                <c:pt idx="550">
                  <c:v>159</c:v>
                </c:pt>
                <c:pt idx="551">
                  <c:v>160.58000000000001</c:v>
                </c:pt>
                <c:pt idx="552">
                  <c:v>161.6</c:v>
                </c:pt>
                <c:pt idx="553">
                  <c:v>161.12</c:v>
                </c:pt>
                <c:pt idx="554">
                  <c:v>162</c:v>
                </c:pt>
                <c:pt idx="555">
                  <c:v>163.71</c:v>
                </c:pt>
                <c:pt idx="556">
                  <c:v>165.59</c:v>
                </c:pt>
                <c:pt idx="557">
                  <c:v>163.63</c:v>
                </c:pt>
                <c:pt idx="558">
                  <c:v>167.9</c:v>
                </c:pt>
                <c:pt idx="559">
                  <c:v>168.36</c:v>
                </c:pt>
                <c:pt idx="560">
                  <c:v>172.02</c:v>
                </c:pt>
                <c:pt idx="561">
                  <c:v>169.84</c:v>
                </c:pt>
                <c:pt idx="562">
                  <c:v>167.3</c:v>
                </c:pt>
                <c:pt idx="563">
                  <c:v>167.04</c:v>
                </c:pt>
                <c:pt idx="564">
                  <c:v>164.68</c:v>
                </c:pt>
                <c:pt idx="565">
                  <c:v>162.86000000000001</c:v>
                </c:pt>
                <c:pt idx="566">
                  <c:v>163.19</c:v>
                </c:pt>
                <c:pt idx="567">
                  <c:v>164.97</c:v>
                </c:pt>
                <c:pt idx="568">
                  <c:v>164.05</c:v>
                </c:pt>
                <c:pt idx="569">
                  <c:v>164.75</c:v>
                </c:pt>
                <c:pt idx="570">
                  <c:v>163.71</c:v>
                </c:pt>
                <c:pt idx="571">
                  <c:v>163.03</c:v>
                </c:pt>
                <c:pt idx="572">
                  <c:v>158.71</c:v>
                </c:pt>
                <c:pt idx="573">
                  <c:v>158.24</c:v>
                </c:pt>
                <c:pt idx="574">
                  <c:v>159.58000000000001</c:v>
                </c:pt>
                <c:pt idx="575">
                  <c:v>157.26</c:v>
                </c:pt>
                <c:pt idx="576">
                  <c:v>157.65</c:v>
                </c:pt>
                <c:pt idx="577">
                  <c:v>156.4</c:v>
                </c:pt>
                <c:pt idx="578">
                  <c:v>154.96</c:v>
                </c:pt>
                <c:pt idx="579">
                  <c:v>155.62</c:v>
                </c:pt>
                <c:pt idx="580">
                  <c:v>157.19</c:v>
                </c:pt>
                <c:pt idx="581">
                  <c:v>155.07</c:v>
                </c:pt>
                <c:pt idx="582">
                  <c:v>152.13</c:v>
                </c:pt>
                <c:pt idx="583">
                  <c:v>152.84</c:v>
                </c:pt>
                <c:pt idx="584">
                  <c:v>148.77000000000001</c:v>
                </c:pt>
                <c:pt idx="585">
                  <c:v>143.65</c:v>
                </c:pt>
                <c:pt idx="586">
                  <c:v>143.18</c:v>
                </c:pt>
                <c:pt idx="587">
                  <c:v>144.54</c:v>
                </c:pt>
                <c:pt idx="588">
                  <c:v>143.72</c:v>
                </c:pt>
                <c:pt idx="589">
                  <c:v>142.41</c:v>
                </c:pt>
                <c:pt idx="590">
                  <c:v>138.03</c:v>
                </c:pt>
                <c:pt idx="591">
                  <c:v>139.77000000000001</c:v>
                </c:pt>
                <c:pt idx="592">
                  <c:v>140.97</c:v>
                </c:pt>
                <c:pt idx="593">
                  <c:v>134.36000000000001</c:v>
                </c:pt>
                <c:pt idx="594">
                  <c:v>132.37</c:v>
                </c:pt>
                <c:pt idx="595">
                  <c:v>135.51</c:v>
                </c:pt>
                <c:pt idx="596">
                  <c:v>136.4</c:v>
                </c:pt>
                <c:pt idx="597">
                  <c:v>136.68</c:v>
                </c:pt>
                <c:pt idx="598">
                  <c:v>139.63999999999999</c:v>
                </c:pt>
                <c:pt idx="599">
                  <c:v>140.22</c:v>
                </c:pt>
                <c:pt idx="600">
                  <c:v>144.06</c:v>
                </c:pt>
                <c:pt idx="601">
                  <c:v>142.66</c:v>
                </c:pt>
                <c:pt idx="602">
                  <c:v>140.75</c:v>
                </c:pt>
                <c:pt idx="603">
                  <c:v>139.80000000000001</c:v>
                </c:pt>
                <c:pt idx="604">
                  <c:v>141.19</c:v>
                </c:pt>
                <c:pt idx="605">
                  <c:v>141.19</c:v>
                </c:pt>
                <c:pt idx="606">
                  <c:v>141.6</c:v>
                </c:pt>
                <c:pt idx="607">
                  <c:v>139.72</c:v>
                </c:pt>
                <c:pt idx="608">
                  <c:v>140.22</c:v>
                </c:pt>
                <c:pt idx="609">
                  <c:v>138.61000000000001</c:v>
                </c:pt>
                <c:pt idx="610">
                  <c:v>141.46</c:v>
                </c:pt>
                <c:pt idx="611">
                  <c:v>140.04</c:v>
                </c:pt>
                <c:pt idx="612">
                  <c:v>141.28</c:v>
                </c:pt>
                <c:pt idx="613">
                  <c:v>139.43</c:v>
                </c:pt>
                <c:pt idx="614">
                  <c:v>139.11000000000001</c:v>
                </c:pt>
                <c:pt idx="615">
                  <c:v>138.30000000000001</c:v>
                </c:pt>
                <c:pt idx="616">
                  <c:v>135.99</c:v>
                </c:pt>
                <c:pt idx="617">
                  <c:v>134.16</c:v>
                </c:pt>
                <c:pt idx="618">
                  <c:v>137.04</c:v>
                </c:pt>
                <c:pt idx="619">
                  <c:v>139.19</c:v>
                </c:pt>
                <c:pt idx="620">
                  <c:v>138.69999999999999</c:v>
                </c:pt>
                <c:pt idx="621">
                  <c:v>135.97</c:v>
                </c:pt>
                <c:pt idx="622">
                  <c:v>136.5</c:v>
                </c:pt>
                <c:pt idx="623">
                  <c:v>136.63</c:v>
                </c:pt>
                <c:pt idx="624">
                  <c:v>138.6</c:v>
                </c:pt>
                <c:pt idx="625">
                  <c:v>137.51</c:v>
                </c:pt>
                <c:pt idx="626">
                  <c:v>136.56</c:v>
                </c:pt>
                <c:pt idx="627">
                  <c:v>137.44999999999999</c:v>
                </c:pt>
                <c:pt idx="628">
                  <c:v>136.08000000000001</c:v>
                </c:pt>
                <c:pt idx="629">
                  <c:v>135.49</c:v>
                </c:pt>
                <c:pt idx="630">
                  <c:v>136.04</c:v>
                </c:pt>
                <c:pt idx="631">
                  <c:v>133.02000000000001</c:v>
                </c:pt>
                <c:pt idx="632">
                  <c:v>136.12</c:v>
                </c:pt>
                <c:pt idx="633">
                  <c:v>136.9</c:v>
                </c:pt>
                <c:pt idx="634">
                  <c:v>136.16999999999999</c:v>
                </c:pt>
                <c:pt idx="635">
                  <c:v>137.09</c:v>
                </c:pt>
                <c:pt idx="636">
                  <c:v>137.38999999999999</c:v>
                </c:pt>
                <c:pt idx="637">
                  <c:v>133.54</c:v>
                </c:pt>
                <c:pt idx="638">
                  <c:v>132.05000000000001</c:v>
                </c:pt>
                <c:pt idx="639">
                  <c:v>133.75</c:v>
                </c:pt>
                <c:pt idx="640">
                  <c:v>134.56</c:v>
                </c:pt>
                <c:pt idx="641">
                  <c:v>134.86000000000001</c:v>
                </c:pt>
                <c:pt idx="642">
                  <c:v>134.65</c:v>
                </c:pt>
                <c:pt idx="643">
                  <c:v>140.15</c:v>
                </c:pt>
                <c:pt idx="644">
                  <c:v>137.94</c:v>
                </c:pt>
                <c:pt idx="645">
                  <c:v>142.16999999999999</c:v>
                </c:pt>
                <c:pt idx="646">
                  <c:v>146.18</c:v>
                </c:pt>
                <c:pt idx="647">
                  <c:v>144.94</c:v>
                </c:pt>
                <c:pt idx="648">
                  <c:v>143.83000000000001</c:v>
                </c:pt>
                <c:pt idx="649">
                  <c:v>143.16999999999999</c:v>
                </c:pt>
                <c:pt idx="650">
                  <c:v>143.41999999999999</c:v>
                </c:pt>
                <c:pt idx="651">
                  <c:v>142.74</c:v>
                </c:pt>
                <c:pt idx="652">
                  <c:v>143.05000000000001</c:v>
                </c:pt>
                <c:pt idx="653">
                  <c:v>143.34</c:v>
                </c:pt>
                <c:pt idx="654">
                  <c:v>140.97999999999999</c:v>
                </c:pt>
                <c:pt idx="655">
                  <c:v>139.41999999999999</c:v>
                </c:pt>
                <c:pt idx="656">
                  <c:v>136.84</c:v>
                </c:pt>
                <c:pt idx="657">
                  <c:v>133.78</c:v>
                </c:pt>
                <c:pt idx="658">
                  <c:v>137.99</c:v>
                </c:pt>
                <c:pt idx="659">
                  <c:v>140.69</c:v>
                </c:pt>
                <c:pt idx="660">
                  <c:v>139.86000000000001</c:v>
                </c:pt>
                <c:pt idx="661">
                  <c:v>142.41999999999999</c:v>
                </c:pt>
                <c:pt idx="662">
                  <c:v>142.19999999999999</c:v>
                </c:pt>
                <c:pt idx="663">
                  <c:v>144.72</c:v>
                </c:pt>
                <c:pt idx="664">
                  <c:v>143.47999999999999</c:v>
                </c:pt>
                <c:pt idx="665">
                  <c:v>142.12</c:v>
                </c:pt>
                <c:pt idx="666">
                  <c:v>143.29</c:v>
                </c:pt>
                <c:pt idx="667">
                  <c:v>145.05000000000001</c:v>
                </c:pt>
                <c:pt idx="668">
                  <c:v>148.47</c:v>
                </c:pt>
                <c:pt idx="669">
                  <c:v>148.86000000000001</c:v>
                </c:pt>
                <c:pt idx="670">
                  <c:v>149.65</c:v>
                </c:pt>
                <c:pt idx="671">
                  <c:v>147.94999999999999</c:v>
                </c:pt>
                <c:pt idx="672">
                  <c:v>148.02000000000001</c:v>
                </c:pt>
                <c:pt idx="673">
                  <c:v>149.68</c:v>
                </c:pt>
                <c:pt idx="674">
                  <c:v>152.32</c:v>
                </c:pt>
                <c:pt idx="675">
                  <c:v>151.16999999999999</c:v>
                </c:pt>
                <c:pt idx="676">
                  <c:v>150.59</c:v>
                </c:pt>
                <c:pt idx="677">
                  <c:v>151.94</c:v>
                </c:pt>
                <c:pt idx="678">
                  <c:v>150.62</c:v>
                </c:pt>
                <c:pt idx="679">
                  <c:v>152.28</c:v>
                </c:pt>
                <c:pt idx="680">
                  <c:v>149.94</c:v>
                </c:pt>
                <c:pt idx="681">
                  <c:v>151.74</c:v>
                </c:pt>
                <c:pt idx="682">
                  <c:v>152.97999999999999</c:v>
                </c:pt>
                <c:pt idx="683">
                  <c:v>152.13</c:v>
                </c:pt>
                <c:pt idx="684">
                  <c:v>151.13999999999999</c:v>
                </c:pt>
                <c:pt idx="685">
                  <c:v>149.94999999999999</c:v>
                </c:pt>
                <c:pt idx="686">
                  <c:v>149.44999999999999</c:v>
                </c:pt>
                <c:pt idx="687">
                  <c:v>152.26</c:v>
                </c:pt>
                <c:pt idx="688">
                  <c:v>151.06</c:v>
                </c:pt>
                <c:pt idx="689">
                  <c:v>149.78</c:v>
                </c:pt>
                <c:pt idx="690">
                  <c:v>148.83000000000001</c:v>
                </c:pt>
                <c:pt idx="691">
                  <c:v>148.74</c:v>
                </c:pt>
                <c:pt idx="692">
                  <c:v>146.80000000000001</c:v>
                </c:pt>
                <c:pt idx="693">
                  <c:v>144.21</c:v>
                </c:pt>
                <c:pt idx="694">
                  <c:v>142.22999999999999</c:v>
                </c:pt>
                <c:pt idx="695">
                  <c:v>140.24</c:v>
                </c:pt>
                <c:pt idx="696">
                  <c:v>140.47999999999999</c:v>
                </c:pt>
                <c:pt idx="697">
                  <c:v>138.76</c:v>
                </c:pt>
                <c:pt idx="698">
                  <c:v>138.80000000000001</c:v>
                </c:pt>
                <c:pt idx="699">
                  <c:v>141.46</c:v>
                </c:pt>
                <c:pt idx="700">
                  <c:v>140.56</c:v>
                </c:pt>
                <c:pt idx="701">
                  <c:v>140</c:v>
                </c:pt>
                <c:pt idx="702">
                  <c:v>143.12</c:v>
                </c:pt>
                <c:pt idx="703">
                  <c:v>145.28</c:v>
                </c:pt>
                <c:pt idx="704">
                  <c:v>145.81</c:v>
                </c:pt>
                <c:pt idx="705">
                  <c:v>145.19</c:v>
                </c:pt>
                <c:pt idx="706">
                  <c:v>145.68</c:v>
                </c:pt>
                <c:pt idx="707">
                  <c:v>143.4</c:v>
                </c:pt>
                <c:pt idx="708">
                  <c:v>144.19</c:v>
                </c:pt>
                <c:pt idx="709">
                  <c:v>143.97999999999999</c:v>
                </c:pt>
                <c:pt idx="710">
                  <c:v>144.12</c:v>
                </c:pt>
                <c:pt idx="711">
                  <c:v>144.03</c:v>
                </c:pt>
                <c:pt idx="712">
                  <c:v>143.93</c:v>
                </c:pt>
                <c:pt idx="713">
                  <c:v>141.46</c:v>
                </c:pt>
                <c:pt idx="714">
                  <c:v>144.69</c:v>
                </c:pt>
                <c:pt idx="715">
                  <c:v>144.28</c:v>
                </c:pt>
                <c:pt idx="716">
                  <c:v>142.34</c:v>
                </c:pt>
                <c:pt idx="717">
                  <c:v>142.33000000000001</c:v>
                </c:pt>
                <c:pt idx="718">
                  <c:v>141.61000000000001</c:v>
                </c:pt>
                <c:pt idx="719">
                  <c:v>136.88</c:v>
                </c:pt>
                <c:pt idx="720">
                  <c:v>135.82</c:v>
                </c:pt>
                <c:pt idx="721">
                  <c:v>135.99</c:v>
                </c:pt>
                <c:pt idx="722">
                  <c:v>133.13999999999999</c:v>
                </c:pt>
                <c:pt idx="723">
                  <c:v>132.85</c:v>
                </c:pt>
                <c:pt idx="724">
                  <c:v>134.41</c:v>
                </c:pt>
                <c:pt idx="725">
                  <c:v>133.99</c:v>
                </c:pt>
                <c:pt idx="726">
                  <c:v>131.22999999999999</c:v>
                </c:pt>
                <c:pt idx="727">
                  <c:v>127.44</c:v>
                </c:pt>
                <c:pt idx="728">
                  <c:v>129.04</c:v>
                </c:pt>
                <c:pt idx="729">
                  <c:v>129.13</c:v>
                </c:pt>
                <c:pt idx="730">
                  <c:v>128.66999999999999</c:v>
                </c:pt>
                <c:pt idx="731">
                  <c:v>130.35</c:v>
                </c:pt>
                <c:pt idx="732">
                  <c:v>131.4</c:v>
                </c:pt>
                <c:pt idx="733">
                  <c:v>133.02000000000001</c:v>
                </c:pt>
                <c:pt idx="734">
                  <c:v>130.79</c:v>
                </c:pt>
                <c:pt idx="735">
                  <c:v>129.13</c:v>
                </c:pt>
                <c:pt idx="736">
                  <c:v>131.81</c:v>
                </c:pt>
                <c:pt idx="737">
                  <c:v>133.35</c:v>
                </c:pt>
                <c:pt idx="738">
                  <c:v>130.4</c:v>
                </c:pt>
                <c:pt idx="739">
                  <c:v>127.4</c:v>
                </c:pt>
                <c:pt idx="740">
                  <c:v>126.23</c:v>
                </c:pt>
                <c:pt idx="741">
                  <c:v>124.69</c:v>
                </c:pt>
                <c:pt idx="742">
                  <c:v>126.49</c:v>
                </c:pt>
                <c:pt idx="743">
                  <c:v>123.5</c:v>
                </c:pt>
                <c:pt idx="744">
                  <c:v>125.25</c:v>
                </c:pt>
                <c:pt idx="745">
                  <c:v>121.93</c:v>
                </c:pt>
                <c:pt idx="746">
                  <c:v>123.51</c:v>
                </c:pt>
                <c:pt idx="747">
                  <c:v>125.44</c:v>
                </c:pt>
                <c:pt idx="748">
                  <c:v>126.26</c:v>
                </c:pt>
                <c:pt idx="749">
                  <c:v>131.41</c:v>
                </c:pt>
                <c:pt idx="750">
                  <c:v>135.51</c:v>
                </c:pt>
                <c:pt idx="751">
                  <c:v>133.44</c:v>
                </c:pt>
                <c:pt idx="752">
                  <c:v>131.58000000000001</c:v>
                </c:pt>
                <c:pt idx="753">
                  <c:v>130.31</c:v>
                </c:pt>
                <c:pt idx="754">
                  <c:v>127.32</c:v>
                </c:pt>
                <c:pt idx="755">
                  <c:v>128.82</c:v>
                </c:pt>
              </c:numCache>
            </c:numRef>
          </c:val>
          <c:smooth val="0"/>
          <c:extLst>
            <c:ext xmlns:c16="http://schemas.microsoft.com/office/drawing/2014/chart" uri="{C3380CC4-5D6E-409C-BE32-E72D297353CC}">
              <c16:uniqueId val="{00000000-B924-4EA0-9A54-CB086150C0CE}"/>
            </c:ext>
          </c:extLst>
        </c:ser>
        <c:dLbls>
          <c:dLblPos val="ctr"/>
          <c:showLegendKey val="0"/>
          <c:showVal val="1"/>
          <c:showCatName val="0"/>
          <c:showSerName val="0"/>
          <c:showPercent val="0"/>
          <c:showBubbleSize val="0"/>
        </c:dLbls>
        <c:smooth val="0"/>
        <c:axId val="684260624"/>
        <c:axId val="684262264"/>
      </c:lineChart>
      <c:dateAx>
        <c:axId val="684260624"/>
        <c:scaling>
          <c:orientation val="minMax"/>
        </c:scaling>
        <c:delete val="1"/>
        <c:axPos val="b"/>
        <c:numFmt formatCode="General" sourceLinked="1"/>
        <c:majorTickMark val="none"/>
        <c:minorTickMark val="none"/>
        <c:tickLblPos val="nextTo"/>
        <c:crossAx val="684262264"/>
        <c:crosses val="autoZero"/>
        <c:auto val="1"/>
        <c:lblOffset val="100"/>
        <c:baseTimeUnit val="days"/>
      </c:dateAx>
      <c:valAx>
        <c:axId val="684262264"/>
        <c:scaling>
          <c:orientation val="minMax"/>
        </c:scaling>
        <c:delete val="0"/>
        <c:axPos val="l"/>
        <c:numFmt formatCode="#,##0.0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68426062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noFill/>
      <a:round/>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Sheet1!$A$2:$A$13</cx:f>
        <cx:lvl ptCount="12">
          <cx:pt idx="0">Texas</cx:pt>
          <cx:pt idx="1">Arizona</cx:pt>
          <cx:pt idx="2">Georgia</cx:pt>
          <cx:pt idx="3">Tennessee</cx:pt>
          <cx:pt idx="4">Florida</cx:pt>
          <cx:pt idx="5">Nevada</cx:pt>
          <cx:pt idx="6">North Carolina</cx:pt>
        </cx:lvl>
      </cx:strDim>
      <cx:numDim type="colorVal">
        <cx:f>Sheet1!$B$2:$B$13</cx:f>
        <cx:lvl ptCount="12" formatCode="General">
          <cx:pt idx="0">3000</cx:pt>
          <cx:pt idx="1">3000</cx:pt>
          <cx:pt idx="2">3000</cx:pt>
          <cx:pt idx="3">3000</cx:pt>
          <cx:pt idx="4">3000</cx:pt>
          <cx:pt idx="5">3000</cx:pt>
          <cx:pt idx="6">3000</cx:pt>
        </cx:lvl>
      </cx:numDim>
    </cx:data>
  </cx:chartData>
  <cx:chart>
    <cx:plotArea>
      <cx:plotAreaRegion>
        <cx:series layoutId="regionMap" uniqueId="{2B22BF7E-F5F7-4F45-9AE1-24D78D39AD9B}">
          <cx:tx>
            <cx:txData>
              <cx:f>Sheet1!$B$1</cx:f>
              <cx:v>Series1</cx:v>
            </cx:txData>
          </cx:tx>
          <cx:dataId val="0"/>
          <cx:layoutPr>
            <cx:geography cultureLanguage="en-US" cultureRegion="US" attribution="Powered by Bing">
              <cx:geoCache provider="{E9337A44-BEBE-4D9F-B70C-5C5E7DAFC167}">
                <cx:binary>1HvZcty2tuivuPx86WAiCeza2VUH4NDNbrUGy5ajF5YsyZwJztPX30XKsWTF28m5lapbkWwYA0Eu
YM2D/30//es+f7xr3kxFXrb/up9+fRt3XfWvX35p7+PH4q59VyT3jW71l+7dvS5+0V++JPePvzw0
d2NSRr8QhNkv9/Fd0z1Ob//zb3hb9KiP+v6uS3R52T8289Vj2+dd+5O1Hy69uXsoktJJ2q5J7jv8
69vT43D3cPf2zWPZJd18PVePv7797pm3b355/aY/fPVNDoB1/QPspeIdNS3GBKZo+8Fv3+S6jL4u
Gxhb7yzTpMI08e/rT98+3RWw/8/h2aC5e3hoHtsWjrP9+7zvO9hh+uPbN/e6L7v1xiK4vF/ffiiT
7vHhzfvurnts375JWq2eHlB6PcCH99uJf/n+zv/z71cTcAevZl6g5fWF/dnSH7DiP+omSv5OtJB3
FuOEc5uI7cf+Hi2cvmOMUZsh/oQ2+jtJPKHlLwD0Y7x82/gKMf7//CMRc/1YlkB3j4+/X8/fwDHm
O84AK8ziT6jhr1BjvaOMEpMh8YQa8vu3n1Dzl0D6MXJebH2FnuvTPxI9Xq6b5O8UZ4S/M1dRRah4
hRXyjnGbMsK/yrlXDPMXIPkxTr5tfIUR7/iPxMj/NMmiy79TkrF3RFBCOGY/lGQY43eWxUxhmdaP
FMxfAOjHiPm28RVi/uf2H4GYn2vBl+r/uyf/9+rfRNS0kWl9zy9CvEOYgxjj6Altr/jllVb+7/D8
GDmvtn93hH+Gyj/ppovfqLtG58nfyi/mO7C2qG3Srxf/SvPb4h3mJsM2/qr5X6mXvw7XjzHzev8r
7jmpfwT3fAc1mM3Xj9Nd+7se/htsAPyOWZQzjp+MYvTKagbuoZQSYf9uvoGN8NJq/lNwfoybr9u+
Oxyc7dP/H5T8d3v6m8Ph3HV37uapvDCpf766nRy8p1dbf+bwPN3s/gG8GUsQ4JdvHtD6ku8u/mbW
4E9Fv2PjxZ7Hu7b79a2BEXuHTIo5MxG8CyyGt2/Gx6cl0FTItAWnVHCwvc23b8pVCPz6lpkgLCmz
BPwi8KUI8GSr+20JvQP5aQOZrIaHzTH55h9e6HyOdPntOr6O35R9caGTsmt/fQtkUz09tUJqgrFv
gqcJzhgmYP4LCiBU93dXcCJ4GP8fvJA2a0Q9nmj9Ke6UbfayNrxykia7QIV8cTM/+BgFFfDTr63r
L75WRxRV0whfC8/mL9MgrY96cnQuw0uzlE0pzRudHaIz6uvrpJLsU+Umj5Gf7JlX9LLRiqv4OH7E
x8mx90hOWo2xXAy3064+/BxUbCGw774HFnMOeCOUMmEC8tD3wM64xbmZM3xmtyiSVb20Qbk2YqRT
Lplht8EQxbaqOsIlLa/tdpn2RjEPuexrswk6PDbB1ksj0cloapgTExM7NSsXSfokO2zNgJfUCxm6
ratyCoxonAKKl1EVaaXVNleGoyWxNVdOnQrhZEmbqLCuB2/hRSU7oy6DreFtHGayXIbUZZhFkua8
DBKk41wmZqaDbTy0nQ62YYWGi5LXo5dFRAeWmSxK4ypRtDHq4LnpI90Es51aXrToU9bndbA1RRNi
vzKj3fNUg5Mql4uNMwmXJBw8NVWAclQFvV3lcC99lbndZEcyWT9p2iPZlXWl7CXUATOGLJfW1m4T
qCyrYGFDouIcz2rkTejTYfA0q+qADawKjDT+2hNrbxu2zVF3mOzNdq6DgsZtLtvYroOtqdcenozK
GVEySWGgJgiRaAK7ZH3+YqxZLtx8Cm/qvN51NSL+gLMuKJquCxYTnaGkC71tqlsMlEtOqOWGPPmN
o7oNoi77woe0dq11tE1tzfMQ1+knc0xzadSdlttxzfUS0i6aFrWdfMMKb6Kj3RaJv513O+XWCwda
AhGul4B4VnnFkr5/PiHJjPrrse1ubHKJaP9QxUbrhnXbBHyqgEifD7/1MMvzHbCDOxt9GxiItsHW
S2o9+ANb9nyqI0/Y5sdtLU/CaN9WVA6kZYC11lBT0tdBXObwaUG6yOO9/vg0pJyWweyTlRJMk1fB
1tuog5iI7EbWqm1+mwKMc9UJoPlIZHBFNZl0UId5vygcd4bk7WCrKTLsoBO1KZnZZY4R10khaT+N
wTja0I3KuXaTpYzkJJIpSHAzBSOzVabLZWevMGxkO6wwP/WW/rIww857Qa9VagPVbkC1WnOvDZuz
DRq9gfStMZNKB6KyAMx1LmwpcJxezN0wA9GEHERFoYFytuHWTOvC8/DVIzmrMtm0s+EwDfhCM1Bo
VGRdLs2ysX1LaB8LIN1tdVl7r4ZlOBMpRJs4LB1Mp81pKSkNCXa3LRZebLfK+0/Pr996XZuUuz4f
np5q4ha4bppT1TC4r7EFzp/XZuttc3M1gfgum4SpbIhDuU0uuI+kWYvcfVp+8WSHHo3BKPbpKrOy
eSmDrTextGo+bd05KvHibt2tqbl5F4PKcNvI4Jl8Xth218+Tz2/bnjF4gWVe8tTZbj77dv0WGzGw
Hbnq43rc16BnFwU8UgWRuYooXNRiNy5MjtvR7AjoYzvv1hA6ZL6I0OFplVkLyLt4XqXe03pMuJs0
9EbPU+laKT2Gs+2a60uent2e2sYak69v3obbwjb39LoXe0qjL/x5zA+4IbZPkeFN6cpkP3rN8xwZ
KV8UaboHu9WVQ0Wn4pVM+WiOLs7tu22UrlNopdc8Xixnmxsx0PDWe25ezxUTKBXLpIlvwG0UhhHB
Daz7yiX+Mq+H/+Hebdvzit72PY+33utPrRA+z0U9i5GAa5jJoBpEvmiQZu6wKlwaY9eeqnxnlOgT
CxPTTVettzXjqvXqZZR2bpCp8geCgESjTmaLNma1JM0gUTe3zsiaHgQFNNxEVzQtGo+ueui5Qfbw
crgtlEn92CZV5c7rd1ClU1W26aTSVc2VY1cgtxtJL2nUN06/Ev/WkFVBPw9fzK1ar8nqCeRVvpK9
HSK3ZHDJ5dhip59rolpz2aVjXXhEsD3Pe+1lTXcL1zHswSg9plac+4llT7IETYuKAWT68J6dsyzL
nr45ALcH9sZBNdOZM2WFLfkktJuYcD1Nk7mzWdu7Mkk6l3R1JMNVXw5FO4LJtnZjDIJpa8CqNWVs
RYvDZ+1N4xzuquF+uxuTGqXe6bJa9i055euNbLdkrfous9vzVCypH7Wt6Raj+aVPaX3ok1zOE7+r
2zjyRjvaiaydd6J0eqyjgEUf4hSYt10trGk1T4TdF0gNVXiV6KH2trmVHChh+a6ZUgC4NRaxH8lx
xKBC2tpuHTCWLi0sPnZg685zlAXJeNANzoKhLSzfjOJ9bUYkwAbFT83C+nNhWtlu6OYdyzQ/VbyU
MVmu6yIcvHQugmGsrhIMBo7GduOYxiibsLQvU9ZUinQTdpBpFsHWrMI2EMX0dfi0kMyDyvIyU3Ea
FsHWPFHA1k2sDIzgbBxUEnegZG3jZMc2UahdGqeJ2XEMR6Fskg2yW9r9wMfovJtMLM0xA3uZgN1q
9fa5teSTXyFzAIVa4C/thAqXrKba1uBNS4vk67CkA/YXi/ulZg/VhC/KnA5Bxo0h2Hp1WkwSx3Hj
xBqYsIAT5MBVgJkXY4FA2KVP05mI26c1DqJjMJvcf57aNj69o+gHMMlaqxOyjbSp2lUJ1WuT55wu
auv2LO1lmAydY7MeLCI0igI2rU9VGVgb20Nbb1o119Z7Xtiee9qyTMlDnpLW3ebsuhY+b5hnVSVI
grVBS8ng+tYuEDuWeCkLB2y2LtjmbIPBctUchxmb+21qW4yjsQ+2njaySA01gJf3TSRtjtxmDPm+
7M2LKbSYB5QCKp3E+7wJR3+0ogypp7mueYx41LikAst8mzILbDiIilR2667nhefheF6Bhcskzt1h
ksPocsMBAsCztH3Mh1PuR6nX0QMWrsnd8aZ85Lg4G51Qg3b0W8e6zk/gdlwZbihILJ2huJoLGU9+
l7rQIeGhtsA8d+bmqh2PTXJavaTUSaNgHj725G4YtIwzP+duRtw4+8jSc5z6RasK46DTczv1OwI8
49v4wIdWGiHw97FMT/V07KfjkspQOEV46Iw9F8oyLyMkR+FEyT4r9tmsVTN5IZzLs4LyyBVbQGOr
7n6JnNotvtSxajq/j5Vt3DZamnD+9529N9NUofl8bmSR3ZBG0lRGTvzBimT9GRuSpWog133sxoVk
WPVySiUlqjM8K5OM+jbyrGLfV26UeFkna3bOC5l+aNKLFn3Oz5BXyaMZVHdcpqdJVsCiKlFLQANT
pbfzsXXSL7NH71otB1c7xoUJkqiU063wJ8X35AFflu64zz4hp/pYO9yZdmKR8TndDbtOljK5sF3L
kNYFOJ2NRHvuFGd4V31OwLHsTjiSXeVmTOaJFxr7dpTWkQ5O1XsYLOzO0YYMnc+tpOfl3vSWa2tR
zM0ujVP0OD/EH6sv+lgfJ/D8VeMWn0pTWuBmf+hKxzyR6/YTcx673XLY97fhHqBK/MVPFAAMdkig
LwI67Wy/muXMXBS5WoPKchZTUr8sXKv+1KW7JL4aI5fUTtN4Vr0LPYG5zAu/mBopbGW9X3KHdQo9
MH0Zx2r+LdKegVyLOsvsTIUUjRr73QRubaomW6YQHJiCLpJpqxbsVriTqLltDkf7UsCxyr2lyvfW
FPDBFW6yx6NjhDd02enIX2YXJOQCxPGh95bwGO/EJXHKs8ibbjuh2gdyjFJZtE4mdlHiVJMzv88z
xxJeN+064Y7hPm2ltq6YluUdrQ5o8X7rCicll2W2q/Rp9NB9ZbjV4roxaNL1b1LK+bP9YJdAiUqb
h8yWNjqEYAqPip5jIbOP9awO5vVgSOOAvcrRN+ZDDHqwTVULlHQMryLk2L8NpZpDld+KzjHousgO
jO2G2/laVEfCdugIttdlfosfUacgMoE+i1LlwXCHgCrrI9YKrB+/zJxKiWifg41iqXhSM5cJBk9Z
kpvS7wYnqqT90fo8XBYX/FO9n84KJKtRVuUR2N8Y9jx0xveDJYtQ9g+Rah4FsA92S0uF2pkwJLk8
xnyAEF6fj+D0K3xGA3pZzmqaXFHsxlQmj+hsvDPu8wvmagVO2jX5FD1k13Uiaw3BAmXJToWn7Ka+
0Qd0CdGByIvd/mBW0jrpXZ7I5VO+Z6eP85X53tjRi/SxrKUdKVpL00FfoA7CCiZPu3UnQdA0Hzp/
uCQ7dkD7LJHNRxI7wx14x9m+dSbJXOMT0sr2QqeTvdNfJ6MEWYgVeAXpLIfcqbHTxSoDkQ0OxOVw
W+ybRhIBR5QskegYOSBTbxgOMhm916EDR9duIYdBEvB+R0kk8fiuvBS/ZY74OLmWs+yy28I3XaNS
CT+nrUStKxQITScKylaNjsVUKPUR2C31IEi3izIIkgEdHrtEYgmhr6AYJXA+Sf3llMaKT57pT5f3
4S46gue5K3cLMGqeKX7R7dB+BMnTeEzIBSQgVUhI4tTv4U733WGSWeYQrUqg1GiXwBkGJ0dOCmx9
IT7VSM2T1JGqqRdakgLlE1mf7F1oKg506IcQ3vEjN1O1n/42nunmA/heqaEieKPwzBs8KA20Vyh6
5E60r4+hVwTWRwYw+4bEuylT53ah7ENdedWOgk5RDLS6iiAcGao+dR/n8+wo7thF9iE6i/z4c4mV
eZryYlTP6o+XNQR8NhVJQWwUQ97tIHgUIGY3fkzDE+Zg2HSrpxJq8NfZ6hv140hl0lq9mxD+yUo5
2NY7Zo1E0qrqHQoRsGBYt2y9aHVItt5o0q7cPXUFSpCb5sMhY23qJ+sz+ebd/PfdNKvBimkJOCWd
mTq6t1TW6fbA7S+xLm1wqGLRB/23Jm1QHxg0H4Ktty20bXVraGRBHInXUowNC6Jl8eIsI/sWIld8
NLBaFgaScutOCGKPrVnVjm2xlrltDAbnWIdaRXyYgriy80IWZZyC3IUYRLqNQxuWbJo7c5bNO6sR
YE6jsoBQKIdQ0dbr4tUpeB43EHT0kxgdrIHlTpU3syS4KAO0NnYCtu3We57DYhj9oukvQjQ4CQbi
t2ZAMLgn4OnWJa6cOcWGH0bnEWR9A27nYINYJd6ncdP6/WpLb02Xmad6NrA3rtGF5yZaXcHnIRlj
uKUBnW9Rtmn12rZeU3EQuc+TzGoTaSdN7JLVC7RIrxBb2G4LB3drSHDrWWs0OMkI2hWxUNjC73NE
Q48LCE1V05CpuQI1EfZVfWgQxh6jII/7j1M9j/sxGT3DnIT/HEBCvOzVnFkrMyZ9IZO6W4JigUgM
7RqQ6qIGd52A5dkPiTOZPX0aojEZFAdTSQzhtR21KIiLaQSbbcHXVcNrD3IAUwB5gCkQeKI+Tfgu
WlaMN8y8KeaKu0M+6UWla7yOZXSQdsgrh+sBPJUVc8/N89wwoHlPwmM54iLAQ2ODqdTr2ZlZfY3a
9mSD10Pt0NoNayBuC9GtWRBlDgNIvTWczNo1ivQUPH4OJhMy3JqmDYLV0EwaeqJBOXcH8H1jkKz1
57nLBPAIJE083dKboeUYPDdoUJHKEo292zYWdrew6obgrXke8k4ncEhwDBHY5Bt68eraG7ONwTGq
hamqeeRynjmEd+o16PzUrDFks2pgMoqwU4gYTJK6C5WxYIjQbRHWlKRN8DTmaCrcLTnxNf31NZHy
lMW519XcJFH8tdDv2/A/17qAP1sJ2vPkWif4PDr7vcDwp09BfdZaRtS+fmiF5tu7AJiv0K0JsO8G
f8jG/Zd821O94n9Z/IvJOJMzyIv+JBl318aQuup0+V0+7mnb7/k4qD+E2kTTskwO+S6TQXrv93wc
Ye9salEoLSEvcnFQuIAI1PpgTqw1Sw45tN9zcZBaZyaG7DomNoOcCv7f5OLw9+kxxqFkhWOBGbIw
sghma7LuRXps0UvdG21vXWbITJyyyeZ920X7LkKjivqidAtqKijyA0Nf4My3Rn0oEdKeXjmvrYDB
RSN2ad6jMyPPvry4ya809zJTSKA+40U+bINOCCxshKBSDS4IUpIvoYvMieV23DGImWhZL5qd5cKo
ZccNc5/k+FKz8MrE2oJ4U9o7szZyZVsY7/qoZcoueOJmEW5lCKZHzM30GC69kGi2Y0nxGJ/3YeIV
RSn1Yg2K6vDzn4D/fabzK/hrqRbnlm0B/r8Hv4GczNhozC4XMVW/NYsGT3NJa5XZVaWqhREnwrG4
iJHs6fjbHKHuAtJIh8Ky4yONWXIkUR7UHS9Pts4VNyCRxTv8QVTNPtEGd8oiLLyE1M1+GNorYpP2
EEZY6rBIHVoh+1gY+eWfnGm98ufs7XommzCCERdQOUjx6zMRmkSlSHN6CYRe+k2LbAXyN/LQGO17
UvbSjrF5zIA+vCrjfBfq2ghMHM/HiUGIIeH1Bz7N9cEuqCfSGp8YvyZJ0iuSZuzKysFzhnA8ZFCi
7kmEPdXM/oCaVqb5I+jAO2vdCXAVfUVNZVWGfVQJcokrrpBlpFcz9seibsAlTELQ+0N8KJc6lsmc
nUEgaLqtWgU2jGeaxrBLE4hagBJJ/ClaJo/2upBjNib+GA+qhiMcjJScGUOUqNluwcptyvicGxRS
xSM6xEy0jm1DdiNNMgGGoJ17QBu9tFi8SAq5PCDJdnK7ggi3TpZUZWMce7WlIdw9Vnpn03Mz0kjl
TEe7JVziyyoMnTrsKtkbAu/rOTolsSXOtiZLHXuwwMy34h6CuuhsnupkbyZG5+GilSxEkG2I9Hwr
tNVJPiY3g6H7s9RguQuiYvJbFFLJU5x6DHXD+dYbs+EiS7vMRdRor6BcTp9QHe41hrhVTRwxQvps
tDLw8lkDoZIMuwZmnZzTBpy5FjXOaFQPszWJfZG0n0gZjXKZOLuMcbUzi7bZ/T+QqgUlDqYFKW5E
2atsOh85aH47JpcG6Y+D3YPrz5vGD8FaB5UPAWybnEbK+F7P7Yc4MambFXwBhwNcjoWE+CzWld8L
Q+GsWY55jy9Hw4myZpJUzIuzNOJMmKW4+ROwV7Bec5glQDBDOA4gF6+khmUgO53MBl8upqFAcMdX
UWadUzsrHGIV3KtLkgLiIyG5zcszBqHNxMjet+IOinnJwULJFw4B6t0I9R/7thDSYHHh0rpcnDnu
E//n4ELtxx/AhUoTym0oZwCx8FpGD0KUWZ1N+LIIeX2B5lbxObtNxvwY97pXHNwjJy15wEt2hABm
dsRR+iHJeLf/OSBrUcvre6OQc7QZRwCNubH/C1UGWa8OVBNgqS+H93WG2bG5yePUOuqEyhgZ/cdi
+A1ysex9smRnEZkEJOEIOd+uEtIDXgIJr1NTdgyiP72KlIFSsq/qsoK8KDadJDWOgJxRxmW5G6bC
3pNkuBoypk9lPQdjiIUXhbhVjV2jo2GUM1QH5J/SLDagHu2bhfEDSUZ+QCKUIgYmBYYauz9IMsIM
LWoUost2Su5ZP6aHkSMCHja1nTw1r+Y2+2JpfmkYdepW4ZTfphY9w/NguSShi1elXe/PfGn2EMo/
EMgVQWzKmPxFlIZTG5DB/jnA1h8VuW2DcQE6A35tk6y4e4EbXKUoMehALpu24w4pksEHIe0vdn9f
zZ19DsWCVNZ5Esvezky3t5E+FE3K9i0lTp+ZFxgcCkgRT/cmH/gRg7PpmFzfMgQ+PijgEUQozfYx
Sc/HhRqSWAPdc3ZjdRHfoZg2QabjSpbwhV3f0iAWFnOKqo29BkHkZsB2ceyLuTiiCpg70gebTFcZ
IvzYZYNwedrgnTHZhcwGr1wgkl3zYQ9agZ+n09I5qCQXZRuZX4y0V2VS4UujtwOa9lGgU/wei4h+
KCajkZhoFpgQjKVlMZ2FFjWCIm5cth6KNHTwfn7vbJUVr2SJTYAloOAKCjJBoHx/72kehT2fBb4U
osoXKHoZruZ40YfFbpqdZVjTlQFOsErAvjjO89LLeJz3lp6FCynzZlcgFnp9y4KFY5+VxqnvKXhR
bKpViqJhn4JfFHE9H6roQz+0KqRceFXdV45F+0SGHdiG5czeRyUEMoc0Pc+M0rrm3FB5SQ4L7ckZ
1xWS9RyOZyRj3jJCMJPr/P1QL1SJDqqw4r70JtCDckztyi3MTOyJbvo/oVC8Vp29vinKGGeIwX39
ofTKmEg/WCHDl1NV3rA6SiTv409ZDoTY1pg53DJmGY5NrcKkKA7m3Mm4h0BYxqbqMIc5BLmr+ayk
9uz8HIfWa7PFgno9xsFxQBiK56A44HscFl1EUpTN7eVYUX1Ix6y9gP89UEqRfQhrgx8b2zhOBiul
USWNg6289MMa4uDcqgy1kW9Fs2Fnzo0pO2LQs4ZDEDnpB3ScQ3G2EA0Rs9DKfQYxLY91GSQa2iVz
uj6e3RLifz1DVyO9GS3Qi8a4YLlUFttldndnlPm4x6EsjSXxi9ysXc3KSE155c/1ImRcg8fKWqTM
diV+apUKDRVVRVI5Uxj3sktE7GFbN6pkmaniSFQeLdDkjCZ1KMbzKcvu0mzuj0kP1SMgmsH20GCr
k49ZAUGNgdNGDlVVeCIaGxULFqk2IlDao9ni0kRHjl0m+Z/JX8G+r9RjHNwlSHXZFKQaYbbFXwm0
hWfCrpM5ujSyUZ8KYxk8ZuS2Mksoz9PG0TTrhyScOs9eZr7v0iQQtIyvoXKr2Y9mlqvY/synJjuZ
c8+YJPayOODug9mI0d62Gx6rsZs7z4ygTim1PudtBL5NOoTuLEZ00m3i9V2WXSD8W9fV+CoLpw/d
YKGzXl+kIjtHgxFBDKxDfpw290lv+YWc0CS5aUJOZCDW+6IzggyKAyCOSwZI9LvTkEweB5aGSGvS
n5UzHGmAyHKo00j1UIHigMZJD32aRpDUu7KTPHeWGKykwRI7i0cQwoF8bhVD7YDF59JHTYWcYmJQ
NlDa45Fa2XR86pH+cipYYIcThbRWGB5x0room7JzE6puCp3VkhpQdGTnpVNBIQtED1HpVnzCEIwm
V2IZw8tZUas/ltYIofM6vcGj3exSyPNPDRQTLFnIZLPMQGn50vpxWci8tpPzKOZC1mk1+Hba2j68
lsqoTVunG0NwxnpWy8ycUgfpuZYTGL2nOv80Nxjveyh1VQtUZbrWRIKhNuajqHDhNpC9FWAPQPp0
uoTAVaRw2qenmetUTqGwXDoV90sPMcyyieGcJjtNrD8aEGQ6z1XRR805TeJaoQxqLAYKQeHJtkpZ
ICgwnTBXhTk8pgQKcdDYniC0jHyLh5PT9LOyFqO/ZCNQD6A396vCfsCpEfpNPBtny1grE+Kap3QQ
9GLo0tv2//J1Zk2uwtqS/kWKYBa8MhjP5Zr29ELUngBJCIEYJH59p71PdJ240bdfHLbLdpVtkNbK
/HKVv33IWDY7xkX0bKVNsWe4MOyjWzBW30bWbLe2X3cB4ON8dHFAsIDsiNL9fuCR2IW9/h0IzzsY
CqN0XGLnbZz6Q6+d7YSvrc1IDI06se7eD/06E5pfW2LAVamtSx0u1EnY6KZwquyNSqYLeMixr8pE
Nue4n2EEA3ZLRs0u0M7Bqka+3jUVtLzKtvoqxiTfunk8xG7cnbzEFpAzhkxU2G+TIbHpptfuUil9
mVvqpE4Qm2cKdT1XHskWibcVIYn6FAtvSLu4Ubu2beSuD3tYTms3pqudo3yp0IXV24E6Lr+u4m8v
cIIZQZO96wzXBH9zhZKrr7W5WL+q8zkMorz1oCymAypwLMhjDIMsOk3RMpfrmMAL5+P41Gy1fgrE
NqUb4JCCNY44jULBsgwDlTdBhEPNMV8CPOtMHEdCGiDxV0Pw/pdtrzRIXr4Fzk1Mk3Ozm11v7BBK
KI7thA9JMyXTufO9tEuUzHjT1le1VMepD8Jz10Qfc8XbIqTbvp1M9OSKZShFDw+4CkkICX5TWUR9
VXhj8ss2QSYW/4epYlIuTFdrbiYQERRHfmEMh6+81Vhrm+kPnZi5JvcLqhyZDjFEIfR29FSBcSkX
I37brq5v27ROB+JVtz6GWjlswRtg8ss4VvWljXw3nZNx2bvN+KUbuPca1d6pIXa7tg48+jBKF9/j
KcFh+7Pdtt+2IrTst46n7pQs5025II+xUrogLU8qfG8UeiG+NTzrAjcNko3eHrVMzdonbUh7reh4
rZuq2deqq8qawxqFlIH6bhmCDAtBVDR6gWZPaTZEFb3NvfkxRNNRDKZ5DXhQVGGki8XfvoWNHXbd
QJPUnQeeDwvt39bgCfRmiuXLfcI61eSzYnvthQAvGl3tKF9yP+q6bIoiPG0x475ZyJ9mcv3DPFY3
v++bVCdz8O663jtpNlOYGG6gbcGrpP+Q6M+r6N6BSJfGg0T+iZV+UqbeQ+B+/CRmyRNW5Q0mHIyo
UMabU2x39ubfbaeJgLPoOPs0A4Y7UtoYcvGopjtD8LE+qPLPizE5Oq0KD/8gZoNVtqCx9/sBNgc+
6qKIVlPOQ2qP7f2C1ps9VoqmJPKW/eC2YGmgbjfrspSeB0u6JrYAyP7x7+6mPTeRx0s1PdgXXHQ+
sJe57TwoJnCuxAAvqAuqnKKl37fGWNBbd4r4cdG4QIkfzPAkml9Rt8L+F/BUq0Tbwusdu1uleK8B
dY3RPJbxwlFOyU4UDxdCWIENqGmSHBxSe6ISJ8s2LjCjN/vqNVioO68TKIWOcjbh4ZNufyDu/+Pm
tjKZbwTQME00K9YAhMyi5RePrBLFAXi0x8V2twE+b46WwGCH0/4JmT/A608au17vNPbjNjP9bnSJ
znwqn0bjvjIR1AcyYUumgpJyxWKfe41Nx8ZL8jniWwkf8s0NoIMu9azzhdub07IxJ/F0GoeeFBRW
voou68pAoyB3h552cWFDR2s6DduQBfVQ5SaIwBgOq5OLdc3ilfVXkbxNmAKwq2nFC+KJjzXR5ba2
IcIdkUnnhUd5taodjSqSNgomaxPaVFu4LRoRtXQdOnxQ0CuO6+j8JQn5SDyet4Ti9GzQ4YJHPoxs
Lcap3hvNg7wGZERR4pxjbsGY9M0hHrD3I0Mx7BF5k6TdrXC2crBpHcqIes5Iv5xBpT16dZG5grwi
hsBB5k2QM2sV5h0smcz6+gRpaC/vuCT83oRDFYS790B+sX0dkhoe4OOuB/v7eNzj2uO+z8f+e+7/
+uPPVwjv6PO0kCb7n7+ze2QsPn+NGpy2TKw5/ddr88djvGERpSvpUVmLWMbni6t7VVQ1w59RK28r
Hj/osTxtYKgnfCMber3HKzx+8vm8x5/yuMlr5aHmr3O3BiMejmDghDQ7xnCG9HHo4+xDgxT302/G
qpIY30lRp225l1QgfaOqnY+Pi83zRljrjp+FbMKCb92dZ5cpk248ZCZxvSwOOdpLxD1PTsRjADEL
Oo7AgximvF8Na6ND6zThUQLAPfI1ZDKVYeLsyNS8rnGMM/nx48fFjD4Ivm3CM29QQZZIH9T44yfY
BcOjZew0MraVj8c97npcPG52oQz2JATJfn+Rx/2hiP9zTQkHqoHDkvzzCajkBXZiOA+dsvE+rMBp
xWQ6AKLfjuGIzRMAq/YysZEs7kDqs2/1Wr2GHVC4B51a1eG0ZY+rsiN6y/TDGX7c8bhYI0fB8b/j
rL1CETYPfpJXd5P0cZHcPdPPmw98k4YBDt3PO8Hb/fdjPp/3ePTnzcc1U2tRJDpGzmV1gN3N1IOI
8CCIeQDU+16zv9XT2u68hwf7IEs/L+QQgWH7vG3vHOr/evPxg09A9XGztk1ss///U1AOwDN2+ZA3
M7SOf4/uuj75z9XNN/grPn+3bvlUhthywgBwdONVe2RoYCA/fsvnwz5/KbmjA583/1+Pe7hhn8/9
rzf++Mn/eMqaDKTY/Eviq9sI+XQK/v1yM1PfVdnjdVS16en1AehWHe+6/eOTUXyR3X5zaKo7Gu4f
39nnN/q4mSAaxtPugXD/u/64+/Ohj2uPrxfccr1BZLk/YVlcMOmSdlvps3a/OB7q/nVLVKHnPh/Q
iD9I8dGu4VY8jgCzeUx/M/dFMXksHdGI7sgdAFkZrZEakWAmgdIepWf+czHq2ANO/n9vV2FNMqKB
cSs3UgXdQnQYWG8fL9rc6YnQc2voEtVJkK5NQzLuWicGzHZ3Hx/fy4jCd+cN/ZtCV3eo7nkY7/4F
b9O7AEL++AD/x8f/uO+/viL1OEz/feqfVyuucNi08/wjnutflLRwscK2P9l+M+k2xypNBoqxOaY6
mYqsudhC89IDdAeRio7LiXcx0fGuBc5SRlU1Z+buYQZ85QWlwD3VNOlySWaZ9SglU+Zt4wUWxMUM
3vA1vJGoArQknys3rA88sYfaqWm29XWdzo37c3N1cB165y1cl/bgTdeZO+Mp6YLnIR69PYSWn+2u
1aG9BpSLIsASjD0PLpEexqL3hujSzs3bNhKKEiF4Y+vAymiIf/ZYrNJZMMCD69IUpMVeb9rkxzBK
99rPK0JQgV8dHEtOolKQxiLnR9LE0W7x2Ab0x/0e8nor7Nqms9eRrK8n9cS3YTfOcs0qpzI7uaKh
J4H9aDfzQ5KlP7UMCpTjoHmCw+ShNkii3ag5OnxOvdT4vTmAHfm1wQDerR1JQOTo+gZsraG5lsH4
zGr7JYx6erCS/pZVZ3eOnhNgYis4Jyd5GTAq6AVZyaFUC3tfumAqYA6L3LWqzn3bxwVDDODDWyCY
IQdZlxrI74qT4anuoVa1jVh2Q9tfEuZ8DW0QYoutgNl2ps7xsV+ljeesHeUvhEDkZVEgeIVk4HXm
Gxak4RRsEQDrVlwZi5aDiPhzkDjd27zUPsqi4KfxrPNlFHvMOOhPPaF0h3Rcn8eeLedoiVG7LOxQ
xXWxWo6tkA3JUfvQDPB9/Nqof10SFZ7aCvtgZfgO7tDfrodOyZ0uAqZ/R9aGWqTHDj7QuZtj+SXm
6MX8N6PH+EPULUlrb/b2iDmIkg4Il5r5zCMsCqGrh5un7ZyG2i2FdpPz0MdpPBGDOrvaCuT0nhY7
D3vqGvvSNuM+nJ2UINL7jOQBJBTfwqPsYiRsp1bjUGNo9IDBkZhetwBpPslgYjJZu8hblvP0PM2M
5/MSxGexqC/1Qt1D0LeHYanEbrbQEJ1QxflY8S6LFxuezEp+zHvBg2dreHIWDUK7Ttcsp9b9SQhZ
M0Q7Q+yutU2DDZxtFQ3hwY/CMrktIBK9mGC5UNcEInZR9bH+3SV1e2WJ+wX+DSpYdOg7110LnN39
FejUzrErcMJulEhG0ddG+d65+9hgOX+Zkp+esi+2ldWz2wY//CEwt9pUQJWtvcDC664hZVjEEmc5
jL0B3NjrL6MZw1dv4BfhjeysHfNLjtCo6rmJLpZ0K0BB+EiJM+UbzPW3mIhidZgpZMfHvdT9l9WP
1QH96QFQhFO2vjkvgYV/0S4HBd8k6uV4Qtw3KTyP4a/DBwxUMSB7Ybd3BkjujZuUVZ65cX9XR7V+
jjvEgPoIy2soIBXDFUVyCyWS8DK2WVMieOeAugZdi2KzThuEsc5xE/VlL+AfDNLWp6QFCB36BrIm
MoV8CnMf6Mlp2pKvZvHEOdDbBup93nJng0ZoHWDYfhX4JxReJpOdx/bu4GerolnlAksLO/bNrvjL
0e2TNBynb6RfaeotoroQKv/YSX4DRrjDQ+TO9yoc3c6sToOZ5xegB6/e6EFPwM282pQPt4WA8qQ/
E7G5V6ni69xwfbCUfHfQFV8nBdDVNl6m/Kg9crF1Z9iuvzynf0uMfptqG+9qRfd9uF1Yp771ZLxG
4WhKp4LXmpjvzsTdvAdKU7BkrPK7/ej6fxx2WJFd+nC/eZXcLqQhxTgeFJ3dt9b+aKnvH/ol+IHI
VrSf2fICPvNvyNm4NwK+SdhDze0AD6OXfUM2BfwXteOhsy9xOzhIW0RRFkRye10XKIw+mGjpR7qk
6FpFxMi7C06Q0rOHvMlb4wPzhx1wDgfkw+A8UOQjSJ3aeHFOtnYOfTPultB+3YJBF6rW0zVcJANh
PyRFQl8dZNXOtZwg9DcmN2wBTVuhA7SE1iWDHgWMv05lu56lI8glnMHYz+rV0zEkLV89NfPa5XHr
zudu+9mvdnyOIdfN3vqKUi4qVrgHRqz2m6/5xffFWfuseU3qqCldZLCOiBMrjVBa8078anmmDoSw
LQH+s0Xz82J/tV4w/iQ6GnJwkm06cRy0UCMl3FjgtZQam41LvUID4urZTtjTYqFVNt+NPpwQ437e
npcpAAZ7v6fy6/HkG/mHs0Tso2DOOttHpWOQAAlCst80aihva5tcVzhhEMMrW4XfgxCsutTMzDuE
H3FezB2HNMzZu52idKx7pA3ijj1N1TzisO7geCQjLox8Ml0ojmMrxgLHRKYj7zRrbAw0UjpXk/0d
hdPV9q6b1rb9QCSOHmp5X7Y7aNFWBji/UVSi9BqTnZgMpHsL6GFGkAI11I1GU3n0nT48mJjQwlkG
xB+cgCBsEKVxEPyVdl6/qJAduRO1AEVE+6JF3ae6rUunZ9utSfiH39j+ohfppBo+9XF6JhQmYDQE
O4aFvoTtglY+oOVgZQ29u8MeBlXUiw5LH63vkFZw+JJpS8fQz3q/Do5xFN1rpfUD4rxTCoYWHlMC
kkvAEsBDG4LFhpvruD7X6jt+5XZY8SnsrLt9a6IxSK3TqIyTRcO5921WBZBMK3wymZKIk/Qc5QUJ
xxzjA2jqcv61FlMFR8/bsmb19G6MLKQ5B96uqhoJIL7JNlSq34JAvC9rgAoWEmtSDVNu2zVCPWDe
eCg9wGUB360IvJkR6ifSjypjxKfg6sV+9W1cQhaGuAKU24k+YN65V4fOJT5Iv+vW777UbhGF9Z96
hDPXw2d6NoagrJyaM01upl6i3JPita9xKCOfvuTaxfKPEgZHhd2e3M1nxwS98jpR/bS5oS6i2nxp
0TVDQd7atyqaL3UNWH4ILZB8m2RxFex9lvxuByNKZ8HpOgEgKhjVV8KnMTfWL5gO6Fcn+IuqTuwT
b6W5DCUOl1n9gZnzEs6e89snLYTkJPqK3Qv5H0tzFwNFnpWg783WbR9NHSGjwTaJ42NAzbjw+BTw
aEyVN5AyoW6TknBNDroG/u07X5xB/qSIsiatXo9V627I9GwEMls1n7e6Sc4q6p7ciKKuBz1StGJu
95qj0xhRS5/Ris8Jp89E3yuvSuznauYld+PnbZDjfZRCWzpbC5fNVf1OCND+q0HwuEa2UpuoSZtu
BQDBOBplzqLvSS1+xE3XpaGIBoQ3l3xdTX1CVrdBXmF19hMfkmyt/Vssu/gWyrWsKBQMsbYnWIJ7
SNnQVYLt+5B0/WnAYqBhx+TuDBmu910II/VUHYfZf2FgZjIRRtN+IJhm0EdcHGBW4dkGhp1Asd8I
3yAz4Z0BJUAvDoyD8JeipEonZxLFRB2ASEl8UyaxR8Dg3zEbVOXCxYZCYapKs5xRKkz4C5S/V9T8
HkL3ydidQtavZB1Foo4nN1CgT54LscUd5IFvlGcTokhtF9LbwPrvyuWndlakdFwPqbmNVimD+1bq
FX8OyioGJmJaDo3bvTCLoA6YfER7SfwXBY9/IqNGSj/BOAfjrocIe9uTFyWHcVhRVSyxhIRrPiIN
AyYgc/seOvypC/TRmAplU6S3XTsOvOATgsK9H+KkR2JrEtFVNn6XxvxHqCz9I3X1EfTfW98xLxFz
nsTsf++Blj7RRH2VCXePkxcgcqq0Rb25VnABw3BP3PnU81Xdk+M6ayTCiNGADhgbC3DLpbuCxTo2
99fswklkXhYNifu2CIRFSNXBadviI1LIsL6c+IVj/RV2Dk+in8aMWbBzgAu70lGLV7qBiQvQtn+h
jb80jcSH1VN8fZoh3xnZ/Va73/u1uqA8wvQOPypHVm9XB0NX2tHcFn6mdfd9wByBm9ckKnWHQeVh
329PBt9EqvyxQtYSOr4/IwY8+WVlp5ud4vnAw+rYB6/RIIKLO00hpli4/cVrlmeBDBHvo/aSVMJm
CtTUTriYSZC4SKnFcVM+8My6FV4RkEbssL5m0Es0TI5whBuESFTfLCof78U4J+b6c/Hh38ysxjgW
bKNdg+AwxgldV6t/uXGPbM0SnREQ3jux3g5zhGwOPgULC3iTeOU2fxzjwGRzXnfqHlL4CwyxbNwB
z+UB3H6YNakBpI8YHmpKJzgNs/iDSP2WA8NxUBz1/IiABuTGzn1p0vpLE5MzXJr+WpsfRAHUjCFC
3gBEs7wesLs/Ljhg18vQ2a8rp/MelV933rpw38UD+jPZdFnAQCKJGNMMAtvt0d686bhHYfFNjwFQ
yQRhqCpSFdJnA5q0FT3Iw3bqPcRm1sq/sGr48h9pQBD/UHOkUXGn4Wc8btlZ4KZbqJKzRD+SMjTO
Ocdms+dJ/BuO/x6LwXwaNH8eOHdPNUNut2L2ZH2KL9wJySVI1g3Tebwox5yZl2C1f9Bf6z2x4U/P
SJEzIpv92vRIbxE07mH4DQZffIh5kwDIdX73m1rBBkmyc4JQn+YZSW+cN4jT9xyOGNF3a6XKHQ85
EBbMhS8D6EI9NPhgFEkWrANPRdINB0jA3mGYcLNRJgBHYJ0joUmL3Y33hZb9kjEYHyU6YoTBcHJl
kG3ESfbOPd+73SLRkfwO2swjDBxMOEAWLjGAkQoJ+qrQy7yHEeF/Dfvfzob6yPbreUI3dkAd/hXH
jD5p/2WCqvHMeXIlCirN5Djdbm4cc7NIFE9TE2U4TFvkKILgOUzICfoCwttMXsTk72Td+fvIqRjW
6LjZbSpBiVDNXeZBeT16jMzZIjTqeWBdu1p2U66D9quGpngJR2TGwnpCatYzbSEampSNdXgGDnMt
CUWdqUD9nvBiNqhwitnB7iMdgXYbvSold4EEw5d/q3apLkbVN69enpq2Sr6YyQWiLB33hH0XsUIV
67RFt+gADDzKwEVJKoJuj3l8fuFTAU4unAu4vsO1E/1QThzpVWJVVxCfYfaVxeicyXsJLPvTr/BY
ay1NyatwPicd0qchjLJMTu5foh0fg6i6YpvH4WldV+Sz2/a44SjNzBjPexnBPud3c7uphHsl3Z7r
vjkrWF4AITHKC/6QOfY0WW/Nxo4R9BnSrE+rjt6VIpfIt+0uoO6UzwmCxca1l4klQTp19XyhtXgi
w+ggkoWGpB5Cdu22+es2Nzu6cO/3utC06xIvrYLZe1+xJCZT1L4t4wTjd6FXZNyGH0m37MZA/PK8
pEY/7r0OIWn3vAJFgXGfLeKIc/c8R6hIpqVGgFlVRZ9sGpW5wkgDIW/AL/1DNeJsEOoexwLlxaaI
FRTaQwZah+VgKe8twzq3IyxP7QGgo8vFMwOgqN4rkEGq9qOqAmhZMM7XEVG4ybHo1u9FCXNddqwV
egTYl3Da1bgfGsCXW3tPF/vrmx9ipk4Fmx+GQeUVhiGLMfFjZRq986o4D7y5KtnsznAwEGHQU9DC
v3M+ElRQ4TDiM+bq28I5Oc6hx15cH2aIKuJgxPiReyQhjtG8OIGIcL7WMl/q+mcQ8uWYsJcay8W1
IfJvZ70s9NGSx9wA5WmSrrALgEs9S6z7m8DAALR6GXwUsltEe6yZ5hmVKzvH9onYRqJvtFUaNe5W
xvqdMImsdNySAyx4HzTTRjFPAMGyuIdnr7uAHvmEeR6Cz94OcSkXhlOwwxktAUriRB3h5VXkyZOY
U7KMQVEzZz45PE7DBnSTuNWTaQ7qvsyuNgiyiTaq7JfhlQsaAwK/+LDw9+C8Ee6Wwe6fvuboF5ag
oh5VgqD+hnZhJILtNll9tWpE9N6L6zQQSj/56w27UXsmmn57SDCCrkEWNp6759/9XrjwcAEE9dmE
0w0RSJiIi5Prms8lGf+0Yyggp67BTS7L77CLTomo1kIzB6S+WMOMmvA11JJkQx8CmxgsqoM+eV4S
1x64GtGz+gYhaK7+4m0/+0P73snayzUk08wPkQyWKkRxtEBFwZgHUjaV82NyGctjDHYAdovAeOcb
HDuNjJ682Tm2NtiZbWxLBYg7jza57UhTDXuP9pD/KCpr31fixXPFe7y0L4mpg0Ndt6YIFhQgkbN0
Oyfpg13fIRar6XxSMBGca9BXFnk1/88MxOLsdiHi2WzKkwT0ROuMONySaM1YR0xac+xwLSqVfGsx
OGaYXQwiie8FxgLGUavw0vClOzFePa3S2cW0Dz9WdfG2Jj77HXSkjiF9ErLtNydjnXXOjONp3IbD
3LYVau7+zwOGr0z8U6pIf02hVbG0CeOqdPAmiwYn/FO02jz03kNj1r+b32cWHRPguGDZL+5PFFzt
07R50P1GIy5+3N+WqIXY2At/xzDmHXMZEFWG2px16zxe+jU+h7UrX6DbepmLeTg5qqn3iQ1tCbsZ
9EAbxmcAR98DpcbTUCMjMdOgLUZReRgtIKbCDhrEQ2xgfYzROaqizDodmCTWn6plduBsJ/D2k7p5
s7AkgOqCD5G9m7EhCnNQxfNeO+55Eyq4VMCiMclgDeyrFY06hM1Y7yArYeTCXXpk9bClZLp53ECl
J5YDAGXfBjTDmOZDviwV/JcYzOep5upJt3d4MSG558M9RfiyPq7Ji6KMnh4XggQ45nT3Imjlg9wM
/jToUQEOg55LVyI/LLuiSu7PkkfmK2+RtK6aQroN4g2SJ28qSF4x/3A91TopIp3cz2oOMc4ISFy8
mZ5AwuknT8VlUjkCa3zhxJBdCUI2NBF/h2RxCqo2bGRaXXzeOSeYLNPBbiMKkr6Zjoi8IsxBzoOY
xXtrGH8ef3p6KGXb83fszu5Z2gYx/aEMiMdeHZD1RedaWDZuYC+JOyJwyXWJuS4xII5xKx/agju+
oEUhe2dVGFHRgjBs4H848djund+mIc1pWLDac5+8ygm3vDnM7eQmF9vxA+lbCuR+HI4IwP1ohzku
3A5TYPp4YOkaQ+VtjZeuKGppIDHwYkIGHpkWP+PekEGwafeWdT2WILfaYzQfcCHbQVvq4jhbIilz
NCMRxlAMr5i4ZcrVbXZT49MXSW3pT2D1+ti9dpL/mLY7QbMo/SIxJ0Kuaw/sdGYn1YfxgUkIhW7b
T6eBNGVvPOepkf0XfASqCDaU4NZ3b36Dty/hUGaA27vdEGMWwSxpkPuoiEswuiMGY+xUgxmayRB5
ZyvIT7IuUSljte1oP8qdar9MdWf2TbXadJLRAmG1vVSSN1ktluksYsyIqMzcXUf+M+nxPydir/tg
WE0xoWPMkfipL4pPayE9n+1Cl2E1ito+Dw1CHGR1/W/hAnGYT18x4ag6Ck3efDWpq66xbtHArcph
dPPGJNvzaBZ5q8xfCVO+WBp0F5B87C1qKvZkOEsdKr+NjtJHDPcbgOY5wGjabQEjK6fLLJVXLCH6
B0zDcNclvCB0FF6ihP/q6kEc+tiSJ5j9r4mA9QG5bryaNY2dKt0gBr1iz0lSO3T0pL2i0hh7RpDS
RJj5Bbo3fyXkr7BTX8IzXLLg3uqsip8NlJGLcARInLrF0cba5hxx/4kFff+UuLS7Cv3+74a34LgA
kp2RFsBeFEh6Ij6AVSLXoGiDAB8ymrO31ltxkLj1cvancEqX2ap0HTe6fwQuMOytTT2NjhJWUV/G
DvBGFsXnYYFl5dWkP6+WfZ1XKHmO69x6GFa6mSNMuBxIRpU7Qony9o9OEW8B1C8je6onfL8M630c
TgBsI1p67TZn1LEVenSId4aZW1ij46yr57FxzRP+AlTosd2J1RMFr3pTgPkte3xZGWoajD5NLL1E
2/CxdWzZmRkIx1C70S4Y+ff6vp5QWslsmMhzrReM6lms2YNjxBzEhdL9gpGOaKqfhfTXC3wDUg6r
aWBzwHZUGtv+ilFRSaBSmFioWCXKYiAxLFUzNgeIXXFKkL9I5YSE+qIxUoREEJ+wDw+uBpNFZcEq
fRrCOSm0Aja3LMib4T2BSZyWMp4hyNXG/bJgRsM8rL8gYPK9DWyzq9Yuzlw1UswBAc7ve5N/Vqt7
Us7GntAnK7QCLeZkNJj+ikFoPcKiNQTXKXTfIOgvULqhse4xDtW+BSxgzzWWrNpi5ohD7euqQzzC
aWNwZS5mnN3Ls9Ytqs07Q1xA0IgRWCS9jfNqnMHlIEJj3cZ7oz7eKRDeLvAQr/Eh866x+hP5PDgQ
1MVXiXlJEOJyTtroh4+MIo1MRmf//7B3ZsttY1kW/ZX+AXRgHl45gqRI05RMy35ByHIa8zzj63vd
K2fK6cquin7viigmSJqURAJ3OGfvtTsGpt49aWLwzB2191W+NwXgXFPNNos/Ld00Sdz4eulQv8tP
A2o+XLSRhUZa2CdjSoQ0sY5lWCfXgXrG2p4o9bZdAiwBuQU9TRtwWhdvFjZcD42tfw7sr1Nod3e+
rE/x6I70K5pxZRk96gJ7Yt+pRuYuMvVPg1F+M3UBEHb3eu617J/ZAFWBx/rDzm9LhCF5avaF1Vdf
oKNtxzx+zPWx2Cq93V2XMj+YdQJ+J8rWsjOXZlzqlTa6fqfNfHt6HDLh6NpFN5OTMz/1JgL0ucw8
Bshs/lBGEwIte/xiuQZ/pBfASzF8hZ3SQ2Z+U5Dj7sM+3NCUqJk2ewc4QBiu58yOTl2pMnJoaXDP
o27rRrhHCq2jTQyUcBs3AtwQomDOFjPctLNRwU2iBNuN8A6G8foUIlY6WWa0ypM7S6d6g5g5YUJu
1G1vL74bGLRKFNs46EX+Can0dPLMaTzNdIqm1jKO/ZjW5wbByt5zl2+OERYnVTfykzwqrao4jal2
D+um2gVGuRxDkxt5NC0GzlBlppaUtWcHhqxtY7TtLHQCjRbMa11HNubGIcrpvryN2IfoJPM1F0OE
LDHx1FXpFPgVUigUcxM269rBxt6Errmaimg6N7Tvpb2soL36uCSvCLE+1GZgf2nZr0Se9qWanP5m
ZHF1ckYohN1YrSpbcU5GKkwFMcXAtlzO+tCNH43kK7JE67Ez0705e4Dy1F5d56eyavuNVuo6iJUf
ZZw/R6z897QfqOqiXmdSXpwda9sjLTPWX3l8jMPp2VQhImqRO21geLOJzJMXqY+Ywpny9BjX58Uc
wxVKadTlY0Eh03WrvRsNT5GX6A9KxEhJGeql5xdJ0OqtUFP80DoLPJHFZdyottCrdKfBNO+5Nt2Q
50E4S8rXJF7yvRYom1m3NPBx1tkM3HLTdrh3PbPfJFD2oK8M0ERM5eQF+UPVh+lmrLDxmiWrbqPr
sWt44D4t41OI7/3IMsnegJe5Uz1ldugcGF5C1TM0+iWuZmMnURyFIngfcdatsx5UW4WPbou+G/Rt
TvUkHg1lPRdAopzqqc/cehu6jBKFGmA8pzu1TiB0rNM+D1ftRMG88cBNRSNsjKFJk20L0o/WXml9
jGM7Q59qHZIzGsjgk9HCfLIY7deejSIldjJqo8X8gjS89lXrGCqKfaaUxbJfV7Zxq+qf3Mz5I6/R
RTFv7nM6L3nf1qje3RjXJTXdxbKYB2bIk6K/OCJBKCIKz/XgG6Oq+kr+DaNLuR/K+ENEQXaFs6T1
29betva4T/vEeR39tmy24zL2t1JvPrjRCGTRUrLN2FP/BCxhr+J0MDZR6mmstHXtQz1058TEtpyX
zzkltRV2IofxpapWeuV0uzFgl+cgmpi9ot76XtbhewHRCbDSm1D05dl5KvrXKdGoSwbpwZidT7VG
i6R2UmUFJRe3eJdD06osCqq0K1lJ6xvb9bQzG5SPALmbY2U1X+CsX/Syza+dpe+MeAzPcFGucx8t
FGqzYMNAOB+jEEO9Wqj0w+g/sf87onkcL4rpqIdmaW/ST9CZ2hMCz/LQdayLTDN5TJpy8JfCvnem
k7G1dmZcKsp3a2SmyKO03iqz52G3GbHp0XVa25lmPBRd9xI2dXeKwSOuFlQ70pf3/0SUf0yW+EMG
IMioAcQsWBT/8iv/SzzBYwn/5r82L/CN/4rg+eWFP5konk34l6v9SUSxhV37TyaKiC8gOcwgUMd0
dFswJgSe5y2kwDPJCyPAQNect2SDP8EoOuFIlm4D2vA0G6+k/X8CoxjO303WJCfwHroKGsnWPF2l
1Pd336WHdKoLcFieWOwEmyoKqm3hovTqdbtdIz6newl+WmnbZ9diTmKJekym9nnJlWs2MzoltQrt
YWxY+NkOCtklAjnGXnIG4cDMO17DfpM58bIJIKoHFFRXCxuA2cCnD4Yh25VRuI20xN1PHhr53otW
VZnfWrt/NvC0hSpkYVR1l2gq9nXtXjUjLVcqBPCD0WgInXqIfZr3hS74o+eVn5JluYzm9OpWFBgz
s99hdz6ZaIuwk4G6LR6sVOtXeeScURuCadPTW9nF34xkAYbgFxXNpZo6GY4OzFl1DMu7xyzElEzl
L9tm+mQ9aMOqauN44+YjyEFKh1HGVW5Op7jcFdWwXVoEcfipVvS4DsPkNnA/f4wR/zhmol11pvmJ
7QJDXXpHScJS0uBvtljHpWP7EeljuUopc669UH9FcbVFuoFdr9ZvdZYiIGACHjE4sp9DTdl7G7dR
vnbW8ISB/6XbDANr7nZODlrSNGvdQB2flstWmZpPzMU4uEdkdhoTQs8ewKae2Yc22iKnY8txV5Ph
PJR1zxYyP1vYRLKUT6FVUAVoxXCl2ghlDlXPusJenqoHO6luHZt1d2GlqPUpZFEL2uYIr07R45d6
joaVMsfLChvp9zK7pqEF3KN/NPsQ+msc7VKoXSsKWCAzdOp2RgUzdIDDlyjKJUiZkmJr+tbkKdO9
gvcqA7/pLTekGpX9qk74NqpsPHZ8CHNVTjfQ2H4yD+nW++amYEoqyupVHzxZE2oOvms9iMv9iGCM
1msKjbl2DpqZauyTk23DGnUTZdGn3mDFGjXdOa30inLP8FS6JhLMrPe1xUp3g0Ohxmrxo/FlUhxJ
OZUT7XOeTQZm8LZeha5od9XJjipKZU4fWWllvtVGF0w2mO6plK+joXjO3eo5jdKZGf6OdvUzIh2W
+oMJ0NDR7mlRvM7DWfWKs56nOzd1BSYLfQjigB58867qysdytG9LDtYDhM5qrsZjg3e1tfN+bYTB
1bbaiw5RRwGziR/ztjglUrbStxaE8pbR9FsVZYpBKkg3jRr0MwMV0l83rc32pYQjgI0wZOuXpgUX
NGIlz0X0rLFHcjuqnmjfUpeazZLV4GDqnIYHX5GOuqljda4t5hek+xCTIyi0hROxbsI6UAzGx6wb
TD9UlQEXg/G9HppkgxF34zXRIbC6AlwBs6cR6wsmtQA7njh6f0yptRVYGmDFmFbETU/f7e2oFUeW
6xnbyXSffz6Z4Fqssxx1KFDjv46VRbhg+ib/+dwvbye09maFGrHSEUhNIxUkTsy3e2nDx7TV4mRG
7ld2CI4xla+oYlBOstBemm00HN0+fnVUe2L4UOvGRzyF/SOLfPh/axh9Hpr2Ela+B5bmyFqyAy2I
elwejUYFMzul7/bXQ/LxRKwmp9jZvf97pMU/XzkzlwCFRcyhCPaiLlCMlbHs88XRkTLqZD3Ix1Tx
hPwn8qZANnMI1f37I+//CrMAr4pLYXHGHi1f+fZOnXw/+cAQ00LxAF+6DWe3NZSPbW8Fu7SIzSc0
zKd53ldjmrxULr0l/Op96BpfxvIThCoNCVCMdqh06qvWBvVq7CbzlGOU6+sO0seA03Cem3OvR7pv
a8VFUs37jm1KUxUxnFj2QXA/o3B5maLhhrnJ0xfoo5UizPVsBKY6uSx5YD5M8/CUx0q5LRBmrQIH
zY2+ZO6xcXR6AGH5CckenWFDfVCgUm47xOzbLE62XQQUb3meNK9YuXMbHIPluTGMVW8pXxbDRRSi
UBydpqS7lEgr0aWUx2ppX+pWc0DlG63PfvWbOVFBYmcS+bgu3U+xF6xBX6V+Fyv2tlLc/KC44Zd6
7v8oor690ZYtrzo5HAZ8XUfp+qel6OlHlsW1DxBO2VNXfranFBthdMuTKNghAmy2FfX+beuoz0MX
Lfs0rN1j6jHhtlq/ib731dRc9Ohjw9mFXAPKMNbv9qgVM5vwoq83QQhP0YlXXMYV5ZkwDw/gL6K9
jSlBmhUSsaOJmrYufHnfZd9lDN5hAsmS4+GDEilvljj4MAwO4EXhJ5liFW0s5elxoR8HTbEarIBL
pOUqdPDaHTIappMnpEACjLj0sU0VE/hgI6yZ8kaaHfD6czK+358rcmOqft5TZkXepiNofUOskwbk
YjHkDG2OtsipmQDv2qicD5UwYoYpJp/mryP52PtdZ6nuSjEpW1XYFA2BpWRLhqFyLqgksFbw0QgH
q1jBviWfpRCdrGMd7VLeAZxZ21DYqmKODxTe66O8gXFHWIQ8dEU2imtYn23k7ts57oEdsirQzaE4
aMg7jou4iYWp8/2uFqHEDkK8erlrw3+fhPvz7TASGQHyvjKawzZJq1czXMA+wfzCk2WgcRIfQxYU
dC+z2ZlxuhD/EgFZLAV+0UsG6Nnie11yMTi+WVEqCP01HBP5LUfJsuETrigQYoB5/5alS6b9K21B
PpHN6R/WrJYgiKf8KL0r7waW97vyCBwfLsBqEsxfvnfMij9vYnFXPlah2qIU0NjhLrfrT/K7Nymd
/TwNNNYNYCKV9jkoyDdwHLU6qPE3StzAedWA4ltYlCv5iQIQaI/ypnOMdNsXgci2+vMx+XnTzdX2
1tT5Mnzh/UYRCUbvd+WRfGyxv9Rl0h1cGQIkP1N5usmjNKf3l6I9Wcvz7f3m/Rx8PxExphxULqz9
IGmZYeZ+SIty2bnCNCtvZLADFB4ozfL+GKMhzMjFGAVc9e27e7tGZSCVPCSzjKEtnTfvX9xbHsU/
fYdG77GCRxQkv5tBXrNvV+7bsZVUr06itzS0+XbevyL5tf32mFNQkalFzsL71WoLZi/JOHxh8mqW
z+h0YLd1pN5lKoK8grumpcUn77cyHygenPzAsg/Gt4hlkZeMvJQig9QDefT+mBZqe6QJ5l5mVLSA
3VJsR5bTol0ScRZmA+JfPvf2D8RjGHegSFvUEz2V8VAVFnDawT+PfnuM7lW4UUSpH47NIubGLt45
GYXNKVqwJcXLXpcDh8iOkkeFR1LG4jVf5VeoiQHl/RvF1s2YJu9XcWH7bYJXWFyN8pIs2yhSt2BQ
GSmt1N2i0g79RnMZTt/G2YuHm+ntkjQgG6zGJQnW8pK0W6qZWpsBnxZXKL5wlnzyRZWhfSxE8Ir8
on8xh8lL9s0g2NRAqNM+ZQci4bTSWSm/6V/ut3CCNmamsvAsZF6N/IbFTSUGblU+mA/0EdIu2Qm/
wdvwbAlrvrwrj+SN/OrlY0FprYKClKD34TLDysCHJEbOt0Pe/wtt4ShZp62588QkkwubnD2nZe67
0uM4SS/k23N62Cykn/AvJo31kS8P5VOSlfx+NwQwRcnVVr4B2omib0GXUnMWf5IEVMuj95t/eqyQ
VOr3f0OLj57WP73FJGJ8cvJ85Ntk8nVBqJ4Id4/3v7zsn17722NpRLjQ0uJ8k2Rs+axKBpGDHh/J
Ib9+OXVruwXGrTXddw0jzYILmcvHDJmA5M0gAjzeHyM8jYtNJw1JbXRnP4FlyUVQkiEzmeQrwlkE
M8mXyBf/09vIJ355DQ2qrUVuUyH++KgxPtNKAYssfvbb2739W4xlIItFgIkmIqHk8/LGFr/v27PD
YuJ/4kRRTJEs1Y6cXxUoI/KmRPRUa1fzdujxBCFsSIE5S4Z05LIsKApobEzumN+rI0VyXl0ZCaNO
VxJPszzKBDyZdlfLVQKOH77CIKcJalp4p5in5oiAOrcaaQEieQ8qHchzji/tAa9Ys2KQ+ZkZKIMD
5V1XJgHJ+4lHeNaEvXsjS8RvN+85glVnMBG7c/cR/B9VTcLlcrMinkQMHTK7TsIT5F1TzghJ8cl1
UAjPbPDo5THyDGpY8LEJPezf0vzkXxUmmr0f8mzfedZU+TLYDpxcQ/GUqdH1qugtvS4UawuFiYGt
npgD1QTSfU/hGNVKzNgn0RPvEIq2y6Mj0uZFDKBWpn6xxsXcSo5GKwKk5JFmDRszbns6Qgy9Erch
jxpQ/PQ7Fni2wD5iMbSno84pqIkRW94fzYyikq6iC7PU0pcFdQkByXULcVQYPKMGQh2qCGeshH68
HakW0ntlNeYGUrNE/J0uvpqjPKr5w3bJAg60Rtm01c+BcJzLP1ze2H3UbwoEg6tKLCryAv/WShVL
tJK9vLquI2WBnhaQTiH8v2OE7Qf8w37JxlDdyuC6WQmvtVUSpyKHUmFKtxZk2itJ+w6kJdkMHmoP
HA9VddDt1LMQrYnDXiypC12d90Wf+IbY5krIujzCOcm88P6gOkTKBv0iQUDij3i/yV1SBhboJu8P
SU53FwIw69qAEolpNbBPlI/y3STWQx6934RiUuq09jPdByJnxA/I5NwlD+0p54M3kxTd0GD5nclm
DPlO2PuRUW8ssQaXNzIgMrKijZFkk6/KHEX5hFIabA66+kXyveXZ5no5OB55HzwBh1FngLSojBd9
0E+0eGcWA2IFJ29iaoR0oorwB8W+eqtT5iQ6hfSIpYAGK3M+waZNR1U1Uzb7IgtU3kejMPopPYOg
ScdjknTjsXSHKEd2HsU5S08ejeOYX84qXouiHo6BR3MoDLiRd//lsQTljDeSwzM+DACT6Frk46UP
sO6gcGBdQ6FoiKElgRtcclhSna08Di6i0Zg+zy7Scbe56D32DsjjLUApui44OraN6i5XXAezWji+
6WF8qOrHql3cE0yUJxymgd/G8Hc6w/6iazNJriKkp1zUa0+q10MW+lXgnlluJ+d+Vo3TpNUrLXG4
IMJoO2pzt401iEiucUULr97d2EwP6VAVm3ZwbslUiypMRx4lLoExpVCJFw65Z7B8TKFW+XXrdKdq
HB4GAxWoEEkj37B2cQjfbrGVc++w/ZjbpPYBPgu0nmBmTK1xMNvsUgSaslW8tqCnyBlt1zaBGX3v
409F/FBb1iV0lock7hVKwUjXAYavR7r5ePhH9MkKTBjdUrVDp48fqGwRApAQciaP+pTkOANtrFW3
FaBpucglmgMNPzhH6pxryErzuu6bARtnrR2L0MHjEKBitTIzvtCBp/DJbnyXJ+slI9oD+G4JBDwK
oZw1l2VwPjCcIV/tURDMepavNYfYKBNC/j7MxvwDFJV1pDeiDBK2GytRawAz024GR/egu4WIVetx
ZJl6gmYa/Y7iumejQCDk1BrZAtRmiE3KKBV+tCrlKfMQELhOTNeQQiqi3ldh1Dc8fdxSasW5utDD
6rkJuijfEBK7NYPhO2r4opw1JKwjIbeB8QRSCyRnFSe+ac2fJlWPtnWCcE1KRiqsHtsEGkBpkh3U
F1q2bqisz4n6zW4p4hbD9wr4K4gglQq/5y8T0bZ4ZM5Fi7zPM0Z91whR3ZIlt9rWmr1RR90uaA2g
pNYEyNVksgRKtFnUQqebT18R2R0RlzW4IAiQ6Out7UARfI0L2dpbijBl6P3GsRDrADQydmleLg/h
HGI+YOm/M+Z8PFSLPq+xqa9A8HwfMr8bupXBEvZhUZI/VC0Et8o6b62CjFm18FFbJy+xXCoJpSZ+
cGWBUs1QdlyIr6WTHDsWxegSN19PMwOU9x+dJdabBn6BlA3mCnUmtNaWyV4Pmc07EQc05biSu85H
i7MPLLKEkcnqG0xeIIlbD9WzPhJc6H5AMH7yFDt9qN3OV7MKekRaf8NGUK5LzejeqJr/3737D907
3bFtWJX/e/fuFpXf//ivQ5u9FN9/TTT4+cKf3TtH+28cw7pmE1Zu666n0qL72b3jKVf06JCUeTas
3/fenf7fvAIKMIkDNtxqnaf+7N3xdjBXNc8yRAzCn4kNP1HI/y5c3P69bccO03UN1TT4Hfi9DOc3
ynvdkHeZ0/HCpwO3i4H8K31nW32a3U7Hol1em1ZFYcucDBiQTe7oTfauLJIDygFt12fOJaEaSwRV
PTy55XKKdevZxXyMyujBbZnNLWTqUEnzID07pbobFRRuyTnKy0NbXgwr/lgXeJ4Sr1pb47Qf8G54
Htcd5AR3T83+Fk+2e9Sqj90I3RZYHa3xEaJdEPphjkJBBcjUwVFa6QYDJ1bCkfA+9d4vZ6ig5iae
EJfUiok8GdeWktBZUVnlDpr1AxXyqVC+lilK+Iz6gZLYF+gyC8kJmFI62hGw51flkMZrAYlIZqE5
bJ1LlQ3pSp+0a0ocMy327wM9nwbzBAFFI5631sRbkp/1EJ0Fui4DA0/d9E+dyc+Gnek5+R8UpG/Y
NbZLRLKbtXEIKYIvSKm5h8ARK4/YjoNVoA9nBHrIlPg0nUnZFMXwcVSzM3KaM1xuHw0zL6k2Zq2i
F5uvceNclFg9sY45lZ56RfV7jxTLNxBiBrTjxKCaa/dGaXfIkrZtO+8ReZxh9P/A6cl6Pf4ctHAp
3P5Jj6znPg23hFYEoOrI0XSQw+ZTerapwmvWcppH/sy0OOP3vEVqcNDDg5d2O5Ox1NRT1gfL1cR1
lSDV8JoU4XN8bChMDEtyxkPFWRGfK21tZikGlX7XESQVl46vZ+OesOijlnuXkWV66djP9dzuHGW+
qgsCk/mzmi2se81IWANJwLLL02TR7bG1U1Cb/liEWxS+IcgUFJaGq/k9P7lsg2WVkXITd2xfO+M5
HbKX0MoewnHrobuoIsuvuuiYFDSl9PCoNimmFO2qBeO9x6WSLuk3M81+kDj6o+6mm/gYK2W51y4n
tbk8afWe1IDXWe0pmGTrTJ32c4Fv3dU2VLAOdQof3RhvHnPyqinH04L9DYoI/ELDo54wXqcFisEc
g+1bpZp1oS1NlZ1PsJpOWkSHK5xPYFUA1SMMUifwKZOB+YxOm7XcxTm51JaQma5NKz4Glmhb62fX
3eICf7KjGcGr+RwZ7EtFh65KzyzwX+TPmPt0hYv52sZ0HEfyQPo6/BFQlcFANe3DKXtx1AnJa7sV
Rhr0l5uURY7J+dfNV/irtN3iZ6tPfjQpbnqj2+VOQhh2dlbM9Ghwnecs7AKSa8tmviOZX+eoXSds
8YIpn47drk44V5XmEb/bkEDLqIebmfVPjZKfBzEcuN+oid29pb+xTCvD6abzlTR29tIOX7y5O3bj
cnfq5S6+wV6dT6SqnM0ofxEfjDgftXC8OTHJguVyh8yyGQjXHLAYiz8JoSpgByImHdO3yJ9YAdy8
jq16ZY7dl+GOufgQGg3v12w8/h4YxtvERWY+Ws/tRAwcULLYdL955HdFjAl4qx57JdqIc1vo+8Tv
loWMZePQPcUaOX6Lvk+S4pzEDAVIfU42sAfySTF/5/0ub7Mfk4miOH4eh5bO4PSka91OnExe3ULU
0e9BF2JLuYMR3RuD8zxVSKZTdbmrkN8V7zGsMOfDIlASKnNGzzC9XB38sJE1PeWqtemgAufTVenn
u5OMe0B/jDJl/EJd4fPghR8f2sm6mI36GpGFS3r8ZtCJ5zBU+2I406tnBZ8Ka1x5kDa6YkaXr9EI
Hk90hrfdTAnUvmjbsFKuwVg+GOWwsQk1mXXM2kt6RNp2MZEXLLV6rcxVPYlDy7eM5WR8s3EWAEs4
do3h13p2zmt+94nLY444JfikbWGbAsnbfOj75eRV3VOL0XlBG4Et9LRwIYj/K3G8K2uqDZxeExoS
XCVCKvzaBtN14txszP6p1rnEErPaB9GybYCCicEqboXeDsP5qiNBhpLOkxiwWbmyvE8+eMxsXbLc
tSR/6er6kx7c+3x6MgJs+TESET36o429QzjZF3FJijGB+OtLlPDdcRG1OteYpsXxegjd515IFbSC
mcYzn+ve8pkTwUqq3Q1Op1CEBTDzr1GXvHT8jKxgdPP6cwTleDUaNpca+n1v5PqIHpoIrH56znXn
Iq84bbpoOp6eQDG/digfoC7lWyrRHwbcjytbJCwjX/i06BbS5UpPqJywGdNnw8+mMFirVvcZnPXL
jLvPtxLtNYFvcyBji+y7gH1PT3dKH20sukX4kEZzBhZxJvwTDUnq2EemOxBiy+wnYCXyqG7pVaXP
+TRdvTLFfVvmJ7b+Xw3FwuhK13+LzY5Jr4C2yTzbKWydJg95r7YcMvVpIiXmqCUE88YwRN6O5GPz
EpPTmHeH3rE/xlGi71DRG8c8iM2jPJI3iknKnjwyDfFrr9S/svCmmSqU54SfURdPm8HoHsCLBUfV
g7CZKRm5NlYUw9JvFu0ob8aZLV2emGw/Fusz2MUVcRe0cF04+2X2OYrpZyD0G48UvcJDTpJcD+SQ
DXd8J7MhOrCxQExM+rOHE6nu7J3mgrMrhs2wpHDEUUD37Yo5YFUqz277w27sXTploEnoqc0dqZe1
U29mh0c69KpVBPG7JQBS5FBhH8NjIm96fepO/HILFgEC3SKid1kUkT2M5JW4+l2mRFfiocst6687
LbvMelks5APMAjRP3BeAZe62hi9wjIv+azy564I631ZDKIjQEjyZDYGpzMw7Wn/kDNVYAMGxU4Yb
Fbowdoew4MReEv01U4jnLqyLa1Yw/wd1DebZJ0Ptua8M+mVc5knD4MElADvlRgv5FuKv5GLbzgEL
HdNyv2Rq3n3A4+wx2Ghlu6XWtpt0PKJz6jw7in2x8vFJb+YnESaSwc6oEZsvVvwSg6Acm5Npp8df
FvX/ECGiqaSY/RJ4YLFO9hxSZiiXeo5qmr/ntsA06aZyzgtat6yTi5yszDppYEpzdTcOUGolVU9l
pnRrOq3dSplIOmqrQzQpj7q3Jjd3GS4Ng9HAANab9qU33WPb3S2y/GrmETHADMO1zacbiKgHyH9s
7JIvHgaPihbcKlEviRF/nl34/jrv7+gMj2PRH8w42JUsTxHUw5BDrlszUQ2ML3xmBaXovplufWBd
ZoflyjK8lgFICrUFgDa+Oibr8ix+cYzyjLluBYfzqFCeBnyx15gCWWMGCppnd7hpPXmr1rTLy69i
KEXTcWxIQLGWjnSUBR95v4e9fhNrN7ua7vTjrgxDE25PgyVdITbv8JxDhpxVaF2KbhdqPZ209pYP
4+vcT/uCipvVionVePaSaWWjCYIpve/L8W5b/MWop89IvD9WLCQ791tqYd2vup8b3f819ervQQXy
a3Y5qfmfZnjsv37bDo1h7WTdOBT+CGmjRXNkVmB/nXEkJZtpsJuupk2tPjz9+/NLt/4e+fL2g3UK
P2TUaDp9qN9iK2rTmKGd94UPIOOeNxksn+yMc33I+u1IIajMALaTES1WeWkybALD9BsDvQa4JrEO
11kmGq216hdyknsWVqyaUxbfhFmuYXntNfsbNWGk57hebXQ2LOed6Srm4CJ1nwev3Yk2oFhwjPG5
V5R9i9UMjRrlsUhUU3w4ga/kXlww021MlqAJEd3kVSDwU4HUpceEky6BPhYWCC1zi6I9Tt38PIOa
ogB6C83CZzVb1sur7lCIKfg2E/PBRtAxdClJIMwayXKbsvmUOyzsTVYGoZG+iL/ZWNT7oqn3ZFHP
Nar5Nv2mONl5ppTW89oUcmXk0NzALjs12TG055Mz4WbktG8ZXwWKtc4uAHtQnj6zauWKHdxnMY+G
g4qqLNp0hnmhTvpDTNruMH0omm3xHX4XLY4JDki50cYfDR7nDkWjbSKknJflNVe3RtCIiWxNUgci
98vScVWapXpdrOJlUdn5jjMpCjRCVROFRlQLiZu3axmUiRU4zsSKRa56rjL2C4lz6af0pZ+di9hb
Ad1YizXRXIf4TE3IR/3GMtlj8Ed7xvCkp9q1VuKj6rDmS/qbxocac23gnrtQWb6K+5U+n9R+FbOo
afr4XLDpgXx2jtp0RbjqhDa+XZdBhIIiM/0aKINY/5XO+AR65AMYPznUzv2TO4+vIBweF5YQWq8+
KvSGulvPVg70w1lng6styYsZJ2fwc0+BG72YJr+VYj2r+MBW+TATiJ1Y9A7oTFrPYj2YF/wDrt5C
tZ4zk31iFp/VfLhV0SOu3IfQ4r2y+W5m5nNCcbnEzq+ly+sQYTMpLR+bzFEZEoKJWO16zU4nKj10
kBSEO7Ei7LqMRTDeh9J3WbhX1XySJzxbc/rue5Bn/jTyeTJ6mcxdZlFsxZyRVc4Fxf+Gle5apx4o
tl6F2d3Elmxoh00Rvqo4WlfihBN7hKQiZnbCqwYm9OgRIuqUTIKtM9yzhToEQQbbAfRRtgz7oWZv
xHAsVrNLFfzx74cPzRDq6vc8np/Dh2NBQ7RsBhFVpOL8khiVzUZS66aV+60zvxYtH+QyHozgE6sx
puWeRr41DTe3B84HMrLgGkXUgEWp24kTC0wBOLOO6ZegAGoeY3bLUksO2/INHP1bncyvQxP/ABT8
mriYuKzpourxo5d6G5U4k1U2ps0DqxYM+h9TRR8QV8e49xX9aA7MOUWjmFs1o7g79bNv1CJmuu+v
uVNXe1rmglRJTKO7nIsyfqaVoD9grw9Wk43KgC7zS9V4VNsT0o8cLXtqSlbstFojqjnozC4Fn9Wa
8D5wN2hzk4j9Wv+YdPPdq1mDDD/UxqjWRCH8EOMLLutDmSQAE5EzMarbZnfa6gxOYsx5DBWVnL5m
VTbRi+oilR7Gu0AaTYnpdwQuY1EZMJ2IORxkLuNwu0N9uQHPdBJDoNdnZwyqO3H9tY73qBmPA7tv
GLFX8W5dFIsstf04wkr8QGrLtmTnKs6K1AFRy5t47EobNkFF1t/ocaxSnWToCghMOzxpqe1b5fw6
5/wC7C7zuaANpO38pupuXtnf1Ie4dtSNNo/7AaqWXUBjqNsfWdc/GfZ0FRd051DH+g+n32/af7E4
0vEY2CSb2o7lyNjUX86+OGGRTtJS6RNH9qNOITdmTzRWGAqg0EGHw5tWU2WanHr7H37yPyzLdI/a
qsHYh9HC/m3a9MyxL+zZKXySPK+Y8khGz+xDtrFzdl+UgWLknVOG78CzL2JK/A8/XuQW/XbZGYbl
OvwGqs7C8LcfPzrOZCSQfX29YynFTkysdBROaU9l1BhvthG/tFhzpo+xlZ8akz0fZb8omf9TrODf
U6/k9W8Qe4mbg+WL+O/fr//QQCLktkFBMuSIUp2VGHWbTDm5jvphriibZN3NcZCf1ta615jdOLvE
kkssEbOMcp5ngkkwWfp9/vcfkahg/+tH5NmW6jgarpDfI3OrNERRNLuF/z/sndeS40iybb8IY9Di
FQA1mapSv9AyS0Brja8/C8HqYU1Oz5173o91GwqaSBIIRLhvX9vp6DjL+UELNdhzpOXGgW4dNrAr
Pek+Ree/bIheptN34lSU3d4VRoxJ4/hdCxkeieCZbcx3wQZxzQv+bM8tA3uNonUTee8S+TKzaeGW
8nAZr6ZDjVgM9JvhwRLDlFvGESlksjDe2xlvaI3Hjt9iCGyK/isvRPobd/VK4Vm1Zcq56PHYHTnz
aVPbzQM24NuU4m1SrkT4IhqV83rpR8lBs6roho1Z8CwF0/dklhHV6jdLUYil1Xe20j2cy+xX5XSc
Pv6oiypnhO/hkgWGnbvGTWXqb1Oi41kxJm439I9hXeT/5Qn9u9tDV2RKEU1FNlThkPjHA6qmEWw9
lS4YQDKKwUjoOuk+Sz9F3HF8Vtr6v9hL4q34N787lotLTsOmV/vVX9IZFJvIPU/m0h1rUsrSsrUZ
a89xMTw0hAXWvJk/poUnOIPnk7sefE+0r/Rsr9EUp72xU+ZvYZPv8uI00zNwHKDgao6z53IzyITr
0n6602DT1bZ6S+0tVJTZNfOJL5GB9ZAfZ0aLQAQPy3kprF6TnTN6c6sTnltipphd7p0QQ3SVUlwS
/8sIqSfmnEFTwSgEKMS72VDWQYeB7Mdm6Y/nUQ8m/JM6Q4I4Sec7poUzG+XWqlVuo0k1V8iYGYMp
Bqq2ElC0mwVqCbEq7biLzqezTUEgmZDvSgt4mTiTWuHR1wW3eTI+U6HwGOHs2xOgJj6pvaowHAgX
r1JDe6sJ1hcM1ZaQ3vI2iI30hrTnC85W30EDP+p5REIjfMDcOFrKcgIqhuAp042Ca30Kbf1Vpds0
9JjAYC0sxb8kxLhqYIC66dZTmX4oAB4slY7w3Qj6MJyM7USr3bf2q9krd0swnHjOYVqhNdcNROVL
FLkwt1CJaXbDfZXfjypDev4OaeAtaAZ4xRYksunqK/0Bcff3s63fWMp/ffn8zYhN0y1G5wq1Ceq/
DZxmSyoqXdLy7RLcXgLeIz+78mydy5flT87Ncpv/l9b271p9QyYgZ9sWQQF12f7H01SrE+Wv+kRj
mxCubgjbM/75fzebXPy/Pz8WDBPKT5k66lfLPFzOKJOWZWTydg8e1mhIcaXzYz0mmyqAt0WiDBfy
6mGG7DbZjHwU+dCEya8lBlk7dEZacxVh1uQYONHQ4XUk9SYhKNyr+qtFQ2jl6R5vrQMVtF4Tx5+o
wokq9QzLiHdRUEeVGc1ZNj53gfrcxzTVdU0tNnYo5ZSdGjyZRM03vz/stA88xuh1t4cCBcAyiLS0
+Rl7wZuELvKoEbBs8pNhPczDuDUIAy8XadDjrkzzZtLMR/BJ3DKr3i6fSvIvIL3naGFsxydn6B4V
y3hFzXiwzfiU19opVIOV1EyHpfO2dKjk2QI3Uh+5PQ5zcGufGeE1ZFMAWdNB1IEg9sWL0lmVC692
1Y0Epui6/jJ4XYDwOS0jn35M9ipSn5Rf0k41PLb07fJxck1D08fGa252j5gur5LKYlSD5IIRkDNi
a8S1nM/D49KCL/1HcRv8X979v+TdNd1U6cL857z7U/sR/plv/33A73y7Ijv/kA2Z1LZsUpWq6Tyh
f1XLKku1LJ01Q5F1x5Z1RlJ/VcuScVfQRtGLdChipXD3nxl3zfoHgRVZW+paDcv+X2bdaZW+hHtk
W3c0jXCPzGhNddAF/GsTUkBFCwGCTCdTkYivAD3GNk6ok6+z1OjhWdUv9R2X2a876OmGXLbVrYcm
mTOSpSQ+QsOGsFK0m9wCdGgODjAUY1h3hY7aBaRWPkl3Ia/Qbd3hhVrjyqWfdRvr8fnXWEjRXQ7+
yVOmKdo0YxKvi1oyPUlHvwKknGaftm8DQQy6ILH5IYzfEC++UnZrQRIeom2pI75KSNypWYfhm+Xg
IqQrzSatzIQauQQCdoQlCkH2pYQlc9C2iVkJO8P5m5jVszntDzZZfhwG28YNUWD+PkDINS9fxR+n
EUf98S1dRZ2MSzdRMyubLiYQjWEKlRA435j9q5g9d0O61vXwUSgZr25iQo54FcmKDdd1+tAitxcr
L+pFMXsR0Yq9xLI4/Loo1l0/JheyR7H8b7PXTxIHicmXddfzIsw2dhPM2x31Iyh7l7I8Mdcvi2Lu
uqFJ5N/rrvsFxiJ8/nLIdbM4RCyicA49OSIR93c7U14OW05s+eOMl7XicCOw+BwxC5eon6vwcrFf
run6eeJcXz5KLOI8RgSbYifCgH/9PcieKGoRy8CNVI/y6TPR7MXUK79aew2iaFPYc4kaTTOj9gPy
xsWX7LLj1cFL7HI5h5gVx4nN18U/NifC1EcUkF5mxV5fTicW//Nm8RF/XCVpJeAnDjajJGxykgCL
JlxYqok9KyEHdwYJqHBLNfllGa/b3zuJ3cUicup4PzyIQ8WK65lms8W6RCyny+nF3PXIXBR9XI+x
wfSQrVZhiYfSrVYirG6VHMNFlIV/zXbnvN5nS2mA2D5CfvRLIlfuIFHNayiJ5vcQ/PxBkno/0e8z
goI7ZcnQMeJaOLbN0Zp6aW210rSlHwCefdE620uNxmVWEQpovs2EKBNSekPMirVhax10QoYbsSQm
4kCx33Xxj1OKlWKz2PF6nFh3VhmtFTFGsFUwUz4NNPkTylVI3r4+zF2hIadPddfEodY9p+27KDER
E01YShaiPYfrQK1ARlq9gNzg6d04LJKYca9TyL3NF1zaVOHxUj0WRor7YF9bvy22Fv5S1ky7L45U
YvG6Lje10qeCkUL55fvA2T4H9VjFNOwUSOgxVcvEzUwq0ittE4SImM+Lkjk1lWoNPfUxysYBOnjQ
yPtzf35kOH/fRLgwlcRo921UaxgcVZEvFrO6cvWWv0Ltu9jDSGZGBz8gDYswpaX2HI9ZUaglKnis
miB64KDwiSioULpnQ+s/NLtTkDsE1YFkY3lwmjrxHIfC0UzWzuuRcd85tT2zXBKm1dzsRf2UsRRf
iLnGrvWtpVKfLgqhojpcGWZDCdFSxiYqpJoSQI4rZq8ro14GSBrO0GOpQbyaZl0XxRxekgp1vzoR
379qUZOlrM7KlZ1jpROCWlOW91JwW8nUJZGvLX2pHHgEpozhIp4wDX4qBIvr7k7FLf5yI2rLHXu9
/cScWFel9eRavZ4Ct5APUlGkG6gZDZaElG8atUPI/bos5nAhGfkwp562tpb6ktWP+6S0ll+YUZmb
5yHIf7EcksrYw9blVxnURbdjtfqqOVOmiwJ8djt7kEgywF3dX2Yp9SNIo+7CeQaYRgo9qEl3B6UM
9TjgAQxzZ58UChXBy6Qi+UhyfG92MVh3zMqwWSLVEtk5wVNRfwKYqvHBjUr4RY4rEvGYedYIdKOt
Mt038Xr6hhWuFu6abyMOAhvSU3DCo9xDNrOVfhXhJtCwQwKu4XIrJj8iqhLuon5TBq9QoUtsneXt
1L2uvmvlTUWmrtliIiuHqx7wLszhaEVmHsUWA/ttbnvRfBPId8q0qvQf3fmjhymXeQjtNRiXOZg9
v30eQr+maDf8yLRjF7kMkOzx0NnbNFjDHMC90Cxew2mXzT9VdRUjhSnDfTSgM9n1WEdJ1KC6Q+L1
YBsH/QnPdx24iHbogxfrp1nuJuPJcFZFByRiW8enwnwOtU2VHmF62rgRgxdJjnl4quVdKW+hfTTt
CgC4Hm5myBcdSXdt0/B1qhLen0vp4JaUiVJ5nUPdt0fRsPRrxOjFUhksdq+YoygzgbXjGQOZzM3y
dSgTyjhO9kOebobuBcdEUqp3ZfvD7DeUsxwsbHmRJPcboiXE1KzRz3FXwPPYtrdIMNqMoucHa0Ef
YEx2E/R70942lBTbW+1jgJWXFxu525fJTk2OGcASDLfkm9Dxmt5l0JVqj5H2TOFLdjcFGzDNjYM/
itv+UlNPfq2fcZYa5a32C8i+Qn/tFlxS40sppmQrM1xFZ7dwNpgp9s8xgpjVcLvQKJ7aU+RrNuoL
LyEJTqgceKm5G7VNGe7wezbqny0mcOkhKE42djLRtjivzfloq5/xTJeaZrLD6eEoO/eF5ONSY9eb
ED6EdZd0Byzo+5nngsFjShV08qsInvXmFHAfHcBd833HsytjCsHfRvIf8CX9d582TOI2HcM91uaB
toIyrfebuTwYZB7QNvxAdYQJUKX6drtXfhX1PfLAEum7vHxhfE8SpTc493J3qta2AiUqrbBA1irP
7F1O1r4X3QE4CtbzRb6G5LUkYhwvR1TZrXJcNnS8CLDe2CqjLx/LB0MioPlIrG+WtzqeO7uM0mSM
S1BUFod0Xi28LBQwA3iW2i9R/SH9J242uavxfXyCII21lEMA6r5VdxQmwVs8LkYy8Xrc8GciEML0
Y9u1O/IW2LArP+N3k2RoP7pDswHFMqgPQ3a0zLX8qBIRwzEqP0XWLZJBVEPzxkTjA1kSB9A3R9s3
PArBJkONiVxJjh7mMYNDVbg8tXW8wz4ZT1uMU9b4UFoT5Qz+MBxUNGrUeiouElPmKcMg7tp1bisd
4/qzzQAY6G6sPHb2bZsCRdxmRBYIGP8oAVo/YVFgrLQbQpBUclu8mx2KdfaUE5f6enhLFlfmTQxL
CNJqtmFYVLxCYIZ50AFgMX0ZxyRMcqUNsUIn9fnOb7iZrZNzox2yTb5FuCItSgkXVBHCMhfvikDz
RotsKxa9IFNIfD8xcNKwQDx0r4aGHmyLzqfddg9YQ2urpN5yaaBzAKK7qX1Tlxuu6dxs7OyoEiLU
XMcLnsqXBsx5tNGcA7b3HWV26EG+AddvZRxca3iqx344mvI6/OyimxlH424nfaT8XFUrU/20aaKb
3nVqOLkwCJ7yl+yE0fSt/iit2vkhjNYzBKLqXdPA1vtdQb0ExdDKSo59nNG19KSMR0kHEXgI8Iov
n2CRVzaZY1jd933ojpiL31MEpZB5ld26JD2zbe+cFwgjzvfi2TqQeR63+qr+BrOuhJZ9Px8SHTHe
anxxGs+eNnIOwZvIEKRLEkl+/CprexNPXsC+vbPFcZUb4xx5ZAcT0Mz0gnn6jpS5YIDbzY/6vJ+m
e+JBSfPhyMcWF4TeC3FpRuWiY3fnGsD3a2+aSdt/e8TkcZr3tm24betF8b5LVxbA3e5bEP8aprde
x+KygcoXvmTga/oWkfdtH+I4w4K81npPTtGJPMiIjSvA+Udz3Pa0LNEe27aoAsR9VKRDQwCP8jde
hbZbQdIb3dxGgE4SGSg/jCM3Vdz+h/3BVd6Gr5F+4OzJgQFNqLla72I8FT6aXrUZHopFrezP7SrH
yKdzc8bZvlatKEVpPxWc1TdhDSfPf5Qr1/SQ6HnYZawtj0f9u0Gp0Es5+eZdsqp3+r2WrOc18JwD
zN56pb2fUSR5BYj1FXeatUoGT/5R0hw8B49x5MnfFsn+iitXPB6G8GXEWPe8dRo3eNLv7B/lNjgF
p5/1S0fI/SaGCgVs5QyX0JO4Y1mgVstrXeOh8UfvvM08vlMXY3o3XBsP392fhMy/N2vT34Wyq95p
N/lWvZtoFOgAPOnD8sTkL/GLTOEWZUAvxgOUYg2DA90fy9X50Sxd/g2R0AzuUKybfkd+NtlohX++
O1urXkWouLbjTdt4JPoNjIssNxg9ksZ0oQq/7dfIwjEwcTNQK61XvDeb8jZajYTs5U3QPDBcKjCP
RHFQr6dVtNf93kMYoYLM1Nd9fgNnCIs4xf8EbQ0MLFZXsPmVlx1UyOH9HHjaERMXhJ8uNlLf4RYU
9Ijc5gN7EPT2xb2xze7lp2CfYKDJK8HNTO8c35AKKJ6AGHNVm+jefsOAjm0UAibYSnoAQ7lqpCgA
FSEO7gqPkVZo023zWBe5sR/do/pA62Dxtb+gO+E+Y4X8pDyqgdd/U5+bm9zP1/2dcQTY298lB9PT
fG72NfVuOl+aZxy1Y3PT39W78+ZdgolxnI/VjbbGiDrYSiw64erE453NPGwsjr1bP6Jthja9nukg
TPk39ihcyWWkczTW4Vu7M3r+8Gll78/79+ZjPGY3o28ULhA3Pz/i1nEMoeeuG77HxJNWqQ/v1u3c
+AT6xmUXvzila2eN1eJduzPBzD4mN+Wj9Bo9wGr8iB8dN360XPlX9Tysyh2+uT4mte1b8GJi+OA7
jxq6WIsmwGeaEeD2lTVvjRdaMm4dvmHc4VKKDD3uWKrCaMOHu/mhxr/RK3fJjbSldONoPJa+5Z+9
fOPc5R4ghzeJY1s/PJm1N7912CCNruTRQlH1AIn0TdK2AO14ubxl/FWbYEOnZJceuB2e48f2OPxK
buxNf6w+SFujDiTc/Os1u4keptX5V/iW/8i2Mt8EbYxxMA7dCQAyxmG0n9+onlO9dfcuP0X3ZoH5
Ej98w0MVuY/yT8Qe2LqN3vSEKml0H53P7r1V+WWTQ3UP8OBDf6rfphsaQhpI/aN+i7/r3nATB/74
LTkkB/UJJ5i76l5/Slayx5e6UU9MPeh7fMBnmXi0PmtYSj6xQuNobU0Pzs/rctNtpZcRbwIk74xp
qex515k9wY1n5ehm98o2v+WVuK9+cq8WT6C9dqQv1s0TCjDamPYF34HixNsp+Snu+/Ylvg2xIePt
wlPkj4eM3yv2F0WIuceKKgIvJyMtxtvajX7idtS+sI2HKep8ykSWqiC+Gt3lMFDwpuRSRjN+zp/x
N+nsUbF0HlylX2M8pk8b5K2tzWMifcon2mXTM9bjjnwlT8uduQ+2427kB5luxh/1G6qwxtXW3O/5
40CX/HtgupNXPEu38xoM1xYcbxcrW+r95OdBe002OLXsot244l2MYnheaXvppJ1w8VhZD9nPia5d
44fOD6x9gVVl8AEcciIvtgWkdh3eTw+4dN7Ox266J+NzoEth4GfbuPIbxPhVvz3f/YzuB75qqEIo
0Gd/oKu8j2+j+/llFA2gaCUw76FRqSgtfip+IuNZalVd4xPGK/9Tl0RqJuI1+DnAY/f053aX++NO
Yaj20d5We+cTvp8keRS3JJ79wVz9Fr4ax/4WVDVXTY1l7DUPONZ3tcfv3n+zXuSn+jbBgBCs2P3S
P3hXPqt3LjEugRn41c9+Os4vvBD7z5mfceGsL43xYlyP5PXU0CyRhnTV2p320+qz39LDg2f0oN3Y
fkDKlX60F6zqW9pSXpPvc3aCy948pbc0eentcOJ7TbYUha2kQxe4yq26D3lC6QJ5yru8SzGmOYIT
R4WO9pOV5ary8+1Ic2NunFt5I98UW4RrxmPwUq9LfyJehRqAhzfYfoZ+uTI20IjO2/HePPZuwQsv
vuW6x2ql0EjKHhJaN3upeON8Wj/mt3bwjB/YQN/avLvjtXOTv5QHc9cewsZzHtR4NVirLl7xSlPv
6A4Sh+GmfRq3Gs1zvcNHxpcOyjfwZxt6qJx5c2f7BjVz7vDTXv76YN8fig1IhJ897cQWfZhXeco2
Xsffovvk3jjk6+FhXWO88aJyC1ANBNPsiUxgc88ze34mtsgPqP/UIj+PVvLz9DF9lHfY4D5kN+0R
MtSN9d25DR+tb8ptnXrz7rzHiu/GvpdXsR+/fca+9DAeeh5nbbv8R7lASNVQ7ZnP6kd6JxmrGEp+
uq0at+096VVOt1DOErpQCCrdVzs88aaRn5vz0W7X9Iv35j5ZRRhauNj4Hs/38BFv6GZy16pPjuKm
cHqRr+3Gx2Cv75zZz+M1cJDZ+ilPERTR+8Sc+BXn1rce20eqa4M91looWfPH4sF54SI+gw0d/Bj2
vYDeUChGj1e1NMZGjI9ExE0QyQT5Rkwu6yjcQJ9jEisAa3CF8whWj1h3iUahBwGaE98zCiEIJRBL
F0DWwka4Loq5YIFr4RugeyIUJa7HltN9h6WdP1jKt2SYx10IULo6D+UOIZyntA00yoG+YB8dGum9
J5ijzD2lMv2q6tVoC1eL9CpP9UKyiaRhq1jItmQ5uFWJyW/qNGAAvEwYupiyZO6CChKGAC2JuYYi
nO2sDb6g7VzoSgK0RADoL+ZS0sqQ48OB5jJF/JSHpqtGNhFM+ymwa4x+Ao0ISZ4/4KNoQH/RGPDO
S63HpFV3FOko6y9FH2EI/b+dkk+lNYm+oBaMQ3rU5RiQoBpRzUQEIsYERXBp0g1arpioFhkBOcYz
zUgiB88k3DbGubhRKQhZmZV0S4x2C+s8peHkmrRAq12jwHDZsgBgT5lnLIih1lrSI2K2G01CGpFe
0pou2ToR4xVxXTGHsybJuqGqDtkZyHy80EfERIClKN7/vSjWlTg3buswwBNtgsXWLRyTduGb9MtE
LIqJXBK46gdGYCIOKialBOl/JWbN8/m+7SATiLjsJVarzirMHYrFuJjQlLbwdUqkJvC2RgGd+ecc
GpHisk5s+LI4LfuJwxJ8vhICSNM7poQEupufidz8lKkQIbdKA5B0PKoy75lWKQ5Kq6qUzdykbbkw
5pZamwmtzr5S0JvHxXyTnXdDF8S+2mm0RDpR8XLJ4mARU13mEts5zDllvvE83hUy9oSrc0WUkZow
qwfl0912mI6se8ms9rMKmKYiqs6vYT5bKv6NlyWxwUEv4kcBMfs/VorjLstith9XTm6VB20m5mrQ
4Ks1QeQ2wFDYbQxcCOj1LfNitZjk5Cr3+BJBx1x2FYvXrRW8nBGn782X9ZezaF1dQ03658HmkN/b
HdjxAuI+koII94hJNk6RQxbUVZspIcrQY+FCfUmrAMQ6L1ROSe/VlaOMb0Vq1JvC0XfXbWIuWOg1
Np62sE+WAzSzauSV2CQmlSrxo4HNKNwCt024wuwkDiJ63c6eItKIy+eNVsqel1Nd116WxQHiUHHS
mJoQvq1/XuUfFyFWXg+/HnM5/fXjLycejQBya91/+3KIOONgASQeamLa19Nc9/t6ZX8s/+2VXT+6
MpJ0ozoxmeflexOnvMx+/esuf6g48nz9jv/4pMus2OHyBzqwTKGsE7W9XvN//E7EJ1uAoX//eH98
r9e/88sfI077b1dw/Yj5fW71J9J0b3gvQgNaGn8BBxKTL+u+LP7dLoT/iWt9OY0iklbX3cXcdR9x
2gLBT+Je97lu/rt1Xz9GnOLLaS/7IDd6aMm3rQXtyBa52CCeik3VUFa65DUpSGey/PVfFi2R4aR9
/r3lAtkSu//B2yqINVG2023+7hTijGJyPc3lU5bPu1zNfzzuy4X9x9OI/a6fJM53XTcuWbD/0x4J
LP9/0R6pCHKQ6/xn7dFtkn6ERfYvtP7fB/3WHzn6P3RNUSykRwo6H8oGr/ojWUNKZC4yeZX6Mn3R
9f3WHwmRkWkpFsQP20b3hyjoN/FD0/6BkMkwbJMPWo61/zfUDxU91L+qC1mhWY5KlRuXoWh83L/q
j2osxvOR7O9eiojBFiRkhqncWxbVHOk5fMa3igTbjFcRLpZ+J31LbAXv+Y60Qgj7CidXnGvAnPAu
0/FonIDjVWSA5Vin132WpL2s8z7V8YKni6UR/9rBrY8OHakZ2YDw1QNHGur2c6xkxogNAodsAQDZ
s69PytYJHYz1TMfez1rm7Bs76P04HIkFFmRtStN4Lo0MMCiWd25NJ3XfN6O1F3PXiaQjFybDTiGu
b1iOtBWbAO2gQhez1VBgnpkF1G9IybOTTipJ1+D3JGhKFZcBoGwg/DVMX1lMsgyl9tyohPv/2lls
EJNo2UXMibOIuSknTOwY+Uqhq+pn9a8QgDH21xkmATLGTGIiKx2lATM6AINQoTktPaiGspnLHLVn
GdZNRKjRIQSK1e7OvJGxJ0gP6KdIoTmOdN/hMLAuzkeMTRS/b0yKeRb/oOskVvrIo+m1vSk5xzDJ
ot7wewcQkWrAp4/M6Fide7w4bzKKLT3sYGO86QoCh3V2pw72d7OkO90vTkimnL6mc5b6YVS+23aP
9+9k3Z8HDOXk0CSBG9s5otIFfxEsVo7SW2cTqtH6dN1XEmk4Z5y3hZkdNZtC9KGGmQohWj0Fraqc
xgG3LvJ4FAw5ATmLmJSNHE4JKU7C0GoTQFnqlPAoTb+0XMlPvZMmODIxxG9yik/0BdvVHc9Tt4pb
9ZPKA+yFRgwsc8o3TpXEIvDKs68ZhXYqa2NJGDDGitL+2wTYcsTLgZg95mK10aDelozwhBSDu7Od
0/WQOs120LVtU+bZjR46tRtmCMO1Ieh15OBEaI2aUINeSZtRpxtlyyF6WRhuuQU8XDOJ4A5YnNpj
YRzlNDI3lj0/i20O+gFfluQVtrU9lgLsYGIOt2PYsFH4008oBbWTslx124TPvaRO6xrjA7FtXnYw
o+wWJyLMB+T5yQzietPq6KSmJJ+P9cCfNZgR34eRbhxV+m7NbbCel8L2gcq9jTF1J1N0TQX2Po41
a92Yzb+sG+q3OkxuohYL3DQJs4OkOqTfJWrvclCGNZLDfcOHg1VeZsXK6yQPrZWUMdijaSTptgyt
FJ1PpkTrIJbEcDKR88kdZ8v2TRUrJsbZq6q+n43gCTwYwddJVw/47gnsrjHysFSaeYclIJY53bRn
pCNRYtjfaImDosGYF5PjWvcvgyET52dck++SEFunMrYxHLSzdzF2H9Sp3xYOoFoBUhRD48tsiUqp
VpYB8pl6E+97aqf9Xoh30GCg4Ek/dINfDpsAYWMN3HEhONYgiRp8y7Y4W7eMhkjpwnnqV7VG4Q1N
Qu52aOTdqOxDfzCJLTMmz1b1oveGZQ9W8oLbNuPvydj3K8Eovg4lxZxYN5Ksp4zUAEsskYg824Y/
o/HJcHbGi9wh/V8SdLXOzodWO8Rmg7IFBMklzVnwoUQ1ObYFlGksJOLCHiUAFSxCd/EjbRy2kwN4
QDVmBUG3TklEjr34yI0NlTlUPbktUgwiCtWzBD+UaobfqPNWrsydib37YrbQoJXet7GWEdYZ1mA0
qTKqNin2LGv4ARMe9e2TNk/mHl+uca0W+SNF3wRoqZfE8RwEonxWBuy45XzFqxIkeYv/1hARtAFc
gQq+mQHp5Memr0gdRdKPfGHJY+SndDlxZ4OM9dIF+wNdLKIoV+L4UNnEbWD6g1+Qw80VOT4ZsDPF
rdAUxUMrd9iuLRoeQa3GZpPXleAYnylQd7P0XPjOOW7czGonP4pBQEoL9lGHOglesx79oNWmPdRJ
qp8tqJ7dWV/jS3Nvpf15Xw2NtiVrPTVvRvMzWMDtlWBTCrq45amCKuhYiTcqoUZex/wV2XG9Enum
ha6R93JIyCwky8REP3Y+kxo8x93KyuJyaw8EfowFgDLtqnyyd1E2IOSgOVzZ0yT50qy/qOnDAJRl
J/7i698uFi/wbpzLT1MT2pevoYmpYZJhrYovRUyE8swYzWOqTp9Djs/6hcDRa/nKgDdCMsOR92qG
/jOGK5nK3B3JcoMmRuETDrPA4Dnkr6sZw2Gpd/bzzWhpxdZEj9W0eUfYqj4ORpFsUpjfC5EiXXVO
rPigH4nnU4K4rxFhRGDpY6VeMJ3rckTMMi06O8Cm3+SWBqLLymDlLD5D5Wh1WxmW7DW2AvGVBqzI
yY9ZBtxrxzNjB4hDj70qDwcYkBkpSHTepibvgrIuKbFmlHzhki+M5KvwrZm7ezmo27Vo3sREW5q9
66JAVWMn0ZGls2o/LALerV25FU9/ICu0BmJWTGzYFF52tgzX0NtjHBCyL+EQosqGPCImrdKhuSD8
INog3N9PZtiGyMEcskBqf7vIqFetLr+LzxXtrbiWL4vzWZY2uUmt1iJZtAiKn1t7d05Kxm19NS2J
wxTFgU7KAgOhvZg0Uqr7TcY3UsiBflSsqtqorfEro/+1GhdHX1WX/Dkvx62aP0pnM5E9nPrKbagH
q0LFCPYS4XTEuE03a5zS26gFScMzOOAptStxiutDZa0OwVtaJauYAwEqDuvGoijGq7Tk0BUk1oWC
T10Yt9m8qH/FrAimXlV+Yp1CJLzrtN11m1gt9opxmNpZ/buWEpmyBooIsSKCY8GSCPXFiynDdfEy
p5mYwVHj31VmAKtx2fkP6WdpmAVB8KrY4B5rbDT+4lyFH0tRmXyMe9CkWJruelw8NoGVkVSu859R
1it7RdKUfVXC8YdacX8VM4q5eIk1Y8RJqEDMipXXff5undWMOHZKQQJJlejVdZLlVr1Vqt6/rvpy
vNggzFPEXDdiTIuXtH559DAsjoZb8RRWNVE7zx6J06oFzNORBr1jbA4oOaUYqKBZXN6e4hV6XRRz
ALlRq4nNYlnsc13MIAFn/Tzt27FGn6fIqAoXDai6vHzqHgdQVywPy3NE0azfZw0CynCBUIuJLY+N
zM2FqK+vBg8Xk+4oJqNFJnHijeylZtT4pYJU8axaBA/RfPZoSDqovTPwlG3UJ+cNHFYAF1t9oqLA
LIORaNoyO1I9j+50ie993fTHXhG10jIVo1y42IuSJLkod7NF60PhIrGZawhGLHaZ3PzeUiYmFgFi
LaOWKtteIyj4gkOuF+GRSYDrr2dRG4OUtTX2ixaO2OolDHMJ2FxO/uea6ynPi+T6GnAZG9UGvITc
htVf9gqn0J4uWy6z4tMvFyJ2FctUp7OXWL584vVUcpxXHqUybX6wrIkG4p9Bqi9Xcbns6+br2f8/
1oGhiq1Krvs1A6HdfJ6mhvFoFOgQ+32IJZgdbeVhehxzfcR7d1Ap76xu9Fgmi0zKgsqF/DmO7N4v
nPI5KZH8GGDg1nkt41V6tu6aZCxfGQpTXzl9tFZYwXhUY7+apRxZFrsrhR540MYxJWvCp9HAd7WL
E7Jm6Mr0sJsoDzXQXTTmhDWH067bon3Uiog3jd1geccbBR0g8LTBHqCaUGxc6DNRVyAvvXUI8vgg
hRE6HRUxYLL8mfrIKGDoGghQvPigorUDpnoV/VNvbJG/2m3bAB7HT6onjr4BNvQTDBO5snE4e6Hc
v6ntGGEo+2rHrYVILobXuygEarQvowLPKyWpu+6LsaOjbUcepGZtZ3UmSK652CYN1ECJ7y1t9ENR
tB1NX/QW2i1GfOGPYfpMnTO5EkAPfSyRusnDl7ZHFGyhCtYrBqR5Me4DTdtobXmrlCg9o6BCABt0
P8xz6peyY2zUMxGJ2MzRcTFy6+r2RbLMH1Tg1uYSwMgm3q0civpgekjG8xqpk1FPyC3KTAJAaaIU
0j6Tc3oPWyN57rNPapFXHV2u26lLPzJyo+AgEl+L5LsK8xu3gCTvMld76ZAz4tA7lInm+0yxma/n
TrMrkhT6RaoHu1gbSeOG7WasK35ZU8p86mC8Ggj0xrHbD3luQn+sg+dmJPKcSElOUmWR+jJ8pDS/
34BRxLQXms5Y6+k6KsPcwwcIC/dB2ce8qT1d7+e1HEaP86g8nS0V50VVOlHUMewzequ5YSqbsT3v
BxmBaliO2nYIyBcj7ka7V+zCrNIfYBh+s8v0ZgC2xYsEEUarBLddg0Lqf9g7s+XGkS3LfhHKMAP+
2CQ4iaJmRUh6gUmKEOAYHYNj+vpaYFbZvdVmbW393g8pkzIjQyQBuPs5Z++1m2mMFvJcBe0MYpXj
AmKoOBgjtuWk1LeVzOI/xtDd8g9M6jVqrxtbAmUlC1yH8QswIsukRMQP0DXK6mw5eG4BvN68FxKl
c570ZAIE2S054vO9AN19Ko3iTiFHmDruV8ui0e8qogaahnDgAg7luA5y9eJABAtQFYjxwc7crZu4
DTyt/steD1mhGUynUf023JBldai3BHy3UeaGqL0QhFZV711wmIGJHtJmYxMKdXbtATU2nPJqC1LA
3BsF8faVl781jvcFmOoJMpj5prr6t2KJ2pIPaAJTAC47Tkt7sJeRmD0TkqC7Sqfxpbg2vtqZhIRN
4WziuJ3u6ipyfd1viXFGnqO7h7n6gcr+XM+df2ZlBeyZsva9BLeNKfKnVtWnJplcGljGn8WyflWQ
voo0PQpFzqOfheDhE78/5AWUpjnvoNQO3Z84LTwSMsWzFzTdsTnrrHMPLpn2m4Yh0EbqyWX7L1Af
wY5PKu9moavFMS8EDEdsYjnEt11h15sx1n855EIhx70bxSxOdQmUsi+yg9QBJvlO3JRhigzZy+6a
2Op3fpLD0jXZAwjK7dICZT1csihoOIT29H1sVbX7PI1/lzGZkS0YGvDox3Q0n1VgxDdFn+/TAIF8
37jn3AyaR2NyQTVaI4TYvPsz9qI7xKxRJIeWeif71Ww4UUX3SHEy0kGhxu+1fxjr8IVITLpSftVH
oW3+kT653MC1oBfKz2Ustm6IFj4GdbzpuL/2BA1dYrv95bQo+mdzRlc98EFjeh6KHyUxloSiDQgp
3lSewe2rPmlT8J4G5Iiulb8LEkEXv36xUvgaXZ3/0XWQAJtJi0PmTjDwXKd8Lv1wD3QsCi1LPxTB
LUB5/9DVxRNpu1VErrgLiaJH/KtI/wQeEalMQbWyFrWT06dOxo8JnZ1YxtcVUUn/iulqVzwLObwa
M7OY0s6JEU/PswG8yva/hmrfFyw1MgByMPjOrqnQVgUj9FWTEFGm56M1/IRWdcxXRp8l0A9WC7cf
zhHG6WqBJckHVIVpvi8SPC8Tyq0Q+gVO0VIwIYfqrxzY64LzUTRp+aXAHBZ1A/V9OIy5BtjWtOhB
KT1Dtip0sXAsC8BFOwcm/0ZJt9malfVnrgChZ/LNdZsK6Z+LGqsbvnTX40wRiucih7K5zv87ghPt
jyEg5j5WeXCkD6XwR3S+du+STqJ7TmrujTnczMHW7wFhitLPkQyn764HQSK+mxQx4elYy4Mb63cX
Hm5NNbxvR2R0PkZ06+q+gL2RCHfY5yiu6TeH+6zsJ0o0UUWa9vBGzuqxIUWEXbgh/t3dg0d0dna2
/K5TtCxNhu9+8O0qSjk0bogfVHin8kdfEkrU0WN30unTtV0zyrgiXVf8alcUV2HYf+0aYANtKJdU
tWhyMZoYv/zcPnefKs1e3cX47IUkeipGSoWoIz9Rrt7NMULoJUnvyRKBVGtVB0/dl5X1EC4teC2R
NczKJ8KjetRefWKdZpfFOI2bvR6cV5ARNSRa9mUaCE9gFF6DmAUyl8p8VEkFtaLKHNo8sPZq/CSl
Fsg5sTbovpTbtCZmdILVZ6fCPCx995Dj7rEDud4Qy600y4epRsgDmWpLrOVpTmZWB5BeO7KKz0aV
pKe6ViBY22IfZ1sRF/k9J78eklfwqvL2rKv0IZBNd64H98tFRWUporZcUKqyn+3dhDaMCJxw52vU
Y7EFK0H28beVTi964XOEANZAVmmxmTRoWlvRlZHAU6EH+8nynBsvIdcReb1tOD2un0DvVIfe0QIf
RZTeV1EjHvaadkQvPoDAw8gC5uQzzgb0RzZHQEd09+bcokRVDO8dvAIkLSZenfyl5qCLT5iR+N0a
1RNg0GFjuXKmJaweTGgkmGXGKihu7Aw912CaYpfbzl7p8Ykql42ap661DFY43NzjjAphchNzSybH
C8Xec213+e1IJMC4BquSNMhqLi7pWoYs5ZOHOiXKcaBZYb5cYCI9WtK0zkZP3nCF/DzrBYk4Sm/N
wGYWuzTqUQwtveaQjLHEGbdLoqZt29RnWuJpE+ecbgMqRePNCOjAddReYHBmcgbycE+3qXpIpAju
gYySKCk+WI6ajcNhfq/61TuiJxRabX5uMc0JwQ4urWRip62mnS4kExg4c7MHkcuenxRM1gfyM1du
rdVG9MDlVkvlMgyo26PrZ8i99NFOaH1VZX2eu/wn8BbopOxJkamr7zpz/0iDs1YRaGOfcLRCXGZO
9+M0omF/qTgSHuxa+RCF9UmNZrqtK2s5OiwNLIjCfCQ89JaIdBuxoHfyXXq7xSh2HJOMrTfk7ZYa
FkBMd5cDhab2msC2DjQoRQBAHaymPAy9jDLpos2z2uzg+Iji+gLtEX4qv0DK1dsSfj6TG/aOL+2X
Cm0WqzIUWYR7yNyyGjeKH6c/srtkFTZJ9leOkTFgJ/Xk+M8B2P2XuLWiMRm7vQixrTh55DXNOyEr
YaR7+xdI44JX5DyWifdbYcGjgfcIO6uk7qt6QCELot5OxBHx10+1bQzbqYSNY/KJz+kKMCVCDDGm
hgt8HnSu0cebNJPhiPpgcghlKaNgugGbizCwtB96Bp2YTaZvrwrJCQzJoyk0/8qIV65PC6A8WOsC
CH6jg1bSjVPGPkb3oRMmc5ZatXhqDYBjLibxwWnkk9XMbjP2xQugs4mg2/KPUwVWVJaBTz0WdiQR
4yapG/umaf7aKayvxotx8OXwgkkTqVvfi9qA6WCe1upoxU2xzYI17FBkO6ocBKM62zNbvBQ+v7mo
PbUVXcbe4Nyb0Hg5deU7JZcsyiWIOVJjPjRrP8A6ovnS3H9v+0yz4IUEebkBD5P+9Kf+Jdfi0W3o
qjcLPQYL8Fm87NqOmGxnnj7nquTd2eL3UGYSRRapr6rBS72stop0Lrmzxx2NtHMQQtxkxERLnwZQ
GYpT3hrru7RBp2b3sToEgwlcthxu6vMg5ZcnA38ztDggPPvXmEGqXNiVvMnb+8nw151RXQEJh3Co
Tlwzyja3wj7VzvtR1K9hw/4xl+J3DidBBcNf2NavhOGe6sQ9cKz/jGE9nxLBYbkS/hMp75fUmF7y
LEbdZ2AORhNR1d4cVQupAiZmipAHsp5cGQ3OdKkTwpCIhacJ9GkvcblRYyIgINqg2RIGzUlZ4m5J
autWm7ZiRNlAb3TvGA0lkb/kmBmW8tUkHRvaZLXhkiH+LeZ7ahc6QZ5xhurVswoL2jVmr38tlVPf
UaXYeYwkd+EjUzNy7gpjxpz238xtf1KNS7oDzVgnNre2776ySvxpGJ7h8nIO1pA0PBj4DnrBqh17
YcT+nNwOBonsIgmxgfJBJz2jBeENO2E0v/zEHPZRZiThE0/P6KmcKiVGVhoy0CvkH3NJUdWX3ns9
b7uZlJoq7wiKlF9B69H0457sAoxlE+PqDUmV9EcWGRkWzcSurX/Spcmhk83HVM5fVoVmvxmyUxyv
L8AEVGulrUZKT/SN8aYTTCpsrnecEX47vfPc2sODUxmPoSXvRcZVKrOEVmo5fjtiOTQ9+xOFfKPx
5kqZviYBVjpVi72T5OFNOgOQ9o2UCjlNHoRdW4e0XMO3UzK/dKGt3SCINpI9ueEdq9pMnO2EYNEp
xIwdhtM7QW98IDFbJGkM0Vh7/XZKmN2kcwOTe8ZMJkPXus3pMEgPckgRjJ/E3LyH2tiWC1phqYjd
Lcbs12x9prb1npQZTOvOIwZoZnfu3a0crO7OComFNhiUQDe1ncA7Kyxnk4uhGDnFwrj/TPcp38yN
KI5FZzZ3QzFhwtevcvbiSzuueHr2Ydv+qrXbgsYkksKgjOe78WlWwd7qTXM35PmPaJlPGw02+aBK
9p2TJqBnC86azjjzjpCAluggo5lIEGLu0SN5T2BVXvX4I1K63r71OnokRhVh+GF4r0Hgs8s5Q8mZ
LzjGBdUicyKILqwAQcLvhzlLkrJZnVLQpJ4i+IlMI4voQ+Bx5BJy2sTAYZNQMtVKbq2OFcTE81qG
3UNqMBRscpflIXsQKTpubX5ZSdweZl7ClphDluEZU1lY7xpm5hbH0VaYl7VG3cSM1awYd7Hv85Ym
c/qtdUtmtGntM8O2cRd5HL994gdU+CDR++6MsYi0SNTOWsRr3rU/fVnjmWPgUcr7oaqtDZVKzDXu
GvkrHUUYoQne5rLgdG68OTKF5dt58yWQ325RPnjl4p2apcWlwblzWJwZUatzMTvjtZvJcJj8qoIP
A3z8V4k5fKIUYDFeqsjq029jSOS+yY8T1f22L9ULm+bFUctjkHB7IvZdr5OVZ/hlh9VaW/ABDg2G
giXhbjFTc2ME0t4lRDwNpnhyRuu9zuD2ormMHP+kMh9jlhM8pzSgN6F7yT0kBsQj38gkfaAfN268
MX8IPManyCwaor38OXuRA3jjST4mcj6RQ3LXdyUqxzsvt99r3gJRd9ug+VYpxcZoPHQevifHuJ0k
JtNqCfZrYQpvYsODy4E2se6dPPm0Y+d1sbWFmxZpWtb8ZICQNy5VwlD24d4zXkMxH5VnXgYiGDet
xJxSx7xdr/E/QJI/2lwtJ3Yxt23N1H1GQ/jSuBOu33eGCk7BAZGqdBtkQ7nvS+6Y1q0wL3lt1C9i
J832YwmCD79saCFYF9Mqf3QnPhytv6rqa+zIeKsYcJRm/MoY6bExCADxqx+bF1ss6idJ8+fCq1+q
ATs1HUtsolXwJbifD12u3ysO2HDAWJKyZialsK8/i6w9rUFiFfjI0C1oFEwnQGxRYatnz8vObWf+
DqzueQzKfToxKq7D+DFcg0fQcfzkYf4okl+jq+/tzrhN++ykzeJbmUyVWiyrhQFKaSEy3UxSd98O
AAK8Dq29bTW/QSOpRb7nffe3TO6crkXKpJTFxxNeanva1Dq9jy0EC4ZzCQbvx7PKbpu4a7PKdu6G
wQbCoHy6SJy0U7XrA3kT978doAVpgls/MbBmz49GTCkIsjMv8D/Lf7B1/x8m9n8R9JGTBcnr/6zn
+19t/ll1n92/88T++X/+S84Xiv8A9ucGgS1cYaNthXX5XzgxlH6+RagXujzoy+FV6fffcj7/P0CQ
ofD7RwLItvPvcj7TsvjTKEPorYX2/6Ocz/7fMLiWxV+30skCC5Wgy6Hlf8r5GtnYrrK1e/LYWbbQ
S3C2lN05ld6vwg3kSdsy2Y2+++0s+6Db+o6FREO07wECvJ1GI7FSOp8pEd47UaScvEIYHjXLu2Uk
+GqcS03M5IlFZsIPLP2blBo/TC4k7ky7zC6R58XC3UD1+Z3MhNMII9ulLmO09RjRJ85m9oLlEqVh
Nu2N0gixOM/e3raJipWxg8jQ+goxAmdmd2vC2NymJQtrH2Qeqz+W56YOfnL6e8+dZGZHppYN0Ou+
8JjDd6i5Kl2orRLMprPJ9A6lbW+4LNPWN32gX3P6QFfexs+1a/Py49Sq9FWpxT+HDeWKRnvBUMe9
Kwkve8gkcoK8A8fTPab+2N8a4Up5CAAJ13VOYQGzXebZSdaZfFhwmMtRgA2ws+neq+8FBok9lQHB
FWZpgXiFkeiW8bRNdP238oK/ceAUZIHVb2LGzFcyTzoDTgAl79FLgSloIgbZ3FlDN55qUBoits+Q
Zy6IW7AgZc4hyOZfY2k/o5xxoqpMf4ulwYXd55xuaQNwWft2v4w/cTHd9238UDBYihozNw/ukGLT
HBSmMbKrc42rHPL+xqPTfA+kjT59hw1L22x4rvWbwCYifSqz3caANWI205aD+T72hj2FcL13BQUI
2ZwXzwr3YQMEA6nmUDuU/CkYGoAZmKFY0w5WHiIKJR88Cmcw83S3XpRXeZuGU+dBjnWU+CoD3Fl9
1GaOnb09BZ36aEPgKw3JIHexEZC02DN8I/xcnmbR3dkJpsMsdzmZpNf4x4/GOIpGJa/MK4Jqieyk
+s4aJgPp9ITtk5o0O2oQVBsqoo80rGF++9Z2LDm0lqZ1jxsFaIiyjr0fvpmtp/cF4thdL6w/RiNf
BTFRQr20RVjfgNjhfVnBJxvkuxuytJOogMvRqz+DAUhIMuZVFIdUvdIwgiPoV5i+c75lZh6f4SXk
GGl2do4xMlhTQ6bGfTeV/LvYLbSPWtJeWrkThtpwrC2LQmGBoWeTzQaochRbhDF5pzx+MLIE00o5
v6EEO9q0kWebs3WDmLLvEvEUlMPRMf56S2o+dZP3PcjCPeRVciTcjPFAOkZ5MYOvEvZjN4bPRTo4
u191Bh+X3PEAKBDMCbMYt5P2H9qclFQorp2gIAmainy97DxAwGNGUmOnT79zi6kk0YKsHwplmO18
uJmX7YZ4ZM4g/D0dO1CleR21XsxF7Zks4Pvyx+HgLwRMDJrDoIY74GO1nnigU7v4pUwXa0uwTdv+
nMhkIxQ2VHM31uOF90T638WS4VPGE9eH4a0n7bu4DTKUrEO1rQTl9jToiNgRxjKgxozQOA1F8Oga
BJkm43ZuiEGeXPLwpg5p24KQIDXLb3sYM+rg8qEJqOvnQr4kRkpiiT1eEoHfn5YqQaONmDbWQJzb
WI0/BE3h7C6ad0/TSAJZ4RgtcGlyTzrmNARp4ZR/b3xyi2hT+mg9IFb1Uh8leukNoTk/sc4x+BUT
7IynUMWUG2hdnl0bEG/wp6iykMRYDvgS2XHi9QAeEzfdmQn1IJXfqYzpH1YtDR2RvOUhfi32AG5z
aO00pVoPUk3wPlYzh06ScnkoxxMt3U02xs4Fgn/Fu2m7yOEGdYbpkiDY2c5KyK2NzOEYpJzYy4V+
DfjfjLUMS2kpp4+REV1ketCujODLlZfWa//k3gjshrHhEjAVqLuCcy3F2oGrNgmEs6XOOKw2BSN3
angsRm1UxplxDMHJWp0pThm8OAIhZ+hJjAbayZC3/UppYfU55gXA7OJPPaF+S0Zkekn4QAsNtRtw
XAIM7BA9IgNpxdDWQDJ+1mPyZPcAfbqciXIWM75F6qyMC6OdhSmuZCgyyW2iLP8mKEHBzn5XHCZU
z3MNgCDuoCUn9m4xKZnCoqWr6WTGoZ9nwpBclxs6NYj4IdugGDHw9U35K2aIz2Y2bfuUOYQTj1Be
BjTYBnFIwD/4DSkdbru0jc/JKuzjVNVssSbdAdFX98Ok3qUMwlsx9ndTwwRl6qY3QxfmadJvRl+R
pBWadVRXBvN4sG4qTZljEgVAfsd9myTumcWARblynK0klcKLcUh1Piue2NQrLpikFvzg7dRHheP9
CgEZNSTZ4wdtwakwEI0sr2LSFtdqL+fQp+glVMl2DiNYUgSqBs3sJP9UcnzNatp5C9wnyKqRdmSy
ZexEoMqxSjL6siGfT1+tkIPhGM56YnjY3FfDUuw8wRS/a5iPBxcfH3yifc6/oXNsK77kSh5HOUp6
e+BK/fRVinCfeJidGTbD73U2oRpu20zyUnXClV1gRNgO0X0py24Qs6sOHv2oAQQHO9CwG5tfTcj2
4sd0OdXCH1QL7YEhLy1UPTdVPj/nlX3v97xGg4VkkyMBRdkDycPo24uP+LQgk/pxLv2PpCE7sp3G
0yItcfYSRjM1ncV2nXS2PMg1zBdL6fQSZ/6tnMv+tvMANZEur6pYolUlUq2k70LeeBzQ21fuj3CQ
I1jzvk7T7jVtWmBRmJxJYdtMtOQiLQWiEILb4PnB1zl3FbL30pucS7w4R0tq/xRyagprPlCpxdFc
4r+i/11mnrttvZoJ6ZgDLnG28VSUJysfGdoF84N3r2duvNxqPnwzbzbGyAY9GtDnWMyirFXoSMqJ
q0/5ZXPDMQKGay/cr5YHMSpM/TYYdbedC3XwdeFHy1tg9h9z7Za3Zhw+1JzezgVM8v04uQS95OLD
yhq1b+yAE9CYv2SGgWB33bV1EjcnxukC0FjO9UMbHSQdsvyye1sMxzykrrqACs/4ky9NPqR7s/xr
N1BFMsKc66E7xav0mgjnqFPspFVOw9oIWKw62WVHutUn+LuPti2mNYKb3pY7/54l4rGA6QXVdIMQ
vUHhX5nTxEGnmynj7FPWGtwe2oq3cRrCdGcSsxXNdFpGT+InSEMYQfEpDBbJdHfhzCRYuzgF6s0Q
Qh3jquezwS3qhLALaFQKoLS3qqOZ11MNRsjn7SiJxVEzCN6WjmIm5KSfiOnHbV63+2IJ79iXJlJk
nBmdiN9zR3KDFlW8evP9Rb8M0yC2cTfCogh2cZoF4GayOnIT+415v9pVvgctEKjG9cyVGzKax5CP
Ouu4a+ObzgCxwKDC8gp9LEP/VjlBdhp9tsDZbNYUS04W7YqVsZAtZx6mf1PnbhSrnRGn92KkReH0
My+pMZ+WQh37uIUQ5QD1XGjBZd0SNVyEtiOez3J+d7qfT1am1D6r4mJnOkBJrDGIjKEJolGLYU1U
OHgA1iOfi0nyti8IEU0KBi/mLl/eCs4uhyHL+tVtPlyCJfiwyuZLx7Ro2yr5kove2Wu4jIXn5DDl
6IwyZhazho8+U3Kgsxp+rC6hX1t19S5wWJTnMYBgj/6YY5vLcZOjZuxO70M9OnfjD1rAzzn19w1O
i9KmqyMLAj9T7bw1JFjovHcjN8M/UEhAaVO454gICLEWjHVo1mZq340qONn4uSmGNEP2dHkikWKK
6LeDQAjqG6+jeT4okkcVCfde71a7dgodqg6SgloT17Qf5E/ICPyNZxC5RC8hyvp+xsvAERzw6qc0
zfuKw8q6GyY5Cl1ZiICGWINm7hT8CYNk55m0hAa4GVAcozwczZMPU7ku/yypABMyMOP3w/BM5UrQ
83jypCJnAHmGrLtvzkofnPQq9AYUPa7eCZ/JVG4Gu3bWdNsngj1xUW1qO4kBrqzRGYaHw99vGHsP
9Z7bOi4HPOeULVEgZ7DTJokI2r9obKrbcYy/F5/e7cyeo4PKAV4F4ahDoNaHRmTFmJJJZ0+HYI/l
rNzOKRPqsujvEQhsvGUIWeIQvOS1cc55AE+tY9+n2vO2SUZ+ZYp6FALpB7JPcGaGujhgWgG9+IC+
PDIXOz2eMzbGRz1nFyMV+jQFyNqScHw3NYMrp12OrXJ+Cqd4HhqWUt+6hClUvAERxTarmWfm5j2W
MVMGPTKC7pZ8AcqYFgzhaPunYW5vkSueCAOUh7BxfiWMnTaNHusD/l8TJcDrQhUGY+fs2/dDwlki
Me0bBy8eNCnaqDO4msQzvh1oij1HWaKcQHbmpdrV3Mh7N44j8psPuTS+stFCgOLB4ItrdjgPlSC8
tMza6SBN97YJAQO9DtlmcwrSHut+1+Al51DLfm6lsLY4iG3zJI/CrqFTXOUO1WqYbdlOfwg+uEu7
YJ9ZqTjUOfNgNYt36dq/LTPun0VgPJkVEa9ouNGyudsseSVPgH2UWME9eAfa89QmzZOrqObFMoAx
8mM/ShRtXFN9WrmdAonNxd5HV0aNDV3T1e4W+v4LSpRbIUV7pBX/Ygj0WYpRFYIbV5svWJNgBkEm
aXRb71MrhXgnUb8gd9+KsPk1zw5o1LlHnia9L6PzXhUoj6iz34RXMuDLYNeuxyjHijy0ErtxzNYZ
ZD3TLvajoYAukidtpLvZ2aQeFg1CfLZD/d53oIFqyZzHHj9G0O3nmqVAVmEI/c9+DqdpW5iuenHL
w0C0wE76oFpaIp86GATDAvFP52QN9/mqpGPonH2jfvidhY13S5jOZTGQrbBfTtaPMNqPhHzRsDf3
brs0wP5GCQpg3NklGqbY0rfC8xmWAi3z0xHjGa9xo+0QH+WqMgjZopLuoco/xn4ubu2xU9tlzO4C
c/yjab2OiJDqkRa1qek5E2Cx9YjL2U20Ziffhd4UjwNIuWBf+ZO1KxOkD119F/hj/BgDtkoRKeNP
ApbRWMbG0OHFRONP9Qan0rB5QsPwCclFfMSfvKUFregPrKOfWWMo0n5UF/1t72K8SzU9qi6t9kFo
vthjE5xCZ/ldYmM0cuheGYtLHVuXvOztY8+Jx88siIMjCso2CdfMF3XHmDxnQ6VucooKd5zhHvpw
tlhPzV/4n15bhyfN73/5TbjsHd/+HskoRjnHvew2t2PIyQGdEZwuulqenVxKVb4MeFpHwnI25sAM
inHT85Q2DBBT2jLbrEieC2zk1GLzpSe6etOrGXkI5sInZnZvuW12T1bK5BaB5ufiMaTNcBI4zhtp
lttLL/pnuaQvi4OZkQb0OV9pIldjScfYCX766jG5fsnKP7kO65Mh++y4GnX+RfiwgNoj93AP1391
pco0jAUPoRs/2Ihn5jIwT+RciBucEcY+1iYBwOYqEdOnrsQEdzXreHOIB+H67ViEh57e2yG1JCtZ
ro/XYhLIskD6NeE38rvhcY28mZvxh6DGHKYMkEDyyx+wX/zSXZugTmYUieqD6ng1y7AifzPE8FNP
f42FOjUFAXND5+EM5butqWGjlcUIBVTG4TrzZ2FqCj7PpP320W76xkLDwtOsaBYBtSwQO6tEVWnZ
OTJgKkUcwkCgns0gdfEUjg9OHFww1XGGnCEeykSdGAfTBLIkJR1g2a6fn2KjBrrY7QZi6J4Mr/lm
KULs5fgXNyzRoRQf/jje1YkxRpjBkLMmd3ZwbqX7OjphflikRnOQxpuSUVupwnKXCnvZmuaHhIDD
m0BHlxVEds6h/VQQ0hVBj3lnezhbJvbobHWH4ds9hJ4HlbfiRGfk7qFVlogCtGZ5778LZb8pUT41
SkESU8O3nkQDw/As65Jwd9/Sh6xJZoQBhc1Nz7JClmC58aOcm9Z80KK9WPOACapGLRHyCNmVRaxr
QyLwbDpHr6ieF4iwmXocGLceCNEzaLMOb6WTklYFbH4sy/xmHPWpkBkkLWffIgzPiUSGsNIs8SEp
8jPthDvXsW+xjjV7b3AVJHP8j5NOdWSuRoyrG+P65WrGcNY/cv3RS2PY2M5UQRTBLTFO5bCzQ+Nb
lQV2Z5JbOm6lw/WnuClfuzL8kitOvOmKLlqKCq7r+oT4q9PKNUObRQZEaIHYvJa5c9PfXL1MFbHB
KFzDyJmat6sRZ1wEk9Wr5WkoljnqXKa911duTAtxkAu13xJYGNDXl9pffSTBmBIekTiHZEDX6i6P
bcaR/+r/uX75NwjQ9WeLC2Vmfnr610M8V9PKj1lfcmYfXdrpJ8T/597JBDD56ApVytAeY6yeEOa3
cXtJMF4v26vHkGqzOfXh7+vD6JCj5DDCOrrre7/+lVaS/Pffvv5uJ5c0SJOw1OeGX1IYVXm4vmPv
Cia6fg7XnyuMy/vAnp88R3+JwT7rlPbJiJHy4OmWXPSG2fk/lpurGYd6DHI/7SWKMcQcroD2K/P+
cLX7XV/pv9x/dcsgL1zrpnZ919eX3jrFW8NuxRaDPVGAbdf+4MLGdvtjFde7MGD5Tck9ozLXj32H
MXLyMgbFU1kmK0OIBdcQoto3lXhiUlHdDLN7TBn4HjiDsSaUQuAkyxbaUtjF5nIyDo7fIduTmXk2
ZeyeEehQkU1EZ4vVlGkmoAr6Fi3RPyaxdGVvXX8P9gpqmWKBamqBNAhW5LxnAD4wOhsfouubW5qL
szquJ4zr+nu1E4uqu+vn6yVUtPzJTKcdljY3ccaX63fXL9c7zpTGz2JOJUZgIjXorNBgBup1/OdR
Wc1M1+9sf2bBVMCo/jFbXYH2V0OW4H9eSf1BpGSmufMhHuIp9tE0kcMVSqDf9UmtCQWT8phVapug
N+K46RQwQ8bGdP3iBASLeWu+RLD6mxzVhISaONCJM9HSN4q7hH43q02/3MiOozrFVY3oIz7kUybP
Exsbo3aqnuvDeP3yLytkClLr2Cd9ZLQVIgZvleRfqVzXL8t6a3xrX6/z3jVAAbmhc6P9V7PK+tP1
OvzLi7eCy0Ic68bgUQriYW9WMzul3nLbuRjc0XC2hwTP+7Sa373VBb/a4c31S4NDXq9W+Q7PvLma
56fVRn/9bxbOem+12Aer2b5YbfcL/vtwNeKXq13fx5u/XE366x9A6dedbRz81/9m4env/PhnXF3+
DnZ/t8X3b+YQADAoAgNIypULwIMG8RhWwAA0YFjpAR3dUOsKFDBiL700K2XAm3CtjCt5AA1HRPfq
md4CHdyVTmCvL9pciQVqZReUK8UgXXkGxsCPxPJ8CVAHTQbzoAd+MABBIAjoQrgf7YuVjxDPP0A7
0lv/ik6g4bZZVpqCBKsQXvkKK2lhvEIXuMURSawkhqFFTQnsBq1eXqxqSPCBK7nBBuHQryyHAKhD
A9yh0+DaDSxVYVwBftBtDBJ78h5NxHQbayo/FNLVyAMYoVdyBMIoZBfAJCRQiXKlS8zdkB10wxmb
4NJQwUYHREGgEzzs/2TvPJbkRrYt+yttPUcZAIcc9CS0jtRJcgJLJkloLRzA1/dyVFmxbpm1ePM3
gUVkUoQA4MfP2XvthU0xVfbGMVqAFXUUMtecGtjDpsjPvw8usXMrwCHGpggu5gBrPPL8Rxq3oDHI
6cjOOVDwsp87apBwWPcxS50HVMNWnA1PcTaWRxY0Ac2A36crLofA5PrnAekiTSCb4qx3f46TG28i
O9/GPv7qUsFCDDgwp+VRrZ4uj37/IlJMkBGF9jplYrpefoHMguoPgMnm959b/pXlD1tG/NbSX9/V
uuKaAIM5mSX2LOZyPCQETztMgNwzzZanhhQy9dPfh0YhTZanKF1pTSpKijEISjT4KEXXYVmZ1Uqi
0CphoHsw9810J3P90ATTJqMinBSLRSoqywCeheaKxT9gAOmUe18G0bmauGL8SmxZCvheuD2GAtoL
C+ex4q6KtwwIgmLC1Jl01miY5NmYIN8nElNITjFpBPJomdzX8IQgr+YugKra+LQjncu7fY+77Cfd
lTWRul8EYeEwYeA+lu1LTMAbbVr/XaZeoPw8yldxoN3a34og+pFVBHOOLhlFQlaM3kgDb3Nn6WGe
RJp9M+Q1QVWP2IYxtdN4G83MPke9rreCjyxr2k/fZebtdVt/FC+J/8WaaIzHtpWsO2t6ZcmGjw4U
Yj1JOl1l8+wqO57noPhvCNXocjdflda+xokV6TiSaWbY5C1427HM3zOyLgKBSKQQPYssdzw7wgzQ
VnwKNu22Innw2ugUZNi76jR6GfJvmH+xAhNYMmnobfT8jk4X4mEevAadutjLrW5lW+6DFck5I92h
mmJhBqGd4Oxv3KK6ebS1jQYNXRAMJ4/817Nqy6qqX4jql6uhXTGh9NbJg5gsm7gBltI5676zMsid
Z94zbTwxx0fCT6BqEn2pJ2Zsfvai1H6cWIyzILzI4qVxgecHcQrSpuQM4E659/0RXGY41msRJCip
6XTQXSxGdIBlh7anKukYA3httjq2QJebIqJE27QReFYTYlWTwf5LS+wMElLzYeYGyBUcbBs2uGuz
xhevz/q1DoKveN5R59bbss6PI+YOPMgfFZMAN4/IR6hvWck0R3sg65K8G0beMOnrYNP1kHy7oLgR
ArcyYveIueXH4Bb4mBJGCkP8gXADRdS2rwQxF/Fj4BEfkbZi65coHytDnMkcB0oBlDcq17Lf0I3Y
9NA4DFp+ZaKtLB8OrGVeaASWbFX1qwyGfS+r0yCUjDC/0D63zPGWYRMdDnHLt2o3n2M1X70C7b4M
8b2Eb41jPBvOBdP/j0bc0hz+Bv2/51HSXGOAfKyVaXDSnHGjMsFX8yCMM1e7cV4eLYdehOZ58uD8
kHv7rZohBixkx9Saox0ihHfTDvD8OVlBpz+KmKxHq1zdApg5EJ8ue33vtQl8oYPvUb0tQEddJTU5
SzLN8rxt3XkTl1Td0sRakI4AhxM6jGBFavZw3HllmIqvEbXHKsO3wVaIOZzaZ9Kr4MvsFP2yUQcz
ghkaVRPQWJOoxTh0b70GulyxNKFVNidsSsA+nQKxvioLl4Pruo9tPsPiXTJnYlXMTR5qv3U7fndm
PUHrzCZmyVHDu3LwAnfaR1Wg5ATl6h8RbuM9AWF6ouMKnEYdxqVCy3XgxdCpSNNDbYlqsVgnCddK
EZkT2GT04W7BNZwaICc0R+eLZ0C3QuWwHgqIvNyC/fUQ2RJq1Ew0qxxBmcQE851CdSBHAAMkijkM
8d2sPXsF76TQ1JK3/KEmZ2AQEbmAi7gBsAPcgs1aiw1DPRyTKjiOhBanWbAFk/VODhPbiXxBAizx
cqNy+fd8NMhdUWVomSv686igmGaf04pXFapoJ/SCeAQZ6v79vDDsI7q4bu+TuoaF/u//PlGPGOwx
6ebeouOsz1OMlU4dOCtf05vT8rPl0XLQzPJSculTH4HloVRxD6MbbYNs/iqstmPnWrzZgxGfWQuA
V2U0mcrCZUhXimBV9P0XXBW0hAc1LAR34PSkzNAK7E8h0L/VFAMPaR2D1UgdwpkLNtTGfaFYI8vB
Bj3kBVpy6JZ32M74MDNKHjoBibnuQo02lpHEu7gSr5nGbXE7Ztg6DLckEaXRuU/3oJNzVWuz92K7
ERNU2rbcUXnIDzOF/MGd+LxI0P5brPf/EOuZdKz/r2q9e/MzLIt/avX++it/ifUMw/nDchyfcZLn
2P+Z/Wlaf9iObTuubjholW0Ae3+J9SznD9Phd9D6TNO1hc9raMu+i/7X/7SMPxjIof4TnmO57PH8
/wp7z/AXMd4/QuN12yLUHDagTZVKXrH5r9D4tO3nlPEXWZvBN4855KlQIWdONo+4p6fDRNxUUPak
Q9XBCVc5cXFN+uqN8Y9Qj2hBxNg3fIUi+n3wFNo3SMRldGxjk43iYbkNLocGNkpXEyuWLG2cP+8K
ndK0j9o1U9vD5VC6fbKaGVNvuhLY09DUR8cwym0XCclUzXH2zjjTqgsj2GDpQJ5Cm6eHXgznQFif
SaYFD3WfwSsQ/lvhcRNC1FbDcnpwfDq2cnro6xriuJcfA/wdxohyhwrtavdpc0T/+z12yEwKZu0c
WtKBTSTZ8KPE/AsWunA1Z7W/p68Mz8kc3yqmkZu6dDA+FtXeZoubDnoK/iApoMkgdRqDTz0SzmnM
vGlbqkt3uaNa3mis5BAjhQv6XWHg/qzUwR/YhYrsA6lVc66xQG0aC1tFyLvRkhMjMji66oAPlSne
348AfJM4jXk5UN9BEYJc7lxw8nUYMqBqu83cT7gVBvYnfwMtkJM6B4wgqy71sLEub07nf1tpmJO2
g+ziLR6+FymSCwnN2XmazH4zlaSEmU3qnrw+sjfYZe7YzDaGZu2WtcfQgDjqoZltctzXOcr1gcEo
NTU5iwwI1PIZg88OA6/F164iG42ODafdOyayA7c5Iy4wN27KVDIPPeQqobunnWcchU+g4N8f/b++
ieUXy89owVmkDfa/hFXsdWw3B6grbAM9slgahW9aDgDEmq1X2j91t2Rf0Mv2FDps4XsFvnbUxbA8
+n0Ytailk10GewvJqOC/Oi2H5Q396+lSKEBSRAZhUtr9mRybKlrPnw/n0XxA1IIAyDC/WqorgYMW
CIt69PupoX42u2QMegivlm8agfdf3/ny9PfJsDyapxE4gY0/dLkil4vRXSIrI6XKWn64nB2ghL6I
HLfwwkJZPrrfh98/ExEd/JTATlXjhKqeoWkJzEgorpGhDstvslkGGxoWDKkVB2gJhV0Oy5q/XOd/
FgItm088fBGBeKq/2YiEbuhS4fzjeZbunKl7tFoIldslCDOiCYh/LfsIU1bbbigZeGms+XlKT0h4
xnyy1WF5uhygJzMVDysNscrXBMIS7vp9NRTpAfKc2IA1hFZpehC2EMB1Jw8WNhSyYir2xdidGxm8
eyWm0JLgMDfutZMnxMvkzflOdiYF1/Ki2Gqh4Dot0Zz/iuv8HbG4pCv6LX4lv9H3hkKZT+rqNIPW
3OO+u7JAbNCVGce0C8uzk8O90HQt3GqinE+RxUHXtOnk15L4K2v8EueNf4o1CmRrfuWTTQ2k/bTN
GJUOp4Ex8mnigt8FkQ0hogvPjWu9eInId8tLrNUta5E0j46ZMwbkNrb8YoiTvEZFQ6N3krVj3AyZ
vDC9nLmi9ZY8q8fWZzRbSotApKG9JfP4vWsAmwpNMsAbLnHYEFfBSrc2zeBH7BvZETuvsatzJBNB
84xwDGV32r/plOK+hzANl8VHXhmQAmX+6O+YGGSnONcvMo+zXVHzJ+q4w1tfzpteJj6O9exaeW6x
Z8T5dZTzxhjTr6FV+kcxJnBqcm/G/jxjwFCnwjjeKexhlPT612DCDVEaOZ6wvr/FZhnuUJkS01b0
KNeGuCVKib51F1akf01OuCmAlKVRccmqOecWMcQXqyABzuVsCulpEUaFQ3A+YxQD1GlRvncm+Yfj
sxcRuyltxoA6gdMrmfTmdupZ32xvPNS2PC/ZApUHObIZo/bM5OhtROWynhINf29U/EgFLZnR6z81
8GWnuTLcrfCIHBnbFrbYwP5Pi7Zkeb7GePH2VTLdtcTrjuQzDLt4LLDMZYwBccrdhUjE2W3t/Fik
XrdiWh1m7MoxczpbO0j3ONeIWzGtDqJUedYaX1Ds1sxgx7betz0iGNEG3daOe6RC8l6GtKVsCzWz
sID/NXEAl2dO1oMd044XTCizxGOUTRd13aCT2wnRIwzL05+TMZNV5U8vPW7JrHEIqGdms52FBlFI
0IwnoZN2MAW0g1PcN0zke0mAWqviH53a7KGb2Y7zxY9ns0i12zhF/OXwRzRlzs3LtGxTBxXOzyB/
Hatu3KZuYuxgG30rkyrERKOdCjHXRKV24QOKsbPoPH03013XtEa79Q70lFCCMCG9wF4Ndjo+A5Bt
d7bVI30CMOESEXv1Krva5OgeWEX0+nsGQ2s1I1ZcxaJHUBmxp/I88U7WTtSfS1+vVnNhHktku7oe
/0jDCP4CGCKG1toV0//amOqJXZnHEj1yAQ1F9BUXbUWWEqqkoaqNo1awMcC/qGTa2pUX88O1CB4b
TIOxmVi31vzDKMSDmwePReVe04zP1NHLb8BJvnrMiYPRv8qS5ojLdZuaSPuiJLxJEXkHM3NxsHOp
AlAmHSqKsOsG/aXNDft1dgNtN5XM62yMQE5RvaYT3iRbO/XNaOwcS+sR4BFlkiQ1miIIbr0VvZWO
/5nhC9i2OgxUT7e1G1lwfV4ihJ8crkkjn9cAVpBfqoy6fuoffAXzGRAQUBnIzxDW54qtIxL8DApW
d4wc4122ukm72fqKxe4kXfpezvjaxdm8GTXrV9q49mPRvDQTIXs+cjE37NJjQ6zKhrpU7doGXm4S
HFpBjgv6gnxbkbOhmeODmfrPvNCHOA77dQtD6JrQi42nkLG08zOZxJe5Ck02kvpFICjcWvrQkKFJ
KFBk3XqD2hKsho9GsddWTa5r1zzAu+Fl8VkX9a+qZIloBp3GT+aQc2doRMtio8QDXG+xjH1HXX5P
NL/e0fW7xsGckK4aOcSGGBdkoDcxIVjoi/TRRH7V6Bl5VkP3YtEsbbGa0Is6Rw5hc26OWsguoQul
g8GmHy4bdjWS3zxpb7j1I8bxsIDXFb2uYWzpVs79hvS4khAnvJTRalKAa6U4FmmvXT1bfNj2NzHF
wZnuebGyI4aXOld9p5R0eZo+SJdSRrdCfPlU3kX7HUt+tnOhgcxFu4v64ksUxlTiM47rLKLB6vrv
kUevqKevdJotZgeR7A99RbrwmOI7tnzy/LT6B7vj7sgHkQHKuFc2CVmV1jzMODYyJDKYb3DHY3GY
K5YjKOErcHPECpXjtBFZ6J+GEVmKqBCws2KfJ0NuuT31N9ZSWmT9Q+NhczWCmDgh2t99Mc1r6Rho
sfS4PLhxwjZHH0hBLEF/0IOIYAMwKVL1yfJ8efR7iCZbUqQmjZJMDY6XwzJq/v2UJZEoo7Z4Gy28
4ENeYELIsZroMkFcpIqo5SBVP+RfT8t+tI/hCBuXeo/migGubXoWotGhkqEQaGQbn90eukKF0erP
hO1qCDN2SRjUAdAQG2vBKC6yV1Hq007zW1KGsbaikamaXZ9Fn6FiusbqMKsp6HJIxpEK2KMMOhR8
S3lNW821CKMz2xhSgOIUL9E4mcrHMewh3cdRfGksMk/w/36koTZthZkfYzmQ4Kt+3Bjo2l06irnO
TKSsJ3ohwBLZY0BH1m1Cq0SuTi96NnjSfkywzLcehFqqwbiyj4P+j+iZJX+mU1W5GaLKYVsHY5rt
z+9RX67CaXzHt1fLWE+oKhppz6Rvl+d+Fky7NHdV0E5Flfh3Zs4yil4Ymn8OzhNggtCCVWUv0y4G
c6Iecu+C0qRTGPZyn41Ex0ytfg5iy3hG6fYGK2Y4sIogcxx1wiaH+jpbufVihUS4Ce9By0tO7tLQ
7uB5fvSRIHST4QjIkL7ceRWIuaBLxpunDkHU/ZwzJ9tltjudNMYhW6NhfzRH0MU22WBo+yhA5VFQ
PhnOZxxO1daaBoKAYtde2+oUieKyxledO3djmA5BQb1A7NFHX1r2pYbwm0VxeCv8iq0pKq5VqhFY
5TgAPNrG/BjZcrmyLZ+YteXVs0aeY64170aXhC+Ohyenq8hFYzdOY5m+4usAQJUtcAxSZvg1gR6+
dobSn2YA01K1X9SFaW0tm3EkA6MGeWTY3KVjgxjQy37fJPaZMw/mCCpn5rcGIbF5OTub2LFDQnqj
8Wr60+OYtVdyZG58Ecr4ZicPlvET32t6s2ocG7MgX6hyNqKgZy5Z4lf1DDU2b10SN/2pXtVVPN0T
YqB2hhMgvTf6TUtY02Pe40Yxx/o6IDa52pwwK1vCTahqkzBrd9zq+gxdnBEqnU1vExRWc/OnuL31
JbHF6AlZz8c4ubYOLGJdNj/tiaaBHwZ7pin13EFIh+E4TtZDG3vlGR8Qcix0Htu85aXbiJUtn1sw
RIuTQ32/rlp9PnNXOLYDSrTJhT5sZ6Z5dMr2R20ym0hMAOCaDHbaEFmMGiJU1fHAVW5MD9J3v7ie
9RBBuTlOyg4kbfsxGRFgeun40fjhN62YxEM31cOtQO1VuIV2tYm53/s9qBq48vvSAjc8scd6FOQz
QiQYAZ0E857y4TYYRXYu7IF6zlsXMLeBL5IWKIXEmplyp0q4uNa9MOp7DoTQje9wcy/w3K1bYmqI
I9PpYI35ZyeEs5183BJ4MJOb6YEswDY5PqZ1WBwGFmnJgV3zdGGgetKpKLZDQUDq3BjGscm+TF7C
9qTke80gr29Q75EPKANzE7UJ2Vy8oxUqc5eTqxr2GFR8RLe8mpgKvuA2s29ngpnhePBO4cPDLCA+
iaYDg+XkHTtYsJnT7uKsKsR/j6COnmq6NAf+2WJbh+QQehnwPK1xQY3gXOB7o+U9pnczbrdRHBAO
F4xiO+XWCfP3I6ZweWkKV16WR2xRmL9qib5xnKbYZ+yoCStPKvY9ISYeeDHs+hADhxlokSfk5kj4
Ax2fm08PSCsTFCGYIhntAtMs455U1hoSlePKXUIkZyKHrV6DqzEd/2ShNH4mESt6gnG0eq9Tm/Z5
+Qk2Xt+nao+jhcm99+9jh4RfN4bXaAx0lLRf+47rqyyjXT3k+m1wSjKoC4ZORfPdABKJ9AuSdOEj
d1ub+XwE/uKvzKGnJpNGdm8htN29Cjx/1n6XeqjQnqI5Rp0bvlRzeMKj5h3rhn8iS8of0rhkg4fe
uIhQyDfE3WZhU950y94nw8QApqk75K3dh5sZ4uL3CJL8Ho5+Yth8qxlmAHod/cEutR995U673oIz
pxfOW9qUw4GJ6XPfEQFmRHZ57C1gReoe287tUwhH6KiFtrwZSc72foLX7AbzqSuatV7mE5qujBOh
j2CtesaDFUscxra5E2WbP0RCv7EafW0DozkV3vjoehAH4pIzsAt6Irlthi5dLreTRReicVONqOmx
2rmu/8qNJjsak3lkC/xZYV67TiGQwg6l4S7IOnd/nKHbb0EEeWhjzZPpRdhAPSyxORlifLOxwRnz
hTEHTqCB1HmkEnfUywb4/UFgXnAd8IhgyjUnBTEWoSGpzOaOtqx/Ut3U8ZD1ifvZOZLMYWfLNQVG
2MGEAotOncPlPiy+W1LXuRyGA4Re4zQa3ykx5CEtJtIHbIzQSVQcZ8cjh7Fv612RotfVYgYddXnw
M/dnQtn+alHd9zW7SOAfDorYU1Tl9WEqpg/GwvY6cLiUnGGCfQKFg2XFDF7Ta+7bxyR2stuQlvYj
5TVqsCZNtrHsApLdRubPpv+rnREEFg652I0HHtZ1sFeEGuLNoKTA7o3ipSaWeZonDQGYhO04mh7I
CLiGYxy3a+aZHWxYqnlHlQO1bMRONuZtKcVAlszAFXHrMul/64CxbKKmNE6+LV5r7tNW1ys2YI/L
oQpJO+wRrbOUXcB8hBdbjghpJ5oxFOtdR9/aDjysXzPQP9M2aPpoYJzmfB/2TPybyd/k0/DkwsnC
5NadhYZ/Lum7U5QhX2aOqARR1dGzk+CFKZMCBn5Yco7OMoPWVE3IgPUUmdEwI4ACFHjFfEdRb3rU
nBEhHkY6w8I4F3rZXCHTVEPpUvgGw872huk5hBKXtok80IqyViZa923Zkl6OOiS6ZTa1t2vN6c5n
+1rH5KUbGAT6Kv/V6CDf4VDKD7upnuK0yrc2xihmoQFYxjF4mSesurGhkZBtJdHVd3G52ASeQ6wK
trqrRbiYeCUxpLZraj6zk/o1IEO7YIhim4HCZF2W5i8EDrRNTHGUCG71Cf9QmOYWa0aJubWj0dGb
tthWmEHPPXw1v4GvRrhQ8Qrcbbz3Irg71keXJP0700ZWtpk01c5rP700w3DAXfKmdRGdqMImeLSd
dkK3hsdaWek04GHcYSxEiCm2RKtqaHK2xlPBQhfiBb+EQ/Q+ZT41Yo0wSWoc3KAkbVEH4zlYhIWy
zijMCcmy/ZiV2wiIFVSOTLuEto6N2m+bQ27IQ2VA0i3UCSsac5NaI66parxafqthk66+6LXXXEoU
D2eXVz9qLrI3Jzc3A22zQzYHH3lYVa/IpzfxAMwjsv3xSavlfq608DkJioNsbc6xgvmHgX2CdCOv
3NuYaaA5EwCeS2uTsbXd5nporzsWmm0EHZaRhRWuUng0B+kXA75/oMYs89om6IR5jdX/AnOEJBtj
ZiGFpLTxBEk5eUKuCPayF8yYmErHViKIxeaURzXzygSrdeFvC/7TtTegYYxiKtS0Lm9eeBuzxj43
aYOLp86yY5dmj4ZGSIcv+QLQutgg5qCsDb3PAsAWG3OJ1h9j01pHKE+vNCb20iJXaajN9gz6vttZ
6JJXQzQmjIJc44g56JP8EOWY9rp9oNnBzfFpSWS1ER6oinYk5/CJzJhm4xndtGUOhHSXHvu1smk2
9CCHjSs1sYkKrdgvH7QR4VY2jOmm1fg9RaCf3Yo6mO3ZwEqEXXlnJbWHlz/HhuM2j4ZuriVi6kMs
bVpd3zTLr9do1V70LJkPi3YpCWFaYqFXiIuvyIMN7rK4kMlcpKOY97O5o1amQdqmXzDnwS/OZ3EJ
8tzf11P+vctT4pyJSjn4yMrpRxZMTkRxiR2Ki4D2KuFGTXJWKElDq7DSjkwsj6lb6UdbZ+hUJnfW
ZHQ5XZBdndwCKJaWt07vMItBDazGmI2hHT4F9DavBQahWH6Ji1hevLSrVk4g6q3lEXuduT6btFJ7
spPEPS8HrxkgUWhNstaFld/tqiJUS5J4jfIPA03uKQSD615NBBVX3jbUBe2OquerbZNFEKhnIDi+
jpwPZzb1Aw187gVSOLg0NMQyQOshE5pP4O+bcxIT3zuxZ9266bitzEk+FeowAlBAuP2E0Jie6Jg0
99p6q1y/P1s2CDc2D+ZFc0EMzTV81DRL6jM+2+SIxVZuisx4MKHNPUNQ41yfAPLF4wyjzTJAN/PF
rdHMuUetT7x1rFu7ymZgOeDo38cetavPvWtd90FCctd8H1uu37Icv1tDHR9MvtQbGpe1lk/x1Q97
bw08lQDhpP+Uo2094ijc+CzJz0OA1CzTbxqQuht73uOsu2zqQMuC3qY4z45WabcK/pHtmgqsX9H2
dxqE9VlCeqK/baVnp6BstGncZhMUXK/ZQAliMWBrusqqdFOgbTtWOTfhHKTe1Ufgm9BxevA6TiIB
PJMy89I3RX11aR3GaEk2WSVepG2eq6b29hAh4iOumBxGVsfwpPbTezoN99kNh1NGO7BNUedYfhkf
gYLTp8GiIS1Ak2RLwkAGnMIA019N3DxBQTLi6cwk3hol5jyVW8H9w+e6HkidSZqfiNzrvV9436PJ
Pcl2yG9lBwNeJi1C/aDut4glb40oISIARVvjAClXFfPh/TSOWOYylvqEbROqQ6EabjiEY63CK4dj
ITLD/i23m0sP4OQoXObN8+RW+ynHCQeTIjrbODd0r6/wZKEcGUfK9MrrX6rA9y40cF9Cg7UEEhez
XvTzW6d3j64iCtfV0VGQUfbcnBw9u7cJbmFu09s15rphXYMF39XeYzfSnpI20GFN0yzCMHCzFz0d
pdpof4pwLM9F7W5D1MSHOCm2QmeRafv2vXDKrwDtunUwyY++p7L1xmS7vI/eq0n8mN13GRWcwHGY
HaTRv0be0G+Rj5GC1N3n4M1BnrcbtHrmFujQIPaZ3EK+BHjbWS9VejYsffwCDxZLeWPlO83uT78V
Pv+a+y0TwOVnYdC/RHVR7Ojm0uzNVS8JnEbPHL3c9gGj0TKy1rNH8AXDp2Kj+X3GnQBj4ZLqZBR6
vs5cpUFYnicYLhhahcdFWjP5MAqFgzzZkBHlu2Uh8On8bBtb0Ew8PXwMQcLhBsJkt8ztl/hKaihi
p5sIb3GMNEHPP3Lh9bRl4bg096RBqhCqwA6pOmW68rYGYeVDNFD6HrPIN7VQSLAExP1ygAFwCzp0
hRqtmlM74Sa3Rk7unCnWOUgbdsq2+cjFgifXqd/sWZrsWWLgbuxlynOSYVdg6J9vdN+jjeEYVXWe
uELcKJ2OGcosmtBzuV50T64SOPkLjW6GiU4f9NXAZroKkcKufMHyF6gArzgKrTVbELKp1DtZDosY
KlNNvt8/04SZ7NKpfP3XHDoQVEkpuxFbxfss73x5VFZkxvx+ujxylV6uEUyS2B5SBSuHw/LI+/vR
8jRSH1hpmi9zV9+iOhd4mEbCjsIh2044c05SHfyiYIsvNJAZVtOjCuNgs3odZzDKnrIKzCRXKpMy
DyuY3n8elqezSTGaYJLFRzpeBi+dzm0469QBfBjqtRGFwdm3WWQY6SJSSLk701VnaMy0goI3EQ37
Pi9CI6p/MSahgUCnaarpHNKlX0oNgovEtd96tIq7hsnyKTfJNFsepepRVGQ2gVEJbAx+ySCRjHT3
rVPvpFSCreVAPjXhawNs/kF1hBelTOh4JygkBd03bByzU38fPJpmBRTVP4WLi3pxOQyivPSm0eyH
COMR1n/FSVEdYYaDxtYXSXrQBoc2Ip3MeLQeLC81dv8tEPv/imfFqQne7P+Mc7uVTRf9j81HWnYf
/yET+/Mv/iUT86GzOcJX8afIsWxYXH8z3Qzd+kO3HM/XTRs2MTGmv2ViPuGtOuIyJnWmbuvksP4t
E7P/8AUQNpe/5gkTC/F/SSbmCvc/Ilotz3ct4TrC5BXaUFCF+Z9MNxArVeuMrnnBLqDipJYDkygs
Vp2Y97HumgRW03TXVNz3kJqIrn4/X37Y6SFjKK1wNotqaWoE/Bha+oPygRLHhssqa4JgnUr8zsxe
6ZJmZUZX2FX6siaNxx3xXffl3r0cpESLfohVyB4DrUWQEjZtDXhdTViW57YZnLGRRPs+ZJ2oKTxQ
zj4V0KvgS+RvWel9iybxRJdKPxQDUH6EA3hBts6E4jRAAgDPnLqQjbhTV6/cQF5yXZLSJPOjJsk9
T7lNOFMKVCJi9O2GHhoty3uUMRkeARNfdxb40Lmx1/7UbQJEftsxsA5E5BC+MtFbL3MWp6io8dhT
/pC2+1AJB74D1IU6fIQ//57ZACoI3QOtnTFG8mbInIyh91rMYMaxg0td4KruYv8X2uu8QU2DY63k
Bx59oooCDqIVtu2r1dnaVpvt9zqf7nZaPBoi/mZXToYANVcDZDQPQXaY9SdHB6vm9d8YzbKjtkxw
HTQ68pG8FPUPAhZ6H23UJ3jdJ2TJqIoVNlki/Af5Ne3yuPL3rj3OoPKwH0kQW1ppkJDOwE2t5SgD
o674VoV8qqMb5mtSAhXKbIYQ2HytPO8lmOpno6bkbN1XPzLe8K3XTOiTg587Vx8lBz5FHBD1o6kh
U2uxYljDeh6rs5QN7eCw/lF3AgqmKH54ZLeUDdAmOg+ZUxw7KT+lpAkglg1VtwvTPSK97dxmp6C1
UXbDWNIqmgHxSIhisEpd59jo1khpGhE6V9joSKz6l0mHFU4JDtqoBwcQPvouLoXO+GlnfFtZ9ZIP
cPe7QrUwI8LnaIPi8DonXUir2oX74khQqjNvGuTPxs8MPku358Rrom+xhBlPBBixqibCCLdcxVCl
1lL63ys7yzaNbO5F8UXqImdMGpO/wPmAxLF8Nt5Tk48KkRfbSMvZ6SSoiBGDJ+dTBQSo1L3H0Jja
VaZj/Gee8BBnx0Jq93SGNpQ7J8KK7uYwtWsx2wPoVo0IkylYten0YzawCDiMckNWs97T9X2XMjLv
bf6mkT82IwET4P3eGiN4F4V/wydPu0ifgB9oNtIH4DFaZf6wOv1B609uZyh7CTbXykvIgzTZwXjA
NUbXYCJWvdrSIboEOFcKNluD4EYnOHv2dEuBvZOjPyPu8ehQUQ0AthXxSRtICq4dlP6t9UCOLSOg
LLjZWY3/Jn2v/UKSE3JoRGuRy8GuzQQX5nUvMqU9mPn51io4k+nB0ftzsreqC70VOyAHUQ57Frnu
QAM2z3Lw+JLBADIV2MoJ5uBMUEiPPGMl7ZB6XZwhgZ2jHo6BdtcLwPNeCscwq6Zf/Adf89h60CKA
TmkTf6cuOeoMOoK2eQ6c5DuPYQZJ5+DBJiLKgtd7ZMKU7vCtXOI6fIqCzdDvCfEg/0a9H7YDfFGm
J7lI0xEsWl6vbfK68olyMi2Se2t4QOPg8HYaIyZGfs1L1+hPgJHRVxhc00MiHvromjUUUXHWPjoi
fpPEjWht4K/qrj9KbOwkwhJrBLrNBZTLKsHplXwbBCgawh1/tV6HLLZLKTu18exk+rOfcDLTmgO4
0smfun0LoP6i8mcyEP8MDASvVSafmAlEvMjuxSgF0L7JTDf+XETbiJ60N7OkRH3wPETD5/9m7zya
W2eyNP1XJnqPCniz6A1BK1ES5a+4QUi6Erz3+PX9ZLKm9NXtqp6Z/WwYIOhApDt5zmtao3xQq+E8
VVyksRS3Jg65ELa8Hf987TrUu7zigNJ8sXH6/F2ZmmdtNNaDbj6X7ChAyaDsTAVQK+DgZepDwCLg
DPO3hvvjONY7M06+J/ypk2nZws0BsxKymnSdabOvw8FTEOL7TihboPxbbfSSdE+MxAwKS21fPKt8
ve46yQZvWPArhrrPgFeB5t3BF/M+bWSQ9T46Ja71uczk96bI5UtitvluNm+sgvlvWQoXU2fzFs2v
6zCDNpmYr0GsfjnIg6F6Q9y5IH0Tmc4x0IetN43XDng2qrfLCZTD9aQ2G5NEAteE3FZO+k7HMx6D
WzV8UAMQpsiAGcZhSvMTCqAl9wxaAzWKTdMDJCxxm+u0XZYV99mQfYWJgWNX22yBIL+7xqQKqORJ
UKZiMbpQL94aCqk/LYq+Fgs17JGaadBBu4KrCxMmWxvK2W4Td5W23r4m1diFiHikaYGos+HcukXw
CRel8FsNuEaxfHSQi6Ypfgjx4isHAvCurw0qEvCRW0f9VQRCOtqANKS482GqjdJ3nOEAmuk4KekJ
faR1izmc5TDJF0qwRil1p1rLg5b3MGISvJTR+4d5xvem5o2KkhAKRuluTOx9NQJOtJzXCQCeL3q7
p1farkXObB0mM4Yd+ls4wrgMW+MjN5r7YQxXYZzgy/uriNS9M09f3tRtFJJh2Wg8A2R8LCZE1Zyp
f0ucoNstLvslMqR9T44L2vYDcgmRmBoOnbfXWjciaVDe40z1AAPq2vUwp9LyFQQjku6NfdL0JvDR
ppnc4smrvW1bpWT/dYr1cfJSLXREFUxfZefXraL2a8eqmO8mC0yIU+9KipNUEFTkQiz6zYAeTxOQ
FuuXJaKCWf+yxhyRAIvzeLdmqyKYgyMhBRKbKqsbPcQwITMX2d6uTMDQ5tVgc8EYUTyTErpugIHS
4m8xXu6HZLF/oye2s506Wyej8gGBwfUr685KIg9wEkbhWWSv2jo7d6OFWmuV7NzW2A0paDkVSdjt
GNbZzvQKHUSlvu57TL+qGPvliiGOoPe7YSZP2CMBmmzqL9BRKUouz0aKVU1SoWhZZNmx6oiHApSY
JtV4LgeGa1S5LxhpWpX7HCPk5xtO8JqmdgQCrXmj6nw322DOwzJ5sPPgq8A2caOQW5ocKGHN/Gp3
7hUQj4BsXsx8M3YrI58+jKrKfD1UbyvjY0GW0hyzJ82r0Ml/k9xqYgFUR9DKZ0bMzfYJGUJB+lJf
FUVl/hroCZhDbQfMHZlY3VfE4oHHaM4KZle1YsYkczFRexIaBKWNDpkxPGpu9Wl5J8NTz6Pl/m7R
5/WBRh9TiD8rz0xu5kiItpbPgRdNqz5STy053VWygFM2ItypKfaBPTLXSjqBr3fDOz3a92aG4HhM
fJSGb5mRfiDm8V6ny21kJA/k3G6pO98A3fMAjKrXBvKkHZZFzYIhAxVHvBii6WUuqDXnS/24uMa5
UOzr0qIsq2XZY5/Zx1LjP7YTpnmxgnjoeELy5hW42rwpUrJntcG8K3w0EFxSCuSVdKF1T42uAbq9
LuLpl5UsqO901SkgsOavIJwwU3tejwmLUBTelZY+osyw83TURNLfhaZ1q3CBy0YJVHXnT3wYfTUk
5wYHNdu6AmDaWtdE5AraUivIWlsxzusxeIpbp4OJDWgTQ5gblRQsgBvLwMfyvjRInyQtExz8cWRb
LH67C/kBq1hW6RC8o4P6BEGfMKVACNGaUQYxceZLSVNv7fqzaM2HRMFiIsui98kdfznR8Hvuuy8d
lAuR9kfs4YZYqdyrKEgeesWMVlmfXzXesBtMFHe0oH/Q9Hw3W+NRawK0uqzAn8MGzxqo+SP07Ljc
pSXYkSTZJ7HzS0/y66Cuv6OOJXbWsvOok7zRqERMBPSLnt5rPTkst3E/o45alVqMN5qakjUeHBJN
9keX2X5QYEG1pGLBQ0t0/Cp71UU5scG2z84Prq3oO2T6WP77R7N0P4wkiIh73R0T7pQjFqBB0E1V
k/i/bx1UaHDkGfMHA6qxF9yPFSAI5G+LLsEoIUo3pEFSQfe4J+3n+YaHwVIE0dtKnvGHeZrDkOXf
D3ILK6F8EaUpD+iqSkFIScxrAoJt01OWrq3pELt4mpQ9nkmRczcG6p1OxWU91+2hqymsUfJG0STf
Dnp/rMvxUW/GyFeGEsiivnZV79MM54fWyKx909cn+NUvauW+BVVyVBK4KYHKAHMHd42fHzaiNp13
zP1R0Q9DzJjqUvs3hcL7VHF3zQSULV3iY1QwQ9Xei46V0bZs3WRjoJqH4ZV515B1TjvtJYWDaLvW
rg4G4IJjvk+c/JpCajKaFs42IqpFA3G0ExbAGEMHJb5B6CjaxsaEjG857Y2ZOcrzOirgb8GoIXmI
SrgWRsUmelJUG76PQ0G7nd3gimqUMQIcDXLn2TCjFzcY/HJ0bsFmrEKMuLoy++p1mAr1cCz0V+pg
X3EU/A6X8ReZro8+sl9Ck3gb1j7775NZOd91Wgla8kSKuNpN0Fl9HFhQRQIlr1mf2L8eNG06NvHd
pLFehkG5c0uPNFaw04x+X+sEC1MOCK0f5xK1sgI5wbJ6Ik9+1SW25acFm1pPrRt/cfBARTKZwTkp
7Piit6i5M9MWiZOKZd5TomMXpw/6YrQbb46+Etfcotppse7p9uazF6QnzIActF4oJAusn3xIZZpB
HiZChcS2tXgjn+Z5DT2Xvj4t+Yy/cTX6YTAjQaHUSL8IKoUX3kVxPR66QjjwVdVv+TnkU3H7aRDW
oYpNCkOeLMXPFwEWO5ZNrfrn3FTpaCkpE6rkQ19drskVSY8BuN/sg48DiKY371LbRj6MjDRqMO2A
WLXQg67RN3CXGuzLHLntRhGeyKEXk1KI1PA8jBXyvtLPHDg05hlp+zgIPo+dumiODxNgeJmMQUvn
gFvISmr6ZM7ckS6Pu3X7j39biP9lWW140bfpxB2QSjeVpMfJQy+f8isrgjdv0Gk9wXXxLNNLL1hV
+RzP72KdKrtaU2oWb3DJF/WvrEVGZCP/4eVQvtuR8mBS3edyKHRY7MKOBRaFBm1b5PrxDe7SV0hV
V/LOXe4SxRzkAbIZrT1uiLwrqeCZtZ1G1kWck20iPyGP5LlLd5DP5QMQ/IxYP9rXqMR1wGhkw1/0
fuSt+ekN8pVGkOJx91nW8lbIi9QHUECEwiXOnx3pjtmqP7oJxCvq3Jf7axYOFsOKaWxzL7DodaRA
CngdRoQXJgyYDpUkKUUjXeLzxHZ2S7hsQySBU2xivAKiTAubhdRO+d9++C/XIA+dzEAdTY+wzBSt
dWm9GEVnyIEQ7ybROaQSEUY7JQhxYz09ZDjTXG7uRLoPO7OfUePqTjDjTPjPA+py8+roFpNLV1na
rREBGNgkbnRWenCtP3eYIXKF5kPBGkeDyksq1eGUN3Ba5LUMQX2XwZ/fVqqFfmObM9BHHdCHuHr5
PfKT8ujfnvN6VIUjlpu17AlDkpFLgMsnr1ufbCgRgXBrYODJ7iPeYAuhscgUhftw3kuZqam3kA+E
Ur/09QZgX7IPXDHS/u3v2mWGBh54S68AlSR/+6fvLcmNS+hGaFjazeHSk8Tdlz1JPv05VzrmRsxI
lr6guOvUIya12ckJFWYY+X758DNa/9JFL4fy9YU06N4TeRBxsy8f6SJrp7x0bbG9tGpRh+0Oa8PD
zwiXf09+RJ6TT0PRC9VhoMKBD33kxFv5mik7u3zHz+f/7ILyuWw1eXT5jHx+Ofzjdfn0j3OXblvV
NvIy8qUyJ4pCZPkQVgiioG6OS/Psq0L/XP5P3bN6XGDblT7r2wQqj2th6SVbfLR1Z2M7d8XS3TvY
AQclnOCMMBDpng7LVCENPjb9teQCkGu8L/LrshUOZx6OB2iFqs3eEKootdLvlZnSj3wovZJyENIn
WBCKk04muPqVinK3Uzod0Vig+W5BxTO1a16R7//Xh4ULJWp09ccUUtohs58AF4IEEw9BPLIKyOeB
biNsKw97HTR/DOlwNKYx3EK0Ca/lC2HIQmFT5gTj0WP9wbIkHzyxbPw8/Tk3GRO3WL58OZQvubLb
/7z/f3j955vjySkxWcWl5GhNzbL9+fhfvu5y6IjL+cvZy0//5cTPBf58y7869/Pr8lV46eciaNxw
Z7TW5o8Xfz5/+TldTAd/fP2C3jPg7+758nU/N+eP9/3lUn++piMFhjgJe6mfn0roXMg2vlEtBIh5
IQn/HE5xX1/pOdjgPoBD8o/yi+QGywd5Th7Juox82k7ptg9UZUdlOyZ+EnWZWlCH5cMsTyKFQspx
CvGNk8uIpAhzMUz+P8+hAdg+iSqCUDnvS+q4fPBkBwjFtO81kEtKQ7uXlRkrH1nvZYFdZYHbWC2b
GsqPTGtLQk7DdpBbFrGDOyLdAVhPHF8Y9l06hHszdTfsl6kIFW0UqfjxUdABKl1eqfCtyriw91JC
5SKYIrEF8rkqJOvk09lrzjm1A9x9hQikoPLIIySHduhgN2QqMfOIsTzfhmxtkCkqAL6DF4f6KQQQ
XMH+rv5x9Me5plERDU8A87eClNIJvRj5MApm++Vcok47ROF9VVDrxRsGoZMa1cSSoj0lPVweybrs
z7l41OkDFiCTeU6KQ9ugA0PIBU51uihHivaXz+1GfwlK0NmyvCarbbFUcJQt/FN9m6sm9dldkzEW
cgG1eJBHsqX/OAc7sCUxWH8mcnm/VOAux7Kh0Xgf9p2LPLhoTtnEsvXkA2onLEWX5zK+RN8yKrp6
L4txMU6WQh4XzjjeJiEoHlHtTuP6a4jxQ5UteEF2/LSoPJkUJblZYtVeUbkZCz5EKFibBykQY0qa
1iAYW/I5nk8JnOPs2RJKMtnQleN1VSLmN9tvf6jBSBTEvzpHBmavxC0Wk6LgL6v88qFD3YusJE5R
P+fmOuyukpDssqcGJvIS1PmX+MMIvepADtLaAEv6ZWkLY1C2UyibSB72TCHC+n2rtS19/aclZMP8
tE4E9NbHNQHTIjHWfh5kZfTn6WVQgnTcpHP6JZtBNtC/aqpetM9Y6tU+FApIolEq29uaFR4+cqRd
mkiOPDcZLB+PS0oiEUI/g8ioz868TwMM9S5YFBGdH9CIXxlEoRQT0uoT1x3MLwRCQmJMAFKDSJHP
L4deiNSnGrF/lrdQFffxcr/FkXwKp4i9I4o7crTEie4iP44KqVBRkCPGmzF18eXhZSyVdgxZhvxZ
hYKzb4Mf8w1aH6o5M0OEqB6+Vk7ArkjHkbEYNxdZJfmq1FoKiknZ2Ev1IvtSLYhspXj4eSqP5DlL
QdR+JICQPS0SUkSKmG3+P7Ti/wpaoZouKIR/D624eW/m7L34/U+wisuH/g6rcCygE46j2qSnVZX0
KNiJv1vlOd7fTE+1wFwI3ISmY4f3v53yvL85OrBdByM8tAeBb/4DVWE4f0NrnmQsfAITkJBq/L+h
Kv4JU8GWF/AGdVKySqrn6bb5h09eofZJk0fpsq+Wflz3Azrovcl046gMLwWHpYmiGIxotGuEiusw
jXD3UsdF/Zgqw2z/9qIcWQI8Wg3qT3+5laeLAND/Kvr8xGLZtf/5Hxr/EnH3GTWjw+///A95caBA
4Gnr/E0XAMo/Az66zCM3uNjsedqevRmJPAP+l291493cEaiaefMym87OzFGayx1Mom2jXf3PFyFa
4c+LAHkCCBkdJmC0f4oTdVarDrUVTUjc1jEbjVmFyUddfa64KU7wRDkcZJ2B5Zb99ZGUBXpnA7Up
5VVNucSMqrHpaY+lQ8Cf4GOmujh1Vmp2zrqzqZCm8lquWYnczP8/Xbj13y9dA5XjuYbp6rS09wdg
BotuF2Sr01HbdtaB178OMDk2umHss4CaX0IQijYCWPEILlioNtZaxfTXXt5ilX/ZKdkJP3dQzOJe
L4gJrdSERL4NOJnf26cg09ek8Z4HTX2a9AiUn2cv/hC8cZOMfZJ311gC55hAxfedN0A0QKVhBbcT
GUdoN3mvz75eu/E+dlm4lr3mCHPbCbEK1UigkJSisJSlC7X4B90UUv+mhiYLKAGMXqA1OXAkPThq
hoqbKQlXt0hvprjZgAwfgU0oGUKdSN26euI3c0AR2ioOZl89hiECiBPGvEvJe6iU0jIFoOzUcn1c
bvdpw5/PyCViEVadhY89OWsKyUO+S3KiNIQg8Jf3RpTXonptoMXhJ+LdDXR4OzkhVw5Bdeljsmkh
VfYK47HWJDWhpeF15RgbDb4xLEHb3SAEHRZOvI8ApALSRe8IUNC3RzXoMOZDjvWcFe30oD+Ho/mr
FOn9WnTwgLrRKosLMs8gLH0vqXBgwM4iT68du/rEdyFdGyiLrDHfQfTHuuPjCMTDf8WPrmbTl5PP
W5Dtg320bKnjmT3+MbGj7KmSM6pK4+jA8cQTvDrVNj7ECvEzbEZ7V+BetsL+D+75WcMqLXJxIVFW
dd3Ou44E38qjmGZVogjdAbRC7PXLdnC37BSQLviC+nMwqpdRqgzqt4LzSOvyIwyH0LWealMRmMrx
tbWTs4XFAJQ/ALjpuVEHZIUNh/S79wS5s0X+Fmcrx4TYZrLpDNX9zJdApQyvx8Hexm0Ct9dIwAil
Z/lKrtFMwzgipW0+zjVt7vU5hUiMMtt00Tepi2lRNDQr9KoaNDvbZ1PFI2hOzBclTDe1HWRYCw37
FLvftYuiS1dz75yKYV0v0bdThccpyZ51013ZihWhv0E6BUQdu2kc01IXi3edPb/T3WXCYQqNUCQS
ENBZIYt9G2h0xILQZtTset2ZoeFnhXowkkLoC2hMyyBf5T8IYwcOTzE/muM0+CCdqLA1FgNziE9U
OtL1MpjfI25jCDAfjWR8Ghco/IoGHD2k6TDRwdiy2GkV0xK2KenDiFtNMKFkETmAcFDuDGzkFg2E
/VGMPLX1pG8ceP4eruBDzDfMLpYYZgrBrRQdY8Bbx1tAJoGhwu0JqPLaGpc3aJOjr6t64U8RqHvc
y9jh8f5wQ8hX79Cbq7ZBTbLeU2aIY9lLYsHN00fjQwcUs6rnOd2GefncNLbPzPEV9g3y4pliHJJx
fClmq/UrxaL8slgrQy2rTRIAzMAliqgPVAqFu/wZ6iO6VhkfzIsZwQ28AeoW+vrssrWR03ipWu2q
zRH8VaG2UGAqj1j7UFyCuAK9ce1EwFPk5AdyDnXpQL8LlRdTdT8BHDECTffYIFVDZIx/JXk8r3/p
NcHNTfBckW1T9fSP0svO86IGGC/uSiPZ1S1onAr9jhUQPQ/INLNrJJRctEqDA4u9WM4SgSelvnEZ
O6ilNUzVDOfkbnDGzk86ll8zFSwd0SJ9x8Q8jqjRTJhcTtFDMzFHiNygCyffn7Ik9+O9q1FWyUL+
XREsPspC+BNkfDvMxB3kanZItFGpJ99lJbupTT+GgeNXJRQXp8Hi7XkZo9/mDNBmTM+aAQxF/hBR
CiN6ukLFV9/UdPZdpsag5eo7Q9RNZDdhbcA8HBvCBSUHn0yy2HZZZK3ekzG6Kuvwl+wiy8hslqnh
d1tiSp5RiY2XENOjAUu7+CEauUL8FM9e1iDRrKXfOrXrddWyePRIR5BKhuc5wP7F2Kj0h9jatGGq
rSaxehk2hkEAuUrvLkiHwTdJQsBlXeNLO65hvKw7Tf8MhbD/Ekc4adP3jSBnIjAz2G4lN9RVJ17s
ekRdzdc2I3/STRjLiI4ZzCzecZh+4wkGQZqC12yQ+CiX9qOLAYF5OvyWoX+UvQgL73Fthsu7EaV3
TeNunIBVQtVpzlp08DalwGgu+XHWYVb2NYA/u5xXbr/gtdHQt5uEmUyxy7MuSgJTmG6bwX4raDpP
Z1LBJVbMOQuUeVuDiIUEX23hpSNeq3KRmaAcHGGSVSeQ3zUhiTLWGzdnKkbd3Vc97qnSiS8aamT6
4hdb/PJcYqTZp3cwuc4Vy+pqCOZVMgRPAxwBwJeixlHhcoTpcUsalNWwEguHN9TbLluWFRUCHPXq
BHW+5U4ziwrSRPIbeCqduKqfW+4tWuw4o8JW3FBCJfrQwyMu8Gcb18nGhMupTq3qw9bEOYzZWzOZ
7NBE/0oiNCPI9ZD+jBPfyg0soVCE4N+vBzc/yzhAmej3k8oySZsIARzm++KWOBTDH2cUvhivHXSW
VZIi7Qiw4zut+rfKdE65pfhW2R3nEq8bIdu9JOl3MT2RLIdtXAdnZaJzwcgRofNxKKdyw1LLMmjv
8nAK2AEykekLRC9YOBFRy1rcM0PFuzZuBEiLyK/apDUFtkxhFVrUzljV1MRL9pNe7/99WHBPY13f
Ocw2q6rl5l5CEA3wK5bs68JjHqtaukUHk2pmC71xELBBUsHWjW0UMczDsX4cuuXFQ/2RAZ2G5q2R
IrtbOcXKhL7lO4iw+YNX702bWlDbuWspRtcHyqbMsD220hskl+da+c2mBOF9vEZXfQCIiVzydQWT
im3D9BpmCFRQHqF9Iv5bWnF3mrI6eyGzXW3wQf3WxsptZUQL8xn3ou3VFJVqaNOlFiQkGEa8Aoiv
DItLSKaraGKDLoesPkIeSaza70gGbpSQLzOd+Xfoqv2KiiI6SGxFfAIxSKSW8uWZ8EXTfkL/v3bX
KIQwH5IHI+Oja5QyQ1N5Kcfs23EFqcSj/5QxVkqK981+Y2tVXoShnnqYC/1X1wCzQrhYdcL7Nmpx
XVWbGVwVk/Rkttu8y57gMWKoBMyBZSPcg8Y9tDqzMjgNnGhUPLAx6AA0QFiE2QDkStJ+SQp2xKbY
RVJVUOTyz7bvH/QaG4M6ZpgbDvc1sV4Vwo3BWG71/q0VE3uSaNfIeDi+OfUzEtovaW8gDzrgcc3Q
WcwauPREicBlToJdctcR6K3QFv92xe/nA7S2FKMsdRzBIuenvsnOSVKcKuUjm+La1wPvrkzkOlqe
ulBAzIC9mHZ6znoUUgpEpTCxgGKSQMROSlXf5L15PceOr5qTug01+mpr5CoeWYSIaXmW3c9DTJkK
4zqHO2cv9Tv4iQ2D8sYRk6qM5wBsnGQYFOtv2QiwUE7GieZSgicGkZM4hLoaZ0P1PjAQ7u+RBFyp
aXPGdo8yXvbd9+2z1wADLzSGiFG4T6ifn6aiPSe4eNv6bnCm2yl6NiptHS6EGSR/cCDCX30VtOmn
jH0du9M3AQVh11Cu84EYvDLRE2A+qJBbzL7Vin4vAu6sTd88tjcrbSCEtNXgKu7j71hLz5CXmS/t
HGF104cE6JfmlTY3J5SZtmWPR3bhstPG/KgC9dQBfSJEXcT0v6ToQtbAhViPiDZcgUzX3oKBCbZp
hn3UWuc0ZyE1Z/sx86gGJdxrDCHPTmuOK/yjsIVl767hduo+9bH3NBUGc2RnX3ezdZar46KwcdVt
RKnG+KomBGdDQW09sU6mmZ3jlqimdJbfBChrR0Tx+Hs/gTMjGOS/Y9t89MLhhCI160kO3D0E9ICK
4DctxDaEdc8y4QnO/CEIHLwnLY9kPggC6mMDpBbqFiJ3sfWuF199zCSxlDZ0Uf2EhKCS4mdK38dX
DT5iEHsk+nlHFq9NYmUgCUQx6Dw85nVz4+Ayt6rShaAl/iXiBTIJT5nLpnuIBWPKTnGX5d6443IT
I7S2sqbho+zOKfVwXzbzEt2nPX4yXkL1urGiUwgyCZOG40jBGfH64oy/HGoDerKLjcrZtfhbbKv2
Uw1wqY01JuvkW2yR1uRUmNAeR9Cql34s1uHaNPfqzGXlPWE7iNdhdI+jBpMChTA3IURCvvaLUPNs
2na/bQfK7Vb23RmY3WMWtpkbsc8doxbbrgFAOOnfWJkexig1D2N3rNQ8voG7fA19WjiwutvaxrBJ
Ueo3I7aeO9V9jzzv1snKU2YzvvBJHFeoOf0GhDnsEnru9i4Fb0VM8hQvNjDtaBx2ZLLF5k8VuxRE
RFQ/GP1lhPSBnfbioWzmYNDlBb7teWhNiKBS5AAwO9c3pQUCyNTCy6ZTIM7yCMQe6rkbrYpfUiv4
BZHg2OPftcYM3qL2EjxDB59QY1KQeCZRvF0C0Kk5RfraxF2o1uddFWtHIGJYaAUUbkBpePsoNO6K
zPseUKwHfwXOM7WAqX7oZQ2dfmDUYKS7nQZwSFNfHFmsj6FLJIbLzEEPAWd7zSI0+DDLjguoIqU2
v6sNjST6uUD01gOoPtWG7Obm3aNU7ZJePZ1TAQVGRCFYlyUJZhT/SfVPC8jOBAg1/wPyX2qQfB1P
RRaVeBrkrrb1FPv2RyPsRygMBDBFiFFfgKGHZby+yLfhGW7mjrUnWxZtzXp4lgJi8iICnWAFtXcq
Z/JkH+gRIxWEkC60ebGFvaOiAtdixs5oIBC7coR4COIaPaKpQir3p4qvavomzlzAl6J4Ih8ub4Gg
Q8FMwjvkWUWCdTBvZAcc1CvE7v76NfItP2/++TIJ6pGACXlOPpVHP+cuMKCfkz/v+bfn/vjWOIeV
OZCp+fvfu/hWDRebLFFVkF8kL691HBwuujS5OGfJqwjUDITTXJI1VJr2Wn552nlm/teb4v0uvXg6
SNk4jQp8ZOBP1wJuNxN4jAKrJD29jGEM2uuLs5eoaoWOfU/mv95K/IYnFHbHbNrVgmOsRue+c7ot
93K8Cvqw8qc2wCkzwmezd8wSWLXQLuC6LRTSOCkf6hp8jhEmWCOFeMuQBYOCHaTLBtCRcxWieHol
j5hOHST50YubOm1vae2pqzAPK4UPD0La+pU01Anm4V6fPQgWNjvMtqk/EW1cVQEbjkOImzJ4AnZf
Tr6xtbzeaFlerkY12TFuIcCpbEVyBOFWgV3swc/tgwiahF2kKZbSyL45nolngO397ucNApZXTTPX
ANnRNQ2B+Gm6kGmx4SaYaA7jMPxSHFABgKACRWBXYzk1B0DoEKipttB3zS66tQC9+shdGKzR+hVj
1WDQxwQQLbvOwXpCb+heSMqstLa4VdysRSHKuw1UzI3j5xDL1zHrFFxXemxcRzdft9oCJsxFXFSJ
blJ7PMZtjJe3Y3+2QQrvzUQI1NVAIA4LWxr0TvQ0LCAYLTDvg/BuUuN7ow9PiwKgUyn7/dLrj72b
pqjhgNLvMUVGctb90mfz0y0c01dqYbM+5r+9tsc4tO4+63yHazUkjDoziRCrXRl3Jyvpb5FjIAqG
KBxGsKMmm4kXsd511ZvugTLBTdGN66Et2ZQaeAeN/e8Ma8OHtsWGxTADhd0dFvYRl2zTIVzEVbEL
zQ6ThYRxB8S5yYzybsqdmqmaCHAOnX3eoOPUVVq6zxNv19m4KsH/TMntOMVab6KHKbdtgpbUvFat
xkU/CnZQaPb9CpGzwh/dRwxcQX/n8y89GligB6OiTkBNG6kooXaQ+CM4TYCV8+2AHNTeSWbU12so
D32S+CZGw5YbvtX14G2QSrkGPAobcTDmw5A167YCME72dhUYw1kz4SEoZHFH71FHdWE1Eh/r46CR
tx3B3WM33FWuutKKel8ZkLJyRGP9Kuh+cwXsV7TA26VGhQs7xfXBZjeC0CepjMhdKfPOVKOr1FPd
dRg1HZeRbHJQiEsYdzgfwbZJF+c4dBhqVUT4aflOPo6ao+luBrWzDh7kSGNAG6pvq0+2hqh762eT
pXEHt+AJDWkVYQFUeKDBbIek4afqeEM6NdpGoXYdqa57iyb4DR0I7kWj1tzCeKurSIehWeuMpbm1
2g7KnqWdXSsLV01o3qnI7xWtAieoha7RGeOL3UUn0gjPdgAs02CysKP6hCLuTa45T0FASqRxwZVq
8R1Ss/OT0qofbFxJqdjJda+Ur1rUR77n9KeqnchlYUGWmRWwXER9DoWH2DAgM2300O+ZIUuRQr11
Oi+BKTswWhrEXsPpwE7lg9TQRwSibNBwBcowY47xFbo1o6TfNiF1Em2MWYwRuGiDo5KVzDMxlPJJ
wbMmfQcUTkK2Dem20DERAAfsOaw6m3RVaI/w4uCSuMTl+6Z2Xmfsre50y92K7FxhL+2hLuuvHCLd
IPa8iz4f04IsQr5Mm8BDqBS5cFR0AvvUGFWzr3sDx5/oqatyJOymZDX3IvfoaXfoh97MydhfLUzc
Rpw2PolvBiqYSStxD24bbpag0sEKL/GmryIwDUhGkFtA/KjdBamqHosM0Sl9nA8JomQHRHFOo+Cn
MQj6TWlHzfW9MZjWIwRaLNrtAaX04KR2HsmmMMs2eCe+IAT5LIxBA3YvZTtsFEQ+On3E0dk7Ecmt
PYEoiy1rXhUuVqzte7DcYOn8VOO6xVT3FI8YNS/k/srg1aG45zuW/toN5Htra9/ZxpU3lEIpAD0V
qH7C0DQtkRELjfqxQhS1ohQUzPsuLiHT4vATsEfMqfVF0HP0angy0SRbdOekBmxxUhYxlAHuszb6
NKi4x0F5O+fUDPp5pRLF11Pu1xpGTuix4qu4G2tiFbP/TKKJ3EQNILVD0QqPgw9T5DIUMoyk1qmU
KGscoqmS3S6tflMByO5s7Vzk+h21Lcg8Hfzo/MOjQmiJLq2FyRaZBYHALo0NBEIEmwJW6fzYVSWr
5Rtm6pvJUU5x1dy5pnET1enTrDBteGV5kwxrc9A/cDFij1SjQatqL2Oo3zvYzIcdTW+EM2ktq16Z
GmF5G8W3iJRfp0lIHaDfm0N3Je553qCEsui/tKk6aVl41OPxTrfJH1gOifalhE5nolmT5feOmh2b
kFitY4lNwFVAEcSQCs5CRJrKBBLRZs6DwZ5rNTAusUNZxdG0SZrmBf2H65x8RGGaL6JpxFfFzriv
mdlcMmN6c5O4v8xU9dmxV6u4Gd4C1/6cauepXZtez5w8Oc8oTPj9VL3NjKFxweVAe7aC6MNqbbTx
w3WQIYCYY5WgZc4hXOyrSgFkhWwp7krQvs3xhhz8yjRhy5IC76fuoEznaR7KtUHqNHNrxFfRT53C
d/IpD/PDHGbsGVU8o8h4mgHyXtkQ7qLFe1ByKhRMSx0UwJqt6vWiFMt65MbPGTNb7Ny3bv5eoNzY
lSeXpE7WNgcrqc9K0i8kk5T3lpmsS8gsmW5urhcNchCV+xt0O3bNTTfpx1FBmrhJYNdodfowWfMX
ObFXQpV1XVWfTXztJnTDguXKJ39wmEst3ZgQIPJ8j/0RedH2elnqYGtrKbYWqXs/k+BwkAhhhz3u
kYM0YBQltZ9pzsmcC9XHkwTDwQrdLadGccq0cFur90L9RGEwj+Z1l7jOpshuiavD9Wy3C26dwbme
6q9qan27a8E3aSH8HNSzc8VColbd/xdlZ7bcOJKl6VfpBxjUAHCsbWV1wZ0ipdBCbbyBKUIS9n3H
0/fnHlXdVplmOT1mGZZaKBIEAfdz/vMvWOuyGhRoLBytwhRy+tmm9U/csyVUzUWop4xYbUDl6pwb
09YA5fYi+E+le8YJ7TsaqnxfQEBpMSVYBQXp86kdvo8a19pIYmQAtWaNvxWUGUhouWeTIdt3DS60
EamYTn3U3ORZzPRHdU5wxITBIAEF1UabaKnyJnuxRuGeHAPkONEeQbgfHE0IQqDZ6J0JjNZM+eTn
8QYjuMeZIkkiL+kG/gOAMu0g/pulDEZPNB0tLGHQrH6/CM14wQU+3mNR8t5DX96BL01EF/TXkgFq
NPGRxniFLu86bBr07uzp1Tycsfba2xo7tmWRzVu+DibXyJjkryQNwRwXjr3DNwyfEuA2NtdbcxZc
82P/PmNWCx2PoRbetvhw1TSzsfYcZhbnJKuftWHG+jl6zslxd02ybeaF1AlI+afEJOLcMdf5bP5I
A3ATVw8raWq5ZVpGeugyfPtkUqw2NrOuVelFlxpN3Zh7zxaYHPo3a6G+ptZzXFCpOacXTvMY+9x6
P2LZYJnV+9D/MLo1QSM/64XJK/9meBHU6+se9/+UqELHHp50pu8rr8JquLNXzHhBxbBoIDjCAoYl
IHyEPcaf4biEferv38WTubYo75sMGB01TO/l65YLROclHJ5ePluMi1CNPnWIPpoBI/N//qkZVaxG
kEXkQ3xmVxP5pLxcafsH+RQ9svYUV40ZOdfM01HJy29NIpRF/LygIOZ5QwwHTP4vHxzwGn2E02iA
py8Qx8wwt3hZ0n4dpxe8LJsSYA7szC/SncGGVKHArfhaaMlWfS1/x7+KwFmfK0dU/Ur9nCLVwJGr
SQAs9J/joSm1lRCR+n/FeJeuAjrOvtG4GLVw5cvAWh5S4TQvv5a3o89rIRC7bYYWn1ws/k6mRfwF
3u4gdkOnf8sDK7o5ZUQJzBuPDxWxakIMu46/MBLMNU1k0z4QDprDaV8hr5KPkK9XRRDEiGOTx2oj
Vd0ueXAVsX+QL141/baSb4DBtUinI7PkCeW/fDp5XPJlNfl2cBhW753nwGcrpNuSfx15Ov4/Kanx
ICY8lHSZtTw98u3JU/ivt4ol98acqObAzeqFZgK5QMxgrZysLev3jsg/TLPw+GICNrsQiPlaPqZk
3q87P3XaFmLlsKmCkJ/+fngc6ntip9cBT5f6wcozse4HxwKhqAnPkj8K+TWytIN8CCLazdLToegN
O232Sz6VroFd493hALrPTfNzLIt7+ZTyMX55ly0/5CPkMRXlV3T3r4MK+aE84LC0j/KleInbERPA
guY5aQ31cvLpHPIAeBrRYPSSzI/+chgjMqX7BIlPec6bN71kiOUVxf1kAiw2CDw7wVSvSPCf7Jsa
pT+TjlDE3y7FtuCuQoFsrBbNqfZRqGts9/O9GuBXXfLNdnvRJi7X3K53WMBcwsT0Tzqhsz0Tc3M0
GQcn+Ex2YNF6waXoRd1tEgTTHjrCd0VsMsZxJN2XeoztLbaPo10f7AYLwDo5I6BNAPTYbMwHuoWf
+YA41XTdH4oGYdVcqDjUsUkClsmhiFVfLDQEjCHcdtO0M0JZqy2wMztEZh4dRVg8oZ66BAvSeDT6
9E0jgnKcStpyeJD/cr82t5WkiUkqWAtpyEzaZTfsDBcDvIVNZD1G0beO/HsXu780v0MLb8+vXdBg
oWADUesxyPdCxWYLoH7RoAlckndRoN92ENxlNAwjbqlDdZ3t7ikNqYcWG5DdMZk2iZk9wxpo4/Sj
OxX2EVlrs26k0WhYg1JiZcraFeoXBXd7mAhxl8QEPW6aPD9rcl5pyAkMgF1GZAzzmFgcZs2K8V7D
sg+MlcsbUHjO5/uOoAmi38rbMKOwdeTITO9gULRF+stqsN4uQ7pHc+T4i6/SKxnWiuwd/sRW12Qy
OMP949gYBz1ngGTGerrWg23dVa9FZRTn0UqTTYB7ZyOs3WIwaOm8vlxbvf5UZWDaDNOuxOAxhKzx
apBDijIM4kMt6HXUcJLa+VC4YAck2qMPh9dHqKvYLwEhpH7GNuwDqswEcwunxJVzGk56BYOZTMdT
4wNGzGMs1qMcZtpmeVYQfnbMSw5TMa9KqGIrvRrh/8mUHxS1egCWbcgx9GjAe8vKpzCgSFUXuudG
06YvsKEwfHtrTUTL5XQyszvE+6Jl6FfkVUuFxdy5l5d8he0L/bid7Oz67EhrwlnjU+0Hbz2m1I2a
5x0Kex5vXaolxir2D9298UvtZQmmXwhujW3sJzv10vUE/8IhomM7mQSdDlZYHEk9hf9V43VkQSKZ
RHn3SSso+0oXHiM3KzQ3SQcrittkicdNG3qnPOa6GHXnJZu8Zo1Tg7ntcVIbfOqWJf4B7X3ex9L/
2E1IPdCpqGCEXYRkZoys0URodpNmKCYDAXP1JS+AmqMRLbg5BzeYGmUYrh0zsn828Suxs96qBt1w
pCKlMKJiP06/qDhxuE9mcw+n4dS1Czas5ptuMJyIxuxMH2iv5wmD5H4s7kVU/mLeHa1g3vhYdVQ3
fVDf9210Npzk28tufZ/SqM4aaz3jZKzuhaDn2tby6RmuS7+usFhk+ICzyEATYejd2TeORghOiGUI
74T4EEdS+n6PU+VAUbGk8pLjochbt0t8dUZxa1DvuxkUkW6kPOpIeIJCdsyBbSI/0nE1pTSynJFR
10Chl8U3vZfgTlqe1dCgyZjLUX5cCeVl+CuZC/I73Srv7cV+zGEQMuxhcMMN3FcmLj/iBbup26RA
aMLIMR1wwnbqLdvBDnNOZj5jTxyhy0Sg7ItVV+7S4H7SewBcvGkWXIbWhaAqky8yMokuAuM1q8pr
m9lPaQQPSLK82DqoHhmWLV0BOsQNnDtcZjjZ74Jc/5LzM0XMWQbWYV70ZAt4E2DFt+EcMKelR7Oi
dOPFZ3oPUCTZ504h+BtBrqc6Sa+oc+5FxbVQ+NG7hjXmqmWobeKTvstGtFLmtI064pTtgA2/W3yS
kjo6UH16jcL2nZAWOswBJk8c2cR2S44MJJSLsYARkZewbqZqoicR6TqJCOVxQoiVfhh/QhDDDzIh
BzkEItNChxuhhxPhNONh7IlNtOrMP+eah5msebbS4XFh9A10yAXiDLyJWH5IFgkfrKMNaRAlgtJS
PFVkmd0wZCMIuZ/wkITpUSZ2diQd9Ico7StK9l9V3/7UE2bIYqEGKPRuHZP0PfoW/UVIbg8uB3Kf
qvPoJgrMBlLdMGLATf0bpoiXiafgRMoxU9/QPVi9t3OZSeUM55qwfUknf5/YnLnGZabtdt9F4l1+
k6fG9qOovrXxIS6PxL2c0kzyYuXIL4sdXNINBMVc5q1keqaRu+liA9ykIuBIbxtII2FxlRM7Rw7Z
JwJ4tvMcf8uhoONVL605PqWGD1hDvzHMXL0AwfE6rpwHrpvHotFWumZRuMrZWQ9LpCr9t2Zc3saJ
BahMmH3WWObjllCFxP8m+7/mBQsI538gNBuO4dCYCHYeYgn/wApuTG40OLDdIajgUMy9Gooy+fU8
7E7ZQZ8WyKGHvAVGtDDsTBZfGh6w8fWcpEJj6i7pUTryZdh90bfkKtUxV0PZlPeaZDK6IWVR4OND
LL+zg0le7tmVc0KsUejszahzbmdBh4OKKMl6+reBcaQvB3g1siQa0Mcl5Lz99Ru3/0wn//22hWsb
vHdfnphfH49xEUry+f+BxoU2M6m7A23aIWPhmBYDY3jIo8RUU601t2n1Xc6482BAiJODZyDkRHyz
Ssjp2zh0crACKFdK+HezpPlEMAG2TJa+KUI+6lYWYIv/06vxZhi8HWlljIvlIByAbZ1CKBgytjUz
yp+GJuBGgIIcaPG3LJsieZ2mkg80CT6P31x7SXAoCqCgoJ7vqbLex4bqRa5wuUPUNtTKIxKx+ICR
SfVVx8uPRsus/8dJE7g+/ulq4Y2aAu8Hn+HuH04adpCpO2iiRYskIMBVOOszo3RlSaRmuVPz1JmM
xRSZUtEjmLocSws4Tm4tNCxnt/Qd1iDteSi0u7A2d4ocs4yUXsuiZv4zZuBxdkq7ljPncNFEevQA
TPr+m81miefBZI670CJJcgOOSIclbR66YWJTjY4NJioRoLS8A//6mnH/fM0IHDEtVBgeTMY/SRCI
WkkRsYXtQddbcxdnGxIeMD+M2CZyLWS+NcQwt1krdJOk+NaLT4qkpwk+yjiXJHDJJsfXCLvx5Syw
SmbxOywOS10+HNsKiqUqGKaagCGYBqXcVEIrv5Lzybbk+5ciw/PaNYBb4ECw/minIB+ZEeG2q6hD
+BtBmaOtyFD0IqRtt6Nb3uB1BpMqmWB4ZNPB1YtDssyKh4SfR31jt/g/e8QsOXJvw+jb39uxdSwl
EcsLSXIyMsZAAvgopgUnNRT2Z3rFXuxE2NNzCjVhcXEeUbsr4ypyBm3yN1ShbCb+Bh43AJh1rGFi
bf76EzF1988LmIujHGIa3fOF4+p/kIXYvSZkvmRzSMqcFZJidd95ybQxLTg7xXjnLI5YdZ3LVorn
v4OmedMM0Td7ctVDbDa78HmWFx/uTlCF6+IU+TnBc6GzxrVKCvOL18ak+S+YX/1elFrjaDn9qh3q
ZIt+60Mfl083Dgmr7ndkoV1MP/sm3gi2h/YE8MGG2pjMUGCVpVJ13ZbubWL11yVHYjjXAZ+H815L
HqcVgA0Ro4TVx5xtsZF/DrpoWeVVP/7wiX7qlu6kYWG+SwesYZqClAhjtE82dNc0FfmhYUwS8dTn
IZ9uAn9o+AkprgGG6HFe/2jB6g5iyrDkp0AIKGJ02ORwZzcVyaV2pudbljbEG+VVcvDd2gHsZMGT
zDBFZxMdDHRbfMoVv8mokWSR5jTZd+aHu85jbbIttgbFpFK/NynkRKM96EP4LS1TtESsCrP9VAVl
mFf3jsYEsyl6DHTknSGJWyQoXpagOcu+OKziNzdpjn4ZPLNSXmVrShct1rPEhqKsext9+y3Qq01q
91B6hwDpiN/sZU5qvVBx+Zgw0hoPmDCV75IYRMWPV3dEmWan39YwPdR5fjL1iLjrBA59LKjCF/9z
LsKXsMkOiqnaRR9l2P/UTPlcET2Ej2FzgSQCm9GJdpPIyJQrZSH3YaX35VZL6UTjujg3jntJNRi8
ktUlK842a01JBsnWkMrPXhYdvdDGwuc3v62XfUcxcNPpeU8f2dSHGA6pB4hAOjFQD2u9FTF2SnXQ
w4LDNdt82TF7gntvVZfegM9ftwNcHA6ASnbbQozctb148ILyLZCrEKbxpBF19Utcm2/qBo+aKtrY
xfQQJQMMgCpEAFOb91UyBTdYCRvMVSRd297EXvPqheO9LTQWG/qelT0me5ue3NMaSrmc8s8gKhWB
s/441eVjFZf3s9RN4OKw6miP/ZbNXw+ykTDM4KIBnm8Cw1g3osaiS7bdnQZwMhhAAQvlvSEpYKXG
HyZ4VMfjuQ8/QPo1TV22UXQyjIbdg5lRJrxT5cDwTzoRnxpOskX+DGgFnqT5sq09hGzYalpY4GrP
fVoapx56mq2VWJim8X1ijsd59sZDafoAPW7urMZlCLArdIEs+vSxLAb2E92399ji3dv0lkctxae2
CnQGgN54JnH6p53OOCHgwCXS4axFaMEWRCyd++xFNctRk+sIA0CcsLjHHQXjMrfqgLcKANkutnZF
1OLpYYphS4fubVKEFX2f7Z0Or9LJ6fNN6U8SJe3oVC0Gd50k9kDSLA4ungGKGNQh65njVcInscUP
F7tyLLtFWtUkVBJSvsTOpsGLjtSW5dYENd9HgwaRpSiOeTebN4u/3EaFlW6RwOCIahDsYFXLOl/S
/WItOoSut2quscexCXMe7fZ7MvmprYExlKYhbqCkiRvXbf/5FWNDI0UcrJn6w2I45g762qHSMXOJ
HHFxfGKk/e5lxLoSfAk+yjjXNnFo8suOYVCPZT3OKBN8xVo7mW5zgvJAYnGwaKfYTdybZvlW37Ty
J+orFHUMQRsLmm0xJ1v2cRsCoHe7QF4/WBa5Q0G/YPRXiNeYEIjzFE4RBp5kUhm5zWhq1k9hW972
9D+HclzuQtdNDhkO+ChHeujm2NOfMq3Q1qQvV2tgRPsUDeY9JDp7r45SHYVwW96GaL/LAA5LUBLf
BWWOkYo34zlMG4q5lbD3uTfgZzJHR3wlme/U6ZmkWZ9AdV5OL+NToevdocoAzrGqqrbCgMfbwhA8
eflL3UOvIwyXpJTGOVWyCAmMUkaQtNMesRkZcV13wJlv7xpAKil1J4OW6cVPSBmO581kmp9iTNIt
YdDNyaq75jRFxi/y/IgonMr+FFX4iMCQwR7MmYkhJefexQ7o5IASnkbTctdJyNiQtfgJJ7yXlMBq
RHY6dBYSyrDtJbmCHlKI5DTOD3Y33xUtt0vkG/emRmsBYgJ/UGuTw/QUFotx48W43xu/+iUsAIYC
Yw/Jadi3RnYT9nO313OHLrmW5ge25rYgGRjTLwxR1vjJ3xfS1h6CfXJMSmJt1igXwAgNMtRpC1NE
JjceKzUbT+Ju1HOEUHkPeHrjUOuS75TF0V0MQ3xjSo0KzRhhSZRmRWvcKAZw2qJEKQmvyCKtWDdt
CKzuRgcl4Sq7DgQ4Hb5DB74OPLOzWrUKqc2AXv2Jy+SzlS/PqrrIh7ncMCfbY7bhr8OufRtC2I4e
4z6Y3NnVm1mmlqnb6FLPYJcA7YmF/2+wVdTobJrifYSgasYnkAyyn7jQnRQ9uzDxx3MppBnXNdyM
iNZGhxxpT+zUUSrCtISIliC/n4iWcDCfiEgstGRWH/X60vuMv9qLqpOame1jDHNpQxRRz/rNWuvp
zoBpDABvnDeWB7l9Kg454hdY/Q1rP+8iAaV4XALQX9Ikr6OkBuvQzinTm8tS51fJh5Xsc0fAQEfY
xChxIvayusaIIINywcoZ1HwM5w27PqW0wzNVI9ScMju3AdhNhwhRpMzhqhoL3ewmAVdc9T2vQwQz
lF5IZ1pf01rxEyWSWcJKX10Vt59Egy7GEAinKXjq6bg3+pG0h3g4FgQJI+iPbpuMICK93SnNliII
Y8SarxudXnSAZ791MTSTRMpvUYVwSlpwzlzQ35J8hH2jk98YHcrXpJQaVDwgJ62+a3T/EtoLs0rz
nu4WbYgzXmyYu3kWfy91xr3KCKrXLukE4uA4aAea+Tp4MFQ6vd6ac31fuxaBUA5CE/ugGmhXso37
1v0BW+LHmLcC905YXJ3bHDOFpkk9oK8dm6C5JxiGSjSckUTgmNNjtOFXmyUTT5kENCuprsFAwF/p
tX8ao56iRZxtE94Unf7Qonzh//EIVjm7RYDXy7ROdOxg6wAUzZxuRCBSBjKoqMLgayBKmaBVrogl
EmCRlJGrxKzuKKLHlQJbpoD+xB2yV9fv9kncvCFNO4bMV9AVE2mkJyNKIg66xakCuoo1UT0V+Jeu
HQQDAqtYJLr5tdW0XZtpr+oFQgzQFY9bFNiUJnZ7kaId0ociVtv6VdaeCj8ILCoRwqI2sj5v6+Yp
ZXSNSIbaFw/ibZLQ1kdaeY4brVp7o/uYzeKuJnAodmFBBw1M57bxL3oYQ6plfuv4nDpS1RHOJHe2
6XgQ5MEle/sy2lm0DqdX3QDTMV1OB35NLsHY+ME2Mw80QJ8x/XY/Abfg849SBJaX8hNyvryBANDB
if1zJ6WosZQiBTopX5rFnE61iBpP4bvRrTeEn1p4i5/cCrT6mdjU70pb8G2HP1ki39ngbERNPi73
Y8GxBjMZhV6Er6g1lD/wW8Pwn3NeTiTSaOFPo2CNlVUqG/bWmd3rMtbXQzn773qeY06NWEDet50R
PThefsAc9isN0qMhAZAc5JfqTSf2oPkcQE6FPEYMzC6Vi9t/4i8dh+jDHCroPvKlJHq7wY1EmNDF
HEun0TiMGreOH1j2RtPGTTQIxI19be3tCLaumJJvhYh4MB0IVmzXLkDgxmLorn6sRXg+D8aTl3of
3uTfgUFtZb0UkSKkD14guVacAan2K8NrYVsoJPsUw+zllMqG/fdaFvJBj2Vy9af0wwujL0KKa9Do
CiU1EYuBGxAUZOzmiE4ekjjLYYtuApPoiSQnxFr7quxpcKTmrtWgNA61u5OiFdmPy5bEnmmvqcl4
kRR/Z/gzcznTKkh9fSI+4nRGMCgVHqo/qiJ27TCqEM90GQbh/kUJp5QCw5AXVT1rz4UJNQk5tQLg
FG5tKuFEiyilG1HfYKgArxSP/5HCjyxL+vuxICWOGzUFiDyQzIvMPo1+DwCUPkeXUUgB7C/8iaDS
yq7DMokQa3ejfmwcm7qXyh4jSAvt84Pj3/VLt89LbKANuCdHXGogYzkeU5w4u4nnqGBree4thw/D
PiVWeDQs016L1iU82CH8hsR1DZGudjcszmNXFdI7GyxS6wZQb/FrlqtsSg86doTxaQ3Ec/o19GQO
edFAGda0qwhMWOmx424tsTE7PkWliNXjmZ2IhD/ktFNmtGujoNHPR7o9dQhWwoo7BvW7Feno07m5
tcn60U4kpctlP8llQJqFat8FoNVbioN0tLZ1MN8bswEBA9VFv2D1LirdXZUzQiLEGjdKIDpiGWX3
tEbdBqmnVvxQA07V5JqYMVfCJcUrZc4O+t7k5bvotF1Iinc7cqMq1W3gMq+066nfiZ+9P118rSWT
1UKgFk+FdUx00j4wdy2RQRAk6p6rAgLt7ALkV7MujmXwkwgzsAci/rIwOCibjrnX5lvTesnIfFzn
I07+CvGxQwvNX+sVZ7DpG9dHezCxhDbz+F2mGvxPN1Wu1Ossu08IbUs9qqZSSgyVZlkpT6KlPrKi
XXyrflcjt3lmr/O6+X3xjXOiLw+YwycrqPAAY34qWQrFpvaTdwVboRRlX436nwTe/pjgbZPGecEe
98XKMNFPncsYDLdNae892b/2QBWwxtBsSV+HINTKbS5VXnLc7NSIZTl41U9qOn4NI6nCmCymQD5x
CeGcNIqW/U7tfEnV3Lc902OmmTupQFR3VyrmnVW3J68woS6lz+QvsUwm9dHv4dCR4pTJ8q7uWJ7V
LZfLiYwaashBUT/8dB2jBAHX6302v2QWvXvHxSWS+9jWP4ue+1LTot3gsHL6OW4HEjn2XLiuOnlg
6sC8NPypEZqiRpi/R9JGQ+SEu3akJqpftDPGz09q0qs+Q6gWzOoTQOeGIQneZ8feZTbRuhcGTews
skYqdVamHlNp5tvacZryZCWH8diafQ3W8NYF4wNwGAOHNCS0BMd7bo8KAENdDVoTV1t1XygMQWPA
wsiHJwSfxHjZfZQ1M6TNdKMmF2qA1dkfgdc9KS2Rj7R5pUFqJOiv3WD5PQMkLi/Y5kJpCLAUpR4G
e+RYLUBDvKmx0J0ljyIFgqozHC104iZ+g5gdVYECVaflLFMEUeTRO8tauhf4KdCDHrWmuPc9qe1l
4TUyFt+WmikONRgPsL0phPAoljsesZ1Ucl12L+sxnIs3OdY1Ui+IN4TEvmSlZVB6qrOcRNbrSN3p
TQA+SqpoPLuLgz1wqjOXbDV2sXQVUu3gkY21YfgtZ31xBD9lqUm7TfbquZTP4FIxSU2a+kLj/12Q
kbohTRV3wZQkICkszkE/5KoPbLfP2nivMKAJ1onCm6fQgHDKTEJOXeCfOWudam8V9CT/oD2sx27Z
yREmVDNmXh4fS97cI29+a2luMdx8RvrA4AIsA0a9eUsC7Zu6h2rDGHfu1CBYccttWM5b4jSkG3h2
lZI4Z8LKKvPCeyWk9aQAX6p5Xe0zA6RAxeTv0ZZQZsg70xtw+sZGZqEPVitFz0DbmKdtSqE0JaY8
GS9qxLHkmBJUztMcPfck1mNAP1nsPYF7hy7nWtBSr3ygC/wZGC8V2bdwi2ucj/exPyO3DIm0obmx
3B3Zd9Na6SfJZgDcrdg587Y4z9JMIHfTYldNews9QGnRN8iLdSYbed1JdEqWLczIiK9vu51SFcp6
LpZWCCJH/ioViIo2Yot8l8kY7apmqA19CrWmdhAk4TqogrZFHAAbJ1y18sZi7HNjT9aDGTIv07V5
3JFgvBkr6yDC8lsRBqDYMzMtcJEXYbe5No1mwCjP7+Olp0AJnStamIM8Zax0bzp5RrKdiaW21pLJ
3y7VsRx+y1UvqfotbP+C5igUq3HKPiUGOfbUkErBzf7xEuKlg5MD17WXIg3W0frIOr0C+u3RiS6B
fRwJ0l6rtxANxL74+MrXJXkJdvSkJhjq2py84KJ8LVJk1uyRsH+78EDE0TWt9H6d2ubVn2mXMu6r
uARP98LlcdIYnNUmp1sZBtGGVCZ61bDVHMjAaFos1Oa0EKQrGfXjTLwPHS/NX8/H4lfoY3ubARpC
Yi4LVayghLovCg8dbfQtz6h8tUg0dGRS0dGa+m9MOrfMDdOzCt/C9FyAIC+2NOCXML9OY4odeZN/
9ll861I5LSklGrUtefAxquKCa4exyotuAMMEaETJSR5X5vJa9whwXYAORxYStmkRkBouJ7VmtFKX
niQQmlL0kyt0LCdyjHfA4lsOl0aPYfpvWTyVzdTjTd96YLkGDkuNA0xaTsu8ptpIkVTQ7ZK/KJ0v
gIkY70iFA8n0XzoDDw0bk7U5sJDk31BHAXcD99gbPngKHZglBbd2N2zgksmAhHSBjTH8cpJkLy93
tSamSczL9clOzUMcHdV/5jJSogRTZaYeeVD57V9eiQSiz8+JFUVrzyuCG2aa67HWnI3EwJVlgRfb
O/qoO2VVYEhRfDSD8pY2YqmcGlLdP5FwEXAA867yLBfbZgnPsvayXOahZHDdTWMq/dobWHzuMz75
FTTuZwUmKBxDa+cQJpD5pMwxmmyGbZti5Sz1QEPKMur5ET20cMksJ8sk4spZ2Gwc0wt37WWx2LrT
FGVW7vXINb5nCwOkVEN6Wtv2U8QEnNSW5TARzM28lY1d9wdjV6aHXtq85G55q/UWHiTO/OGNpAfJ
CqROoZf4nPMerMajSbWr+Byh1PW8ga1gQdflY6K5lsSAjo4IGL5aZ4OEtwNgyIh1SJANuw7ijqEC
noP9Gqf8jZy+6y7o40C5i4X3S8eSLJGVvASPMapDTWfk+pD+IA9/qwa6W9onIfqXYZxI0eHzSdOM
nGRUw8j+uzeNqe3Y4509ThHtOeTbkQbDddIvIuGOc6ZTAjrLyiI18zdQD7vsfY7zDzNiiWA6N6zH
RWetg7JlupAzNEQ6MSHLFUSuMXNOcaDPUOqsh1wyPrJxuKsbc2FeE99ZHhws0joAxiR5qgop3olW
waW+2g5sLeHsWKSigb7VoKQb3Q82inLROR6dpx2eHYqUde2zHgfLl0thCzcH1UvhFqSpqanrkr/l
NWoMu8EFqHF5voksM+5QiF2ps1XkociBSzcTZrlqA+5+K8veJlsoFkNrDB8Jych9zCG7zVUQP8dH
SXEsd3I5E1POO7HDAKS2eVLN0r41i5AWCaDwUZOXLF6VuUqc1rd4cz/JfbOGgw5w359wqEJGLlv4
hOmQa3Cbt2H2q+xf1RKq1rMiucYOTYGo4FJar5kf74MYfMAZpno1Nc2ty+x1R5t/1SJ7a+TVQ1R/
DV7/UdXM1b2E4UpmUrLFsOrWk4sAU6Tn1pLkJBYaZRVCMV6tcPMDf73K7q4I/YMXk70FUUcUDiBP
SFTU2RwiaQ/QgtfAX95ZlX/StGCfG+lPZcqRa6xwuYSm0RCsGkn6CAPv4ndUYIGgAvNYziX65WIK
oDgd4xKR0BC/wTgE3JtWCuasGPUQuujt/cGND8oYSjG9xhrnTvYBRRyQwz8yzQzG0ekXlCcqo6AP
VladfiljIdthR/FLsWEHfu0T6ytps2dpYCS3Tb1MEGmUzadXtreQKD/VuA62335uq9fFow7CdafC
20X6NoBySs7Q0MG2bJnsRvLma7rygkTzqAbAhsvEDoBmZfn+PV6APwLofltEGSy1IZz3LniS7dM0
Ud6XGDIxkgTMG1zpYEV1mEuKX2/lt07qm+ul0L4UOGw6Uk48DcBT/ZoJCURWm8/daGHCF40Hx1qa
6wxkr+vM5xAV9bsB8htxa1xPDEaHtT0467w1SjmIf+wj2LPy7HNxw+thAJl31RmY8Cy5SqgXDqr2
U71bqd3FebBdPGaamRPbaEZc9F8NxEeI2QKDJii68X6y0j3xF6+GyZIM2/RnJCm1kdGQ5GAyIqUO
EY336NHT3sRD9doZXr1hvLP2ne4OrhlEeGklJrs0nKzTHXo/i0S/d4n5DnmGdYAG+Cnh9bK94M9M
zLd02emkr5Uao/a9+WmTWrfp7c/MJtpOk3YSsrOR6GjMDli0+DGIyUWWSMuW8WtXymclFcSCGpKQ
ljf3+m1ULlAFBP2ZZdc3uHWyjBbuh7whkhxqmomuRlbRigCXtlRa7hK/16Qv01Dk8o1GsgLo+h/a
wWnIDA8mYsU8o31Q/l3pwnYdezt48x4doIl3H+NWkhRrwG4RcS8H2g73WgLJGVmtKxnmZjoXiY4v
pftZaM2HdLSSPSODj2c0LYc6q++lp0gZ2+cF0AMQmZpxspie+k/Ylr6hIkSHyUrOcse6ck/Q1kV5
H2by8H3tPOmavq1TNMStdKPDSSTfBwKabnsCxPxQKIsxsXJELXEGevNcgvMjPCU4OozFRp7CmfQd
Dnl49CSZB59nwQAFEgytlsiKl0xXU3VFoZSNp7pzF+muJ3swhT2BUdwIqpfMyn8JiZ/Ks+xVy21e
eTduxbhucX7lY41MBoqunn/P0i3OtT7NeHqQH4+wnXQXMd4EfGAY4HAd8mlogEzMbGrS4Ho+U6t+
RMLHhs4YT/7apESbUGmsallZydOsKmIJp6v+enK56ZVbkXz0jDscbHFKZtUBdtgroDxOT0TV0DCx
g6M5Sjuc9/opgSRRJZiyaVK3CbJNIrOd0w/TNVzRJb/bBPcAWTkU3PjUcCYWWWp7Er7H6/KHQySp
YnkuPYzrpvYe1U4ywPLB7kinlGe+n1RUIlyi7w6GhfmS31hBiGcbS1R/S4bdu1xr1N5vB8sdidnR
Fp6oNe+kFVsPHWdlhvF3gA/Gytbjk1HhbRgX1VtXPs3CvigHKVn0OmK5ZoV/QoEn7QexYV/C8LW7
09vovdLEZ/Vg7VKrtDdNxQcqqwq12WgeatB53kGJ9AJZqsqBgnnXYpawsobhmBTjEZnUDyj6L+3o
TyvU9ZdifIxyJslIIi61aQoGiQlLV3pV9S3RW9o6D1Zxaz+XDZkSCnUwDMAA20bZaIbiNwvy//6a
/jP8Ku9/u8i2//g73/8qq7lBO9394dt/QP3gv7/Lv/nvx/z7X/zjNv7VlG353f3lo/Zf5d1H/tX+
8UH/9sy8+j+PbvPRffzbN1vlRfzQfzXz41fbZ506Ct6HfOT/9pf/8fW/cjQWuv+XjsZ3X+N/HD7g
3kdx8/Vvtsa///Jftsb63xzD8AyQerK+/sfS2Pwbtu8yRtp0oGYBwf23p7Fl/02Q8mT7Pu7FlmWL
//E0tsy/OQRPw+YSLoNpU///8jS2xR8oix7cTgFhz5LGxp7+R9tgS3OmsPbc5eATIJJC6BV5tPXg
WT3X5/9i70y2G8euLv0qtTyHF/pm4AnRsRFJURIlURMsKSSh73s8fX2Q/bvS4Vx21bwmyshoRBEE
7r3nnL2/nW0NJDOyVxv7gO2ndvqn7l39FT51z4BE2Whmyw9mb+I0KLx01aEnHwokROEzONIaduKt
laDycgpSja6YGetiVwUPmU/2nVe8gyBSFBfv6UpUvEqf9YHkzp3laMl/oRJL4p+9R8vkssHu5T+/
i3ghwkhybi5bcTGgTkoPUb/4tancI+/71Tf9t8BIhVZefNNi6eE/S/CYSP3Jq6t8UoZGOSmSjMuf
/0FJi4poQr6mLFvzao0H8bt8aM5qZItvnZd/R0i56bZ9G4/qA8AcFXmdnT4Knnm0Hk1m9WdO/+pF
ao7SHZES7/lp2aXgmJz2FDPEvmBzb934RK2FI6XZaI9G4i+JU26nX+VzdKfci35lfoWarpOUuDxT
x4yufq/eAEtAgkUNxr85duQaG5sNetH+rb6CKG45p+8Qm8DIMCxHWYBt2pSjTG1pFbd3+R1RpZ/k
nilbeuocYgocQiQXOs1jfSIETjq0PsIah+7alalS9Ct54u1400vxvfjCAwkO8THY0g5L5c3wHppb
pEtn8lhNL/mat7nTO8uMK5625eZbPtSt3dH2TYQdis32A6kSdjfoaB94aiYSEncN02An5zR3NXM4
oxvOIAB/wqcSwP81aP0sucz3i2GHR+qZxnwqL+lXSOmTb4Rj+aT5ywPQtuIlH5/gJZSJw+UI7+bX
4l33iBoOsAh/Y1U2jrq+GySQkG7B3htuES1jYKcTPFGNcB5UN/r8CgNNUY4LLb+1kSFeVNEjZdm4
NG+YzD7K++DclSf5cVwLKgqKLRiUCDDzA6eIU74fTyGs/m14rx+G0p4d2qqtYlfv2b5GPIGi74Jb
/DtxQ0/GINSgg9uMHyTyYTGCfJlgg7SDV7l1q/I+fuoYgB5UpAKk9ul24nZucVh81YtcNApAO2Ap
aDfpMzjCZkDG/9oi4nTyc2Bnb8AYjth7hV2LW7mwIS/lyPCWTeLjjCakPPHng/liYedTHSQb2Vdz
oVyZThAhgG3caLdoD+HOQEdpbAjMwyo+Srb1hEhszRjsbMO4I1JZ3ibv/a6x87P8gJjKvIYf+qlv
D52wiV+Cq3kBP8WtXdnARGhrKTv9lJ/HndihKbjD5K66QuZW2+Jj9KCXJNt6m71aDusJ7Cs8hUfr
3npeakoMn9EB6lA75+nYZF8DpfamP8jJEwOE+lzudIKOPeC4sBExbRnpfnyV1w9NbQFVbmRGYA6U
iXd9GzsUXJJr4XNGO2iXnnXRUOBsoiMEFx1LybiTXBAu+q+GeT1vUPcYz+xoTIULF3IjjT7Rn1gJ
tjiY8d2dcozIO9A6CQM31kClc2bRHpC4IQgGyRm6IUPUz+waudlWuTEaznx5QzbzPdY63V+jaXfJ
tXubne28jYAw48DbFOTfno2OAdBGewre228BQRBoniOnjfmFUBKXhqx1oTxEFyv4c7NDLjn5U2i3
ZGmdlf5qXYZjd4v2ib4xbvOD+CI6uRMxYHiQzgxZ/vP6+Dt23cRToalA4yVJYpvTfpPMy9liEh2O
oKKlucts2Jdz48WM2/+ihP63RXh9Gc2SDUtks5P1dYv4wyJMZUlhE0hYP6XxaX0Jgih2czh9LW2c
Yx7vwF3WbPH/TDf4x6npj0h+mYzs39d+k0mpaGqqrhpYxMRVMf+Hl1XCWtUnq8XKLOQvyhwHrjYV
ybaaQhgEOsHLEl1zPIGoVJ+T0FIdyXwvlZFhut7agyHoO7Wan8ogGLaUnzxqGcEqvYZeFIPBHcTO
8xQKDZiQpvUkZaavQUCsa06ySRS9VHkL/SRgZO2pm1gysiVzrBI+kZIl5GYpNbZ/BuwKasFUhzHd
ts9y1Wu2bqwFudhbkLVLwVXM5aGDe+xxlxtCOG9RYcK2Lq+dZvSPIV3So5UV+LJA1uWpQXorE8Gd
1bV3E858fw7ZyBAh32Co7ELtnBH36mXarz4kAL7oM6/RsWciqBPK3ANOtxfzVPIB1e+MnhJLTxM6
nEXjC3rQ22ODuRCXOsrUjGejGO5jYoYdPvaO5YBK12q9upGEfSkSrm5G1otcNdhXQdI4UhN/902X
nuSxWbl94mOqB+oxHmpKb+yNLFQMNEtN2KcmkJS6uTASxXY65x5C0mijagVH8dL8lp8iKWBNLXBt
csvhyM46YotDxk2ysKi+WuemN4mFJ8ggHpVENI5du6raCc41xPFHWnCeGwZXuqB+cOpXTxZO8IxK
OOiNbDsMyACBJbW7tJXcaUzulVL4ZdGv3Bfa8qTJ76gCqe3M/LMp1WCrVWsrb5HPydAdI0Gj9isB
Nsix/gwYcsE4ykYRzMTU6hwSBrwIUqPS/tf1R20JH8WVmZ1KJxHOnTBr99L0WU/aw0JZ45Ou+jLp
1XM1kVB+7hHmuu3UPkxR8ZgE4ZMct5+JSesNxM/zovYkwLYv66/V0YVdZLpLLGBSzQnoxj/kaKLA
W0zV7cCWUFi9qy06RTLDB1XOezdnIIDQPDxFlXalyXhEy9yjf+CTNiHBJKXgY9oRABA0bjKMLW4Q
dDUNXNeiwlRijpCAEZ55wvQ1c6vjcn8iqfMTACLq2aJh4QNzK6a+gNUOU19PZm2v34sG3aOZnaE7
DXwCM3PYjKuTMQuYK6eqQvyijxVpgF0V8XMgueszR50jnzwQmol8R9oVU/ZlZbBtVOJdI80ZC4Ne
LoI8k3HBPUoMdlDozQY0cWDIVVo7Zt7bGi6DkW4MEv4ePR+cUXSqb9og0F3F+MnBq9BgNr8v0+My
aJCXh6tJirSlIIw3RFqOsY2ggeiBGTc/++QU66AlkLwqYaj6cZ6f5wivJ2ZFAzy6sW4aTa8wGe8p
ckPjtMCHK+dxp3Ug3RmsD85cSPVO1mHAJ3m/bdNAZSS0SmuLunkQaGr5KnY4Z0qThv5bJO3DFnkq
SGMm4YrZOiaZDNt5GPZS30JODpAYQW5Aoy/GiHkQF7aCvP/5Ak9P3mdxw5lNJkcd5J95HyBpsQtB
IxpUauEZzAoj9UhMD5M6pohNMesHHFp/fis2X4qBpLcyzjOEefwlLbIgy62/GnBLQjk+MMSiwxVK
iDlqQEshBvNN1GUsn5OVBfuol7/qkFBKWR5i956eK1398/LQjuTW2hwBqq3ptMfyguo9Bohrc2QM
bvJ12co3FAm4f4/ZcTpK7xnJDAdYx/BxrPsFDzyQp9uMHXZTM72wp+/Gl1w0egT5nszbprxECD9v
DPbVc/Te3qnedKTxF5zKj/zAkZ1OBJ3lVz4j/dU8tI/RVsURwNiedf5sVD7TXlb6XHKA9ySooZmM
EmOF5Osk3gOllDiepk6j7znODqTW0lAxdtIFUjnCetooN5Q+s3GHBZZ/ZnBAtOnvaR/mvflp7uqv
eLhFi4O7XkUI1/MPh+8a2sDzeIcYrWB6AeAl5dRjp6QonizfeC6fOMiH9wjang2feMkzw3jo5Gxi
BQcN5Tt7Q1UOnOtjeUuWjeHXeP9lTtp46Dk2O5LudIduK9WUKt5wQDRZhlA6WUCJvE5OYEMbzdel
AxiWUPbmcTuZnsLpanSV9gAkQEt4O+6KogtsEdIIQA9XY6SoQhBkBu3SacFbyvlccEf9XpMwoTrp
pWZtOuTu6NKIjISNARQ4ZD+xm8Ke6ENyDSs3fMk6v3I0Dqcnk5+c3J4d/azmVa58RfKKEQCPbdIU
RhbNVOVMlC24tr15LHh7zLfBYJkenU/dGV+5xinPF9EfzDiULewKU79DvSSPDE9BTRNQtum6TezG
l5Krxenyi9RwpTk0HyWiEIySm5ZQ4RRBwyY7gyZHKkIVohcP2OIn6yacWMKsk6bt9ZvAxGjLbYGK
hUtMKy4PH42T+omBXwRqgpGk2mPy2nSSDU9SMJ+MU9GgTT7hyNM/NVe4LM/BmfqpvTUrnOahe4IF
x2uHbxx9X4u7ajd8UpMVra1+KV580o/5O/MAJHTdy3iNJ3vtap94bFK3K7fmaANqLq+V1zyujUhg
OzeeAOUDuLqcOAM4LERHHeWmXV/r0FUd7ZReNY6qC+bSg54Q0+wGTvOC5CEc8Uhsuj0/r9gf4R3y
THKEEoBeww/aPBGcR+PMqP36CtRiDne8Tb71MNyX0mtZMgdHX38XYtdB3Z+iA9gYFJKntLE1pOmu
cQj2gC9XOS8+OdHje9Sw16NNAVn3uU+fwwUru62Dcu8PwoeKuPUhlLa44zXLx+pTn6zznLsirrTp
OO2GO4g8MH65c6E3QSDymwO64Gnf7dNjEjqcbLLP2bITdAt32V1A4xq0UWCj/heLXfnRgJWjmttE
qyxzY7xyX81retoGaEpTboStzJrRf+Dl2GKEaO+iLSEoJJCkr5nf6TaHAQowMtOeY8DFZ7C/TLUY
7yqY80hRsmV5Q39ypINMzaC7411NQV44y9HirqFEpS/gZm8NZvURj5YNB5ryYp+mT4PPKc96IlSw
f8Fppky+aSs7BISvkif7+jXzaebcAJsvbB+77Bh7yrWgr+Aad4cS9cbjmLvTfY3f8j67UM/cOi/Z
xbGtHhnyGKFTORYL9yc0tXCbn1S+7/AK3+qN93Ch0jWLbbQf/IGoBOSfd3SDF9falaUznUNicxqi
2r0CpfopeAAF2TGwJAvDZljEtOShPQu3+qA9wgbpXs0LMP63aNceGKm7HBMuweRaPcW2PQ2PyexB
C2TR31ke4GQ3f2YL7e5hLkl3k1eewlPza4ESYlBdpcS5nwWFNApXvVYfvaMdWWHVJ+UUX9MDckd5
Hyp7dSYAY4MfGTxZlkL12VXivX5Rj8Zj+QwgigNmzGAbtBZ3nbZtPikNIhoqzU56xdixnCnpTuww
tEKoEeMPYCWwUiziQHlYDccgtkS18xzn1Z7rnjvqa33AOl6pbvMqgT5VuA3Mk9YBS/MMwR+CbSRs
0ezyOaEx472U6UWc7kp1RxAURepAR6H3iiNtlRF8c3lHVSl9tjXZXRsE1GV3p16iJwwfiLY98yL7
1qMUOTWCCX0TwtYFMYeZH/3+ptmRXY3teLojw4oTARrkUxOxIZ1q5KY8ld9D4yg7brvwZfmVw55n
mYOitEcsbTDu2EhvebjlWGS50IF8YigvKM0V6SMCrW9ewvEYr2KqMTssRHtGyOkPJiCrTD+y+Pfz
PkwPwYgHkDtd+N4MtQ9PrkzA7zjWPFOCPaX74XF2o1/SiwDmjvd7zG50IJRX6UwDZEAqes52i1df
JFT0nOcu4Rv7EouBorwDCO6Pw7l8iNGT/+q8sLXzFxFUr+XgaLW4AOj72cpYH0NKQYgSoFivU3UN
0dbpaH18YDPwsdhUJFa7W/LWGXZ6RiiG0fk1CEBf0g2zu53CHZvIjtY4PQLtTfDGKBxzRiG51Ud9
Ld/K4E59ruKH5B5VNoQbbZvc1oOn4MXv+JNRaOBEaqRNuk/Oi7Jd2ChepG3lqX5vzzkyULveij4h
5s2mP8L6jRpIw17/ZWpOB/SCiV3N+HTT38xHcTkFj7jr3ODWf3XVpuIU8DRAtiNAhvAYlIkn0c2v
ZOMF9+VFtcMHMHuLnb5js6i/Fa9/q+hvfM971BMKsAckLYgnuOzDgeEhu0v2yJ4XXyx7vh9EHNc7
kJHu/AZGr76yqisgdPmu9MZO6aF5HAC4MBLfms86bUqoXmcaSu+KJ37xPxKkOTCp9JlpsU5+AGOl
djGSIWile3nQHrAaahBms0v+pSycYt38SzOg114W65BKnuCuqGLjhNBvuB/0XcC2OItvRNJRKnwM
i0hxAqQlfF10jIspG5Tqlq1X8ujFFLYjo6Z6Bc71jZNxBKrjhkId7uDIpgs0wkcgoB5nCvTXorAD
wkO+2+ZXQ6rGPe9pZo+C7LILvzjDFOeGQ8KFMHimXBmnBICYbsOIGYLaLek5427Ur4CPsdhrKeXH
pr+OhNXEm+hpuBs+jV/jW6BvVg3lR/1F1Wi1CHHt4LvVvWkVA1Mz7+klay/hhHKVXciWfGO/HGcn
v8v9nNMlpMnNeEo5ZpDmU6h+KXjS4FQHBvn1KXZxFc+Sp36KxP3Ysd/kdnhQj/WWhh/LS+2Gp+xW
7BI/gmX/gSmZIMLoqSaZG3TVhp3ibPr1yTQPoj99DV8mZFQa03b+hPfyWPzCK3Tujghz1Q9rFz83
WLlt+uf18zR7c/EtLfeztikyPG72nOwIO4obb/plmH7FmMKilNmEJje6gMI2zhU0jSEcv9XYuMgq
13nC/4JKKbVBTIiHMcykAwwz/gC6z3HIO5A57dy43Wo7hD2LT3b98vP3fn7188+MMWQhT9OWRbmX
DtYED+Xvf5u4iGqPPD4LcR/mSXRZHeYhk3pHMclvilhnurrFNiCuwjmZ61Up4eTnlS4x78w5yxO6
pyXnMJp4sPMWmVslxQ7680tsRQddM/nZrI7OrZqL3iCwgyyGiIK1qFXYsKQSyUOa0z8iPKfXIYxh
+duEAoz1YBZdvBAg5xqRZpSl8ZaDKHS7pLuBOIrcum/HRwlIFjD5zGMoydJtceDuGGw5dQBQIJOb
R/DaplMGJnoolY1r9aLMimNkTehgF5fRbhiNO2YNTXM5yD0lnqLnOAZipQL/TgzJi0N4ZIMSNF6N
05OjJ1shlJzuoeZ0ZKINADeNIwgWEAIZcvqwTx/Unn2dhAsaKeZ4iJLsIgQ10YqiFByjVrnpMHc2
C+tD0qfRrpjpZKpC8lCV496sjIPB5hREmOIU0ZGWrOP8yAl5LINLBmFUVdJ23+HdGPABIWRk/UN1
5WWEaq3J0bJR7kgqpL6+79AyQVUgcRFFQ+qiCqMSmTlU5B3x9qN1jQjdhHPVe9EAg94I74JqetXT
Qt4NMEWdvNPvg+Q965sGOIH0pVZETmmDObkDAcm+GMTsv4Kf9Gp2gyfMASAFQL+YlYBhqGtcIZgA
wVzyotBe8/61FUrRnsTuVuDptSU85UnwVGvfklA1q3LoGfkS+2qdTvTUrO8a96rUTg3K+4DOScHP
kM+wVAEZjrIpUPouL0JnkiQ9MfquxegbISxtJKohk1hJQjGibUAvr+6XK348c9tDsULPaNL71kcm
DOGIHY0Xk2WqUwk8nhXkdKAzbdMslqtHnadKlkDSFWrQNpK3YkV7OlYsf2GqbqdF1G0aGT/JC4rK
l4G4Q509dLAUuo1D+dJ1FGM//zZPtG9c5yk8oE2FtQ8bzTaGdYfDxTxnyDexmIlPnai+FhOixdrV
ezytHO9rdp15sZ5ZlSNcACE/gfFLCtqXUhv3UU5BXBUcUZWyuxY1qsZCVThrj9ZHMzlSjJ1E52gc
D8jYSg7MVc4EQd2UlnqzMum16ek4pkB8wVCN2GTmu3LovbCiZJDR6pL2FRsETWS+1OTh7iHSGCqV
xIkjDan9UoopZtDGybVxQTP8LCQjZZPRcJ4Wb2k1fiQTOw2SU3+26Afl3U6LcffKfcGgZ9CgI19r
HVFLorCkZNhQ3KjNSieKF7fLldmtZ7lD4lbrYDxifT9IbABG+NRPauQbij9QlybdINqSIF4mtqm2
tTpbiJ+IFn3XVNQjrQQI3+y6nYyczlfain1RtixbGehbCCFJ021NRy9mgsgS6SozRIMmIK1EYd4W
9tXZtIpLPDZXqcaIORgzSpIW1brUPVhji65cHK+5ChotlnUqGQOctdwytgjwwI0l42TiprbVTAtW
F7xKQtbKpeXulItto3Kk1RpEPkPav5CLznkEk/qGNTy/s+pnxaREgyN9M7oVOotY46QWmJtC82kY
kzuyapxAxt9kFqJfltTS0xDJLknSM9kKkGsr5oCCWA6ebsU66g0gtNYSYrCaHhMTuj/Ev/c6o3It
o/w69exIA5+VYinNZp66xSYe8lTRZui64CvSVdj4/Qv514SGzsho9SwB0oo8lIPytG+HvdnKb9HE
QbbqbqJ+CKXqxFxjWxk1N0DXflkTg/u8dcS25oBfHMtZoTeTh0f7oTS1HaqSR3Ryp6lq/GHUmbR1
IgKUpvmssr01i+9hiLKErjw29Bg/EiQ6mk1GdktxlGJ7QekWHbNykGmPwrMLKXHm27s+4zPQgCvF
bVSD6KBPqgjyHaaaaNMIa61qjg8E13LwSOKL2IS2lmn5VqkZ+2KnhwZvPYZNgm2gR41Gqt22bZdd
pw/7IGlEIEGQKBIxe5iG7jYApdrUUOo3oRxSLHMmyovhUgrC+4SZcY6UczgUB6QT53GyQj6NHllR
soK5CTkSjMmDu46uVeN/9Rx7IAR6PzKoiYswbDlHZQYoifxaTiO/VdFWa8bhkEXhVfwxYxPc2WoY
8McsY7SKRk0cZL9lNSONJKXdMQDtX+TnbJh1H81nT1DgnozF5X3RUBeFi4A1TbrksJppOFdXPAgU
0Xr3OCl0cIPRuPTcpwhqWeBly1fUFh9Cn1E3MWsNVcqqwdD8Nqi8tFacIIZYowh+XNHoUzILLbSE
3y6rDhikHwXe/3NM8zwt01cQLBE7ccRpkY1MWtOuCgvDojqIB9EiSlZWclrIqy8jbdTYiyoKewPh
OVhMnW1f6MtdklB3rFm4YgivMSiG4ZySsjMkpuHoI6TRUCasdxklT2GuY880gNQYAImEGFxNyT8Y
pxwxZkVahCht89LcqUnXuybos03UE4tSlLqjL5MzothwxgjhOSGYqO34/PWA0LiIukxCxGIHiXA/
q12+Q36cOI1ZULLnpVeTxeEno/w91gNt3NUo9zQIouaaum7Xc0Lp0PbHVkb03g9YXNViO2PAanOT
vmbX7ILe3GZGTA+i0S5jzpZL0vcuxjCbconsODDuKj0QHMTZccLQCjfFYz23PDGt9iJPFYjTNL8B
s76iyZp9ZLcM6qwXQwxp9A04BRVAwrHV5jsCiF5VoozsNhEcuGkrP70wSGo0PD7u0SslsvQG6De6
Tk/AXHvWmpw9LIIAfGJ5bFImECzsmupKFY9xro5PBEPjCTOlzz7vmyMGHKJmgE0BKam9IegewnZX
ZsaHLsei0xb6Pszn76QMI8/UByS+XKFSVWHs0V+TBE5ssRrJ+Mpnu554qo36l1GjiJd0bomoDXKn
m1pIIh6MZFJohkJCdCddA7EP74aeQkFFHUEmJWLGJH5McxItGND0G8tEFVQzyk4HJBDAXQAoOBMT
jXmkrxF2xlEmTBR7S3WE6gAO27oEQVva3bws6AaHMwFggoljSo56cK1Noe7bfFTxS/Or3/6XDKp5
ByIauWL6ETMZciWl1tBYR3/88vN7ZjNbbiyGb2ECk+XnSz3wBLBgSW5ecWoLJPkGvkjZt3rxSyvB
IFgIlJ0B3ShwgLDbaysupo5CilKJQjYxcZBPg+AiqqKnmVG5hVW3H8Kw3K0RkBosU5q45Bb9fCG5
9iLkiuEtBGHt22RuoOtqpbGXMU39/UtRoD/pbpZEkJHwzy8x8gJ10epd0urdPlu/EFTBj1P3+LQ0
8SEfTbpiiobJDtSVPyBOvcvqVP3/IsH/K5GggnodSdc/hQGrDPEf8sJV5/i3vzx/NTkpA3+UB/7j
3/yPPFD6q2ooiqUrIjpm60fsN3613d/+IhjKX1VFNcC6qZIuoo7glQqwUtHf/oJEUERRKJkqtaiC
uuEv/6tFLr/+ifxXQ7Ykiz8BbS9qqvGX/9FI/ovW8/9oP/+oYvgNICcjmsObY/ADqoqhqqL6rxIG
UxpY8jk7bEPd+mXSn1ZieEXjtKEWUv6LGERZv9nf5ae7z7/9BR2ILim8U0R0iiVyPX6j1bFc1LLC
mHH7E+snm71M72NS4NArsUtR14ifbSvuekLGxfloFeZrLUw0OlENrzRUuPr7MiupKVZmxIjBIp1m
UjVWyrCJyz42xScozigcdOUQZ5oFJxpHFIdzG0Sraf94EhItvitXVVqLbYH4AnATQnP/hzvgT6Qh
BjLSf3ujmi6aosUnZfDx/utVjaAaTQpJ59s5VP9uplLWEPqfHEeVLpkE9UiL5V+qCD4OyHY1Qf2I
OZh2BFG4cUWPMci3+PK/0VPfZRnsNTPF6aA3GnG9MrwQHd+RzKFfLkk0bHLpJe2jci/7aQ/GWjaV
3aAjBFtCFWVnpxyNkFClpFI2IprMdZkDc4HAyUieY13t99kSmQxPi3wkP0AR8QVFTtZIy0Yw0ENr
qgbfYsBeN65acQueFjOF7vUnOz4K6y1A5GuxAlXCAnKAaSVbYs4QnCmY8EYj/paSeVtUI701TCEU
7dinNtK8fK26/pTQSh1OEZmf8WMFJFde8S28LYY0anqjPUAtbA3vQ80kMNdx+PyXz+rftEPclIbK
56RZosYT+ttNKTZqpeTdgqxsTUqS6uApUdI34rcYlkxQR1M6UED6MKWp2KkGxho/5pBF17atYJRo
OjpfyqItVm36NykxsXivXNZiGiLxuK8iwN9abb6yn0IuVmVQkQOYlwj3SKCHGIabadNkHene80V6
AY2nOatmXUus1q5iisraUGh4l9z3NftNM44WRxvrI4uoGZSmfs3wF5AzAMw91hKoyijWtPSQy9Xz
ar/mHIYrAmxESg5ITChry1YRtHPraftyAP0m64zhslMSCOde7u40g95LvldE+k/detbnL0yIMmM8
JKJGj8q6iBKGz2DmiB0lydmyGDKraDFQ4psNffZae/ixO/yXz+lPHinTIHHChJBl6PJvEq9WVcg5
oiDfkkK6OqsoUMAHIr1Hq9zJj52avv7nF5T+7CFGM62wbmmmZq367T+qu7RBamnA8YoKZptK1++B
PQPlWR8GvaCMI8wLBi6HZ7N/pVZcNUd8wgbeYrcvzB06/G/0PWGNmLS//eef7c/uWQvlCneLyhLz
u+hYJuGvyIXM2hryndWW1PERPxo72ZprstqCSvROBbOt/+eXVQHzg4EFliwr6m+fgYUByMxGwdyu
LqoJROUPFmuNvW3rPnDDKfXT1nz6zy8qieu3/W3b0GR+29DXberf9qgklGQMpLrJ0BuHShyew5FW
1uqM/sE2/8TzqgPKUxVBsPGUJgxC6gmbXGmI35JkkV6M2fSHNpREOM+SEjUbi0wgplDr+TYZzNcZ
+jHaVyxX/CCZ/RMzsJoG1Za2UDbHLwUoz0LV98XApZ4N2mKpXro1r+tmE/bwTNVxq4wd9+a9rmD0
NHRCH9IsB29stnCzgNpR4JVvP2AH8pKJLokmjt4LBUaJdkU3m1+deKWROzrBCj0NaiQGAfXcUhtv
HUOydEUjA1PCVl2DGws4otqqqX5PvXaQVvBYEneYUPLJNVOKymrT67RZ53XhyYBFqCGbgajCSZtZ
xqkbwBSRaDKBdlGy+UkZyusPoCFja6W5OT8YHXvOj2t59cb/gEB+WCVarbzq84L0cN0dVq7PWBO/
IlsUAVG6bRgSlT2al0kNS3Ah+X8BMcNV+51FzHMpShI3orwq/jFM/OuziZc166OlmbahRbEwKl5C
7dCvRQR0pJL09ou5lhcRdYayFhwRlceyliBZHe7mSbWcwc3WEiWiGboJqFqktXzJ1kImp6Kp1tJG
o8YhvSAFZUDZA+Xx2pOUYtP/JdvK69cCqesBhUfqgG26pqsiaL9iYP/MIHD9trlMONG4BiWhCikN
zYUqgeQbWBrUceZRVGgdlZqxlmyqZn2UAIaiEffWWHvxgGi6bDtfTtXmWC7qZyq0jGuDGdEbWgPW
LLfkdqKBEFMxKmJ0RxX5YJK6uSE2gdlCmRKmQ51prQUn0EJ0epSgWW/Rxlir0rU8XXqOWLR5dt1C
zngvzZ5QFGsLW3jRqW6ntcw1c+XaApAlb0OD/6e9NGtJDC/kMVmLZOj09Vo0J1TPJrnr1JTCqaau
ntYCe+iMC6/b2oFhbZHkEf9HMV5H46OSVNtVmGUS4ezo6Xhs1gIe3Ktt4Fx01eduLfAnKv2CvvZc
x6WfNxVacBr6UoXzBMtNvgsYs0QcrBmcdEj0GebRiMBdvjYWJjoM09pqMOg5cK2cbC7RewoaVw8D
qRso1o7u5baiYwEOhjt5bWLIdDM4mjG5pb+RdHO2nk4ZeUmBMwdYaRcpMh2gpvuefIBz21axN6xN
EzRzTp0o5W4yCIYsyPHcxGuThYiJ2BvXxouytmDSVe8apvKhKTRxV62bsxKDXV1bN6YKjDaV8tcZ
gRNBV9HzEmaPiVYf4qTaYbGT7TrF/p/E0RZG7jajR9TRKxrpGUVr82imiyQa2OMTbQJ5km3rFakT
wC6wibm9WKFe2bkwPIYtOV6V1FxzHtfNICmXiCiOHf5YpgTy8k48r57ybdhKdJ/c3Get1k4011ej
P2qqVFNQR7K71LiCnVQOZV+MRlIPadGW8bUAW5pI2EzGUkRykFXXida2g7OOBtxUAuLqmTquzTk1
ZS+NQJiB66N1F410k3HAmwV9wpHoMUIbjXMZVwdwDueZ/l9FHzAvpwuH1g27jcEIQeb0NOXrQGu4
DXLxQKgeb7IRxYPW0FM1xJ08cEJdG4KlVuUezc9HJVjjeAqWWPJQtm0M55HOZbK2MFt6me3a1MRZ
iyaYPufStASPSzzVnZRs5zRebEaJN2Xtjk4oTqtgRmgzJuj8YSGmuV/X5a1RUIi1TODoQiL9KoMK
QX6GlKDbB1H/WbPa7IidQmYztX6rBaeM1m1BC/fijVZ0rNa+rkmDV4RFoyedUxnRc5oPX/XaCR5o
CbOyndrp0Ov1rav7JzzIRITQa1j2tPuZS1slxpEZR0TXYGhZjPEl0zTy+QIO3Z0PofwEanPhIhjN
Jll71jPN64omdrN2s2Xa2una39ZodGdrxzun9a0rsIGNchg82v9eQZ/m3DXZ4sxrzzyEJLdJJ8kX
1n66SGPdyLK7oQieRtz24wTea2hpMf9v9s5kuXFkXdJPhDIgMG85D5qnlLSBSUolpsAUmPH0/QVP
9ck6det22113L4pGpUqUSIJAxO/un9dCvmUlr06ClcEc0Z1VitfJo6uZpS38AK4mRmbm9zXEvAMI
P8xjVgMnktl/xe4gz7AxTx0urhn0BGpVpvWCRCsHUmsIPOZzoFWF0B4emoQCEvBtnA0FAVine/aR
Ioyuvs3tLtuUdJ5kI8yLLgi2TWuDnV78Z5/9zXEpsa/VE71ay9JSVlpAFWyD/hh0idxaIeVIIfJI
lD4prZaMyCZJYt+XMbaQJcbaae87ra9YSfbkN5xJMxybedhB6KWI90DNxUxbgslAucFa7jv+duht
3EGBogx9fK5Dxn/tReFZ+lNvHdOx4nI7MwvWWlAezp9G+s6nvN1GWi0iafjSt+H9ZBF0jcP8uUUB
cCbSMp2JmYihPLqT1xZ76nYRaLQmlWh1qkamomzryqTwHDR7AtOhx+Oy2K810hZOAaGVrgDJS2rt
y0UEQ7P+gmI8yPiL/iAajrRaxmrqme7YdN3JGiUNSU0grZlG+BXBNvK05jZHxkvuke/yoYNpAbfZ
VlqiQ6ob1EzUG+1uRsTLtJrXIeuFQ7jJR7aRuTz1of8r09ohGjh/KJLgqLVBSGPbEbGQWPlrFL+2
4iy1kmhqTTFDXLS0ytghN15+dpxTxp5c3lokyVlrk7ZWKUfLndGtgIejX/rx+CPRiqbS2uagVU6l
9U6F8GkggKZaCaXBQ8LwIiBlcs7t8l+wB/Cg0b58AI33o4KFvmkYS4vGsbamg7GLcxyzCFPxBgfn
CUF20r9sCSjrBo30ktQdzB4kzbmJnzFS+RO4fSsb3zot80b+q4gt99VQ9xB5GPgtyME+OSrSCCGU
HG3VVAWDafRji2vuqAVlhr7T1tUis4HanGSmOvXzR4kKPWo5GhiUOBoo1ES5rzpg2UM57MIS1yAB
iecZwN8RdXk7j/WwmrTgbWnpm8uA3FDOfpfXZ9GVR0cZzclg59o6OwrUqLYzklZvANW/bqgoouOy
KoZN57n3LFeXXWUDHg7ymWjUYjDX0Rg2KpqaI0+3P01jgrlc3/t9E+sBBd1Y6Il03qwmIHknnB37
uZTBHlNEfbIl5SkeWZxdt1C2O+XLKYFPd8qKFHyTXCz9WvanoBP+vtf98y6GvSA8x0ERMOQHz2BR
RZo35Qt+dXrkVIcXKRJcOUaMEImfNAyKaWG0xXXtmtcgkTblKJi9d+I6EwlHaPHMIc5l10Fo6mIE
lR53jefiyG2MgpoU0Z2XgAbA1sJla+Tf5AHuRt02xDXn27XktZ/c1yl7j2WO72i3I7QZTDRQJ3dj
1T6Xbf7Y5Om56KtvNU7nVOgkkfgIeu/dgbLD9nPABYtE8i1kfCc6tFwxFmx/fMynFrTCIL8eeo/r
eo9IKb9ZQ50HinVWpZNsMnPh0scwLDBr1POAorcZJ6js+C1LWrjbOize2ffNJ9fEaTfa0OMHv+VR
PavAnqvjSgIm42DI4VTX+2leyhMs6PLkiYlEVF/RWltXJ/QObH280Shs57jgI2qkVbppIQucLjcl
lKMTBXg3rLujXWRwyC49pzE5UlyLzHFSJuLrOi2UB+evou+++2o71iqXd/dy73KspItrbdKZmj6c
EH2yjyyCBNCci9PlXuD0uP0ar9gmpHGRwJ4u5XlusXyKqrDW+GGOqTLfLrC9cShfoiDaXzqqTMB0
GpPIhglKVOWABnOvYAY+hzZM1NnTCCTT1bUFOITMAi9lH5+CmflO3AEHSIcOyFGYH7OCRRw9n5hR
WLqtHVivBjSgrSuWnzTCHi8zTCpxAZ5Ua4LbxjqoMK3U4KUW1b+ya2N5pIEW3nLtUfqQ8Q1SXhMG
eLYnES+P6gAk6Foe1zW+pyFDj9eQ6o7gkVuT8YwXvD4OS8yTz/ZS+eRDphkgX+P9yvVlXY/+LpvE
qAbe4GEdcwo8BBWMr8uWexl4bCv1aGgdMLmSvt7g18HkFNnPljVvwyDl+GCEdxlzGUX4pPlBl1KK
DDQYIOXsq43gFE8LfB159CaeX6ZuEhOPLYYrOhhNM9kiXz9kImDGNvI/+fOtMWBBDCmG2XsJbv6e
8yF98iujBnxC6o7wHFnRobOWjeWFoEaEDp1gPJxZwmVp/RFAp3EVBTAzEHdl5wdf9h9QRrAeDOIo
GZHTUX0le0nkGPDFAAMTGo0YD8Q8ve6jrdhB6SNmWnSjqJ5jemAwi2Q3WEwPVAcTyHWnjaPmFIAH
dY+Xt/KChshKU1Llzme812PFETQhT2u6B1v9M/KgO5TjfK4tHJ/ASeg0ztofUUAaZIZE5prVi9Uv
+PEbKBxZPp6VI4itdly1R4UZUSMCmbmXYA59jIgGf5RndHfTcARw0gOL2l7enoQzTZqkHXIrHlTN
aBuW8oWEI45JJoOjW91mIe7X3FxG2n2onnKmkWgw2FU3t28MO7g3XQYnFyxzEALsSLHQTyFTCY1r
8bMLaCl9g9WCS4tZ7+Woy6cEQqlJG4DGcIwTeR3L/LVgA3aSAfQMg5ALGnahsoLDK2GLxXyRWqEn
mWHsyHQ3Cru2hgPqGLji8gbYid5S60mMX7j3SjlfsmY2FEY1Zj7zOzXMm9J5TAYdQ0nC3eUlTbOG
UEm61oPKOeYz6pYpBR/84RW2VSiHLHyG5Mov9BxXk6S9lgg2B/iWvvrHYppusorpPKAopmypThmb
mN7ksgBMKaxrWeeHkmHDyuVCsV044FdTx/t6GW5D38PHMo7HjhSYCdZuY3iQc6q8FweoJqwXxmwr
JgbDVQ2X2OpwqskZ7wqwqSOt2s2pmrP3mA4XxzKuBlRZCryrkyychygASM74nstx4p+b0UpoJsP1
Ce5nFxZEbVvoiocwekxaOJpJRJyMFnsqOQ5lj7mGBBmov5GdwhJORyudj8pwXzV9hl0BuD1Id12c
f45xPhzzvsHXECy/CvO50wewmzBYM8L8PSWAiOeH7TEQon3O3MxS5v1Ii1Nh49+7lCNhkciYCzGy
4MBjfkEZHNkvzYnSeB3GK7zNNFqlUlBi6963EYctC6hWFh1m2p7lTq87aTnGLhi7KbN3FnVgfHTx
U5p9c9+2NGBo1q25cKZFJb9wuM20EJtoJubTW+IshGNsGNiTH90LkYYEAeSmMFvmakZ9nPNB85V5
68Kq/YoizLpMcaHUdc38kAzxD1N3uE6eMDYyrGlEwrZVN6yC4yE4ehEN6DOfZ55h+93UpE7mNDm7
FvlAmj+sQ+YwIA2z8WBwTlknGEKZPyC1FfFAzjGso+2YPuTe9KGa4cQldhM5M0zx+Cqk4xezbowd
xWeVOLHNaR2qFEVn3MYhVov0WDW457E7TzQ6OuM+riHaoRT8SJ3uHhvloWIiZQkQ6AyxydKw7dhb
ZcL78eIR/l33cWxi/X1TlkTokPOzt/gHq/A/hsD4gv+VEikwYOqxgmuI6oNRXKVZyijKtdeK/U0t
sh+1TPJ1Ok/vvjvC1hvy42DLq7ywdOrBwi4p8XXDE7uJKAdwO/HUkMYKlvTGbOQN6en7nhbfrSzS
qyUknB5JRe+sGZ+byvu0evnaxWwW00Buw8HMtpnkeKTMaxOZGECt1H21oiXejW1zQ5OtZg+n2Rno
crgxTK51HVl/DtSK6niWKV53nzrMM1dpf5iXYt6S/f6OFtEEECQbfHMWf2pkU9JyuYnNpicn8u+v
FQK/bHCYGm0VnFVjqb1txA+Kv+BkFXJe+w7nkGEy5jN20hXnkmZjc14ixWtiJk9sbM+zp0wiUHwd
JtGtZYtqlfdBwXTRLjHD4u0dgxKtzt+aDAtWCeCfbTmae2+UZFIMG6+Arr3izMjd2o3F6XLvcpPn
lD2nXLu3UlfbXG6wb+LzbXNWa7qp5vc3liS9YuY/beOMOaGq4HTE9mPc2+kVBt9mbIhwGmA81w5j
EXDr6JOMTNkat8eey5GLv4hfVHHVxomcmaffN25Ig6/t9LR1VlSLGY46XaSBP9lAfwqtf0MV/e3L
/zfJRY6wEUn+e1PCbZJWf3UkICvqH/jTkRCYf7gWoV0T4yTq/18dCYHzByNWwXfZOQltPPjtSLD+
CH1YRqFtIb9pI8O/LQl28Icd+hyHji08sKhIZf8DS4Lzd6yCH6LyCdf1LV3JiYDxt+H+aMRDUrru
sUxw4QXOfBsxJiOtxHW3iN1Pm9FPFnwGg/VQh2yQZQh9cWgZZYcEOVwHhaMb42irnOHYxPOqRv3f
hDY1uXkw3MmqcHFM64IvHzBSCeHGDdV9bXkMwFjxEYdjcH/pcbELEg1pEh6X7Kai2nE9w9EHJPaW
56xOL5Tk9qmsONcsTGQtQe6iFSerpfjiL+/ePxgKxD+8JMLkNedVoX7S02/LX7XIsA8UdNzQOS4o
8odYpDZnaeNGsmkkomHgBSPtl9ChuJ0W+8aMk4NY8nfD8lxSiIRWZp5pVxMj6SH2LxmXFF142rIx
EHnl7QI2b8yNvFcYevXx//y3W7x9fxfwEPpBZXhYIpBrOPf9518fJULWHhTAYxRHr0UDOQ/J/b6Y
PGiTXVjt58W6LccfZUo7xwzKE8m7GZkuBD+qzKCqRsWQvmNafsBCIJhVrG7H+dB3+dabMosJIJJ5
m2KNbj6HuvY3tkCYqOiFQmaZVq0rzxD6WMplC1mc5Z7EBhs0Q30XLiss5nHnRqbAZqrpPHONd0AT
UHUwrJIpeBVD/OzXcAqr1DqCDtVXMLawGVHa4C5OEOVbyMG7lJnbciWHaDkY7CQKA9sbTdzUKLbb
weGaDe9vkzNoNhfnU1EXQK/98DWzUW4CIn38HM3wt1gl1bYF+YEPD/3A636KJCEIRAg5wLp8jCUe
1kQUB7TGH40WQQFk9qT6GDMbL3VDKHQQxhfd7Dgu/c69TWSPROzPaxPgIVbPBOtdb16RVoJ7kwwk
j03/iBsV+iLDYObopNB4EFAAzTrtnXtci18xPvCVGAmFZkRvwtn6yOenacCZm0/OR5AcLZIb9LJ2
8P1BEplwqtmlwncq2nMOKSOW2duyeNuQ7qNVpRyC2w6ZvLRorxtnIcKVcBVzF7GHZPux5DNN9y5t
ccsCkGxQr7VLTLYaqRxr+mnaNpXoEb82nUrONKJS0NZBKnMzJM5UBvatiPqGhQ5EYQumbtPf58Yj
YnZ+kCwSdbqkWIhjyWE6FX73GRG3Yg27rLoFdFJafrAqn3jI0WdZMZS7pVru4wDA2VzPb8XwrIYZ
6Y9BUT0776prPxH7tpnTv/rBxG69K3+2CAkiUWxD0vRW5Yxi0n744TX126LbtVgldz6a0mIs2zgg
RupE5xqk5WpiDuqn1LRX4roxF/gLmaBRnYx9rkgUsjGEc2Sh8ev8EmYPRDQWh2bS7Jg2Ql0atD6y
p27qKqnUvjOydTCNxzZXX764t8OBEWrxTO+lBDo0fRiWS+anP+V2tl3IaVYBE9qKncEk2bXERNID
KnASrOEbI+mBhYEEraoEorbzI8j9J5mnJ8dYrrI6MbfJlAEQymLzgDy+7ov5dkirh8xrPypBG7cc
wIzIncsnaVUm/XsXUD3AfrzyvXFVBofWskCmhJHFUobBZEjfV+k9UZLDYl9+UjX+K+JvgXR9IpMB
pTSp1wK3x8Ynxd9O4V06uK8Z76eVJbd5lJ7zJtt3qnme5ubUDPGd77pfkcsTKJ0PpiuKVjiaF8vo
Icjq60wbf/E7o0C4D9IhYOUwkMRvkIDV8IjDF8Me5Ol3ySeP9qCJ+IIjKVGcd57J3i7zwMMAliR6
tdDladNgnbamDutWiOdyZ+VU3VCvwCjZY81XS/u2KiGGIxXzyPezH9ylU36fefMN82x8/hCuapxY
s9vHW18OnK5DllbtzZwyWfRiZk52JY5t1B8zlcAWij6FW1wZZfIYzmSrvHl6xrkgNsR3kLVHE8uV
/r15t8AcqnbM4A7xQgwp9zf68z23bJAVHyXqyI6RjGBumlsLiszixG/sEWaSVdM3rbvovBGjFwNk
R2fdRbV1r7+Rhf5rjhkWCNKn6KKHmJq7dkR8TiPoLUHwHkz2VRycKUryW1pSo2Z4XY6zOeN4oAGb
U+++ksu0TUNznZBBo62E+KlZe/sK/YDxPtaBNHGbXe8lT9HosoVK+yMmFAeumsfwzorx/4y3ZqiO
ZWf9sNGNM4Uk6fs3nl/9iEN1ztkZdJJTWLA4zcb7MIEWweWdrhBtmeCHaksB6zrJUHX9EqWn7pE9
+s5/atVAvN1KmB4t2ZH0GSIzl7c1EifYE/vFRoWV0iJ/X4pxZzv2razVS5RMd54PTSQu/ReL7WGW
tyTdfVSs3v5p0wVadSXDHu6oKC1WQzGoy7fmsHmAtHJF4wLXwABeQmK/C4JCCzWImwzHNjXHFH84
Bmn9glJXeLTMFrA0eMvwa7L7e6DMa8iwn545sbNQ7DNTz2PviAUkTtERK3uod2J2b+PO8QiuFRjG
+6fJgCEVmzPnF649M64DN7e+igbShh1VCAW4x33bfcunFp5MJD5qI/qhkv7ajhDOSruiFSo2iTIg
gUTmdeGj5glYRitUHWPdzwhl4eyAocv30KhQs6eNEfiv2ABCJtYM6d6zOv3AMLHtPdf+cFmIZF2y
U4boVpEz9XjgunKbKwgXATSehchsUyNjLAFP0LSB/oU6HjHmBwZb6s4hppOYQP78NBpXQW13t4kg
5xoUYX3tlal57tr454JTtJkgDPAcJqyIBOPaFqgJSfDerDamG9KE61XfqUmcTloVqVe73RZzto+t
8NjFxF2LzoZ27z51cYolPjoySB0wYvp3pjPyZjvjzyW1mf+LeS9m8Zyottw7BtKgBQq/9+mlQMPO
4+AkuuGGgaCToGFUrg1Igr+W81a0dB/S85a9yyFxvXNldj1GPcRugvtVhRKLNj12zqOcgLx3efem
X7ouYouv34/RZYjT9D8Xgw9xkZivoz+uXINuFlhmP9CuHwtf6xQdAxbYGb4SNXijlGiz/IkWZCLi
MS9O3YrxXnMOpXE39sO7wwWRdlob3lT5TP5gWg8SUgWK9wv9FlR4yJvEa4797D0YYrzNarWs0vyJ
5efJ6CcSZSl4bQdeXbSERytEbY8BVcXu8+XZcXlcO7POmM+MSvm1tufsRA4qM/O+WzRGMlX+S+2n
9wPPEH/rllbbQxDdeHNza4R0r5UO3Wl48CKJpquClFRwKO/oJKKWU9su+nav2r32Jm8RJX1wVkzk
itk/dhOkqmEs7u3KoyQQmrWehpckeDo6nBofEXa0aDR0Jm2VEnj3Z2gjI32bnUpPiNvN2oGFdTDo
CKWspdpBKFI7hhtbpy66cxWOd9IXGI6rLCWAJVrkQPtkKdqucUtt3H6or3JMlBYhzF0m2MHkjv0V
dBn542JCF1zGPWLMMzMw1goG5euJE6CA4DsrF0JVXd+tiTo90p1QlgAYIpeyHWpHrkJrPLIu6Q9h
GX6nsYq25WLGkHd44fNxTK9msYhN3mqEAY5GyMPqhhCg+VCWExfCOL1vitzYE5AxVnXpAI4renyp
KMuyPU4xI34Dm04bKXtTY/8m+WstWxOMTiGJHzW+ccaQDfhwoDWgjB2gl1Fx7RfNY0IqawNEq9sM
lBn3YPvxQfDxMJpi4JTmVXRvJvLQ4aEAOUDedlO1LqunUdWnQd+YQVqffn95uWfN3lnpiqjLN0cj
x1FSls3m8s1//YB9J9UysTJCM/z9EJd7M5OknT8Yd03v1KdqpJaTchiu7fY+iRfvaPS+hXCdYv4h
P5WtDRpsWStzwFxuhP6DLg90+bKexF2ZZVr1S8vTNCgfMoK+m5sR+4uIDt0geJtcKi/KxIYK447k
5TNhoKdYhPawn9g+qJtL4ZmvQgeuTxifuHw8+riC+2yOnhy35mXRD68f5nLv8itiCx4YBG/+UWol
LnCsadNGnJhQH5viQFspibmCfPrUjFdpG6Nv+OO2KWImOxQAHxm8mecopJpcJsFyk4V6x2S7gJGM
liypQ3Fgq5JbynqS2ylIYCjMvs95oC23sm6sdWzBG0qiWMK3E4pEFXFRhNvHceKiMEWdePBjHJQq
65MdKxhWc7IB4TXONBF7FTA/w3HvMYWmJ8RnUvROI/BcDhAKGSduU2TZopoBvDL8Zt0+lus2z8zb
PDG23lC9sx4hhROH6VWaqJeuMCZWieW2kQCmrKK5pq1wuTPo97UChvDJMoc7w6rdHclld9OSzr0a
B/eN+cLXopb8WBSsUltF5YtBvFDWR1RRoIVG7TwkVkawsscq5S7plddyfqBfp92iBLEKTFzgWFyQ
ggyCiqwHdW70edYJBnvbxOq+cBx1Fpbyt9aoHh1LTNfjwmbKLLBnd7QInz1GHYmn4ltronJBUBfK
Ht85tkOU3cMCAMPCR4alRvk5dFdLboSnyuEC1hpFeS4tVmJZE7fP8czMNzFCVpe+wYkiGeSr78f3
MOwxIOQZtJt0iJ/GpfxlN5y/R1CQ1qS6YzhG9mkexrcmL6a9P/qw6mP6cQPUfzbjmlAlNDLDD87E
Tf0zkIjQzR7mrsbWJukfjyO2e7hZbh1vuMP7FhJQiD/dqpvxvjmfcvITKiiHfDt5bbOpO8pEu6hL
kZpGkEoxXKpeeKd5aeYngwYMqq0Z17tSPOB4CZ5ioy2PTCWRuoGpsKv37ibAi/gLambCQ8aKtcwC
cUW7k7gaTOduHl3aC0IrB03YiefU97AyjMUh7afrdjbqO6AHN2NmyUNgd+05nsZn6UsoHBT0Lot/
F1Cj1GcMeu3wKpXeIWGEnLA1eZix3qFUudZprJ3X1EODhXM5UBRuB8dkgqszerhv/yUjN68Rq5EN
FzGoSvj8j3KoCAiq+qbGYIHUGjv0YoPZcu27eMzNg9GCB85D2R1kK+BzPFktg4fF8a49GhBvhfZM
xVJU+2mgfIKOCLyl0c9uyOsHazI3eGN9cLIOpBDL5QWzlreBIslD2u2NyayOPTqMPZjV2eXIVbBC
DNN+LtLhlCSUEvnj1O78pPwRLVb+4Jf9xopUex5rtqAm3s3a54AYFuw4fRGfY6YyPo6tHONNGY03
yIXeMfCw7M1WuKtcRMwG2x+sbvbxlltDnmmFBmsmxjlywIwE87ZXJDDjvv/OZAeVcgreosJ+GUJW
MtOi9vU4q3vFkZtQDHWy4mqz9It9JEO/qwfYwMUMPZO1hGAOkb7baYUPLI63RpefaKuI77O5vols
mGxp2ZVsQGjxACdpl8a5DmaenV1A3FpeFlPChcqKcp9mhHwDyMu4iCcGCiuK4boz0ML+vKoYht+7
KX1lLGkQ3wMANN7cAlrp7RoMSmmeE2O+ZT2d7SpFLCAyYB704a1p1lj0S2lsY3++iYjCnhTFEBw2
BIPTLvRuXG/kLKPKeW+a0cnpvfLZNUZyoxYcvB+NIqLfT/0mZ8pxF2F7EhMLxsJ0H8wYhRLrqAPA
BcgDDsncZ3XeabBm7404Q+0WRdgl5dlOwc+4KOb9MtIcPWHm8116L+rO3TAr3RGqZLTmOc+EfbvD
4NLd2TOBm2QWHmrsOGvVlVcqf1Yiu/aHCOJPN0anGbJfV5+LCs/GItuzqFrznpnlKmg5OFc1fXTs
CugyOvn65nIvRW1ouCQbjeGzNdJ3J3XFFjji6pgYp3jIKC2nuTwLayhbJrMkylDhiJH2J1Bt94xt
qHM5yaShThALQmvCoqTElPOCCYo0zWe8Xpfo07/upvVkM1Fo5KlojgHKSnQrpLQ3SzB3rD/4rPVd
thu1mQhEKUa6Iiu20gU2msBwSSj2ZZc7BuvLP11u5jZ8mQDF7PKuGi/ZaIxKvhj+vJtXTXo0BxzI
hWueZn1zuSfcCSvt0I1/fo3lOKUKGrxXLoPy5KC+nS736MVAY2H0UZ2g+tvsd3Ad6/+lT8HeVBOa
mdILl8aDhiIycJVmpdCJ9b8BnmXp8vvbHtf+bUznBKd5TxufIVb/+2cvD3C5+du//f7SNLMCp6LK
xFrF7EF//0jjs56NsQf//QFJdvMjl//xX3etmpGtm9AW8/un//I/Xf4xMAiy8HGiZuxvz+Dy7d9/
0OXLMCBlP8UJ8G39ZJIm8vC8TIAH9UvyTz/xT//2+0GtiU8uJpRdrVeLnAghPzgURkdVai9rw3OT
FaZJEA76240T8LKPIU8yUw9pjPPYq4jrXm78KO1PDE9J7l6+DvR3Jjq4oKjKalvPM5s3r8Ap5w0o
lZQbP0paOL2wqNZCHwF8rr5CRj5bt5orE4Xfqk7IGnwjVmzwaderdoGQjyG+N11JsDdoepjPEnsD
enXoMgLAg5U55vtULkc1jD+TokLvS9ZeHF33oj6VBXWFLCy4QM64LHIfby1H0SqVrNPd4dnJwaer
vH5MU/9XUtW3YIQ2sR3eVVb84VV5tbIGvFuZ90tRYDCkd83Uo3j2qb+pvfTItvt1SGsI+m6wtgr7
k5zApAc++DWV8aEpP2jO8Tpb6oPRTF90VxEgx8BJ93fvYMwM+O3dfA0r+VfksQAOrcdydJ5xwzwl
zVxvexHcXRSEMkqZ8Mrxy4YYFxOqXXui/qGc72BikusGw21hDgdBSt9kAmQq/LNJ0n07UDkTezr7
CeE5I94LK34X+jljSaoB9QsrOINnilgg0nXTU6fO+i/rpx3YD5L5cflo5OUZKsUaQZ1ojL8qXedW
uP0LxAE7YZgum5dhdh/cqs3hlzr7LjV+toFjbsI2vRXN9BhYy3NeDdPBoq8JR0B11an2UBvqJFm7
5ZQynuouig9FOD/UxA9uhuiXr6uXc+yBtDKxQY5wPreefd3EttykHogwTmrQZWlHBQqd4HZlNxBC
p7MDkoXjskO/ZrEFtBia3aXTvVls0hS0fjgZy//YaKAsPs85dciCrSlCWh7Y77Mx7iiZPFp9dNO4
ozbrXncl7pCO0o9UAJvOcKqEJnbx8BGyRjZfN66zLrvhukHb9tJ5E3bvQJ4xL43G1xg2V/lgUdwe
4wrPXrSdYIoSxRAWDEBQZ2ejb4ttOFKMxBDhIRDYnwKv/qxsMJRhG24HTiR7O6M4bEa53o0NhGyO
nnFF8yB+t4iQYoSYpCWvdV8jQhQ2dmendqeDbfEpBGS/cwgtrWK9kfGod9o08LeNEZuuwIbXHmzp
gEYwSiSHnADMkvEC1iPlC+HMXpCd+ony+vX8AL7cXNdL8NPvQRz6cHaxQdI00dDaDHZKKDxKRQmj
jZHiU2B789Z3o+e08slUtC9syo7sJTztOwpWjonTgH7qu5Sis009UZ4SqeVcJfIb3HKe5I+VDH8F
o9lgS6pP4E0Q3BfofFgs3lvT9lYOvdkUV4F7ZKK6FpK+B99rVhnAmY3P/F78qOhzXlWFr502KYpE
S3WHOTV4QSd6H/Oaqk70p8npcdEvzXn0ed3COH+dQ5LaU7pmUFSvFt2qCtt5M5XvkovcTujPWu0V
bFpwJ1g3+r8owxYnWboy4LS3ecf11XDVEwc8ZxrqOTehAjOXg2dVFSO7RjJlUAsXR03ac5RmLZt2
ApsDlkWiMwlQjtIRZ1C3eNNaifimQCrgauaDLTTjKxvkk4cpzpwNsZUxV245lgyK31rGPee2ymFi
BjaYsQnIU5VTJbq041YF+SuU8mVrF4pgnGoeI+lDDnbkbd5S8xIZrwWdWetl5HNFYhG2xruogKU1
+oW0sgH9yy1u2K2gakWP2DCJ3IZfinkI74b1HuxjRTtdBIknW6bvDh1S5fkDiY2tP9LlSij4WQvS
qF3QyLqk2wee3KuxSbde0VQ0WFAhNjb4g6OIJb2VA8vx3QJM8pgd7QD4SUl1O1hc/fQ7P90EeKQa
ZRNCCP29bCJ2zA77wYm2Xp/9ybp1zbuOipzt4DVfoknafSbmeNuYxxYhTUmMcbFw0PycX0PAbrhx
z+5g3E56YN/pT2TZH0tZxRvRAwYuIyzTofElkuwql9WX0vN0MRCNqRkVnq8DqD3uAFCntg1I0t4h
nLr6SEzrq+ETpBg7G5b1MqSMbro5fYumX9hoyE1hum4rdTNayLvanJdz0JmMTk0sq4wMdnWNdMBE
hggC/Fh3KQ/snKgfYTMDxCYA5byA+do5zGAppHPfUgvVOMu/bCnk1pULE8Gs9rHbjveLCr5yzqG1
4RIGsXAR8WkQlrg1imHa9pbz0bUaOttLte5a/iaJj7k0sBZGpXeLwbWHiNzCJJgIg0Z6n+TRKMwS
IWsub4XzhLAGDihUBSeqmQMiMtWuCI2HgI/lqqghN3fDwGEfhfvJDvNNZxyk8a1kI5kboOz0Lo2t
VoFZtJgasLW3sgrJ4Sw6uBCvbbsW133fUNpS+9u8vzHNstmSraewvb8OTaoCnIxFUrOwOMAxfrgI
/v/flfM01wA/Pn5qe2TaMtj96v7DZGNbHjnV/96Vo/vE3lhy/8MP/WaFBDAIAkwt2Cg8SqV+14mF
f/ieScWYEzrWn01jf2WFEFE3TTKPduD5uEP+NyzE/IMeTtsNLWgbbmjzgP8DZ471X2K3rgevxMXO
gQQCVelvAXCLM8RAoIiyXDOWt7AKuocI4xpTPIp1i2VDipTga+jgJ4x+UVYYHxYJpe8vL9o/mGEs
7f/5jzw4f0UQWiYvE6+Fdhv9hxkG06WxNAFTylKGza52OcmGxTWedOuG6FKxmwt1rTx/TSwNzdRi
h+12v+apTvacF8DpCKX+L8F48V9YAS7tbw6DFtN3yOMHf3thWEIJvw6geosZa2QujY60CsETKf2f
RZeZd3LqD43O89p2/Om41KX31HbpGAfLROMhKrlm9eXY723XxTtBEHnlhwvMLFPAyjZxwdQ2c1W/
6uJtUEfupvLVwRjbwyisiAzO9Py/2DuT5biZtDvfi9dGRyZmOMKbmmdORVLUBiFR+jAn5vHq/QBq
/4pW2/2F994ggCJZrEKhEpnve85z/uYk/wGGQX+LYcfhanO5oBDv/HGSS03U+BgqdRTeJM6GM8it
i7RgW9D9NHCHHXS/ivZ1MugHWZh7Br0Vk2Q7J2eVefad+Yz+oHT3HR+N9zdqKMm34M8LwOJCp6cI
VoeIuz/UUE3dxFXvOtiWg/7Z7wHwG4jrc2GP+0B4mDg9UMejUQJHboEmWfQN9b48pjZYWoNSy0OG
blaAhPqbc/ZvF6Yt+RLyqkzbgxth/ZF2FAuNQBJWXAczOZaNctaGADVuafQXC6kuDW6oMWzAd0Ak
3OtB/1ZkcLdzxUg9WZO8ZqhO//NLsuaP6V++K47FNA81nefxWdIZ/9fvCpxFMQUI7w9GLPsdyxft
TFd9K6B+EusTVS8pzQjdCJ5A3sV3JWkMW0y0qC1Gu6zqBuJPigEtPU61vNPaTTek5mk0Aui7k3iv
erj1nV9dJyMlUwUAH7Mv844MQV7sTlC0MndKxuTbDQ+xi6KPbjOFy0KfNtGgbUf0AdvOH7/nrerW
ruYNuzrPL2bt0Eot6qNl5B9hAwKd3jOZa7E80H64GX2FFTSvxlulNu44/oWwHwF4aLebwSGkyDHB
5DezWMj2qgjfMabDXvXEM+h/x6YARPBv3xMklDOggO+98IRu/nGCVea5QZw17UHvsX3qWX4zAv9c
Ks8jg8yojhTgcQWXCA8Hf7jB+ZvOU6LUYxyqR3qiWIsbDVgf2PCz1zEVzBxYxyUnaGx/9CFJGuhY
fGrkk38OfeezKONoH0Wjx/mFFG7T8LQdrfjwG7DGwFkAPej1Pvd159TrGPVc/e6NYXcMa0fctIrN
spfMMcWN3T52HkBtDKH2tp57OcsmDb2bxDV+7HPpUzHMz06tnvkY21vaDMOhbix570w1PqFcZvLZ
Pqomk3uRTPI+zcyLuTWEDb/ExC00ipD5tKkD3Dg5HnvqaPtCWNVawnBFTAHJMgxydSxUfDTNKbk2
XpFcdev72OoQ1gYZXPU0FGRdtSRQG85G2G2848vNjEqv6PqPtXkBT7hhuikh1tukQt0aBH1Xybo7
0wOgufH7SAn9wK0N27GcxrOqOnljUaFr44hSRDy6VqltuoJKttSVd+nDsjqaM58tFQPcvryQR27s
pAcKupM9TeqzdOeUoTCqLy26i7iZxpMGkedCf2iXZq1xYJH4TXXdq4vJ/7R8RnY6T7pCQ26cvm52
hiE+SLUhZaecVVd07C9xkx+NTLsFBZoHR0udC3fVo1fS8nYa95w1ZOOFMomefK2LnkSMTCkX5c2o
cgo+WilfWuX4jMyuWtuDuYN2FFwsiks3sBDjrde4WpjJg/NJx4vuxA4uerN88uwoPuZGJfZwR79G
TaAu9SDn/E9avdg9115iDSfESv0a5fq0ibUg27qdCT+QSvCFilh8qUdhHPw+vCWT4+882YTrMJcM
s+7wHPdKnTRLRg+DCIMdK6QC8gSAV2VXKREeNONY4YlHHw93hK3gWI7tt6Eqx8d2bt11TfbmJcl5
ahuY9nIwnk1Rag8R+TbLEZyau5oGTrLMvQc6MSu7qL0Tc/pjG3jOw7KxKJMdPTALWDN5bAIu9usH
icX7aLqewJj5sTCOegK0C7jcej5dll8GZgaG21XmFj+Nu8scpLNFUAdP1bxJs8k98iWhYDMfjiWD
aQXZ5WpW9n55yBQKFWcvT7WBYQtAa4j1JAlewB47+yAxZ7umqT0vGxFbLFPH6Sbm3whd0R5SXGsr
A2BibdiPywa/pTqN5vi5HGUVHVreHhY8ydhcI1uiR52+LJuh8z/cyVG7kUF7VbcNEjXs9XLlALFn
bZedJtb6jx7Ml5U1eM0LzcQtN9jpohUKprbhvclIOKsM5NqLkXcbmQdvBbVC1lgOGlwrbjCC1u22
aWn6Cw/4R1sn8DonnbguH92jW2IYs3/0URK9NiMXsQANYabWG+F4NAqoPBylCcC1LU1nQ7PiM81b
77GicOXoX4GP0F9cmX47vrU2TRebvMcwrA42qgDw4d1hbMguBWm+iVsvPad+jHE59rZaDeW47dMj
LNpyW/eNtaVre2krHy6HU1V71BZUwJ2pX48uEhav7Md9muFvCXox0DtMkPsW0V86Q9vOK3qTkYvC
RAqfelPpaMHkfiKxnYrhbLob/Kcwzb42Bu1sk8H3kOGiUyx9b7nWhLOVblWLLtsjjACFjhwobvBO
MnSVj3YIG1n0d3/QyGgJUH8NFn5sT+aKPEAv3PpucE3DqP11Nsku04AToPxFKH4s8PpgxHm32rZ5
FI0NaRqt8TI+Tahh7yPXclV/cYVWPHGnumXG1J+9yIP77w4vCDCjPeiggXXIfkp5lKm7va2MoTj1
/fDVrM1pZ0b1rdX7YN1SXsht192YE838mrYpFcIJ9hshaJKyTMcTfATp9GITT3aJAopyCnnYPoGm
LwagZcKLtFMJI1oitfJCmZ35/B7dIOrPTeA8OgWFDLQRzrYcEyyvoXOwUkSVmnSRQU7JXvlKIf2l
ps9bG3dThnJ/iCAMaaGi/KPJ70JT5F3S7Sli6Go9/rZz3Bng6KMmvAyGPDeh24NB2hpSTTfZdmdF
TfB9mg70t8wNbu8RcUOaHIyouMHGUTsWZOneKVW0M7XwNPUjUazde5RTgnEH/y6MBN65sF6SYNyY
bYhOrJHaW9AG7iYc8r3Xds5mtILp0S2fKosaoV9H5MgVQ8G/1ydiAF1urN10docqOYZQCbgRyPQB
n5l9wrp+jWBFo8Duj8g2rFPhZszAZ/r1CELiEs7zgIx4ugbHvU2d8DTVSA9FoOL8U7g5zvO+iA9G
W1zRPuQ34f0MewPusk/uCczJY2JVPyO48+sSSdRRa7wH2RrOyRpBDCgb7zfi7Z7UImN4hrMvzwrl
yVV3id2Z9IQssGaoHtF6075StvkNw2/xEUEq6ZLeOhl1RfoQKXabNs20NRQ+42i2ARwC/1TZVbF3
axAMboRPTJT2DfmHU0RIhGvavFqdHVRiP8o4y/cEthSzna2k84d6OkeoOZNWXGrax+XFa01QPxWt
d80DOoCixHuMPEusmzYSVy9L9hP+zF3o3buurBgGuuhoNHPN0TXDA6bEjzJES9LgBTB5Z6NWNQ/U
R6ijm1F2HnABbLy49cn76NCgE4vsGeVDWnXVgcZ4XWMbzLuiO6CHrSyVX3vE1Ohvq7+oASOUC7iB
xxZImmlmHJRkP5MscEjhIFCuTdTW5MNbexI9jh0obAEULzcYGZ1N6w/velcYtGN4Cwl5f5tEy7Wj
HnM1zc/R+D55ekT67bmCjkZLhc+bYoP1bdBsDZTjaAesLdoD7j3ob3Z9al8yCkG+X2hYFZp0M1UW
UMoai1lf6JummUurP1PgSI/QiPTIcY5647n7KjZXqTm6p7ZocZlEbrxHOSHQNOND9Lr0TjMEw7+7
DYqKAjHkMyxu96qVEPoqKlRtjnagL3bAku96SycimvxN25f5mpcDst5TSOVsN35tR/FXBeUduKCD
yqIF8lKPxrcO8RgxxVmxk1qTr0MNDEQMm/CcRvwfWOPEX7TEr8kmvtm1w9yUFj4mSxhIy2HbdgPh
V3ziUDHOYcM9qpvBNi0SWCQz267s7aurwh7Kn9Wt0tH2ATAQxOPQ//kiQ/8RvE/3E5M1iCRxdauC
oAPSJtfICeyz7nrW2avbdis6HUef5AvCI1Hf22c6clT/JvjPcRohJV1+Uix/1RbnqkPUZc65EamK
+kvVBsWmFSC0FA6Es+3MlICQZZJZ6Rxq/g9P6umu7wuxi6zsa8WC7NzN8tNlb9k4YRdueuGQPhnk
+EhKYWpnRAzoUDvztPxKHSWnoSTsZJi8v5xGB9IlxptmxcbJ1mz910alfHplV/qbiFhLBMAzRk6t
IM2IPH1A1/ghSvKzsFlLlnRPZvk4oFV91CzuPsCOnnFGW9CnXLK8u7F4Xh5rraFaB1Xn7mtqv0yl
NbLCxrB6phCPYKApH5cjSMzyZLtwj5fD4GCpoEFj3Cj6xBlFcNcqtlwyxlNiEy0EkIkAiZSATXRc
BFFRbTmWBuHJgy2Hm+ibSyuC8iXgf3DbeMa8hoZuRANHJ5c+cSXLi+slrxI4+wX15dE1MX/gYgl2
uKjkc5NI8Rzacm3WvEC/8cwdwkBWYNgxKU31K312aM5WTb1wDiw38ovL+EtgHNJZcgQeZO3R7Z+E
OPWIZ5EgzMdOYdIag2mxoREMNiSfztroupg/MY/i0kBzgJ/UwPW1n4zBPReEApw6JnZtP0xIUdnk
qYsn9fdxOFLWdQOACggKGHnR4P6MZD1ubXmwnTIsVqX1lBZtd0IClsM+GTBrQ6/MssLb8Bcxjc+g
2g/4Z/XZSKujm9dma206m2yZNxwHRVafijDgtjhxdRy5Fc5cf7boanh1hUezOMO92802XkAmT6KP
bx7+3gqfr43flxneIZbtbYh4qSBmeO7ZHIxq+IJWCW8/tuEY/3A5G4lLWoCaAAg/CWMd4zW2FUuv
yjgazNE6OsDrerElZ96nNZnfHPzKvdu9YoVowYaRTmdPG/TeBBTdw4KY966J870aNFaALnXzHvK5
xBcd449mcvIezneYFOf0mO/q2UhdlAddxliujnoVPibK9veIq2HVQCSSsxXbn03ZKe5szRyPPW7t
Gte2qMW3vH1mnu9v8aYjwxmY1aDwk8fY8OEB0tztTJOAwU6Th9TmO1XK6Byh1FgLt/1pak67s63k
G7oTMBmO+66jFDjiXhlgYPD5pvZx7i+MyOBiakonZx4ul01mbewqtA8y9n7WE+8zRu1cGrjV3EZs
TfSUNqh7VEAJdF1k/poq3DXd513fufSrDQ3wfQwqydaeNQMtVV52Dnak9PvgtUzi5/JO5gKgc9/g
9Whb33Yj9KwDGWjkqqws8OeIoSC/c+sEdcJyCJjKXz6nukAsvkGHjlRYMhFokvJb8gH+L3sscOGv
g3LIdnMFWRVT84OB44FhKKQ9pBPypcHIV71THsAz/NVbg0k2gKXvJMqft8A2bl5pHXPUUlRAbXlS
MHFZX4XGq+0VX6o2Sk9RwRLYhPOE7I/AD72sz3VZOE8JAUxY6quvkcqLdz6Sq5b6b1XZwU6rym82
4h/S5cppX/dWtLa7FLJ/SPSXxRjCoj05m44cwPbRRBvh896AsW7QKle3hoiJXd1obx3Dj4pYtcdj
526LgtuX6xcVsF2DSK7KDw9Nqnn7STx7060t4BvWTlE8RZgEIdcByUvo3toOyKLChusu8bHmfnbp
0gIlVfsqZAO3qzeKDZcw4lxVchL16myWTXXG8TrLJCuscJrojp7VfKU5H616tz7l+oC9opKMX5Z4
MFLpPIKHelSa/ejGx5ka860QJIVNgWOe49QjLFioryVzqT1ekCcx2VfMsRGxduSuuTKUuOk8tLM9
oIz03lNUPmhR3G2oUpcPaJ5QKycbbfLdC59at44t6km+8BwYpZSUYxAUTjvZZzPh24+LIikJHCPg
frlvBJr+CgrNODJRuORJAPG75tWnZvzk2r3/msdqlxfjm+MZPbmKer8SI6E/bljl6ykCzSn75Elq
HuMWrrYTVBtoDCCE9D5d17UP8nJGQJHj/tDl9S3R8D+GMT9fxGKR8H2WRSWocNTHOMZAr0RHWCAD
MeEAUoJZQbYoyuzMyXe+M70CEi5Oc+l6gobIbi2jAlGNjyOqKb4S/QAFUNxzhd4YhynssdrFvJ+l
OoJy1pSFY27S8rs7pd9jihHghHxgaJ1uuaflWME6HcIoPC5ApUKnsVnNm+Vw2ZhyQg30f/2xXyBW
//3bvUOe+tiHL66u9rLo12VnfzhJ2a5r4sptGDLmLhtVcujKzDtU8y9QmTpNuRtzNwH44WG2akKn
PC2bLiYbbvwRsgaHIT4wWbuAaY2OqYaKxn5oC7o1bdQ9wRC4gNp0kRwZkGmLDPsP0irNqF0u+1Y7
kXVeZ17LSlNztw4GSPywYb8Lgnh6RkcBfdyfsp3sgycHP4efvUQO3kzhEmY0i+HFrHsfgMIPFaFS
IzQgY194vfPSVrRVvM59F0OW3z3Spu+TgzEwIIsKFLaW2wl8K3e8hWOEK9whSC7J8Y2Q8cSpSU8+
aJBD0GgFH1xLJWPES236GhXtJoMBOWjZyQXcSHHVfBkYuCCLnrx8+sGHjS6l06yjSYeflHGIjlEx
ftH7xrv14WTsU88uWCgSIDZxN67qnBXgaG46yF3rEKYeFbsgf7Di+urmuTqXrdp7XMkbuFGgbHGk
4T0MCYuut7o7JV9QklVnQAwMl1GtkINP6GtSeNUyxydMkNrOYY5whDrePXmahwcHPfTnkACSnhqS
V7EVOU6Y7/kKqIMfhuqNXvRZqRihFqHha9OVmJayML1xi2ah5HXbgsn4t6CgxtNGkMcG86MLwifb
j5yfWdhvOtyJOmPMQ+ob3UUFxPxUYjyUZm1/z5SB1KUBJOYICumQfZ9RIlEZbCnysqAmsgep4lHX
etLmMnM6tL437SfF0DEas2RTayCLUpjMi54otXLYU+KoT7WCkdyErX2DwY2CN80l1J1Wuzg4ajeo
NYnii1IU7/WBBaV9tEuDODNHPSSyk3eKbaeAggJzFG88W6zgRhRDL1Xjk2vPkVPSjmuzxrk1uiHh
2E0k15ttszVHdQ9ZI6zjllVwgLMSWEGX700xc5fGeNMyM38agusYW841rgA7Cs3+rNx6PFpf1dA0
N8QFchiIb7KEfi4M+DGOJ81jHw/ario659pX2dWNFeCOFAKzIwZ812aOFH68djJun/TM/paQzUpO
H74ZKr6PsQAjpofcpOTgIkhonxFUIYeCUgXKcPpRY7s5mD6hVBrF1RV9K7WzBQ1c3KE73IekBUH8
uOKk7jcxMD1bIwqyT8bq0LbjB/o5puh9JW9LWcoDEEvbyH6W4ltpmFB785xbWON+sYuk2IRFCIAE
TBtVjGLX6uR4+UNF1zOY3qKxVAd97F/4tMajrTzWQEk37ZTeomJzR8DUTkvMQSCmneQCY4ggFgFR
15RQHa5zfj80qncPguS6o41UjgLWXYo5gvTHyyA/nDZ7UFZdPYUTsULKDpqrlgGWMLmlVX097K3x
Y/T6G34pcQmAe1uc3tMYqS/pRABhZ9vnGFnkTY39ewBo6REIysUJsX0ZvY24FwM3oE77wSvI70xQ
6ydTUD9MlLYDh46N2bcRtvIyPDdR+zzZCZV06wcIoa2ySKvtA43JdkyQcG3g4vJJLvWI2WN+nCE5
NJy9bVvBZuibTwEg9zxpFgS9bsgP3SGvmmgPHLe9hmWnr9OASpo2XVEKWXsDV8RGFEW4XSoHdZbZ
G78pZyEXGWrIjo5dAvM2cksJ4ZbTYZrmLcpc56N6Ja0ts/zmYdS7Ci9I8hIMenRDRK+fk0Zu7NIU
22FEYZpgirr62lp6rCI9XbcP2pw0NbLwDCno9W0r9hNOMXpzRfHOaM8sXMTEEsfqa4MtOIpOrWFG
KKfoNTNJqvFQVD558wEzIYfO02NYMxwaVaNd4krjSfXgEUMHTMhqurqmT1J3Tf62ZBFCIvfAdTFx
/pjY2ucwd9tzm3uv6DNJD0eEt5aVMl4dc9ww8PBHs+Q9xA6K7EbE+nnw45/gi+wdCE3tpNrnaHDb
L2DvvrQNd1hHTWoPTk2jkm3KPT7HkERUgNMh/fkxozUmYyh1+WxZ6oXobjC5V0XBxC9uzMsUFM4R
FPKbiWn9YtU4Qkele1inQGOMWR1wEWrJE7ZHA4rEMOFAi30Yy/t2CsAKOYeI9f8ZbRgABw/LW86c
0W8oHCWdDtvKDcqrBbP8NIRUTa1cAn2z30RmtgfGqjdaFYiNVV7Wu2GeWshZWae7NfUlnatPd4sM
TSP+m6Hpoy13Bw22JAHLYePLfcet90Ts13QqzARnfzReJBOKizFvIp0RuQpaspiZERbCJRmVttQp
smk2w+i796DQyefVoo1WnqmkZmfSA+W67rW/Ur9E7tb6xd3AH/WgJcnecj+ENVr3WqsAAlD0b/rk
IxJdc3VSWV2s1j84PdQwOcX+iTMyUaeL7s1YWLeynOjnuQ1Ofwpn5wxnxTkMUnetqsBclxIc0aDp
LBAJctdipnyhMI1NatntMKdv/LTjEsJ7aJknW6Tu0WvesiCncyBjf207SZ2tbG7slFt1dqs0mE5R
UhBjT8lixsYNJ17gcAJzgHrSq+UOYw5FPwfu4FqHbnOMqQsh6fOrQ9FifPI7awDjMegrK+L+Mul+
QGZwU/S3ELDKDtYVLQnVvOpG1B9Uj5CSjjYtplQZ/TWIQLcxJCe181CVVf3QzJtl2En5BqNDgXM4
PNC0ZK5eNq66OXObGjxwfbUGYqit8IAfFEKiQtQD+zV5COc9J9J+JsBbV6rp7UOfSnqjXrfpqpTH
fIX3qKsvZpzuwS2jIrYHUKFoT48km7BSwNSpKocVqGe8qirlNmkKscWWE3PnDuxr3ww4OjJxTdDE
e7XKzl5PgCvYvO7AuIf80pPQdRmb92k+fQsdI2CFnHkvrYyuqgHQ6RsT7P3eVlsxyce2nq0/WQuA
nhO5rqMSv3WVayeCW7/2Uoes3nvnQlnQQrBAv3m48Jnvnxw85PeqkRTshvEcWK0Oy8IhycxwP/FM
VfvRz/utFupnXPzVxyCCzWRjvKuYkt5kgXjeHPBcl1a3NSmg4E111tLJ5fcEij+WXboHTEKVS/Uv
a7WK3qZOZWffGboFr6b27rHy9h4s0J6562VIqSd0GRAhWZUPpcgfKNFvk0Qvvg2d+IlB9tPKVX7w
vXq8F5SnKS3co8KIDn1DcWm5HpYrwxfF3mTKsS0aVLI6/OpjCph2zcXNFV8nryYem7VLOWNfK7N6
gqu/GUPdJyBohEtKqYw+1NcuRIoouW+saMZXlyCWdxrgYpMq+jkda7cdlS2WfbQ7121UP5M/bB4B
o5EoOqDR7Kp8eMPz9lOrgSTGaSr2i+9uapm1qkkHxzMPwkZOVylymdNZQ/PZI0u5ZlUt9iMEis2o
6GziM9H2reZY16l23sI8b+5KeOY1NPS3pHyy6f+/2IkV3b0KuksI13EfQrLcoVGuTmaPNpSyALvL
MWj2f+5h/KxOy2E4EhsFf8XjXtdwS4hw5Rmm55DVhOHptGwUiCJZJaCfkWCYHmbf1ino3IsZP/xr
N6GtfezRus+rsmVjzbYLb152LXuijbh75A0FcL7yYDddAz2+RTF5lmCDPPm1T05rtAoqI7aQKKRH
PwJeq3r5zw10Vdy9dnmWzSzSNdofSQOpKp5GngBahTo1s+l32ZPgnRjD7XcgSSH58BTNTr92h3k3
CnReqMNoFNYWhEqlipPkpnWa5s1y+HtjkTKzLRN6tZGF82R5guUJfz3Vfz1WEa+BlSM/ZCzApnWa
ABaxhv5t+bVkeWx5gkQgZF8tL+GPJ0wKxFmIGd/Kmfub2xhPSZDGd/3reH4wCHGU94gyNqoz6jX8
S0zAM2KY3h0O/nnv96EfakxUg4a50r88vpz+Px77ffj77w3aPAnRaP/7mdPASqkd4DxbniH8/Sku
x5pW8Elgqz5x8Qsal5F58s3KPKV9CGegQR5eUnTe973rUTp8WX5BI/RcrwvyI4aiPnsLtHh+XmdS
XB3Lv/DzTtEZBme87JFEUW9F3Hz+fmh53J1/bdmrPbfej05+/P10y+O/njMfKPyZBfq5JVJwCTCM
a4xJy96yWX7QRqzA0wQXTlS8eDQ/j00RUsHtbFiMM6Y5LbP6xLwImLkBuWG+sMLlcvv9sRKp3c1f
quWbNERteVo23bxn2iPW+CkKtzMO81QWajjplOcp6nH4e7M8lmHWPHYaVfOE7AuCfrMckDxv5He0
4+hUOBGTakAu4qpXQpKROqEXICAFp4OB+nPWNUEGM5Jq59jEGeOPpjAgxq2bOXsDCzOGkLvmAqqg
3bzHAzpwi7Z35OsiDg5fpVLPRkIJth+2I638FaVziD6BRHYw7pmg6WcX6EEkE0lQPeoCWoevaaQ/
ZHrsgmBJfrge6x0a4a82vg8jI7WnbPlOayp/d0fj2KkaswwR7fvaMK4mlxsICIR6QYn6yBre9NJ6
aKB5XgIz2BHJSrE58i8+6OqTwwtcQdkf6+/U4uiV0xhdIQBLCp9PhidEk7Gq64b8AZT62ViaVDeb
bZjigy2YaR99lO++aUIzaq/D3BtuoanUdvwgHO9skv2yplrXNSU9UtLarLp9N9PqkYrZvvVfpQjk
Jhzdz8J6b2yCPfLGO9ZB8slojYW65/0E0T7WXPRa5fg5TXTvzYyPm8asO8I9DgrrVe+dbxow+RpT
w+A0n25Dn4V8Joj3ZAKt/DrBgzPSwQl1FgvcxiMCn0KLPOyoBUum+WILh9u6Bn70tYzwDvZtKuGu
DMccsUVM56bLWFv6/mPk0k8MRqbyyvRXTuHAdMW4bpKXwv6Gloy+6ymgmg1eNfQoE0s32SB1cF/S
1F5JgzNXsxI7+XoHyxVPKH2FcFeEKf1zT37k9h62PSCHjCl+Ufk7/HVPUXNTBDdv8yxZm15brFzm
NZsG/ghr2rR2saOpgEYgfBjTkHsfsc1qKMuWjhWddqC1V68yXsZG9/CKALpFG/FMierKe4dmN2J+
Q0wV7xzg90QNgMezJh0rjnrj2/mXbDbNRJ00rmlwM8EHk8DFJaV+8CeTHoYR7qeObEG7Fd9ZQGCX
OgIo2HBtx/jI8VpTl18NO78p3scGG2+RR9+joh9XaKI3KCT97WQ5JW9YPo+OBdna35AGURCpgVeY
c9xCqd36ejbSRMn8fTWYBxOR11qg3NkJDZQxjpfhVU9bfTcQw71llqzvVajEpirz7hAHGOzMsDHv
A+m3WS/UeSKJY+VmmXWflKyf6KrvpnnZsDwUJB5G1F4+CzVq3IUsb1uX04fu69Y1mxrn6ODXWMcm
5YIp0J1jYA3OXWvDkg66L3b0FRF0WjDfURcfPRaJK1CmfEGNCH+fbc2mMRO8MO+gNgv1ZNpqAm0C
lQM8M0ofnxmP4LLx0Piha0GvZNBGozJRd/dhGOMbgdev3Ci6+7JphtMw1OIlzi+RzzPFpfGjdIEN
SNvv745ZUe2H3qLF0880wlFKwGCEN0xzV322MwpfZ6yaU+Gcaf6aaNFzEDqn0DQuOY1ZF//2uZws
egRkd5Po8mw0hvM8yGg3plP3KFr9pVTVZygyjx8B6RpGQz3YJuEUvYAj48rEYNSoENvk8EQkxIJt
5lX73KyJxWZl1xGUekb4/Y35TrKLKSNS9xsipotmf3HitwwQA7P/vtr69cBV0N8RemBc7/p+JV38
ZH3BtDAVVwwz5tXSR/OqdOSKA7qGna2NACDbmBCswk4p+ztEwYXyYkrzqew6ukt2MGwpVxH0o70b
cAeuRuNeBnRXB2CC0SbLwgHUpyw2VdTMavUs3KIP/zmm+gvKivCloTwf+k32avfncaq9Fwu8DlmK
75kc+wsWwuIaa/J5Ud2UFVXJKBenYKoOnc2//8/CbTk7Bv5FuO2iugKshZtDwpL702oxdXrsRY5R
HBLpJgd4JJDXMgKD0Ay+uogWX4asrgDojDtrFncMdhP9zUvQ/83t4eJ6xDgiLSloBBp/yNk9oAJt
jKD/QGbU2vVb/QFoS77Rejxm3Mg+Un0OrxF5sfPyLrwRRLL2dBIUtCKHLVoaGcq4YGb7jBfRyeyh
c4N7Q3P5yHJV3GYV6FKN+s8nTp8F13+cONcRAvcEOnw4tn8IsnEzpEacD5w4r7Fx7Ev3GHT+TRoT
svc8NfdW5+aboZMg/cdwz7Ip+ZgMLLeESPfjxa9N79uwLaQbfrd18ZZTzKH4Y/1EoGJBhquYAlON
ecTGGAFSj6ZfTOPP4X/8nwN59X8zN3DWPR0XgevZvI1FcP757TlSQf0//5v872Md45kBRstQR3Io
vDdMjk3Nm7AqmmyjOKLKUGskT91uSp0vHdg3+M3XGBzMNtdzc4u2/9K73y0SyQ6T7X7x5gpIGUOg
VP1jPBREdBQ5KTpZaO2b2LyZDczv5UP4/xaw+99awOYszv9sAbv+HKLPf8UzG3L+s3+awKQw/jG7
SCzDM4Rt4/X6LxMYqIp/CMtwgDe7punoNj/6pwnMcOY/EqbDXzmYdnScIP80gRnyHzTLpe0aEkoz
cOf/Jzyz+yfOV3ieMCV+M9Pi6vSsP2NAS/I1pz5QiL7pzwTlHEFiFO20T9LhErv0ylfLqiBk6iPW
tlcbwGgZFTQcr+jly20ZWp9mFmpbw7rk/ZzSFtr9rw3134HJlGtutWz8ClK5PBkFFURPlTUYsHlX
uV4nt8tu6yvW7/ODyyZx/HKtgRIFY8Ayj0Z3fsI19Vhmbb9bFmbLRi6LuWW38BwFzenHsmJa1kjL
xpmXWL8P28ygqCsBci0L8WluLy6r8VzOmK1lt5lMGomYNzbL2psoSrgcczPy9+Gy58l+HfrjdFiW
RsG8ZjZmhsfvjfW/2DuPLbeVLdv+y+vjDHjTeB16l06Zsh0MpQy8C3h8fc0IniOqsnSr6varIQ44
IikaIGLvtebqyQ3rbeecybm5mkxd59dyddQcjapSe1Gb8IFN6xkyAt3JmUrEADCb7q824AAfquod
tGpB9oVFqcvmcnu6LtI/QU46vXNqQXPaaiUnVc6o1YNaTWmdb41E+0kKVj+eI0A5KwovOGgcLYWQ
wPUzJ5+DcNJws9TDdxB6eFlowbsLM6wWMx5ttwfBUGWHHH3vU1VYedARGInBHMqnARJgSlaV0A8Q
uF76mBSROpbm3sxhutpIgFz0CJpCahmWMvtb1QBfqEIIYXwNs2zrYR9mcGgPOwvc/UrLuLxX40Ka
NpFvmMyPaj6oPpvUbd7nS9eEC8MJ+4P6/KJlwUDf2r7oHu2KKbABK4HqSZ+GYCcp0zLe+9FVZbul
hdmfmOXS85JLlJH+Xrpts9CHMw35tUcdc1u9PU9tY5CMnK7Jh62Ye2AXv572P5zm7W512sgEMrZS
i9f92VksKWrgX6/VUS/utn77e//+NlFD3MlKEmvVc9UDWYt/vyFvtg05vG3Ngfrk7d78qetb8OZt
erM6lSlyjr7tNurJ8WjUstl/yuXPJZG/L/VACtjfS1kbU3W5ravdokyZLarnqD3Xg27PROy6nzsk
mLGJ9vdPp32z7fbn8dXIKs8fXsntmNurKTugoRqMJqKpeO1qx5+Ou52P+WSwExmksV9/4vbU27bb
/+22LWvNB+G6M99w+Z6Yrvce+BSlAlmIRObAdbGtBNNkg0ukACq5rN8uKpqhNkcPaW8YO9NtWn2r
G5GxdrWIGYg8x+1sb1bVuYgppuai9sDppuqpDidD1Ua5TPVM/uk/PU9tuz5ZHaNeyPUMt/Xbs99s
q4rJPGYCqtkI4PxUh1/s7Qi+mgoQBc0kyCf9ug6+DcaJ2vXbokO1n2+YvIy+3VX3h8JK9p28qAOq
52IxUwVfJwnkt1bWW5X2RKhbwm8HRerQmy7ldqiSqfSujWYmc+5TWWcmeaqhHIxySD1c5UOGJvrd
MrdPaps6Ti05GHRhDf16inrybfV2mlEW2dRqjK17FZRYihf57qCqGjA1sKQenAp9VuMvUEBvO7rW
2aCHqla9kXUnrtC/P/xpW5dRrBZAFuR7cguDM+XvVG3LVJ1a7YmM6VDbg7GfOvB2q8Ql6o+ii78z
yuT+7cHX56mtUMD5WncLWSWYAw9pwfhBPfQDY+OijkiAkLIkV97c1AMYUS6KclXtMDKtySlefNTF
NBxVbKF6MD19pDdK6NjWCaJPoJ1BgLRLLAlAQMh0EqQmKGYr24AbIl18G6fn8jfa3BRuD2ob2QCv
ekkrW3VLr7GFsnlaOvx/y6GlLIaWKpP1VrWU4vIa7IoQot53TqN8MKZu3ru9e2JKPhIEOZhiF9nL
OxFW9mqWtTn1mavPd5Yfck5WF3VO+ZWgTcYihl8QoOclj4DShJYpuHq7oCcAooISk2+RemNC2z/Y
Runtw0W3T0EfUK+WS7FD0VotzW5fgZKomPMwIVrWlux/mIvNSIMRYHWCocJ6DCl5tPUUWy6qGnNq
URbby/jMG0UDxEIpJWoPj7AjrGUbQFnBjYHEJoPYvJ00EmjbJQlIteq1beJL0LUvi37lAkoDPomQ
ozpbjd5gEJUntd7dNqp1tUc9lEtA0Z68WRNoOra36/pt/28HqZOo9TzX3J1pdnfXv0NE57AJwhQh
r2bBZ6LMMmkdsQO67I9Ysl2iHqakoSwxMo0sDq4ROUdT9U/UQXLkpVZbS0LTLLmunnQ7ptMkG02t
q93XJXl2tSTcBobKotN7li0I9bCoTpJa5FtGH0XJAf+4f3YjwtIQ7QEd5qJ7O0Yt/S+2qUOuf0U9
JUzG71EQie2bU91e+zCNzsqeC/gi8j1Q75Za+tOqejOADDvLE+okkGa/HgzF+P21GsnbVyhvPUYX
7iwxuXxh5a2lUnez2/PU0kS437K+Pee2+3raJLfKw5uN5Fpyujd/Vh3zL7eh1q7WyNB2LmCMlSlh
berhCmZ7u6jWFb3tj0e2juzS/ev9v5307aG/rV8Xf/vTk4TgOVoPLVqC4/7LfnXoklQVyJ/vv/2N
Py/++S/dXnQ2Gy9zUKe7316BWrwd8tsp1J6362rjb0+/7v/t5Vj5HphScUq1DMzjr4f811JBALbd
aKiX5abb9tuxnq2HKBbyL7dNod2ZJ9PJC2utFtUe0iCN65+oUPacCqI+Gapee8kIn8RJtZGz1O5l
fivraqM6Ju9qZsNq8bYxzmNjM+eYvdLbbreXk2V15G+nM0saa6bqX6tFtf/6l9R6KpaXpQ7yHfaj
wNjenq6Wfjvn7a+rs6vdfNzvNKPsEExhMiJE74P6rdx+EWqV4G2DHG71u3CHtNZxefEDVEfpBWE7
YcIohNspDWfFuI7VCAg3e3G6PfglhvCg7PW1NyEYg31kdCdqi38/aMMi0zTkerFkjr5Wi8EP0TvJ
CdU4d5lcfnEJvWNKLIdzt9Vi2qUpfFa/3M9Q4k6tH39hsEMFYba0rd/2P+be/k69f53jkp8yQFWO
8RwVlThV/fDJowl2Tgg+2HWGTeSJHWzV3DrjNFVwBqNVbIX836np++1BzfCXRMRbG6b2Ci57eqaC
vhFZxAA3znBTWdzM3c5bZ02KjVXv96PtvqcbDix6Ord2tyPjdDjxhTFgwG99l0x6CGqpyB5uc1dV
ilCz2GJyIHQr8uE4GP+XpPaj7JJu/p8LdgYsn/++YHf6Idof8xtqk3zaP9Qm66+ACr0X2DZkJMpv
lHTHH233//8fipS/HIftvmmbfO/Z8Q+ziZocUWmeJLOYnkel+lau8/8KOBu1X1kGNnQqwP8Os8n0
3lbEA90h6M03ZFXQs0Go/mcGDL1VhPa9Iw7tROtGel2XDuNRFKD7S4UMVI8SG7u61W2bIn5BbRdu
NIrGJ5ozmz4Lm5co6N71UQNKukuzS9mO9ToZu45sopwuoo+PP82rdNdONZ5PmUpdTOE5TPR7BEDO
zpgX6xQ6OJF0ZNwNUve99SkdkagH0uxbFfQFq6JPMHAOxc4mqWhjmWTyBok1PzdfQyN9FX6VPrW2
mW2Bw9yXxTJekH58MCtMpKMWNIBOB8icLaGc6DW1XQzrYt/n9SMXnu7ex6Pq18vd7AwEQJBagK0L
vb6ufwgcU9vGWYBUegIkU4rNgNO9AXxp1lPEXNc+dXZL5EgftvtoooeRBOFLX9rfsIR+aSzCyyod
tksDGJP8rerY5eSlgP5b+jk7kbJu4RijEXsnoOhVppUi+Eb92Oqi3fgt0u9skiKqKtKOwi5f0sXw
dvCxi61jQTWwGySNEXI6EY3vZ9wLaP/2pAmXe3PkzLTBiG6RtLI5wZBe0Y0atOhTVKMEg0L0IlwT
MZT3UmHVpFWaXIqY+gkyS0xyyd6tYc715CA3iRGs62rptjLc2jGApGhjU2/LHj+CYbImGJ7Hs7Ee
goDNvIkbMaAuz6Ny2DSt+cWWUTq6RSDznCLStFloEFS0Hd1pn3iIikoO6OxiR4ddhhZlZ3xTn7sA
F4NlrZGLVe/wDPK+FQM4QkFTfYgynLH6DMqDZ4zgU7agiyRJH+dakLKtgE6FdLd97Lr5oJu8HSSo
wiUgHGM92Ij0xAdwTHwo8XHueJ0WKrPNBLcKWPiHMpZzo4WLbgrAcUEw8tzRzhmT8M6Aj3nxs+4y
jka1s2dzpOoJp9cyoHsS3Hsys2mrTR53m4G3dyCTw5veBUK4OzTRGH0yZrDMZa3B6LbLyE+j5kuX
GNaFGkBCV/mQLY2/6R1yQJcPJsDoFWYtTO7NtGOqEq6R4DGxPWFA7rYRpnErHtfphA07wuKwI2hk
LmHlYj+jCYfjHvcUuU+jpT2QEfWpXB4q2/fOOQlHaxKo6F0vEzEnHrnLRBdmAYjWZkz4zg/jq+t+
IuxheO61jw4aWvmhou3tNT5UV9unIqV72vEmZUv8qW+RQVsjUWlijtyjbTG8gpCCzM6sPjRetvOi
1t1PRDEcpoqPwG3IKqgMQZBo01185IhrWAcE9qbiyQyJgBbGsHeL7qkSyPlDM8TZZOPX8Ipuucvz
zCcgj5a/0Op9iPoosOAdJmiCq7Cy9kFDJ7jmy1Ns7WGYCOIwloMo6ouGuhwHNFRuC5kAHLgELom7
gZVwsGC8w8n6YnQOeBYuJInIn+dxiS68FOKaHudCI2zIL1vy4qBazbARUcIBe+6xhNKyyzc6Ywm3
Itkv9YHXgM6MVp05Yn3T3GAfoh1ZpvElj2DMJBP4RvLu2jVOFC6LtEAqYyj3tV0/Td5IqI4sHQ1F
/poMsYuYJf1eRRmQ1qh5gRsEv9UhAHrR+XghnelUOvKewLOM+TMW1h3QTuyjCEJ+Rj4c2HDkc0Y+
eQC7hXBPAB6l0HWZO4BsNTjjne8N6FXA3OYWwtpBSKlz5X/Q3JGvKNDhJzgE44jaV8/eR8sMBEkD
KACBFlUgZT/qAlFT/fCr8lCHpXM2gTrBGX3VGImBQCKkJavNI9nzTH+q7FW0zN5HoniHBNOBpw18
ocnmdmp+QMLMHqqOtpEdh/xOsWFRQPF3WTKdc+EVW1ceNEXIuaayPBBTb638Jic1wjE2fumiNxpT
e5seCEwuv5iW2a6juCccEhnTKo+KF78vl91ozZfA4qtQVlvtCEQTQavM6xZe099lRnDvFw3eA2TU
G+otIaHxHmn1CSTTvGrbzZhEP1KtlsYWLqrJ9yge7qIaio2GlxIPa7VtYcSD4C7mzegmKAkmWM6D
rW2ziIRqWysJc6mi+0y3iEYjx3TnJv7PxCOvya3MAQGE+7mtdffSGK0JKwrj7GSFOrboZm/ZBREM
hUVx0c2NS5hQeuqtId8VlKcfTfi5LZEBh0jUOFjt+oG0muRCON0+bgtLX5kUpILFe5p6REsjOy94
AU4FqtUn0dbeCiAZFVmt2TNmDZ+GTsbOpc3Z8ZJsh7P7+6RZJzyX4d3cxdO+6c2fi5k6l7DgP1Ga
UPDNpGnvSHlh0pNxacIKt6elUvKFS4g08XuoutNnPQqoPC+O/BocirjDC0hXpRhK9E7yviXBKkHa
3uNL6rZayHFzw7XOO2lazO++cgmRQkplTSQmh/Erd3tso/J0UzE8T+LroAuIIwjckbSQnLXoqIZ6
MUk6YoKZlpyHqL/rZ9zsDM34D6PYaxtsTOCzCLfWqSupH+OC53ioO4bs6OemSopD/AiWOwYze5gy
KWFeuziGcjMK9m4e3HvhNO8C8cFs4dyNgd6uZrLrK8GlRue0fItJ2Eim+x76/QHFzjd6uPqqnOnP
WaNPAWrELGDY3iHg/UR/k+oHa0jedZq/ca0eTLa3t12qVdguOpRhztcFYB23oWFTdhLm64+wVCTX
zleEu2wYAH/D5GvK0WSiY/zkxgwvc6aWPGMUc/v7AmTeLNl5SQdFD8HOZ8vq+GJwtc0wYbZGNpNG
I4b1MhuvRZh9rGAIXkKGhfJWZsVlh8QIu2vNAMkZG28zcTf3jJxYXh1VluWGJyO2q9UInCFkyg/O
Rdsl6ec2gUhdphOTqj5+CexW5nvHuzFAW04877TO8F4CjdbmTV7bH2sN2sMo0YCJggT6D2LpxF1l
ODs06Sc9jkmYGnPGJpq8dBLZE5g9bpkjfGJytjQUh/qZeyFOOzfy8Nm41QW1EB9oD79bx9i3tf1g
PHJTJM4N2c6DaJG658yF380+AsPFfnbrcHg0nHQn2tR/V5TPZNSQrWcmpJgayUjeCW6pnoY19+aC
e+O7crF4i7IOY6yeW3sYFaju0I8nXvJY201/irKFKypZW1K2ZUoBl5BSrgxNVyrFXVl1maXYq59O
qVSAqYcRPdgshWEQBYYXW4rFuOFiiZACMldKyaIFUVkt5WUJOjNHCs46KT3T0KA5UoxWSVnaKAVq
tZSq4SFDPSrlazY6Nm6JWD+ktI2M5WYbS7mbLoVvmZTA+VIMV0pZHLAC565DKYetI9gaUjzXShkd
Y+VVILV2yplDI3anK9Gd2iSFeKWU5M1o8xwp0sukXK+Vwj2klzrhkIj5Zinrs6TAr5dSP0OK/gwp
/3OkEDCe7G/ODAw8HvlwzY7YseZbS99xY05meVfqdYhI1E3uA1wSwlml8EkuWXtKljHj5woHf9SB
2kQOEIKGdqB+9L1q2eLY9leXxo/hLRnLiLMeRS50VqkHngGaYtExbQI5swevH8O1tmAcId5iXUZG
dGgdF3z02L0gDV4HTdt+cCei3yA2YVActiN+VAb8dUisaPIB0Lg42OaYrQqtiQ/c4sDR455ZJZXx
cdQBJMQj8fQmM4Cwrz65BEBsNYtbSTyY+LP2SLpiMCkTnZ1mTwWiLGTVwpB5eeV78symfebC5a9B
F/XuvgAfuTIYLhxKYfb3TDieyqjfFYbHTS/AqtFzs0MlvdJxVW3Tuvd2AHzsXYo/btUN3ksxlTBl
EuGRU0p9xCEVSyTBjHvBeM25UGwKuzNWhdUSee/a557fTVf6E6FTC75O8ih93hEDpPuypJ+SPmWA
WPW4lepOZmfr2mpyCbSc+m6Tjsi89Wn4nn5p3YWovXrxVgNfZj/DzGW9uE7Qnj0iFgj3ZYQyaPVF
mN4L3LLmocFu58TOK4NzHLYLeaHuhOMpGF/brLYAqDVn0WBvycwRCK3fkS9jROLCbGpCXce4x7QO
g2Z26wJmUeBlP/EktyBi+Am4TfaM429vOvPRZ2yygt7D5Njyf6DNe9F1ZpNFO5kbsBEHX/N3WjE+
TYleHCaTny7+fCBE88r+FDn2HeLmdo9FtNp0rTga0byg0NPpgpQpYkLjk1/ziRRZ5qJA9pDMRoRc
DdEd9EKGi0P+jDj/oonwi+8yWUmm9nkoQ7Fp5+57xH13GT1/3VH9Qj9qfvIbJqgZeIvtMgHGauOY
RKfB+wKAmFnsZPZHuhrL1rGjR1fr+k2QAx/0u8yFxscsQs99/WIykOB/F7XwgdL+kizDJho179j6
uzyKLHKTankbNFcz5AjY6MnPOqp2ZrsM+yZBfd/gLarj7x4c+T0+IzL7fHMCIWIPB49XjKiCW3eY
xSNxmaW+IjiIaZodM70le307BjDkAlTjxGBCa87EcUI8zAwKo5aYUnZBrTG5SbwMi78PdRIt/MAz
DuFQbMY6qM9BVF9co+gexsr+7BMj5SZIwu2q8g6U+R6QxGhHpO53oU5UEe1wwD62ScR14BUP4+I+
NBOTPkh7XxkefIMIAk2f+UPgHjwSHQ/eUp91r32JsmSk8eKLzWhj/ccI0a0jh/TKxdY+ONCb9yM/
LiTaXC5IpuOOXxTc5gTJNWljbCEJcpFsc3Oj4WInHi7J9gYMl61rxCiPvc67W0zzjs5XdnHEq+v1
3dmO+zur8U8J3LFVSTbCPf7nccvosDkG0HOYX0vo5IhbkdLSSLQeQ2q/0Q4VunXSoO9crbmLuR8d
+UaSSRwbGHM93POGe+xBu65KQ4aFaDW/0T54b9hWs2GA9aNM69dFm7IjF2B3bfKL3cQDo7ARtMm6
T6llF4H+4jTffIFTPMTHdcATgezHKRgk8OL0kkSt1hX7oQeCz0QGfzY/pkX/bJZGQCm3goo0WibZ
FdzKo55RI6Zz61za7WNk9mAWRP65Svb1TACkJqpq55Ir4L+b+9Y92LpXbXPh94iFJlJe42zVE2G3
Gpa2W3U24+wFA94Ei6CxZ3hV55yYxTWjMEOnTIjBkSTCZBi7TUN8jJe3wFeCOGKcUkZ0kIy7jMSJ
p/t2nvZMXD9w5/o5zPwXgix4gqNDfVrv0c3z4w4j0GQWUT9Y50tpOkcWjZVxDQzhuRBhtPawbOwX
HSKDOX2EXgtZtZv2hkEFTXQ4rvXlh22SN4PN60vIALzUMAEyHPk6dFW7dixu7E9pFX5xhgzoj6QN
0WACXtIC1LIW+9vAPLxPe7G13Lpd6/GrbRQGdLFJ2/Qyj9OvSCmyWpzmHUNDpn6YDaJiN/QPjtc/
d+QwkC+XHgyGQpsUstW2MJzHZer4tWc2achNSmgNcxnQWeaKeLjw5GQFFjXvy+Lp4nP2UNo6OuxK
xJscVM5u0b7FHWWpNvpiWJyA+Ntyjzke/kodbQMAr16JRBrV/GoZmL26psvkAJzHzm9KpiWUsxBD
AYycHHvHjLJdGwuDJqvV1yMuAIkhfF1ipsymTilmrtJz6XbBupDoQeprlNHq8GWGA7Wek+KjmsWl
DbhOzboPuZkBACTYDUdObvM+q6mE34aclRFj3LzHTEqKT+UF8DenU7w8jSZlG63q4SPkPtc+mt7t
QqM7bYjm9chXt/H81HLcX6cL3yIAzUzPHFwR/Hwh2lmyhkaIu7UqKNUUXlkfKp1olohbP/aD0Vhh
jRmObWe/ptrA9J7sLztmjlyaFWkrxdHLn4lo/yRmOOb0ToN12WDRI9cbOwNIjEHIKBTSF5fCJfEp
0/C2DiYRgNj3Afq+zL4Xnfu0eAxnAkOIRJMd0qKGORI+5Eyc7oYKz0sURt9GYBswKfNnu5/zs5mm
T507XnrI+RfRRj2wJoe2kiz7lBNFlyCL53eoYD72GJEsOdXI2/rc4o0/Vy6o87lqxl1v9BAma9io
Bbo+u56ek8XfjnxHcJOUF+w2K+Ebzvn/JMf/qw6GA+Xuv+tgPP4oy3bOh69l8vU/9TCuT/ynh2H/
5dJ1APePdEVGRdBE+LuH4et/cTczDHabLugOA6nyP10M8y82ub6uwzgJZPPj1sUgrwLYB4kUvgGl
3/btf6+Lof+XiAVPtlc8QzepbSJmfqPrpyfbLkUNM2bK6+cxHRcidNJneyaImQlr3brBLtKMhzLH
RWXqLuHfpt3uCl+XJRPnAEQ7f1eb/JJB83JZtPdUCqSCARxs4UY9fBOKei5O+0vltU8jXsxtoXX1
BgCo2PiAxeJLMbhUkULivYqefxapkhFo1GkkfC0wPpZhlNIOXTTSvWZ5LgKGfEu7R6LUnez7JnfC
x+o1FfBHBTFfXM6JChqD+JDEkbu1iSdAnWOnjDSBpNjkIKGFpZbeZtHHAE4XLVCHHGrs0SsxuukZ
aeT7NH6XpLBU52DYx106HJjKfQZjIfZG1xKcF/0cKcu2lvQ7zs06n+vgYlfkKmUmfBktz0/5ArVC
kYCLIddJyrOAmk5cUvUyJC44KUGJEBtHUroxbxY5LKCsnh09U7wyp/+JDLjZVJb23vWGZruk+rDq
Z2zUWOSOxBnYZJCZd+Rxk4qdghdL7PYus+7GqWOYYkfHMh4ojpTBiJVtmTa0I/zjlJFK5wV9c1xM
HdVPkCX3c4wdKSUssnKHuySyu7PhvmJhyy5oTu4szfLu8H0UFJpAUQu4S3vylqCxuI3JWJjytEXi
pe0SbudRayJ/Kic2rBvS9SCHbrYcxFlp8tGmW7eiE9StK0koSuq43QBtHAnNal+giZwHMS6HoPYP
MRUU32E+o3XfQkaQQg4lJ8aUvRxcwhSHECQHnLR90aIxBl3kYJSUpAdHDk89OVANGLFOjFzp8XYP
IWPZSQ5qsf9vAjnMJYUVhykjXyLv5pdQDoZbRsUE3gXYkxgoj4yYczl0DhlDT3IwjZvU27ZygD0z
0t6Rb6qjjGb4bcqBOLVAgFZycF7IYXovB+y+HLo38XfBSF7IIX1RoNg2vGLnlNqPBkvhOpMTANzA
K/KGrHcU8WmueceUuQKxnz3dQKYP4TjVO12WLHlKs+ae5K5DOeEANtlTo4keezkZGeW0BMW42DBt
/9LJKYsuJy+5nMa0DaTapdM/TWjL1jRX/LU9NXe613wf5TQoZT4UyIlR1IZfCm28FHr5vHDbZISS
3NlyMjUyqyrl9Eo3dX1jDNYnCGXPrZyCkdW9gJMVRxEyLhF5TUrC7N5VX5MFFPcgJ3Kz+TzLiV1U
jlCx/J1uNIfeNZn6zUW0z5PwhcnRDx98Nm27EZMjM0aDmaPHDHKWU8mi02U2evmzIHcTwXwHkzSE
F1yHOizHnS+npI6cnPokCK/LluvWXLZnXiww02l5TdLxBAnfWIMlor5leq+NR4NRToCtgH4e0JNW
To1dOUkmG7I7d9n7gNnzyCzaltPpTk6ssy8Gs2y8QrwIOfGemYEzGdBWo5yUYxqRtQUm6oucsody
8h6RyQhYV07pezm5H5jlF8z2Q8BVTN0m+Fa0vkhDt18ZCC8no4l35TQ0e2rMfP3CLt85ZvBSAktZ
GV5CsThj6q3bCXJJlKMZPcekMShGJIwplnzY6ZXswkTDfT3FxQFiKUUM29uPS3Jo8ctG835amdQ7
ckZix4oKSB2cM+ohMXURTef64AR7mu7mQcgokTAtttDAPzn+SPk+t6ibAB1vdItwOzrS3QxzqR/m
+DASjgcCkFZ4P2UfhoSe8dgyQXLRmm+RZAKf8tYAmdsPi82FjopPJ0s/6ehHB2PhcrEU8XloDIR4
VgERyX7yBhzC1TjjnWbmVaXz+zqnVisFwu8+LTlgsyzsF7osx3noKAl5DiM34s5loWq29AwEx8lK
c/1SwtC0rdM4Zun9MqMF7eGE3WVu4tLl/NbIy3XQW5sAGPQmKLxvWuAcTGmh1aSZdhDYahlPhqtG
Wm2Rw2o08RccuHaB91Vacnu4O1tApBvXXYAS49tdpIG3T8qP3Zb5HbEAHll50uhr4fjtAHwew4OH
D1iXhuAOZ7AmLcJ1zSCzItQtCPujFtNmcVIKama3sfAXN/iMM2k4pn9mrCywvAtYZoLWQ2PVO5TM
Y5zKIY5ls5r5KigTs7CeLVzNjrQ3z9LorEnLMwOR/SBN0DjjNshvU2KeMTvOa33GWVg1TFZqHNSV
tFKn3X2Hs7rBYW1Lq7UlTde1S/nMAO6NGXuStmxaRTIibjh2Opbt2KRBi4twNeLm1qWtu5AGb0da
vTGNHhdp/rZqbOAgnvo1eZMsr1F7U390q32DJpoZLlkPxnIsTWRAMb09MicquKxIw3vGv/jPB1Te
d5Gmb1Ps2XAzMKkLIsVXQE8RYFj3RVAS741FgdE0nWhpcg+k3Z2oy2/+0KRr4e/NNPwazR4kTAzy
Fk75yMEyr+Odz/DQZ9JM30lbvYa/3sBn3+G3HwOPUAoM+I3zMcGP7zAY3/TiQ+tTrsi6R8MGXzYs
Mzb89kFLL1wUQGJ5wbnD6R/yAruStEy7v9MkCkCDCdBIOEAiMQEeDfqSa8G6hyDAvW3GFAxUgNHG
HoLVMRmOjmgCokNHGvZwCOCkSiiBJvEEpoADWjcMRyAX9BJhUHTWQzUMH7IZrBAzibuo48vVWdZd
JQEIKZE5a+pzx6iqPgoJSRBc3Wj1eDTV2/eBBClYEBXMqfHR5loPNawFHDCkkkn8AuhTKA0AGSKk
1Hy5aVxGxBXTIliNgJbAPG1guLwr6RGV0B00KA+ZxD0EcB+iAABE7r/QiqFoCBkihBABiJLWVMy3
z4YeQXOkZmxVS6hEIfESvQRNhBAndMgTka8jCebOHmFNQqyoHkbwH+AcwVZkimAxImvowwbKi6Rd
iBr4xe1BbXNh/1638QVgyOkONKd+2QVungGh85PVpOcKDWoqrWWJonCodX6ccDNgdBQS1hHiAjot
EuDRS5QHGr75mNbPhYR8DBL3UeJUuerS38jU1Q6nlqFb8j+idSZOiFAZ5iR2JJaCcwQXx9Y22r3a
7itgya8HdUTbN9+clCG2OkJtup3jek48xX+fzqDr3J7rOatJU3pdUtc6VcMzxeXgiHs629dadh9H
JXWFQpJW1AHeMkPp9sOjp+A6mjwZzoYgW6nzqvWQEgo1YD1fK+m3ko8LReF5oyS/7VZL6kGd4c1x
wDY3RWuJw5vtt1U/JLQb3hiaGPAP5A4DsUEU0JyEfABS3pxqRbtR6zYEnFyicJR+/vaxptIKmCt6
jvqYc8XUUftdODuFBO6UapsuMTw4msFd/vOdUEtvTigk1MeVeJ+bpF0t3YTbajWRkCAhcUHqJahT
Zeo7pk54XYxC96MpsUM384dauvo3cokqIijlu7LEBFILu4woIlK39Ob17CAbdav8GBkt8CMvpWJ0
/diiqMHycV1W730qe8SV04WbqzJdafiVUl0t3aTpY3eX1YV+vLoVrkaFm3Eh96HtNURwCa/7qEwy
6sEjHWlZ06X3j6UkQvkJkxpD2t9oPmA6lcLcWYl/lRZYLhEoJ072kEodr1wMCJFhJtptCfdzD1Zd
fdYCOuRVMkSriS0zOVmPbF4TISHobZ5KwaXE7OYvbRPus3mZ3hkA1maRvfMTZ++I8JMIRQ6/HSxf
w1B6l0F629VemG4TXDmlXb+UlYUexS+eSkuma2HS3ceoljdVb2XyeslkjuzlbbXIkYeJbtV2sDrF
PQO0xs/TQ7u434CsILBANoOxkn714lknJ9XvGyAqGyR5PgqtID0aE6OIKNOOKGxRJbhtdh57K14Z
Q1jcm2bFHdJdGLt4TK1rC7Bu6M2ryYnqB92ZNq4km/bT8HkwZbZKnXcb4GktMQmmtWkitHPuWP7k
F/5ic6M/ioB5mUYj/9DrOmIIpBlE8cBJ6dB/tToXMNeNjrMGMCLww3UQBNTxoyG5Ny1GhIYQyHVi
tyoOmXT5LSlTzVr6uAp5VVYqZWpq3FrU4m3jm2PU3kCyuG7HUez+LIRfr4UV3Kl9eeO6XGXkYcvg
97tqMh+VZ2GRZgZlI1Cr1wemJesgR/ojemwhKdMZ3IpL4x5jHYUeKgRuQgF6LEwU2hA8ThD5CS3m
RO2I4UYtCZk+n4llOrrT420faTkNTTRydNW2Rob96MAi1RN7+ezbKW6rZQvXGZ1JsWlxBiHsDtH3
zFG7zaR/izDoiG1y8faQ+2m7H90RqCHVRtshqVfJzfmy8xuROnemoMZ1222HWlIPrgjwXGFPrPco
ca7qebUjyuavZpsqvOjfqvq6re21wThvVcv3S70vae2BFArtc01QFd9o176gDvcB4PARqM8BVD07
1OeK7juY12rRlLckYhw/kkyDLlbX6CfLh7mvLKxMRHYNYvERPXqklcjkZaJJzNOY1ubBZ+CkeG6M
y/8mu90Yb7dtUhO8NkcT7Vhlh5vI4KpQyttvQOuL/zLG5sZzkxRu5FMFS+KoLdSVEwaR43x35a4p
85A0Ag1FQUCVNh4iC1O87dYzIAuT1JkpQp+uJSsmOVhX1KtalCFI+d/Vi8EmbcKg0uON+uuTOzvw
Uyxy47DOp7nWHv3hyyyxvmM/76HlociTN0zTTcTO9v2nG/lMpFnUndX6lNMlQ5gBXT2dooSivVPg
845IwoMINR397MdNLg+ewi4OSjSvF5poz1E6k4+k5yeFqVMPbZcR+O3xdhvyG6aerHb0DkYMKdfg
DpCqxz4TtKawKa5+O0raZG9/Uf0t9fR/uc2/2giVd+HXk9Xz/uVZ1Y7by7udOm34sYYRNbMW0k14
O7M62CtGhh7X1357Tpz7MYl25va26XqIZnpUTRwU1n1NXhPBJlhZhwgaLeYAU/IGq9lLtj23Xqb4
/JQ16cmgeBVXB0UmVBurZXqPSptIMvDWh4UML2/BP1FFxFXbwjJwV8uvjPrmqu/J7WHy/HsRJuYO
MzmWj/EptfBP+l4+nAgAgT66eNVmKQvIAmWlgdmW9+E69biZGPL1qBehi+F5NN0S9eSMFsDCGqd5
7Yl2iLfxocwyLTCSE/8F0MXdySqa5BjbIvXWGtK8o0LPJbPxCFmIpgd371Un3afqHNzFaciMi9Pt
hfEf7J3XktxItmV/ZX4A19whHPDX0DojFUW+wEgmCa01vn4WsnrsVrNuV828j7VZGslmMSMjAMcR
e6+dci6F/T5qs1/1wsT9/4uF/6vFAhN/8CL/2RpxjX6EUfAt/7elwh//0b+WCp75XzZMWFeC4XE8
plgQhv61VNAEUwssCVTfjhIOgbn/vVTw/muBPZlaaUtx/i4EnP8TZy3ZUhBo67Kl+Fc+9v+LNWL5
Jn9mBZkQUSzLtlzWE8L+K+GoGo2RqNBGng1fshat4FeznzwtRVQx6O8j1/JJdEW4AT8toOtEM4Rd
uNt6lreP33WyQA6W6scpre3HLMy+VERDnD9+54zM7AlVJamgDH6gZv+Zm81jYRj2JcRswWCkTDcJ
7EccXmrbTSE05EQ5K+RSPDIzZK2TkxF5W+XV00ipVKaJOruqf2pYzT2YNeRUPwb0ZYwCk5jrgbcb
Mqor+078yPhE0RntFHCWBrJhTTpll/nnNh4PTmg2D7bZqhtTw4+AVOl0sD2YWTCgYJUO3SX8ptoK
fmc/7CwUABuUxflzlcRQH33P3EY05cc29Jnqoz94nDlI0CCoe++bxnMWO98spxGPY2/X58gxeNHV
D1UEwzP0/mE/x4iZCXaDpGZOb4FAGq67KKHYd0h6zBSPHHM8t2YIdDJtyFdhqfCMSvYQVJ6+eEtm
LgFB2dEnFuzAx8esgr3RzWPAtpF+46zthart2f1DCdS1zlumtK3R3xhx7Eo7yH9OsiNYFWn+szer
Nfx5qCJ94q6aJBYPhenT2tZIM6IezAiCnv4C7/dZidDfmzZIwhJD3ENOlm3iZgqF/HQomgjkUgPw
ObScdQdgalfw12+xSwEW1PfI/JXPElW8jm10bKDPQfEbR+EF6s7AlmRfJ3j00K1dM7d/Qt/nPjlD
u5+Qv93sCqqZAR4G7pbjPBJFse+dOL6GrfFGTmi8bVvsL/5EF55Wn4KMbCeJPACgdfk0VCxWyBon
drpPvPNIf4YgwTWPkLiag2cyDYlNRLmTkPdGjwMM4tjbuzmP2cl66GQ5/APcSrKZ/PcbDkIRc1kw
RBifHPN3pBi9wpD69VyfPywdPTXwJvP7i9UyJpZddG0IHiD2OXpuw0Ae86j5CjC62YR2DCEuyPx/
SOw2Sbz9yyuyhSS92XFsT2lOAv7/P+G2DFzAJc7zADFROBzTJEOH6JQ468vhqVtwxgKoMfck0p3F
2ZRJYTz6pUN4GzBtTdRAEbMYZ4q+BUXq3RGrkx+T+cHbAPNO5czR7Wz46vK5QZyLgxf9gyaSsEiD
VImeHf0a0hKgR5mofR57/jZunFXX9sa6R3bXFEV4VanaVFStaGn5DwMk8huIb/UqMJvhaJVOhxnE
YMrtdPODO8XXvssOsEnc4wcVLy8fZGpDwEd8AcCjTbF8BePNFsfW8rPvOC+djUActFdGeK3tOX4J
uvYyydA9uz56M08w7UsSSXijVNfEII9ZSbpHs1wgHmXYwmrOn83JeBt0MD15tbV1avEpMWP7UljN
SZmGfZ9rfx/6krE9o/SdhiLeUka/CDKCk3xtx6NALDc8jaUZH8JWswCIU/toh+NRGm526IdfmW+1
+yruXmWtuLlpZdeVhVOFqPfblAtuY1eQahbEFxUT/2plXxFhgRcYcofNqoZ6mclv0HCBA+az2idd
99lVLHanNkmO8UDeV6ZTEjDpzd2SPVS4xLai+thOc3a2G7Q6H6y6OrHIr3G7bWPmR15SQf50Abo0
mbZxDBfCoS+/jHMH49IlX7rESnaIXaQ5sn939YBmd6E2tOG8ljKwtybAKPap7iV04oLlYnrw3KaB
jO9BKnaSI3rkDP5q/dX1pNgby3oFirfaow+rNm07G5i62cuUHf9ovNwjtWMcZkGMdeNPn/swGlb9
FO8Wc0LEGkQX58peVEuon1kOk3CFZWrbNqpClGrbZ3OeXviZHohwfkYgq7exHfXXRqobLSnht90o
b8RD8pIKIhC0JzC6toiuNTkPpl9He2l+6itibFruDub0vrtza6SadRuTOabbcyjEoVhE0I7vPoaK
+Ug84HXwUub9la+9S+BED7XUxqr1XiuHa4D8KeCelv+NoIOIiWywrksZ7uUQkazhPxud4a9TOBZX
ewnJyXTy5OTrULXFJtcFYPWxBylp1US1dF6/H+1qW5TNS9PK8clzsRvRca0hZU7XKSAkCr310SBj
eDWWzrM1Svth7nalnK1jY5k/jIqt7jjzcybsAkkT/1Q4OSNQK9/XRF1sq5jw+qnelBKzUlON99RG
NTkl+a3E9bfxwaMyC4o+mTLHwKNKbofQTDYxmXdbN2Qz1Uw9rj4kmUUr9RZLR0d8YgTHnkXx5JVQ
/zw/2WU5WYYNT6lqrJ3noCZ7rzJIdynSR2qSZptLYTOoqWCWTaPGGFC8Bv303S47dMlWcI9rjeSo
EuTI19PTGOXRvrLTN23YPdcaJ08112+h8IptHxpE1jn1pz7Xr03nsKTDW7gfc4Ow3OV9KGrnLGJs
dgneoDidzT0Sc7f7UjP7WjvyTsYjcxs5ukj9ghabS0uWKgreWJmHbhDRpQihV4UIG/ZDaf+g9bVv
1o9sNomcV6R/oiayHflriDKuRcjDThO+R02ktjogADWH4Buq+iBzos2snvlGRxDGxxn3EYxc2xQZ
jWtdyrFvz1MbHdKxMtZo3Wigh/qtGAZiQtmaM+fZ16J9K7Oi2tQehoa5Iqcp7gmamViDfESQxcud
a9rTaWKZviVpKGDrnSNaf3J8y911ApPdPDo3dHDu7uOORCi1DpFw3Vy3BrhEQVU3bn3o6+5WzEX5
2JNCAs6lvpQTO/Cqndgg+4EitbP9mRHIcWPOtZNuZxx8s7z5tfTuGm/NnXaqZt84ENOCR3HVW90F
eVvFa0OSmVknVak3DKEF8GoreVKTcbbLRQ0ZUMISFXJsdYnkAxzqqjJIipFKv/gYMg95CUQ2nd0L
WM+qisg/jY2YWLXcvJJbBOVoDg1k6kZ4TpByZN4sznmC/23q3F8DxoVV2CbzxvYice5z6yc50PEh
Gb1qa0uC+5QO3J0z8DeoSvx17Dv5CfUCfJ0ueE90kj9WSSRXflF8FeQQnWqreyzcpCVGope3OnXM
c9ShrTHKVl7oHkhrHB1WedCLmxbpYNCWOzZOtyLHeRXFx0bkYIjTE8pbf/sRid2SarNTVvrNWDaJ
trJYisKpv7uBvrL4pyAjkPGyWFHYnLc8jB7I2GDM0JjeZiJWGEOUTdaXlc8ktE5gx2V5G0RYXSEW
EUcZDN+6Fv9F1XIT9hhutk5gT2cY0xfFmbbzejZHZM0QAd9Pw67xW7YFXsgDwsbFVFms/gyDm9E2
CDV06zqF84uYMPdHROHx8GgUkbv5+N2QGESoE5dMhmuXb1oesc+piSFgnsWBJIpon9OY9xm5Zlxj
pED3nOUyGI8kBPqPAYMaFKmW5/mfs7IjcYZ4t107igchBNPCmCSa2fG+paQbbPsJJUI90Zb0hMJj
h7Bfp/qtxFO3LZYDNlqO2i6Iyy0iYLHW3EpH2U1frGwOL6bn9wx3caM0WGWDuCGQt+p4xGNCX4fh
U9t6PxP2GGeCZ0jcgmoAeWi4pJS0GwIp3mUMItZz5a205AsvJyYUOvo5BqK998ohCZRmvxtVtmc5
8NqUUu0jG5S6PfrtfqiaeUOaYUGwB3lF8zB+Soau3HAUCWQJQeboW1sZx2KCZG4lzJph7YYhS0Ku
VZv12OMYhrd+ybIn0/dHoNKzk3g49EITNqV14ibc8EIBwC9v7hTHu9TNjSceXbaa5C2vxV1w7B7s
uUk3ADbwRYSpe3R09tVNKwZ/kXqcwyp/YqTDE3DsbDS6HRItcPSRo8eniGyOrYw5LPDKaAgbyiT/
s96ZOrBeG9fc6nrYRLpo70vMwoowZsKWgFOTdcQXPGjvRRzz142QBqwOpnPYIh8lcifu2GJM/AvM
VPpjxw5hbYw2QueQn+QwIooHckbWdauc4vJHA1lH7vyET4TcIXNJxLCPZTQTKjzPHZR79AyIxXDD
1Za99cNsPCB7iVaxZwaHnuSotCZMrGQStXGJ/1qc9TGWV9UiX01/+r5Ca9v3A3816QnBDu0j6ol5
NZpkX0Vd+fXjqkR7NN37IbyQtk62VlXewwrzXTM65Q75yPeQDmkdo2zewbVDkqGpvEt7KlmPVMRo
Jxj2IihOVNew1XDirPslsZxXxssjZ2cTUNNvOuK49nE/mRgV0AvM1nByl/TJ1mtyhPLErudmciz0
gEOcS4lQXp/nllWci9yaN8y1CDcKyf9C2HzQRvadmMvmho6scxUnGBIQkcAVTyjNm149AbCMt56R
ngND/xg7Ew1wHf20o+I7La59HpvKPRD4LFe95+Hcwcw01jGKsGRQOx1aydsw41idkO4EpnB5yHEr
8+dqX7dTATSxk6vcAo9fOZ3eBubR6nt56TvzuyS30AhsvbYm02QBTJJblA9IfCONRSDyWRuEqOIM
QW3lYPTFUYacsuhNEOah9+jbbsCTR2f7BujCxXnzONluQy6fLAYRTN4rLP7ABkXhHVPUbp+cAjO6
n2N9mmvXehjHN7NFnv5YtMo7TBnkWHYkN11TamTGQRoIDiaZVTv20OaaZ4V1+uHKUdxSEgU3tq7U
Jlec7WY3H5n488hQwdcq8+rnpDWfW2/ad12VojMm0dnizdrS4JsAqwOWKXFeM6GO5b6x7V98KhFp
E4ncZIUVboL6SMb9sCs6PKpmA0IU0cRjhxae9ThuiL6Fh6CWu0CrmSEDB4DOqu9+0lhkUU31qrHd
s0zi6dYe+jz3rulA+lMRausgaqO5SMe8Fh3wA17YN3/EpusAwifTC7FPZjriKqi5d0lFbR3Y97bA
aRc18GWcitvbyiL7E1XuM8NX3D9YZfL2Rg2QXDz8FPzFh0la4Q5a+XQXDHKkWzEWjRgzhXmMM5aw
3/OYXp2sLs+Do5NNpsezU9nOFeYqoqmlmstN3yX/NLimvit2jqJzwIKBtYLafZsJ4IekSuiLWMLc
Yk+eP77MUFgJNH7wQym2dWzO245MBVTy4qBymlq0/e8Ja7iFDhQxQMHA6YTG05B3xXmo0Ro2y9iN
mF4GX7NOqRUY3mjsaDQUkkjOqT/XIA3Wvgdmy8CxdY7I3zl//KqSGbkcpPxqBPm4/EuDnJSiulCh
eQcENQ8RFpgn5pP5g9NldGgcBOsghjli8meIsLpvlh8nd+6VhNVaWG+sjuaxNBecgVk+VPhHLr7Z
kilEmi+1qBGmZ0r9hDwnHnY1i6+1FLN/qlMQGoMJppsSPf4xq9heApazJwag8iCnTrLXNQJQF+uo
ytydnftffXI1Li3kYzpSpTd2F3unzqGN6N1qxD5kGi9Dkn+m0u320UcgLf6agktynerC31ZlND3I
bEYNlC5W+rnKzgmzBwTJyZOBKgoGQmKthUYxRxTF2QtNTE/L0MsYrVs/6hHZpAr2URdEL8GYO6cc
6T9maRG+cErPF6Ak75fBjtxnUbnuc1jVHAkyZzM5OQSnuy1WxXCKH4spwfZk9Wfg6nQqNWcjIZeM
dau3YmYhHDlOz8yMBEyYMua98/znno59h5g8PqQhJosJYsQxSbzjxw8dW8muCHS+nmrzaqGUvH5c
K62UR7rhx4Fa+F6W6YxWiCFkaarkjJDN39i+SdwE+c3Uyemh8vuH2d9OAuY53RcWJDyiMsb/Gw3e
RL3sQsPDqeJmjSAw8RVswnypmQZca0M9+S5VWuXIlV0YYicrbV+qa9v+ZD9LMsPAsQQ8rGW4Z/Lg
JVR2X1N6sRGM3HPh+DUcr2MHP/La48lnSphcXDPG9Owl/nrsxnITeK1JBc+PJKNxRJLCJ9V4zQuw
mvFQj0l7aOr5ptwGBWnqDyRVdP7aNqvoRpJWs/6I+bJEXG4gRFREJgwZ2rKoWc+9/wRIx7skqLYO
KQc6T1sx7sNZ/sRHiVVjwLsdRrRJaS+NvY+iMI91dk5HgHq2SXrdkLbu+eOLXRAmiDbjmT2je+4H
gdMqG7vDRwHiGeiHgpo1cQN0wlrU5vMsj4XpBOjtRcrKGhsXVYqFB30zz8PPUudPo1udh9yArhYV
3wI8pVQPiKNMnlA7ZG/dmsDRhqEHuGoLKZPD7EfEoOt6Mkl2tuVUBz++dU3SfNJp9VqX4trJQb/m
2RWPHIJ6GQe3LJfy6hjRToyGe+CRgbJx4gStksa7z20aU+96j52rYeu4c3LRc7hyvMg6V3X5UIdO
cR6r5guOYO5vPVxVhC/aHwP76Cx0FKd48bNk99FI4qmhb+yyL63HQAejITParDh4dpuvg4Qfv1kW
luAKv0XN/LMgFHanm88GeY6zUlisrejqgxTdYUGfV1kKboA9HcG2haHWE8acw7wEdDUklni0rSRa
HEs04ZfC6B9bCD5X5B1fwsgYqDz1N2dp8TLilJdSesx77FkgnFizbheck89T/pSfG2dgphDTq9uV
ybzJ56LNAoVFnXF2x6pmx0HT7FKO8RWldHC2I4KuXMfEguxV5s4j1BSBrbHtqJRfccEjsiOrXRWW
eAmcMlg1Zd4woSkEpDLeAEq3iXCUWa+VXX42+jbfe+ZMK5T2aEJVTd1sfZpARDxMWUoihOTjcD26
+8C8zCnrhWmKbKKFG+s65dBjOmwbhs5tmgoGmXWCAL+RDdwXkHKoacKHcNoOCT5O3kfrSCU43puc
G93AIuHXqt1kavrFSrK6EnSzajqv2Ekmnfs+IBE4FOT1YoeGFZDFB2ZJBPEMHISIDjkqUfJ2NXwo
w8k9ZgQ9IS4+g8oysl7UQDszlqhnYwNUQdC5pNp7SKjNcE+bMKyqmqjdjzyGaOLFLTBdoftTQ0Iz
IbZMMal0otPWkiI4DojWvUTMt9pWT3mWkOEggk94n+HXmbpbWQbTvbZog4Pd+O8JQev0wzyzRFYf
IIggfnGqkXhGxlwrhu1k0MbIIxhZ0GQwGf7l5rK6GGlgPHcsd1SBuuxjmIIE8Qtrjyc0J/127klh
zHB9xVltrifk0afskwqZhge8S8h6Ka1sVbyj70UFZfY7lD/tJjcM9+RUbbaRYXnQAGSXKag4hAGk
layQ96nS4UZlHuV/ZMOBb+bVh/NE2cx3mL9326zCcdGV2AEN9ZYMjXVqCs6dwXTzx55AReKhTlRe
9g5eQL8l2mXAlcwoKJY2CBs8yaviW9j2w5tunZeCk2POWUTF/tWa+pzsenKVPHAYVlJp2kxZ4hom
6NTV+bDNU4hKfR9QTJkvbYnhPrDb6Dx24L983MInrlOsCTwhmYJ+TO4trmvXrqqb1UZPjaLR1nN2
L1raXF2gUQ8jX3/qNZv0ZKZ38EFq4B8xyKFtIE8vrWlncYajNBM7L1401OlQHwb2X0HwOY5wvLoC
CY5nj0y85xJLjqujQ29bPtoyCj+OL9zUKnwGUrAIg62ANgafBjCR8LmZbNBogy62RN6XZ3f54kTu
NRUBEbFL0RKa46NbNMZOp9gFTS6dVnpzz9SozXaL/o7X7VXnuIzQyZoaaY9WydHht4Y2s4tevuTK
IE+2wHhQo5eRS65LUeklObU6tK18xPscbhrrl2eQzpy7/ZsVIAA2KI82YeViCGlN3B9N4J4Zk959
0GGnMSmrS0NwssCzu4g534QRoOgvSjwP1eg/NkP0mef/dyTg+jnh5GJfAprEpqKErYVhhalNiluH
LAgcUes5zpfxkTaBZhA5XFq80Nrtrc/h3P5IGppvqiJ5MkGHoIrIRmALWK01fpDM68g+bmXDc1yB
mqqnChNKkb3MIoOPgE+zNSIUKGPH/tdnxZqUhfNKCXTo3abcDn1PGlYq/CtOXeYzZkSOJHiCTnvz
SwMPJos1awPt9ofBcb17G2dvdTnsQk+YL5X93nhCbdzAFXdkyhc9ROmuMqNslxRWAUiHKZg1t6/K
yRcULlnwvRysszSLV6TH/AAWdhDydIlUG+cviNKareV8sYpE8UgdcCcB9dlKVIS04hQous/2GcvA
k2hILmeuaZlio4qWdSRb2sus7Tuqd9YPqRg/E1z7y08gg1VM3S5AeHaCo/RLXppPAUIfltokTaM3
QX3eamMflVFz723U3ZFz4e6Q1zgCW4NtJNmF4C2Oc4SnGyDIOsjhc4yBxmnaEx4xJ165i8cJuWkc
fjHaKdjjMguQB6XJH0TuPnVrhnGckri5ir0CYrQbEaN/LbvUO2sS5zYf/y/PTPaiCDNjO78oo0g2
BcvHdTnTT9jdavCs6aHLaNLiDuGiM92xW/XHgNjXaw/PK1bTcOc+jPbc6mvWYmJte0736offKgO3
mCl9++h7DE3oieoNK6zyajsTc2qwbusuJ5PK9Zv4s1O8T2EQs2srGIL7OPfDiChwkqMrnv3ZeB4H
Okaj8h5p3xjCsgKcCYnYqmwmCku1uxRlzIT1G/O87Qp4PHV2+Ujsnd2Jg2smmbRe0n+HLLMuQv5C
evbHWjuJqfB10r34bVQ/e8Nnocy76iJWmxwjmynyfpCSzvQbr+4qrK32eVSVPjPMuRvT/D50efsU
WFsG+Hrj2BU8v4XY2sv4F7HwalNX1rfcFC8qUPhYhE52m9HGtj5pA2BdMAXrdrQebBzpLXb4fRQH
D7HTPduYMUh0y7d9h49Ec5krZbz7QWNvQkOCY+hoJSqHntxori29Le9ls5PGQQiFUrDh9gmFPNPf
APAywPUUNrQztLl7dzjUfv9IBkGLBCDmlfTZuxQyYPewXlYpSs4DmHlvyTETb61Bac7y3cNBuASe
gwlY1UYKcLEkoI+GJErLN6OMTG4ZShc7WcclklQ1VBeRJf41DJW+fvwqCAxwNIM+tmrsBGGCVn9A
3/FlCLzXATQMvhbwd6oKA1b7fPn41ccXY24AOJrGAel2cAvyDHhMG75XlpWIVZNW4a30h2NT9BMC
leXPsACEt6Hp231LDDMkmyaGcqHkdijcUqwsKrDbxxfcu5gt0OP88WekVMtd3dqkRNpjfBOBF98o
/edjEGT3ZMzj23//+cevpEDNPfc1dg5cXZHBOKUrPaC7cJZwFNOhFdVP9KUcsZUL+ouyd90auYHL
bxQ7/n34en2XHiwGwpvKt3pmLIk4aW2/mROmfikTgCQiBdGSQG32chKLZ3wuUlP8CmIttoZXSEx9
/vCcMJq89FG5kUI/YWUK1pMdxQeTE8Fvmfcxi79nvLNrg0Ow8dJblDMhs3z1Bi0Dy1ARvRai/JUP
0SdrCA90/mD9GU1WGqp9UDHKaSdrX1sR4/faPsuR1UpmQWEo2pOLghjOwXuef1Wq/yZZ/nVBLQ9D
tTdlDQPV/ZxKh7Va2OzqQF30xLCY3o6qTWElIdbxqWGPmgBhQNeLuWdmcraSdHGuBmWh0GkYBNCH
TrguEvEtHzV+qbdOfodgVNBJ2ThIRnebV4KtTR9kWx0nN8vMMUr2Cu5Il0LLjx2gKrGJZa8/2HZB
8HdNRrqtvs4I5SYXtN4sMyQVnvuY4v/gUVzfHFTFtK2kJ6wwkeQrnFiso7VxxMdP9vMyiQ6d7tFn
JA5CBhdtmHY3Ayf2GH62nNJFt0J9QEz5wWht5nhtenFxhi0ahq+5F/AozxuO3QqUZLpmdOysvIZ/
U6RLV9gcEmNadITf094hmdKxik0/5+3G8BV8lC2vw8GSloxAGe+j/p6MGu9UES6FdKHgtyi5Rl3J
2GbH1op6OHPTjdk1tL7LT1Fb7wSkvlLnzSuzd5416sNojt4xNSpCxSHHCXhnEQYIu3R/zBEkwQJI
8z70hqe0TG5F5j+yO67WZmti40zGaqdqgA+Wy10Q0JzZHr6FRQFQVc6Lx5pIw3TZwXPA/Ro6P3Xy
nnQuW9MmWAZ6WO6YHUcbp1CHLID7ZPk5Su8cU/LQFFvRtSf+9vPQV83a6CqYDJNeNTlZf0NqP4cm
Rj1Jwvy2jCEwmMJmnFZ/Bru4Bw8drXl2/HRccaBs35mJyCC3JEdOeIbx4Q5FMZ9ALvNtNldPZu1U
u2x2dp7PIsky3EftDmwUAhxv5H6vgj4gcjAP3+Vo3bua6aPt5xsrD9utcFqEV9FP1wb320QdhBaI
Qe4YbzrdBFgHRctDsgaplD80DHgsNSq29Jm3axPxxlLyK+9rVD5Yo8EFrrioihY6lWhZ0HfQAMfl
GVMwRilxyKfBQFVv8Pn4SCK2ZH6xGkiaY9g2B3rOnC2bwxKmZGifAMEg5O5QGAVMqym+N2rpSWFY
rMtK6w3eJx44ZjGQ5dzUzwp59ooYvTy2Ic7CRUsE/sa86ZC2ZgiTUh6HQ4DxOAYaVY48KgK3ugR1
lGyrebHQM2zCPJRVisxbLucIedM2xgsgjeSRuAV7DZdrBuqtt27EWmfqDJuDMGdXljPf0tK6sQ4l
MEvOFYzbEpOCFt/blFAhWVHaQ1dmISyAbJXvpH1gbyoZ2s9KS4xOr4U2D2nGLKWWdbBh4f7cyQq0
xi4r7B/I9NmuTN9QNn1LONFWrgPyMkRQkzaQavELv1WYTHdMMLAiWp9Au4UrYGCdBOaS70hgGw+u
216LjFWtrxjEEeawziW4zqXetAenPUaqJ5SCIl54Q7Lvy7cayct6aEOPt6d5BpsCNTdHSQl7hvRz
PlQl1M4GAU1j9zmOk+8yxPjjcBjn9bTV0RDuhadfpvFcWf5Xk5No07KO2nmj/SQY14cew2V83gcb
0m0xVyEoevNHWQSfOu66WJvQ4JKRQr2Y3zKd/XT7ptyXxdnvSU8s66+Z6uACWz2rhhl8tMXoNDQZ
RtSAB7LW2fVGf5fEItLG+9GVwHiQiPECjWFvXhLJyrz0HXXAW1D0w1G13q9+1j/hWsttlRq7ofbE
H9Lj/5gFuShdf5PLgQbnf+T2aW3B7/53cVpVZJYX46k8dUlCbpT3uVRlCyQC6VU4BNbeBNHIWMKE
3t35WDTGgT3hNaHR33Quk3k7UfCWucP2AdXRn8S+9z8SNf9X3tGwEu+2RE/+BuQwPRsYm4Oul4gi
uOIaLMiflXO2P4duyC4BeqFnHetl/KV01O7c0N4yomeen2KJsbpomWil694LXaLrILCxmDUkddkw
+7Qomby0HUpUc3r6hxf4W37pxwvEAAjUBKWhKcRv0r4ekmjX6MA/2bR5IJ5qqok8hEwaGfuKF74O
mwGvr8/GUaQD+ia1hhNX3P7+ZfxFY8zb5Aoh+RwlFF7CF//tbZJ21xgB0sMTahqWFDOWZTzdRea8
FbD/mOXyYZYhYpIiTf9B3rj803+KQuUN8ARAF43OWSz0+eXy+pO2sQq0W6IOVidrWUk3rAvjKCLZ
aNCkHS8/caBI3m1cmAp//zOby2f/23eW8GUkVy4Wbed35LwE117kaeawgoqqB2Rfp3YwMNU28tAG
BGjAqqhlM77ks/ercGcAK/Z9+qj2MrBNvhH9ysY02YA1Yf6Wj3Ay5u6cxnV/dZziGxA/xbhZ/JM8
1YLH//vLBn4jPNe0bC6Z3+WpYB7sVlMZn6yuZr5izIQ6MaYpWDpsEsvu75YEBVLXBwR69myR+WPO
6QUBbo0CtJ92qBLjwSwu+OLOkC9aRNfNhOmsfizbsj13otx2Nfo91zL27I0Rkc/v2eCRDNHELBxY
TawyBBeX0gzRyrlqzSg6Rj0BZILV9JXCW778/Sf116vTczDbodVzXZMl42/ZAEVuV4J3Wp065sar
hht4JaxqW/Xdl8aiEoxqBsDSjT/XKhG7v//efz3d+N5AgjQ9iUOy1m93RkoANOr3Rp2kUFsYiM0O
kWa3xdC4cZex6d9/t78eV57jauk5jtKaY+u376ZafFOoJRWJV8bPoShf0XgDDGS6n8js11j6P//+
+/0eRLzcfWCULGGRlOphWfjtrU0qDC1lVDinxPfdbWTEAAHg8jTgkotuGXYsK4KoYOwfGE9lWefI
vCyetoXHEHBZj5IxbQPwK0H8ID3LSg2O1KKrGohnKAClJRxYcxs4D0FTnaih9T8cH+ZfD1BPORxf
vGG2xa9+e8ty+BjTAPUTVzfEY2YW+T7Gsyo7LziNrh4PUhpfLBZhSvNyEVR12ORHZmyLHHHwUIgA
aW/8Llql9qRZZ6irZ5SfzKgMyGp/9Z1q3v/9m/4/XM7a1AsrQVg8739/z7U5RGIuHfPEqIEBv8O2
wwExd0ABeJR+ITckAUyou7wgE38AyP7zw/p/OPO4kl1lMYB2bWha/37augxv+d5QacfFPVDl+GOl
h3Knr5OztNjm+3U/XWXrgQ6ISUb4yAGoRzGu0Pj1/3C1y9/yw5erDzCX7UlbALFwrN9eTS+i3AJl
KU+pqjivFvUQRBpzfef6C/dzCZzA5YajPjRco/iHO9v9662tcek4COpcFjZ/PVbYdXkiD8WpFOIr
M8ES5Yg1AWjZZ1b6BCQb86FDHnDmLyscEQdokQOWJKF6cyPz4GPg/F5L9zB3hfPQW8AugnUkQQLi
R5PrQMX9jswJ/TDa8j6HlBilb5+wysr/TdmZLcltZFv2V/oHUA3A4RjM2u5DBBBzRo4cX2BJicQ8
OWZ8fS9AqpKKul26bTQLixzIDEYC7sfP2XvtazaQaSglfERz0I+dLG1y7hi51Whq71ESBYI+yw7D
iDwUjWL3m20vIMIIqr9VvAyiO/WNV16T47Y0yNmsgfGDBLVqVLPGHJFKG5tIv1rKdE8Z7GVG+ZWk
2xdzcdtD6jEoHI3wFHV7lwvFT5xoukWpaR/HCUZGVGs3Qwzz1wkwBMAVwkuK7EVpFG4Utbd2GBfm
Yh7DzpYTVdrryw5ur3srIQKC9XjqW5y0Q1waf3O5/DcbNqHOHFlhTkF0M7bF7E+lQplwepxhsV+i
0XKvZDAdURp8S+PWBROvX90IGUY2oxlYAzjmVnaEJJZvQEPkGdAhw2VasATE7Dqzz4+EHNMnQMvI
sKRW576RH+RSajscCubfvPCVMPfTlu3pDqss5bHnCne7Ev/0wqN8QLZCDYh7HpmoRGOyaPOPPork
t6JQX11tJs9TOg/ZsoRYn3Jm0mX/hBs15ZfBdoqEpqD+Ys1K9FuYE2jt2QL1oJr2DDvFOYsq+oop
OFDMAANTvqOFCX/XkS+/tIy1DO+zSEfk9YZWWFeRM8m3kalfjKl+2iqrjnP/rXhCrMDC6E3gOM2E
HjKz5atViOdJYxaSq19UiOgZvnrCpJAl89TQwVPj7B20r64gS00WpCmgw+L/R3UveIcfixCIjMIN
dqo6dF7SHL/859X0v7HrEDQuccexoHITmz9tYXrTxnjY2cJy9+TR7LnDtGqwnaJ/guMjdhHJzzTi
GAlmlQWSoiHne4oRRWReHR1V9jeru7FW7P9WVtqgBLltsBCxtlk/v54maRlcqnm58Osdzw5sMhfg
2VTp6k6CEbL/56wrq71DtI056fUhXlCqlw6DtySu2lufGPHfVLor/PAvL8nFOqjbtsdu+XMB5S4m
mmyahzjGE4HM1N7Ro2dgyLwB1zvtGRN5nWPr8wP9/vlsk+tR6IN5FYYj9n/z6/pLvc/bs2qNDV2s
xav8ac0vcOfULZCai4yACVEjlOe2a44JY0BoN/zSQtNE+src0+9szfCdntemjfVjlOXgz5riibl+
yN/pLb/htMthMkmvy7R8/ZsX+tfdyaagWA8lmJs4IPx8NMtFnEx27YCpUqa3wzupn4tIv6GO9Tin
Ze6JBuzIEtOGj2HonTTv2FTc2l5SxDcteRELJpTRkR/iSEF0GwjhUMotbvk8PsSHCaHvSw1hac9y
d++8rn5lhSiuTCwxHI11YPYsw1XW1v4MxCdYKu9LWHbf9QX5Jzip8KDpXYHOqi49GBMIwmVq0Vxc
hdVxE8LRdSXKQrs9CpT6VuvIs2zERDJO4QSd2bS7GrPQVca0tlGmkWjlOse+JXJqMJzyRLNAIA+C
V7kAe/Mhsc2P3NMlXckRjL0MkTdq8NggKVwnwVh4e6i7uTsMc2UdtwNIxUAP9avobgtuSdwhpf1I
jlHpD0HRO+YHY6acx6v/oTDrL3nLEReHfqDBcj/j4PyhdPQggwBvQO/lIYplt7f73nvcFtGUpuGV
VKvXuem/6NWCN0ILRpRWt8TQXlqzw4hDjnXhWBHBKJ8Y+Kd4DoAz2ooopvVcmYTqx1SiYE89klpq
dgJSBSLjbuQJe1wRgqSR09/UHH+9+KXBSR+/sSeF/pfDbkLORo2aiySATHBaU/uthq7HAD6pOGgN
AwRw1n9zIf/17pfEqtmWA8qBG/bnerOLdLMbphhrPDCng1ZZD3k/eNdUK/NzOtiJv7ji2HXJyllz
4YdC/9n0CrK33dt/fi3mTwccizKdODl2QsxgUv/LPVVi/YCMIS1G09pb47jljZuILVjSsEX2e8S+
YZ3tOATpBT5l9WssDlciKHbvY5qRmUYSnCrd8YFI628UIjSOTW1fI3SctILaCfgvANBnwfjPr1Bm
75dKHWTWBtU0mX+30rs/t5cgfZq2sG3B/8UUnFFXK+mfNnYrZ1JpIdq+xFOT+K4Wk21USP0CwJW+
9vYxlkXjsj3Lynzf1nNyJttkuaQdTujd9tQNkTwB8SryA3GQH6cpWy7bQ0IVj8R9ovBU0t8+JbWK
5iGtCyKNu+ViThkDha47CYRwDEEa4WcZBorHfj6rZmGYkkKiSmSqFWSbT/96qqNM0WB+gVcAJJLG
wA+k3f4ovFm7JDAZ2N/bfq+KNpR7UszinQgHZEs5fARLZuSV1tplSC2S7pFrh2SBLwWY8V23Pp0x
CzGQuJTrw/bMaxMOlHqp84g7mWJV6M8gizDLqPS1Cy3c0mETnTiL5qfJto6mqyOzmeLXpmfTYhVD
Mde8kY2D0BhWOyOr5ejEH+IikpAtsbMxS0AvrtnJzlTx2+bM3K7hEr0gljuIjnLCD9TPjGXq3Gqe
tOTd6NQlhOhwX6yYAlwl00Fg09rpbRWdCJrJ4W5lZ5PhxgsJZMZbGfc+aEuYUSHk0DxnwGrMFgGB
eIKOOas0YV6ue3MK4dN7Dg81qelbeTaP9ZOVAqWpo4zQAquLTx1Gse1VMgN/KJm9n/sEDqHulPK1
y8zE9zKuBo4vTOaRCPl2rnU3TVT9LUX8xOECft9gWstedfSaunJ4CsNGf0sj3TtGaIeV5YWveP73
WcM9pGuNYF9qa1JogMyg9rMeojLKHwn9dHdVhgLLHm3CV1a7DtuWtotGRleaAqafdyX29hm7PG6t
E9cgYKgS3g7O1vIIdpjzQstx2pOELrTtL3hnTwQBGW+jlQnYf5GGB5SW/FzJ4obKZVU7yZvMUJ5F
+CiOHSLXI84tokc6zk8ElzB7DO03BGNmkKKuAS2KH5JUb+yWicb8J/pIj+gRqxVtKMM6udC5zmZh
nSIO+2jUF0globrM5CEw+sjKxvhcFvKjVRaf3TZCWNrH+EpxxZ/NXh20wZEnERlY+aLqbOtY/OsY
V58azE8IZ6mdy9wKRmXB/IyDkR+a9mp64mXuOht7/G8dSj1Dduiqlwp27YiR7GUzps6rLHdqvDcT
fRdDGPYcSel3K6f+sTKWfl9qaRm4I/KqIU8+oYRtjoPLZbS5i0MUtk/WwIRJS+zkFxW/69FiH73W
yI9jjL5v1olhKtOYrAvuuh0uA67XxXxeUMa8jWjEd1mSx4iT+DBv+geMPAarrW6jG6G7QIQMopZY
TE+JouoXQwqIOnHBazX6zZNaeRIDvuc0x7w4YfgLLG2OcWGH4gW9AD9+Ua+zmTu+LgFHahlmL9sl
f4Cdd+9mjDyrszXb9Stkhmhfq6ZneGLle7EwYS1JljmRW+D4HXe+juUUAUF+sqLKQzQUrVvvHCG2
1ZFAqvhGsyQ+WymrUKtzQ5SiJzlKZEQrAkPwBwZYDzYpa6PrUD+BQX3gUhh4AQKFHs6C63ics+91
hlQUbV9905NkVaZgOMkRVt688pmTSnej1ZsHNCC9fQPS7eBWxE7mWhXBHWqpMu2oeaOu3VduaT1T
MWFZ8dqHsusN8sm0FE/EC8adYocZijWmhcXvD51HQ8Waxiv///hig6lOdHd6SmU5P6GgirkClt0w
Os1BWrH7RPaG8Uik567hOAvvNksvCT74tYE7XoZGu6UrqTViSNbrn6t6oidXjm+Z6UGIxUzvd3X0
iIDYfc2yX9gYmLC2Yg1p5NTDSbKJTGybiHktYlAe5BAOCKGePCIX32jLGwe9mcU+i8v8MuXRFXjn
nCUO1pLuPZ9LdUxAie+jOut9hSzpSlT7S6tPkrf0Pe6js4dPhqwbRHAz4vdDwlgbuDhxflIRP1lk
H/pW7CfcVtcENflpGOoLU8b0qkm2ONBpIR6QGl2jY1FW1iwpL1oWHWoN/YdReeTxwSaelK6OYZY+
WyWtvq7mxq/q0lr51Q2im2U8JwVZStFcfGDLZ6FCo8q7rdPo89oeQxL6tj01sYcFaRr8nGHwMSJv
fIqqcZumpjUqIsuF44gHN9n13lFrau5mXd69VPzIItufBfFv6AJwSctJBgmqqTJi3p1B87zOBeVy
E/p2aX0Nm9ncQUMwD50rqZvz7BHVPb+GtCZjCtIDE+AR55d2jHKMArjFljsjSRpt+uL5Bm7iQ4xt
OcAVU5Ag3+CV8IzsqvQHs9fFnWMLWjX4NI+jEjj5kbWiTTJF4NKzP06d8ivHdNdUvD6oZBWTP13o
R97X09Dl86FqsuksRYPnfP2nGQone2OltSDdgTXuTK8jq1DgsISCV1avjRmlexH1E+KJJ0sK+dqw
VBZOWz4tc1Uex6EDQK5sDCcDRHno7u6+CXUj4J1MA+mAxI3ndrWMJLcuGVHlLVP6rnsf7exuJb3z
xYa30comx69VWeT5jMMrKjVg4XSMK0Lr/DmW74VD4goyovjsaeQAh5r1UJTWHKhBPXGk/JXkv5M7
eAshvr5FKcXBaPoVOQfuw6J9dhyDxAsC205W79zzLLqb9LgfzXb+MlsEY5GKeTNb3TuZipyURSC1
jbAn7vtoNI6UaEEPhpskFRnuHFqX9OI4dcRkzNozbYauHWJOzfa5yBrDrxrrdRvL9J0ggYu4Yl53
+VWA78f9ad+6srlaXDMsrQKYTXarUkudzQyiYRdGGK2HzkKYN04nwU8xinq82mV1TKLYuMnBvi5u
/mvTpd49RBYkaPAcu0U9NZPI+G+E874i9+aSGKEfL9eS0Ls7+jIkxVatnZk8A3nRlRdkvB0JkAZa
QRAE5vSl8tz4QWKfMGbDvTXK9t1FSF+F4/vmLCfMmqjLIg7U0pJT1rk76UGQ8bpuvw1Dulpou37I
/KYxgOkhbQ2mhB5RRSM6YJ6PplUfz1lax75bGM813ZG0/0WXB9iWz5YKvXOCpmQXhzUEbB3DPdD7
nHhdrO/jamHEIYpPWAkGdfE3pMXTqe7EE4pW0oVTVSMC6MkO9jx08lij90bjKuIp+/qYmPI9CYV4
kAs5t/jlz6aefw6n0TowDzV2cYF5wcHrk+hld1WO/erl9T6zyJMNCQ9Cs8cJNKvH15K4l2tPdC9D
1HnfzVZJs7g9Gdh+TUrzF3p7b8Vs6td8Qa8yhtk5T3LJeHsYgtkR8R05yYFA1xZtH35Io+9WtOiQ
XOg/GgGmjPxCW7DgwCxJxErI3s3UhegG/XFhMxbIW8/CjVlAuuzeL9J7pHViJwgoEyaCMDEY+zXt
8JXuX/1sP2+AkyhzpqetDkU0fcg9Ed+o9wXLOJJurSFfQuPO9zVCwFAXRmgKey7OxfItq+vPiDxa
PxLu8KwRTqhPkf7Q9VqLEl5CGZJ2dixj5zHVLXXUihzTzILwDmYBQpU2+eYQ5HKexh7Hqle8KCNj
Qyu0Vz2y6mMqWo/lPkV8IkfM4El49qamJrMQUIIBcJidMzqFNT9rGrJPg2hfm2L6aBtj+EK3CD1U
nZmPAyZr2kMAZua0RcwHV/TUZpxa8DZhzRuWa9Lqy6PZAx5Qxah9nUX+iBOpB9H2IyQLUKGteuc8
rPnK7G6JYjrakNpZd5lxVllJfWNxbZBAUWFqObc1zqPBbsebwB96shv3G3QAE+fYtemYki3hXFyy
imRqixB2jBvQnepWcFhqgRMgHmWcirloZzfzeIHj86GRJkmRdfmMGrs6JzFg+y7un11ROO8jN5i3
YAvq87YkL9TSX2obzQ2ryTmJXOzHU59iUA/XPYOj1lTEl9T6bDca9SB5K/OubmvD75CsXdp6JdcV
81PULNXBspbwsx2jtplgTFfp8BQNFvdc2oq7s7ArK6TfcxJDBRXWoycnPCCjIK4XL7WX5N6bK/A4
Iu976BuYluOsnmVbt8/DgCJyqMk4Ws8P23U7ognfjwqGS9uj/O2dLYxEGQSACu8ju48XyBk9PEaf
w1wDJBjQxwK67ZXvjfN50TjnccL+aHmjddUKHYOlbpZHfjOfJlVKZnSstmGq72sPdWipiuh5RcqQ
fMQ5MZssAE1ieiXajTUkG05rphS1gu2+5u6XcJEAUAzvlcRXlIUrV4TbWu3JOWNbX8cFvYntiasN
82IVMkYsAbe0Vh2kZaZ2NM7QXJXTudBhVhM3BqJmIDgUr3FQ9dQDeSMAXOTZcvTyEbpBXlk3tpoZ
PoSJAKkuf9DK8AKmKibA2qLfa+Y0n3UDV0Q4SXHYgtdEJQ6IebLrmgF97pzuZk4gmCeGLK5UT/xz
iH9TglPmLKuPnYdUY9I77ajmuSOKWn8tmQGQdom3am1vLW38Szkww/Vwvu5Ip0pvWKxZmk37jRH8
21jOd6Xh6rKo4OayTXE8SoyibaxOlcLraRy1nAiJbmUZwT/+mCR4cJo2h5O9upqw6rePdUOeeBl5
+KwM98pCMhzxV7sHk+aXn/Ttu9n1AiTZsDBNQLmzG6J1DSPB8wMZAUYkORnYs+4T1XdnWDZ9ySUW
lPlQ5DnsX9JlSSpF3h7VJeetsr2PHYG6RhdeChL+rm6TfYu6Rjvm0YSjw2IKVgnmYRsiqUM/GyDb
ggqfefuEFtQdJs6hlK16FsRZ7kn//jbH3kypjS7LTYZdGxZ4P03mLnYy5T6AlO46RJ24FImkYVaR
eEM5nNxkca3DJXqYmng8YALwdopRCRJwMCc2Q1YZ8x6WqKj29C2wm03juXeUfUrC6R4huCSt0fzh
qFk+FLp7m118Ea2FJ6UBe3qKkWX6uia+WiiOA5sTBYemYdkPvH8nR30cXZYGU7Ct9+P4soGgqI10
bnyY0JDZNswEUnPjHpL7MzSxetBk/9agWty3nSqC2rVDDuxJHwyRQf5BQWZ3Nd1GOV1czhCXGgRY
j7IuQPGbQdWy1dVJzUeD1MUXzudcnqtBtkjug1tc3MyzHvHlXqs+J8kjJ1yF/r0/pF4TOFGk+52D
rHLW4uammrrf56p5NOp+/tQf0JTvaj1Sjy1CdAvXmkN23t3p5ZU0WH7z4CEOoay+jopv3KyHclxK
f+rLxwyrkG9EqC8bXBW7zO0+Nr14G7AhYzOagZ1YeycNwYTBIIJmrL4VWowHLTebh5GfefZG+VGr
vK/UKrvGcvMjtlrKXJoax1yVGGjy9KEhIHk7ZaoSLPJq7CIZRpxLxzi0BqNXMgrxBa1dS2/I740Z
U/D2xGaK7wYwLuzhDaTuRZ70pjI/ueE7FMVv0YRnxnLIeI7NHH+kwbF/MoUbYLM0/LDtogPOtlOE
OyZbRBtA8D63sRc/4Bz81eop5BwaAzvbaOQu7HAEIZjGrWa+ZYKWmGH09q/kRJdftUVED6Tcctpx
jTcvt3dtZH8RgxwezSQ/K93Jr2lTvESKg5clLLgv4fQ8zpaGAkvLAiJzQGsntXtOOvPa9tEctKOQ
74ORyECb5dkm3PWRs+iNS76y2+nMnMr0tQSP8VbBVayuRsL0IkF1zH/JQ9AGhNEZSjQl3ZpH6PyI
DfpRuDIxevfIAkZia3YtitXY4fxajSw7Xis+t1zruziau7NYhglnlVYGnj4HLBPJIenGqzkzAh2M
5v4bCHIVkAF/mvyUkE4MDnQlptQiJFrSeQ9nrs2hR2dcVthZMpqV5HZ59mqvbBEOovY9uo2l+ejf
6r3Qwo7KObQxzKQPuMbGXRQS/tr0WISWZfru2MD5FpKW6QhO8eoVXBf09tc6TdQJlgjW82H5ph3h
8uD48e6j2Y8XezTH/STiwd/wXVAFYCcR4XOMzK6+jCbN2k00yaA4u9g0L3cZSdC5jKaj5Si6sBzr
3JLIIGuk7PZyjlNsQfaAnrfEWL7rhiwwo6q8kPHy3nd28kAp3+yUveLrqZvOcdU9j50nzqJ12FJm
fWua0slbP6er+UZ+Y+QLWQ6HaBy+jJbqDmOXl3vCjOh9Oo4KPHfkoDetFpVuRGgTt/pp2/H7DpJE
VQ0kV89fGoEvjGsSGypQu4kIps92a54TkhEHR79jogW/Xp/LiZHZDHAI6MoeuOn0hMTT2TmKSalO
XEpvEhzNItu7dntddP15cTPjPioAIb3ScGyPI/cOB1F3PezkXfhNjVATXNVzNTdANlxJYLDujenF
Av21X1z7mK/DRB1vHseoETk9acPMT8S5xh5ELGSJ/mnBWGWEzVe+hvmFjO8uSYxbOzZ3c5zsszZj
AKeX/kQO2OMeYotNt6imO4XT5ZxmpDy1Ru36pt2+1iQHveQqtc7kF9NK1IondbdHaT3LLLopt/pF
d3M3qAerObqIE2hUwGqn42u8NWxV55KpR6Wqp1zCchsT3HwhGwIG8zOS5vklycFbZLO76jeSh/Ql
b1x5tXsI+SwfT449gwsYm4gIVZZoEtbsG5XoMD/SQ/aFWvMToJ0+o1llSNeQPyXtseVuzOZHgcsN
43ANZr1uxLPmsthaZuueQiAz+5oQ1j1nZckoYr1ymzXiuqr7I/BTAF2yjBiEt9a+YsvFhz3GQTGZ
ziEzevY1zaRd7SX2l3H+lRgUyHV1yBHTnPK7ror30Cu/9pKmyZy/tYVpfjCHBbcp+kewHvXVlMOv
nPljH9MUeaSofx/ZrXzLNstbC6jkQBweOWEDfnFklC9KymBh4XytWIzm2L1IiqYD6d7f6mZOPqI3
+OwadQDmV32X9Duj7INbuuLW93r8YLEgG2jKbmbP+MCl3XKS5fJ9TKoYa0PO5IrYt49h+IUT0VtB
x+ilijLhJ3H22PW5ziQjmQ9LHGMwHRNikSPwrCXtdC0N51dVk+PqdbPE4930uzAcJcg7elKxHbXP
eLw+rmHtD6K+aWaiH8k+L/sLgbg906CGcKO+9ZtMNV/c1YoQjvX02DSV/jwa5Wf8dPXTXLU/yh4a
mTmm+TEjLO3TMpsroW7R7tWM9yMbF+tgcvQ6tb1HiIXQ2ns0PfVQkKqjk4e+cFJEwbTY9hBIWKvs
FVQguya7KdTTFzIGaQDO5mXBIoOfB5nsGSUnjS6PXLvYLF/HdPoUVtp0iEHo3kJjvIq1NWLPw0C1
zWGuqNR8R0c3302WMl+bJrq6/fwh6yPraZj5h3cWL61pRqrdvGMITeTna4xl82STCAzGgg/nOuxf
SWGx7Fx/zKv4WDmV8SEi5NQx9eKLYrpyzMFUHBTxSh+cpjhT+PuDjdt9F8BKR/WlQ6gBFam9G/X8
ZQR68jH2sIG7nhuQgyfzLrsVCzIyr5Bnp4M+xSnetbtrFZOM7PGzcYBku3UkneJ3AF/X28HxhT/f
vz8Nu2GH/50/7NcBWssjvJCrvJtP7lv+yf6VbrBJpt64GwUGf0gujI38LevDT/YWFp3AYxWGDjCf
wBuTsuY+JuMrOnYo96nyUc0eLT8I7sH9yx1n2e7d3Rn7cDcFU2Ae5KU5J0/J0/DR/Sx+gL2h6iV0
CFfyClXlAMYa8NJ0QS8ZfQRZcXC/TYyrTvo5v85P45P51n5RiNbxmeCJcmA/7Wlch62PE0zrDv1I
fusJ9ypKEBwk+j2ei3kv6/gt7utDCxANtxSDyr526xMgxOEYpr2FFV95+1TMxHaM5R3bXXV3+/jL
WBUTN6odMLcW3zIKgR3lrAYaNHOIw6tueTaM71UNDKCftOphRnL31I/6xyUqD+045J94kqJMqiJq
zCT/RCd5LxUShEzGDd5yy/okBpuOWUq5mZZXgeGj5EW8flKBvcNjMx+eutHHkXl5ygBXha9PzjO+
yqYmaEi2c3PZHhqLlJwG3OdvHzpxSh+xxvWTmuDpnTXUKGxaddk+3J5lLZdGXxQ3g3HahcnXTSPH
k87tYYPd/8S+/+NDtcb4LHLwU1eUl2pLBYq3CBqDedlhyt2X7StLaMt9IhUd4i3hKBU3hwHhYfvi
FqLQDFF1WV/BOJranz5flw5NODw45UgIyfYQreFJ4Rpb8cfntmdgbdZlnz07x7VsrD+zLdmvwyVs
lv32P5FJzbmSme4+MmpsOH1Nrm9UHecuJ21Br83+WIF3WyQBO9u/2a4BKNuznz6XNgCcDJWrPXPS
D0tJ1p9yTIxMbZx0PhsaRKg1MmELNmixdeZluhzRMZosPWaMQ4hB9RZS8MfD9rnIUTktveq6pRVs
D8xj6Z0mXsbjZE/gbjQkEkJn1R9kAmVLEVu0RY2MjPd/0w7+73+T7LYbIP6Xqp4VHdzupw//6w27
flX8n/Xv/Ot7/v1v/Bece1W11Y/uP37X8Xt1fy++tz9/07/9y/z031+d/969/9sHwcbkf+6/q/nl
O+9a90+w/fqd/9Mv/q/v/xOyP4bIVer9/yb7X9/L9r39M9f/97/yO9ffs/4haQE7EnGghb3EQJT5
O9efeN5/gJg3CUZatceMK/7g+uv/4GShY1tAoe3xFV7D71x/Yf/DQ2louEg9bNfAUPT/FRb8m7Xn
T0LBVQ2KBgi8P7oRdCT2T8LFJuxIM4om+2qE4XnLVxytXr853TgRmoPiXk/gbc/1ETZXM6CVyEHC
thOAA2e9envHjY1gYZbZ2pzdts+BPWwu2zPkZujt//VhZRYYXZU8bV8sw69JaNUkuJBGst0i2zPw
hOVF9b04D83pj0//8bXtc79FnPzxZdLgiTcTjKa2GzB2AeKugcUMc4JCS74MUFVoO++GEJLldhtn
etbht1QFc6cY+lC/3eU4FYELVUAZ7IbtwNNJ+i30tzJiXGhw9NqgruhSaQHY9o+h65ujYwABvKFS
ObmYPznUIr3ZHlqYLujN8k/45i048Qg5djrvN3U87af1PQrLg9aRM7gtudsawM8j+mhdgf/4cKrF
16WFSdsu06OTUwvIeB1ZL/0D1P/uYrS0XW1C5OjlTZftIZeIXKg+OYNb3Q1KHQlhJEPtt+V+e9AW
COe/7QZSp+tDURJgP2xXTNyATuCfL2N7Lcv6grZn2wOvozu0+vj8xy6wrax/bBQdeOAJNtapTJvw
hEbot7idVM5MMfLm7O5tmZMEqQlrJ1x3Yb6yBp5sD7oYfYNuMJ7+Re26AuwVMCrtsAzxK4G306Wa
ZHJZ9AMy9+mC+Jw9jrSFMR4IU09oiDa0m/tF5MG0oOqy5JAdXa+9AfNgGlUIChWBhuQRnJB38VZ/
qjAQIpW9cHaiCitfbxn/ABa6QJzYG0VCUi5RZhcL5vquQvIe4MWxLiNZEPu6Mb55lctMnL1v28S2
B7Mv9BO6QNoJhAMl9OUOFA8PaZUTPrDtXX9sYNuzapbYLvKXcLE+OfOs+TZ3VbLEaBkaw3bPwj7n
Xn9wCcqkd8eV6aVIGdbEipTy1p81AqTG2iPnsiL1FvZVe4ndVKGx9H54TSGws0X4bwGPXZByrt9d
FxFW8u07rfb71H4JJzzXujhtgipyKp6tPmQwhWMvMAaQ3q1ABEVakV9hwgAz0o0X7LwjGzYRTzU0
q11RIyIpQqwCTHbKiz273Evbpr69DTIzSD6uawb+/9y8t2fbzhqFDjKcUIHrGPEab9smmUu/xxRt
96bckoG2p6HU0IyVnEucfSEG6upE+1XRTjxoxY26H6AU+I392HrQzGL8zG0zETYJ4y5YKPFRVIzt
Ph6ajo5oLFfm1xv6Ng5Cg2NfHDV8yDUbOkPvMUQum2OWJSdK9MNkhsx1ulG/bIo5mzmxTgDZlj+1
OIgJbG3I8h39DXNPnGe+XuTmfpwsLA4lsVgh7JsAkhwyoxSEYoOJH3AROh9jVBdE3Ex4UKftuvXD
upiMAJvd+5buQ6h0dzGVlx+0KfoWwSGGMuot9BNsOEeJe8oGrJKtRD6pDS1Y2nw6Gmtm1RZclWDo
+u3Z9jl3NIYgs9NftoXAXctATsesBksFKWGw0UvE9RD7odRtromBRqYwVMBEYAhc1aTom4i8VJho
T0yIMXiwBm2fcjzGyBaDPKRE70Y/jbgDeciAmF0yUszTAi5y3VYnp5E+rQS6mtsV8NtTq3H2VW8P
p60+NLLqq8fUJMhE2KHpeJpnyKw9yirqH6YwZP0uEHIzb7qkpCPTBtCIEESol0V4SQQAcKNGhLW9
s9lumC3zOiaM1GYZfbDRJxUaXpZsZn2JPV/PFaTLf6152HGuk2Wnv63Lbqxh0i+YATsq4dhh1Nox
i8ZnII1k5dGls+r6AVAugdYJoaAka3KMcpx5LxT0HH1JIl9NTuPLVHFOtsejzTT4QgXeX7ZnIjVo
L2vdqeg9DE8Vvw68ouqC8IKrYv0wNPtfG73qgziu6/28/qguYfoiHfF9zoQRVEmRX8dYz64Q8UlD
RtbOxjuleYPZYX26PRAw+M9nhMUF1MZk3UQVOct2R5j7jO6RdiuSwNyqzsjmC/pZeXGdjb649rju
A2gBsJ46RAh22UW7cmaZmcBUn8MCNCPcYdweTDMv5DouovAuus4KG3EVgYEpXsAF+E0nqqAhJ62E
30UwlXksqo5EqxSGrOOQsGWue8H2OWRbps8pvSGOjnW+dZ0ZGhdn21KfLrIZ8PZ33PHH0Ksfy3x0
cNnnD1BUptM4Tsul14YdYIOGHZ9AubSdl10oZEQAhXF2TQSAoRXRK9UGsF3mgHzS2zVTkHmmjx8l
PCDE04DPrL+pQum//6a2D2MKoSOSyAuEgaJbxmMb9S8TrYfUtu4dkZUnppEYJrtOgFtt/bzhFtge
Shd3iqjLj721Js6uZU++FjvbQ7k+I+orPa/huE6orzlu6+dKGE+0NzsI0GoaHwunHm+mweQgJnwj
M9czrTJe0mo0d3Sw301GnvQWkXnmw6ckqt7nluJNjCqjA0dSkj7rsCPIs5mdV4ySxpGRKpP82bmQ
aR8gRviYy3glBfcpLZVPc8ZITfbhTWn1gCqRBA/iby6ZxvoSC+0EGuNTMdhvGUrBXQxz8+jG8zeZ
10FLbNnIzUjTJXnokMcdTVgZvWuZZB8noE8S7yOpZrduXOaTTfu7nsWP1gRLPy/y3Ifm/yXvTJbb
RqJ0/S53jw4gASSAxd2Ao6hZlmhbGwQ9CPM84+n7S7i67VK5XdF3exdmUCRNgmAiM89//mEHgltu
OyNezo1HJkJoDXtzSQIm6PpMnUc1mZ2dbsrvcvZ4VOrYMtNks5PI9PPFuWtTHZYdaC/VzqtTrnGW
5J2wf9oNS4rDSJGTOLIMWznhHMGO8UinNMciEjJLCfZKpaPWgUtVtiHGEjUW+iUZQMh6jCO0SPFQ
R/IlL4g50Hwnyqv7ICZowO7U6uOxtBAarCzpdTwjPbnH6affOenQbvEOifzJyp8hTqXbKkbINi2T
cW5Zk9xBf8Pjb/G9TPva6abcD8pbo0kgIiygn4tCgib5jaZ3QjHYPRtGhq9aP4SHsKJpXwzGNgGB
9r1pkZiXxLuy7A7h0HLRGeE1eDaNRVjeoRIs6/nrRA9jnkfjcYjyaFMJv5/o2ksB926eXmsoW6CZ
zRWJItgHOgDVtuPAVTKLK2ucOb1ecFGiJ6sj74ogWFqcYBpb80HmcALSOMdaxsyqfZ9j4unO9IRt
Ul4nTEKk7WIUktziSQ8Tm43DXrNp8M5d+CJqeK0MAnjqRU0YC4xpVtV9YZHAgAGwiaUoplcLXo1x
VHweSg2z9YQlL4l2hdMYfuPY+MhHOKta2vDqkjSw9yL9PNoeLo3yabQr6OOl+5kY7Z4ixrorMJ72
W9ibQ7+xTHyVnKkcb3uJXyxpX041Gyi93W5vLN7nDNY/gfKVPzz34SOh89doqUoaRYPtN1EjfHOO
XhA5I4mh64A3T4yXW/nQ4cqDUxFQljXy8ommDya4LRLO9hXqLZY2zQ5ICgQ8cV7kElTYHyQ3nZ2x
JW0hKlVoos3RXI6lGB6RViZbZy5geWLkMdnetzZsmAhpuWwsgiAOcsAlQtMnzBPG4xTI+yHBl9ru
+9HPchyisfDyOwcnkKqf8L70MITCjCmb4bbqhM9usaF8CFXS8Bj6Yz58wILhm6bhEGLwxXXklmaW
7EKv/Igh2RfMKDnsEUtaoGH6IPwwmEZHX0qHrAZn6D8TspJ9MTp5QW8KgufiI2L0nwi9p4Zy4O90
eHvOqtlukHE8V/mVUbLRRh6dn6paJcTOCokZJoIDLJYNSiwbNH6/vuDnzfqin38W6/9cY8TXB989
/f/4WB43tx7mZtMcbTpIzH6osCRiOUqqIwUwrX+vN7F65uefhPf819OSPSOYtnPbBEVzShc2e+u9
TurVVaiH2NnIW+xx3f368HqTq1f9fOnPx9Z7Urbs3v7Hp3++TVLaf33Y/CEdANN+vhFEN3KBI6SU
6qh+vvCXD/j5PkMaqO2ihdMBRcV/fYGSnfMhyGgiJQQ9YOT5MVFrXKy28X3QguajXsPDUlXb64Pr
zc/X/HysnJUf8M+/373GGQhNKLTucyaT8peXvXu/9EeU6H8fw/p0pP78+X5FX8H9+vHK3x5Z75FN
k7oFptQ/3y5z9W6fjsljRTroQmS982C44bgvDDbaAw50v9xItetaH6vnGfeioFswqFF7raFSMMrP
53/8/fvn6A3+9S7r61MlnCcKjlrW2gbsyTk6fM3iAWYp9liUwkCN6Xi/3l0QZeG9CYFsUtnmtoo2
Xe/9vIlD8etjeg0xmcn0+PMV671CC9MNDfUR++m//Yf1///uMa6YGNjyv1/98zW65z1WVbnsoZMY
pygn0yRqiu+azOcdqkP3h07qL5Dw4Qek9Q6zfPfn/5cQpgBjBFn8nyHM20vbXr5Gffu96/6GZP71
P/9CMqX3Hx5SYgPRrCMxrMEQ5i8g0zH/gy28xAfAMYUKakZvWBBEG/3f/2OJ/0CN4DiuRPCLU4zJ
Uz8DSqGOgGWCPSKjR9v6vwEy3yv6XFRxyPnwysd7w9DfO0p45iy1tNKqo96Md6Wlc01gVhxVyBnd
MvBjFx7HLyfpr+H0q6nT7z5ROSUBnkpTGO9dI7LCKix2bdUR70R8Gv3FrV7QfY4WPoVjEPWbP3/c
O5sIoqNBWhAtm7rlCAu/lL9r/MJOC5aGtAEQ0b2VlTidOfMZi6SLrJfz//qjsAcQ6An4QJ1P+/tH
DQ5cxLJZquPcpm9plr4pkyEKcTcNv/z5k9RB/4I9qy/FJyFsNhzGwD9+NbRL8AAhWRwDDQKi58Jx
biOJzQyci385f+8F+utnSQNTKXBOZJ+rgdgvIsmw0lGgRHwrM6U3R9zA2a0JoHPl9aT3KVRYffCJ
YTGajk3sXMOcc+7MsN4torj987d+58Pw40iE8o/AfgXHgHfn1xlyV+u8EQzP0/Y6rTvZz09zOJ0N
bT5PKD1IR/kexOG/nYHfDCFX6USl0osi/VXP/3IGNMMu8U8rGUIaQY56dyWcwadupLc6PVEysqSG
iOOWc+LWykcwvjRWQ1WGSD9mmfMnVz4nMn3+89l479z243RYpm2CiVhYAyjh8C+HJZuyFxmym2Nn
4R8eZvZRKnINfCbQcrf71hNd0JDu1SVwSnXZbboye5xTSENVP3xwQZThA+9HGV7+fGC//Zls5Cmm
VKZkzrvGyNIn/RyXeXVc+V+0TsttQzlAtcQFbnFFOOgNRPe5goLzL3OL8c5O6Mc5+eWz1fO/nBMX
Xv+g9RlcTNu8H/WEwEZYG3444VraTOdJx5ZMJ6B4lPJLHL8UTdD9y2j57WD55Qje/SpYfURA1xzB
QvAi+3ko70hlVnu6hCnhz6da6KoP9m4qwH7NxdwN/z5LiPfmJCX4mpuXVGZYzu6d2rmWZfo24jPg
z/pg7K06P9RI9rP4pQdLQHsLJkct9mQ35rHD4x0x2nzt8n/mbMbNWvlWat5pGr09ddi5ChGbpMNd
qPdPltk/lcl+ssuPExOcFycXeicUgMN0XrK9Rw8fvWcvsTVYlP+len0v0SoO5kbAOsH24APb001V
Chq9BHEWy3UtGaBpyovsrsdPuL8rlgZegW0wVmx0MGj71QU1DeOTZcmrQchNZERHjPRRRJsDXGmv
uHUivBo0C51qPV/GFk1kbW200KSxQGI1dENfxbfCC3zoHGxw9Iis1TwH05FRepWjXJ4Dc98my7mr
dTIPMFNNiKbTr1MzJEXTox+Wdn41DjvhJW/gmW/UWW9qPAmPIWwUfIcYGaLdfnXVVKzOjJ6OOEGI
llAyqBwTbQD23r4+RG8yIivBcW7btg38ke9lTPI4TsNz1vU7m6CkhvO5Th6dnK6jBviFbAm2oHN+
oW9zthpOkGDGG72GN5jnJyN2+bH7y6g8flw4/iIBLxrodAWQenwIgN2mNICZcoefpcQLe87hCwRM
YOr0B3byNpJDLUrt2e5IPEOj/kZXbu810VvnhLf40EY+5pwEwILvBkP11QOQsia+Ku2A2rcX/Uzv
CyXRd0AQ2JnueI5G1gkBsazzmBcrD0oF4siSQhpdSOoH7vI4mRi6sgh77vDkecsRygSxtMSTosz0
do9pW7K6VOHFg5UEHgSoEH+rh+na0rOL+ggUg0/RqAZa3O/V58Vz/dqSmelp2cUkOdJWZ4rNz91U
yTsn1c/amG01S3tLy/RiJPkF9TCqqulcI+fwhwgWWPiIEn8kZg5gEAYNCTyMqRDriiDsH9O85M3N
Nid8h/FJOEa+y8qbodCh3rgR7mRATsAA54UjIiKg25OgpG3aOrkkaUR66lzfy3D47sZ8nDD5sRrp
zYcaA+DvubEzHmynIyGhkPBD25v16AkJIpPNGHCN0s9JDY4UX0TlwvGpL2PONTJbN16HwdxkAHVa
wkSrpJ/VUB7V4kylfaf1Bqlo9F8SQ5nUsLM4WIo2GAxnswE+amEmIOqaX4y4aG6siWPryUzixld7
GBkQFlvrAYQjWPh+aCb363Cs7fAtURfuohRWGJl/MkX46HSoZAOHj16nEjfO3kY5nTH2OYvyyHSL
3Hw8mxHrlKExF9cBZtXaMu9DRCC+9KJLB7/VB+bl4vTSwzx/wFOi36zT1qCW+ghbu3FiCFWhBRwE
Bzrp5rOhfqhNGepfAyS5CF/1hb5V7/RPmz6N3pyyIjFOZ+rrmnBHROCL06QXrbbwLOheaYoSYfw2
DgwXI0wvGMhBECbTSPYsWQROQE1zDUDZWjMP6wu8/hDWIxeZA/dKzZmdxmHRDeCUm3wUdrloOnvE
Bpp5t0bruPP1NHc3JGzgRQnSRkzo0kzXehNr29QLbvWec+MtGj6N+tH2ht1EP55YYVwNiDNHI+WF
8d5uplvXxjt4nsRZZurqkmXFGyFx66Dl2BVX+moN16CmQARFakvcBcgZg2wb3C7YGN+kGiemUhqX
jhyO0hpPlWiLjR7RczJrCHDMoogOWCbLKaDNycdKXXvm2oL/JrX9rKHwFV17W89IAFzCFZAV4xqN
E4mvTeiEsip5mcIhJ4fUwj4848Rl5LYlGtdVFnGu5DifVzn9OiDXzQuY+ZtaDvQ8e7NDeQSCu9aZ
4jqElkCb+jfEqB+SqNgMukE8l3c993CnMUDaBtLtCPBTP9HcfUS7fZiwAl4Hf5+P5dYFZNJIFYsZ
UNiJXfCBn5WSh8yCOd3P9VhsMLZDSDUQtjr33/sABAbj7A914c1XRCFcGZ5Z7GMYgn42w66bAGTg
oTYvtXIEDokbgIeNP6fmkFBgfMEOlrbognW+4aUdQj9Rb2RSi60+MubNEFtYmMT8gP2wsYW2Q/TO
RVktZHVNEOUbMzw5I5ePrXEdWgEBYCHqVAx8ShU+txXzckwWY2J4tvO2NlzQ8gLdZUGeYNTV0zZ3
6LzHXISNLG+LCpK2O7Btd+fvCD7vRM+8NbNmYnT9Xeo5Nt01J2kggbTCMGnTu1O1N20+DKnH9zox
ax8Fzc5OQeXX367EyGIzLN1bYZ3bpidokeHS5Y2zxSvxkkYz9g+49/vDUm9F4+IhnPGzI9298B/v
BJaJh4LcBMsKNZqmWPbiLPTVw4+d7kji0WDHeSBFZkH4CpQBG4mbHVFfRCOmHHmnbXq1lyU4AxHY
90nPJ1wDgLb5UolVPpEud8bQHoYXnNGlGB8JZRx9W94tuh1v7FYZYo7mJ4cINH+dgkjsI0PUyHdR
FXAto+9nbata+zw57vc1fws7nhdndPTtUiS2by6VjrWuN2wy9CYcDC4BnTvdEKzLTqsCFcSmYGta
IQmmgFpd39+ErrC3XVg8d5hv7xzUHVtJ4hFaUcLBllmWxyW8aR1hcIWzMei5lrdFPdk4QeMuSeo9
ruUfwGQ5UWV7Kxb365yPj4bjjl+S0N1EmI3SPpSv4a5HYt922vicIFMbBqJmKb6ROY8xzhmDfk3Y
1HijwSHHVyI4mGUCZ3I41Diz34b1pBOaHVebToQoR0GTN2ZUfo09cLelTlCJaoQkGGeP5omcY0yn
puwlZind6vHemZb6aq4bFkE9O+j1Uu8Y0PQfJkR7be6WhFNpJL3EKGdmMaMHl1dNZN7qrfhQjIBv
zutakyOE8ccClUrvHNw2MPYhqbNEDN4UsZJN2uLBRjIIw6W8TyWUS1tzj1VUQXMdil2E9/sO++qz
Ec/lVZdWWxrzwMp5/6AbmGrZDu1Q0RI3ltfXtdXX+14aYIjdDIHFc0M48t03le3cF0mPeKfbx2bs
HaYqv8aBteaiSJ88JGR2fnZHeO0wzFm+IRjBd8GgoApoHGIGjZn64G7hNb3ZztduYvnQ8T3fd2OK
SKq8b0zjJnCsYhOTerkxkq2OS+hmmKxPloaXxBwyk4MUstEKKUwQWnDpS67/2bOOQ566Pl4+B8dU
jgj4V/g4a/SbOGUJGAS9hDF2cfxwGJfzzvYaeLyz5x4cIFMlFCd8NNW3JGeO1Hw4XTSJbh9xgAEJ
neubyGhPJb7ArEjTvp8JzXS95j4dSbO0IT5ui87aGl3q7FriatnHDp9bumg4JI+Dnw1IdUw32xZu
nB48URwdF5cEx0EvR5TJrtXTTd0SCORhbH8YexvvhCDYNKwwOIgE81ZWkDc0qLyrHszQgi9DmzKc
OKn0Zfh02RFAAuN+Z8vozWxouSLOOqwrXWEi4aqQ8XeyhRqtUvSWZkkPITgB05l3CIriCXawOCzo
a2M3NI8g01tCId3DRCRbOIno1pPkZwThCzZG+X4e2i9ZraFnDTFqz0X6WmaYKZjZp1qi/dXJIktJ
hNsTwh2SpI1PRSfx4EiJAzToVwbxcCvn9sVzkxIBkRLE4wy4dYJpqwv2BkvvHt0JS6OiYJtu9Cae
9wyCRW0pXUMMh6H3yIGmK+16xpk04MB3Z7bpGttkO0asNFfZRS2YP9AlGGJhuUlj9j9JyfDhWrd8
3fo42OI0lyJkC83vlNKu9Y1Fuya9gfVdsM+SOpUZpk/6mDIJxpF3WLetaWTieT9zZO3HrCPlN6Ca
SQa0BuivycbAE46MsINmTBwp2b80x6GPS1B+dU4W030ui/KBOelj6YZ361aXiCzscEU3+S1KYHz/
obSE3RMNx1J872a+d6PXF686qJ1yGYhzgcTAQjGF5k0fDqiF6Llqn23mDiZB2O9BCB3JtI/qnyf4
0mmTvC0NdP0hwpOHtNJ7LcPow8OynroN6RgqjL1ga4ePwhu53OkWc4H4qG1Nt2luSBOwKEz3qrme
WFO0Gaye92d34fbUd3mgqchpLtwWkpBR7zJ62n6iiq1eYS29OgvKjXbbx84LGUxfllI/Q1rRSEpN
L8Li/I9Eaub48/ga8rFTzS/WJWhMoFPR3S84uWX24AzT3eLYH3JX3nkgh5WFZiwhNsKt70plCMrC
fLZZp6HLYI+WoEqCWfoBK898N07pc6UX9VGrs2xvuPjfy7a8NofiRnMsstZqd9oFcYFVxp0tqC/h
NRppQK1HuRK6lKamOrP4AGEsuW6pOjTtZBqRGsIOrNaVGB3R8cKCqspSeC+vojtqVsxvahHRoUZo
SGym33jLdZJnW7eCF0fWGTtiDrt3ZeWXRrhB0QezhBweYer3ciSHRbqULzKedV9I5wPq9GNasVIb
+fAEFWb088hAOTk+mSNB9w2b497hxLOzp0DD8ih+0zxv2iX98JTW7HvyLDyFeXkry57KtB2uF4Ha
Rv0GKGeCnVksx6hXx6Dm1QKNx2ZW9bEezR8tOV/6HKuqqonnnRt4hu+YqFjXKtnMluPkaHe6zVZL
6oDVC9ehMaDNXQ9CkDTqqdK2kPmt2kwph6l8o4pVGmXXvf3iJJDq0AWeCiFuZM010drzI4ZoN3Ce
rrO0uxfAELOxnLBqyolg4BXqrRX+YYfDl7F8sWSDPgu1Y8IYwXz5wQPSM4U8lr37WkFn9ytjujEW
NruzE19MVaKPIVuy4OMKv60HT8MNO1qL8SpygIqERcqIxVsnUWOX/E8tzcF5vf4K5FnVuyWuzgz4
NJZ3QQ6WYkzXyv5jMmIJBDPdmgkrpmbfa6hpOPMvasLoi+oTBOAUlezWmQzYcERhrGWbVlPouCiG
2GiwCabW6112VvWHFU2ukXez1L9qrgQ8E5SXqTVfq3VZwJvqluJ7Q47XWtQPJVv2HvtTxym9G2ji
rAAd3eUA/7Q6dHdsMbxdRyXMCOZ/hGa8y0OIUFiyqat2UehYrWffqo7Q7XXMu2aNAny90AgEORV9
+0pUFamK6mL8iFX5t6YentRUon7VaOmPsrQvUxZdEuMrlgKbsEVJmWUF04x2P5uCgI9y3mJFTQ0P
BDG0XD3hND3ZznPaR19rgyAUUJVGClLnUEP2TBmLOidD8Aiz5ZPCLqSmMGUmxaqTd7YLmOlo/PYK
uOxbQTWJXqlIXgRXRy0BKkbLSndTzsq19gbMrkbD0U18i4AwAc1YzrXWvk1V9lR75X4Zp60XcflP
bNT9MCquJiTlG9XAgFxHR70Vp0QH9BqKT7Ok4Wtl1B0K8LHD6G22QDXkyFFHrXZFq+dgsEl01NBe
b2KECMSmxXnZ+7Ue41czR1g4yLtpYgi2NQ0mGhY7OU4PDmzc3QosRM+ZjScC+TDtph4ZeGFMddd5
OTRBBriB+xEia7b10VvfGwY7M3D2FNQjz5ofiIfp5Zei6e+GTOwHsBNpq9qaUSkmAuU1eYhbwLlp
hc+SA4n0ELDc4HbsoAjSovU9Tk6C4YD6ilMzfgE83NXNuMv6gDQug41fbpDIOxio7LkeMEDkJ2yo
7PGv2s0aGSW5/GYvhJWk9cwnY9sZEuxjux9NKY4k8TLE18uvdZ4xZqQ2VKV2QM7jBPPNAGPEs4lM
1AktuWBAq/Ke9Z5YwjcZMnGT+INLAGWRdNOrZuyfsnE6zBXuUauYeTYInY6Gya/UjtoGhV0rrVBB
ZdnEzFDQQu+63N26an2k4eKvGGmusepC7fRx+Bs1qlXM6ZjqQnZvhWdthioEnIr4QeyMIVkvgokU
5C6PZnY41ZHyVIMOA/uFJRSCIKSjxoMeiRTzQytr75BcjWTJ7KG/aluDAlk3y8dIspssukHzg/ZO
QDq0a6bXIXnpQijaQ8sUk9nZt9Uzdq09C9hZMUlTkGc5RZ2TvzTdfDMmI6tU0MMD7nKi6G3n4hg5
O4a70LTurCl/W1EaTeNLY+qwrSvJ3l933YMd6xs7YmkrgCbXxY6tIuFL8Kdim9LYs4VHqjvb09n5
RjxQy8/JecwD/FaixP1OKBdvmePPWUX4rylArKpAoxt8P7CohmOWsUcmHv2hTEhlV1PJrOreikxO
PzKKj9Yk3/oJcxkXEnoJihCb0VtSPeRYlfnJAqK0lJ/apbuvNErvAObtds5sJlSWNzOEQUeRd73W
zIXJqF7XNhw3mfoc+b1uMQJQYPWioCkBod8vzNRhx3gPyuDTrCafAnZpE2IC3rIhEeSfb6w+v2B4
DGiwjzS3v12v5VYT1KjVcr/u5tYvytYLAjs8MIrU0geZzT31o5sdb2ppJB6L+DE06ifU/1+If8CE
ob41Zv0z+mrwBpoAQZhB5EJObUakqw+4SK4jVVrsJLE3LPG43KhRP6VPdQpfWHOh7DNCDm0xf9YC
9iqVE98t3uPoQJeskI5emxl1aIdg+NTftqylTKWNOMJYPCV8tZM1XeluRVHQzN8C0/moWUW1pzw/
wPNlcvNmyFhe/qmqu1NYQWkke31yGVp2ke1zsjej+it8abmP7PtgKK80vfq8qOxBbJHjQ9C1Ny2u
JldF6mg+0+WwtWfoxSIWt5M+9B9mXXnpoRjN7emIQaldaTg029MT5jdYxQHf4TCoVX4/VzgglVpz
bpf9MtmnMsBXk6j7Gmf/LLkPSus6B3vo0a/v9aG+g+aH3UI2VPtUDO5ekkC8q8Ie0XGdkbVtsG1I
+um+jU39BtK9Hw0R9BGXzhyEsOEYJuNz0yOVyGHHjmy3KY8uxWjCkHFfbPIu7RyLCvxHX7vSUxhp
mByXylWR0OnHvE6tw9jb6Y0RjOKApfRDgYujsXFt/UnWfbcvFOs9V2T3VN3Yi13jXIwFrpic03oT
GNzrP5ewME+MBfnXDb7Bpy6Z2f7rngbQUZjOfpirR9jZEmYwNxIx7snmyhlDDEBbRfa3s+I+i2VI
YJu2S9FTbInJAz+IwItJcOeCqcMOhJDZLlCsZVnq7b7Nsq+trglEGfrnAjo6AeWxscujIsKzAr7X
ehOnwWevwdJOmLV9mtzo15v1saRi5xFhYBND+J6zEjugprAwcRyt03rv3Z9m1JuHEG5ZXNYFTjs9
1D6PlDatSPTTz5tqxH7W8CoIuHUAhFOTiHqV4IFQQj22taE/mlqKdiKqxzr3HWYBM75JQ/NDPkbu
fkQAM5nTtNOj+CbvEHWvN32UmqemVdcVgP/u5xMJtNJdloJoGIphtN4A94sf98gJMxGEq2ccHIXp
HwqLqzWuHzyI36wC+hP5u/pTWSfhPi2ABqNAXkVF4dzgjPuCcKy+sboO82x0AEfMiEJ0DuYT9iFY
FevVB102Nzw93Umjj/B7zJIrLxt6gEgsvqVLqp1bNOajbWjiMY6IO5JJFGO2VxRQnu12b7EjYNIh
6onmr9sxoNSfAO31w8hnrH9NI3ZtIPzI0rzCPfQ9hxOOc/UE+756mokcARoHp1gfcyjDOq+XD5Z2
P6V6+bjgOVwjeiH+7LOll9l9vJ0oDSWp39EAur9YqcVCxHkmmRDx/HrXXmMOQwF1k8jxAmzutN4b
1K/wy2O6bPdDaH1yxyVS0vx+Owrns6Y73X7yUmwHC5K0c9irStA1qJv13oTGC+Bs8fEhY/eFt+cp
lNlbQqN9lyq51/rQeqMr6cd6r2q6xHeyCj9HL8+uBH0GASaJKuyVA3zEusk+ibKrWPGtu/nRI5aT
bhM37jx/ZTmyfFwDAnxkD+XYfLC1jvyZcj66lrkT6ip21NXZzZ5+6K3kps7bkOEX7Ijt6PYg7jf2
bPCIwNOB60nfdRM+QSTZ2CZwOFZIDXksIWaAtdqfNru5M8LTqudp4wYPtq7CpyzWDTRMj3mc9KcB
extolWq2WaU1SNJwC8QG1LRqFemSBvCBBbpfnZqSbHhxh9RrRytRHLHWqxzcnQOzvea1kg3dgAOv
eiup2/Y+yd37Pumi6zQzlk28TCUouKaziSi+1jWfPR8Qf3IIFuKUUh1MKFL2GOtd3SWYunWhzwNF
YICrRHDOopMnou6tN4HV/HUvtgkZzT2XlbO/mp1qPmRFPZwiafEhip+43lsfQ5CD2+5yBXqs9JkT
8HgUq7BHIqF8XIW7ndBsLDuM9nXGe5RodpboeXioovhTFtXtxpwIkq5w1DfC7kWkSLjsCTnLrCNy
QgU4gHRiwOieRG9OG9kF1U3l2YB0MsTP1/haZAmRgZX+JXCtQ+Jc45p+jMrp1aur82J3H9OJHaMx
m8eRfSmVr0hOs2ALH87mi52M9OdiHFUXLbrXCzCMVtPAPaxXXTTgBEP7rWZT3jVZjxGYqHZvZqX5
sWFzzY6ufRXNQu4MBxqZkW5dSaJomaqAZ6f9lNj5l1a6XyhMfNtwkBb04ZepDi7YfW8mp30qQgQ8
5YJNQz/tSeAmV9s66GI8KEcMLokpMg9Lyl4vmdnc9qhP2CU7z100bgFZNtUQIo3IQFAn5rba2xDM
d5dFzHaNfI0z83Oz8CbNEr25E8vciDlrHAE1Gnb+MaxCtACR+yy88IvpdF/MwgD3eoxTOaEuYAcH
Z1tslrz5NGrpzWKellrQjBP0e2WOGf5SUMzOncC4LP7ELHSb6lFzpRm0p5y6Ooi+f0DHiTZ36ufj
knU+xl7WzhyCFnyYBW4p4w29uMFvHqcCQRK72eZmkSDgtKLeEoEB3oryWMSnF6V+rb5GpAqBLHke
HCQQEBLZUWdrvy7wOoHoF7v15tHQB/zQKJ9WRI+UojcFBU1rQaWDsLg5WhwRnFD65ZvEHs9ohAt8
Qis8uYEhuoAC0tzYFDpCo26xEnxnWqd5SOtxZ8r0Env6B5PNItghNbObd5sYlbA7gAvYK4QElaAH
FsKx8yJqV/OPVu2d/sy3sRTF7G/EO0+nKoDW5NEVNA1E5H/jF7XLEhK2CHxllvYR1xYTwEWPdgZ6
24keiVPlX9jpBZQxGctZDj6hoCaPhlov8B2LEnvXsusGoIgNtDZUBuupDIEZLQyuzPEqFJSzbHkU
LNzeTQmJzb1NcdkH1NuVDWNkfpMmg6BP2BPqzpH4t4oggvhSJhIPs/qzdMVlshNto40KOsj2C9M1
W37c0HvtRkJj+fNJMd7lgJECxkmBQ2o4KO7hP77n5YUinMlgyY5Nbpx76EQN3jXrIWEaeGs418t4
DL2GBITe3f75s8VvPpvoPsGHGirA9H3AX2sNdg7Unx0r1fHOA+ovPsiIzjYwgybsu1LMTxK2yDwZ
Z9cReMSNJ1WF0RZ9Cjy8ehuo9ewjaCl3t03mXU0WkM+fj1L+gxTm6fjB2iTnYBtg/iPDo8DNMoXz
z7Ah2ppGLQWi2+IKwzRMMTkreK1A51JJbAZDD14VlLF6TN8UmYN0S75YQXekz1xS4iXbNXExVS3n
KltKpywuSJMuGVAhY2JvCTZlYRK9lggHZPmwUhBDXdXtCg7sauuu/pTMWHtMIUXhytOgTHijESy3
ThaRYE0hL9IMj1cW3HCZSBniKPEMxeZyoBU3NdktOhzMpAhuzO3hac6j73Ex3n/2ZPakCjZwnots
CLdu2mFjTR+FAhljWSPRY38bXUjWHQ6NOX8g8On453NtvE/YVMPRIKOFQA/H0eU/CKvVFJeaC/Rx
jGVqY5Vs7eCoUv0qvkmjZjKrVayovLoCoxnIGJhzLEekuDMGa4+krWQ5AFF2HaUJRo10jRZpPLYD
hpRqvZ5H8Jwlz5z8FIXgJ403PFkBDeDKKG+W1iO7R1/e8gUZJZqtco9X7H4Fm0NUTngAYzMdXcJW
gwhngFfjqHtRDcUiBiRLRub+hhpFh6Pik8Z+NwsAUTMRx8oBfQNmKBvgNskSuku6h9XlO8U8DOVn
9slZqIjpaaN8riAKEVFQzcw8TeC8Zp3DrlA9H2XcrP3WXvueJSP6MYesXOLzkqL7SjaSguvzXLBT
MHcZWWCRXlyIJCFTytTRKHa0vPR8V4SDjsuPo1ojcbgfC/2FjR54FYiPBTRHIOmNBsgFh4FvbXvd
04q1V1p5ZznpVVRp30vB8CkKVMdlYH82BrZ7AZEYXZJSYOnwylp8lhvavZjhjpi/COnXSV3taZck
2GxVV9VFmMl8GqFNbdLMPts8SYfghB/8F2uMGjZn+8DqsdlyripFEsDygCFA0h7i7teQTJL1UOsr
kt6/a+P01KflcD/LDJOlXocM0E9nM7Aha9QY6o3kjWRl+/Ivw/U3K4phC0mCmZS294/M0LCHY2Jp
bXo01VdWqwFqYzIDK++b1l0XTkLRiigWRg7p5KVq3qmGWamYdJaiUdVd9i/83X8yvrE2YZGwuY7w
ShFCxSD9QqLtZolmOTbiI+6EnxHWPrB9Jo5mAGfE+7aZrwLFOCvH4ayoV7mbXQK9/mi69r+cm99M
7iTugbAhkbCgRL6nnvdxPwT4psdH4hUrmDdcVb2vJ22FGB4+M0zxrw2l2rDYX2VD/yWEct4qfEMq
/hh8ig3q5QJnBfdZ7+NngR0p9iRw7OJq+hcmrmf+Y2dg6cw5MOQ9kuys9zxcNtgWbfART8E0ITyV
LjrMCuzO22TjkrvHPEtZv2TS2dn8bNeFfh2JYDw5WG/vBP8RgPqGyAZlU+/i5rrEzkYoNAqBOlMv
VmHgrIiQW4h5Ze+dcbWF8KCPOcVjQXxgNXjt1ZhOLzkx7mjnYcWKHHOvILW2nmZ7Z49aSOhP4j/Z
O5PdxpU1W7/KRc15wCbYDWoiUb0l2XKfE8JOOxnsyWDPp6+P3ufU3VVA4eLOa5LAxk4rZYkMRqx/
rW+pRy3NIGItmnikxTx91Lw3Iduh9PmbfkBYy14rGwhbVhc05XYxddZlv25xVj47ubl1cv/iEAY7
U5y8iqGiHzS4IyDBnWOiuG0sOCpr0zDmbexrr6pqsiDGvssVrL9NGWZdzdovmuOPVbRAU6ME+Uky
wNV5RkhT3vcOC/JcFI++xBsVWfT/5ZZ28HX7vuiiP3apdzvH2odJBtIYvOdqKgFc146iN3Ou72of
UgadFxxOU1arfGrHvYrj7xa031+7j/+NRj1N1fe//9vHVx5TbdHQnfS7/Tuqadn4shH7n6NRj2XX
yv+z/lBlFhcsP38xow5f//5v//zRf2ajXO8fNi/lkq3gmf33bJRn/WO5mRxhueyaTIwP/5mNsux/
kLAyaIW3LEeY/K3/zEZZkKGEp9uUxi99zxZb0X8xru7/HnSLvst//vffk0qmZf53d70PgMomOcSL
OnSr6/8ty9DFJgpWEpdQTMDbGmHv3sV195QL01u746sa+ubWN3W9VmPfB1IY9l0ynfqZ3tnOdrzd
1c2ZsgkvzC9u/RC6Whj4sz/vSg1dqmQqJGQYbsLpMqlK7Xvd/50kRJe1OU1I12vx2hIExOOYRwMe
C1a4CzVjyaOf6huUROsZpDHz59HSyFh3YYADFRx7Sh+cHpXMryi8yZQXbYViQ9AY/bzRIWfizCwo
PKCQdluN/tblOHxiFUa0Z8rLnbsxeKMrcmrlxldVcSjD+OiN4xgoHaiqxbBgh0S6SScgdGEbsY4w
n2UnToFUlT26Bqp53lvOvk7nfaxho6hjozrp4B+tevAQmScbpMH47EsPixuV63eavSM/H1Pcgr9/
8ofmXUOvhM+AOJokzCayWNCVgR8B0Z4SwKH4Uik57qKEpdiXJkfotMMka4zlynBg8ou4ectKVtRe
ky9AbvcJDpeVFS9FWrV/MLmqTl3pUl08WJ+qATziwZQ9GNHBRWJ48utGwAapD4WpxIK0zu+iMdzD
VqB1VfTROtzk5Th9zH1zlyNmQIg6WRr1fwmmektPCk7etKI5euadmfNEvUslmJPf6Juz16nWiCvG
7fzQ+KgIqWR+GEbEDexOO6W0kRxl2saXpGcTqvvVc+/gJLe6qWaSLO27rGLALSXTyD68Cxv4K0OI
c8gCWo7UrB7m0ngtKhZCXbkvY8neCO9aF0yh7t7YugZZr4EzhuJ3cEoHOEGHQ2saADYtcfw5Du2X
sAO/hxfhgBBzE1NsbeuMp1hdyU2dF/d66IQny6ljbHI/zS7OfJpSmDJjaz8o10pvfKCBxjZrHprh
iRkHQAIffAGenBmzWOIEc0UNfQoEkkR9ZG0j9QVIyl+RbnHv6VVhIGmx8TCqD3yICRSuvnjQAC2g
PXCeUGbvvMrY3g8JgNUCRSYo3ez6M0FORxBhOIixNtfTOZeudt/0T8wwq5Mc85tXmJu4ax8Bzs0U
3ckNjFp5qgznzieLSOB6sPe1a7kP9FbsKzOPDkYBlkTU6o7ao2FltcI6yNk4AIiBHMxxb0kGK/Iq
XXNqtfmhLvt0Py867fyVaOV8dGOmC0WeP0IevMCgnx7KKPzKOy8PqKvX+V4LMPFRV2xl7YerJF+A
3zGz15pNPciPMdCqYtij7xgnMzwZ2i938p/qGOB6GgZ5Uts7vig5cLKeEu9O85thA+ZGW3ld4x9T
lT4T38Od4ft3PHwR2orq6FkYd3FwXotddCE8eSo5b9ID6mnrONL1jUiYgxiMd3wNH6Avq2EL/PkY
jkCA0x5aRDOa6jpQM+i39RZ7tHxSmLYoyaFAbwwK3YgvUeQaVHMyZjc09z4snSeWIPd+GLo/srGI
xBRhsyYlVm6ILTt3ehGxZlTWxu9Qy6QunF1SK6T+lMSm4dSXMYrdu5J6hF3macN6ihlWdlSZnIXX
3fKqHo5J7NBLM0zFeog6RuEJZYpT5TOWs8xfSBdI8nXqA+3uvrBpbCNExZ0WZbQhWoj3rVDfLs6a
zTikdG7oGnVxiZffB1OfeieUxOcsCU1MobDv8goHd+HgbCincoZirlEQjudyHmW/kZb3R/jhi7Lw
8HDCw92tOWJXvgIPiy+TFy1W0zDkfY9XPtq1jKf8VhffOfGfZwWXtATSkdBCutcFqDKK7zBq5evR
G9ZtlPQHZZj5RgvJlg22PoI9h/488BCQXgsNffoOq8V1W7uYrwyGfG0DTMBGW4h7+oB0/g6Dkrcf
gcZzsaHVYnwu6ILgkNO6GJLCxQlKwkIvfs9efeyg6gbUlP2GHU7XbdoeOgXyzZ1wYANT36AJgS/L
gOGwOf7LCRfX4yo0FrdONG3NCSfVYs6oprFZlxbDz3hOJbs6s4bQMu5HXx5qL3Ux8GjjvWdIbTXQ
OaMcHUIiWI1iZuGwlA0wPBpwb1AJsp4FSfdGexVx9IxhA1doBeKcgQ/n3eHTHrGFO5Y37vAq5uDl
63czmj89mYUPSh2cUfS3ZgJNntoPni7ie6Q4I/BbkmaQqzjtLeP5hpmCkpRojxO3pqI8DTCetkHF
OVvhaK96eiC2RhpVayy9a81Kfao0mYf4gnaHOcvbQNfPXm8zLodFS0Ki0PdegTOQDEYAAA/3u9ho
rHS7UvcwyNfTMQKtfcmFqCEWwbGJiiTf5JzOjm5BFMfGf75BjWYegb8aD/G091PKBmdLvVo4zfbw
iQ2iaHGxoTHwY5IEQVo/Ocz0rDMPh+Zt2iNXCRdYVi+OD7fxqV+7dxy29WOu7fORyK6M5n0ziy/U
IXmeFx5QhsUSdeAP3ZhUaDZ7vczfDHeobnkfvZb1/LvAN7uZW66ZfIoDGyr4lYDp0j9MXQwOXu1o
dOodO1dNK3E0BD45OgBpFHO5jUshojvnj4bZHtJQa1Yx6/e2tkOKa/gFLOUZD77joExo8dtE9nZs
wr1n4s8wXUMHajKGR9uJmDT04tGLx4emMORbbxrrwq7NVZV09pMXas8sS6uKj+TVNaIvKXrqm9K0
ubhxB/OeHcw6akt9n5LMCNKWsgcR4/zwMtUGtc6ap0M3IvrWhG+jM/0yp7a9ELHgXJXcOZEpPno9
8oKB+odT6xgXr44525FHWzVO636g9b+FVfghdQrudJGLJ8gZQJejzL2TahaLqP7aC5x2jLd6eijr
6GY7+B4Vx/79PGUGhHpNrCt3TI8dXgFAy/3Z6hnSmzO5fSfaR3Mov2utXrIOFLKmISOTniQ3hjLL
viYDn4ctSgr0lCn3Vi0PVTqIP2VEcyelQIM5fdNmeOdKtzpQ2opOqGNMq8lyAmmbsBYb4U5NRnHE
PMad37V3TnFLczVACKyO/uSrJ7/lIrZ9q/89lg4yZn2LvUZfKuSaQzWFpOTKRz4qHX9VXB0oVeu2
Tjjnd7g1Ivpeko84ch2am7yOL8UOSmVAfRtj+eQk98s+q8/nrZmFDq2xBZJeXj/z7N06KkoPbo21
vdPtW1c19+ZwCEvl/fJCQS4V7NDjzLR1I8u5OMdsV1mrCQVks1iLOPw2efivRVtqQVVYc6AtF06q
GAmmZURvgZu73HbWn6QZbBrJhLOnnvDek+ySmlcx2OrL6mj1Nqv4TZeht8aZwAMOPlFKI9bWIkMB
C+1l9JImKKLKhEBux5sm53g+2rN8D+9Jd51Ddxi/I5pqpJDz+9RYj5prfzaEaW+F1R8m5CvWI1YQ
z8p2majR7734anBZoocM7c4Z3uwB7iMybLQu1z6sudlQ32HL9+hin7p6vTjNEmifrv2xSM6calxf
AZ4+mpiosNmMjdMwR0sFyS5BQsscWgonwvjeEUEexdqL14HsbAYZDJj6r2XIuMwY0i/Q8WnQDMa0
L8PxtS4BZVUajSoTrKe0V+ew5u0nKLR7UmvY/GDpex7Bb938M+RYwdn3tLTDMzO14hSaa19+WcW4
Sh2zOxUNvG0dGxVjt/gFFxhcWx0Ph14uwPblZ35+kAqL7igFMUjgWTnOyvCxGrQFXw6kjDNWks2n
Rpcv5DPdtejHL8/GbZiYZcUa2NKc5YUvzuIDYePRL8VtMDmXP1ifDxgLHrTW1KkMmemHjg+eyxVn
JlDWjJ7YDDwjzDek/MBNYWGF7Pbzx7AM5ON+eDeol8BNh+PZ0klqkCHBJES5llPCgIvosMx6E9N/
tHjDpmhmkNOCHFQSJms4JEWQVkRL6ip5NaY53XZtfdEawF2GPUJcS7GyxCYuvqHpTpHbNVjYRMOJ
s3YCa0E5mhiljgN7y42VDz8ju0/CYdoGuJi79im3Y1zcPtXjlASNF3Omm6NtZGblKp/cHj69fKhh
XGwxRXkHtidz7d7KHgqb/KS/J71rv2TvR5wfkiuYc4y38eBj/WtO0N+iQ8jQ+W7sj1MR67u0dfwD
AUF5JtYht0WKc8j2kiszNjBcEhpWnmC2AD5x7ufspZRMwsZUxLcUZ7xB7ok0BBtkmSY3I3d3lV1/
+7rUH6lZwPRDce0mK8jNpWEyUW7fv2uDlq8ZkurbNPLeCiolV2U7iB1z627glmyShpY1XD3tYLWP
c0KbkxZ578lY7ifVy71eZG9d5r6LxNm1lXHnDvJT2phO0ly8auosxYjk6nMQrY2e7g0eWn04X7t2
em9TzFw6JtchY5haa1YQOeHRW1Y2iX/eZz7KweSUFhSWZJcspusnp3eOgh1h69OOacpOyb7fE2Eb
9p1GmzodUkcmC2yNZ5vtLmdAEFeJs+/qap1JwpjRqF+Fg3cqtO/6xWNkdfVHn6D8d7F905oBHJhe
UVYR5ukpli/p4DFbsu65d9HS0tfQQrXz2xwIl34Rjkt0XF1/XogScWNfV+m+DmFpQlLbWxW8zFBX
K9udX82ICQGVP9gFlMexsEdUHcqKsNBy+XUQnzgFIR9IimxC3zcPoaJHMs+n3ZRbKItYt9TgU12R
atd+GNctYVFgeXRFuzm81x9TWLN4aYzM7IPY95pAn7pHFp6HuKMYOMnZROYhTdu94jiysQbggUN+
JamvThFsq+kKJM84VI2lUc4YRSdlR+FBI+PVcehVvtut867TOASqizdO3jamZzGY8rFd/fz+uWZ0
nHooVMOefhSL3yth83b0JYYtm9erKnhwImKEoRuMZaZlTfO74VHMOXStlsrCGIf2MEwBFV2McJT3
ZNRlvi98d9jqGNVWoYx+sxuidCGKoC1LGwuC/TyMoRX4vXYrwnVidDfDM9JNSoBs1bv5huLQiz63
8yaaq2TN4/VFp/mEVImkNTn7Qosni9EXYqv9cOzEMsfrOB/QlOiKtAIpTt1QT4xV10OCjTHtRsb0
PRTvcH7zR9P8dmb/JR+Z6JikzQZmeau0wx9tTR70SXnNJ0YA5DQG6kHLA8WGQShH40TT3adRG3sy
7wHGYHfXmt59Ehm/OiNois4+YI55b9EAjyWJVXuaXdCLXbIvSVFQIRDIxOoCy/jwUSSYnRP2aiZ7
Q+UYp5ippinZ/K602j9faIAneIJStpjDyWpsB5SxyItOTgPx2W+mflWT3Stt4iRyImIQEV/pUmu4
tqOUuCsTajNCkl9xntyZbPXXrWqijZ4BuO6b6liKjU0mVEyUt0228TXg7kdCW84AKCNcl84p1CIX
DDEB6tIy6itOsq/ELp/1irrUmZRLndtzAOfdXlNYOFIG5rsbTUTy6tJ4g04zUE/SmV0QpjC2UwIX
NIQDQfU5Addc1nuVjcj/2T3d5wdAZd/4pwH3ymgfuxQzadl4rZ6l2+6GsWaSqF58xmyEc7P7xoc4
2sS/TAkLWrcheubk4OzcfZYtC1qJFDKbF+7rLcXsRyiB31XL5WCSehAhLcK2Gs5Swzeeh2kw4n+f
e7i0oio+dAw5de081jqdMTJrqXinEcwU+riyRfcxFdQSWzzlYCNcTJ4lZHYgezp0irXz2XVtngsl
exYLizznj1h8eYn8QjfED/FIEqADVWzxBam31EnfB2fBZx2oZcBpykSPqu+dHdoPMuIXpvvno5QG
uFoyvMWIty4cAtgK5NbDfaQXX2CWD+OCuMha+xgWhNWIjW8EO+UV7b4007T6gUaM6o5D1YmC5vuK
EAJqzzVSyRPx30eqV+Jlhd8m7G/YHN24R9qoeiD+8e0QmGFb6bxGRLVK7F0CiQKGwg2B6Rib2icl
tc5KZGJbUf6texBNBMt81FKECoTeIFzIoqat4H3dq5YknT+y4vYCA1L5Ovvq9zyI72RunnPhbOaI
VBPGhSZ09n4x/o7DtA4MNZ2pY/ukhu5xHoiOJvFXrxs3dx4CnYoeGCfv/RK5B08Ur+y0CLou+xg1
WnxpI/4yWlja5LZ6j++Bg8pFmMimHBMOfuzgS4oM/Jn2YarSQ4SHzKcrT1Xte1nbTwOnAKpGqQIw
D1mZMg8XDLMtmqe0XZ5j8nRLVFcSpZjYF/a05OKujIS6T4smKD9AHZ1hZ8KE79rsxXZK3mPY3FxO
ITiY+V+eVgc0agWTV30iA9/TGZ9/lUy/NaXOloIQq+uEQudh4qYS0xku7WdrilNoT4dysJFVxuJl
tLFXgT1ogDomq1ZH9yyz74kaUY1aZcj5nG68fD+J3Wh4XzQjv2Mggea/4GTKwqOYsbjWc3XSrPtM
bICpvxT87mXa0rROsNBb53UchKTh63ngi01Dc2WHWwLf/AIWOi4kVEJnML/wJpSwarFT1KppAAuz
t5a29lhITkFMfF9S6zlNvaNvo38AxFnNaNAtLg/E0JHoX8oxKvWf8W5Nq9yb36WX4ycIrZmqCQbv
KWqLP8g/TWFdWhtkdo2qTX/dxmw76ulkoZ/r8ntCB3OKakOkwNoVnaftne5Wz7k46NBz0DiIM4ND
gKzKN9LdGn+kvJAw4KGlmzBMG8mpPNtmc1hstDi+5n3IxhQxB7osk3aNpRcjhrOyimGnemrWDMkQ
fw7HzyjFQcrQXMXy9APn4RSerY18IFOgjhri6SljNCH3osII0uthwVkxCpIcPoAGWXstQLe2C1PD
1BNK+XyeeF7DGVNJ4nnx1CFVkfO607itTIrRgjjHUp4ZdNa4lTgIokirMe/YeObN4qX+cGQ0HEa9
Tte5H681Ln3cMDA4PRc/ohnbzt2Y7qwRsIqpaQjmJAVzl4JQjz1QR5V8bz9HwMbr4eLYxkeR/a7D
3nr2JBMCxUjWDPXkxGDeWBPgHA5JSWdRFukZy7XaGl2vSPeY7DEMdElLbGTBTqvoE6BDZnybE4ge
mk+HXFQjftZxz0k90jYylAAhbMo0esJM9nWma7uy8LzOpcdTjkJUeNNbSEBlMPT902SCddC021yR
82pcJAlyunIjYWClxeJlxTaQZhBs4ioddzwXxd4cOy0QbdoQc3EpRgyLlwkVTkXRE34Dm4BL/Jri
wFzZg7j2LFq+UZu72PHv9Vo8GRKzlenJ+Mzo1cQWSjK17e1b1SQKICqxgS7tP/Hdwz4IOQw1EetO
hK5amjDxm+bRy2hI7lrfDVxg3wX9BdOhnYqI5AD3FVZ68h0I9Vs1c3dCRMTZKjDyWJb076mN3doG
u7UpqrlSQv0Ot2G/iVpzn7YFexTP+1PQWr0uWKuc2Shwzjt7Chsn4kOvatKqexE5K0NxGbYF9IQs
bjZ63m5kX66xGr6wwVVrF1Pw0UQTYQeS/SaRQeDOfKaSuz6kPocw28+tqx7Nvxo7d7iurfLSS1Kp
Wf2cExfGiQ6uggwIh7yhCrQ8/Kg6chuDYUqoWD5c8In8b8bLpj3n7bp/Qe3H8d19w10/jlb+NbQ9
cW0s3bPmvAunuM5RtAH6sqt7gplJP78VDfltxy8eR5c3pT94Lo6ZEVVf2QP74V+mOzx6BRKGbwz6
prIRFKKUe6CY6y2nipqIUg57JBAdPG0VgZhWE6ZMwA6JKLK9MTZ7eiu48TVtJfB2krOi7fgxRNKJ
RxZuN+EAp5skPIbwQQvdx8YKr2wLkP5nf4OMCY0usci/F2ufACRnTRq1CFEh1lvdbVLURfsuWjqu
yg/JX05F9CefvuxJnV09hCpfMfbD+Hkz4w3ZODbfgqF+cqly9UsNLVds9m6z3XXG8S6W0Rr9d11p
1VJ46AKhsPr7dDkbQJtlO3Nu81dnZHIIOIM9l15/z1nPMSXnlILcZe1S+jvMcXhlurgh3Bco0z1q
fvdn5iPpbfHtjZkK9IpXGaJ9zrUXWx9W2GzMNP/KjWCM/IdyIg1vmNXa9QHOLwx/wpobWO8PChTI
TPuuH6Ub14nONRDrxk03qmxe2OWJbdx5l250z5qTgGvg1LrSjeyp79q3yg6Py2spOz0XxH/Yse5a
663GJM/EgsPWeDR4tsZi2BHzPkX5tXaLN9+c7gfdufkUCrbhzpn7N9N07/gmfVBY5kTuCbNKY7vs
U1h9rM2EG9lkiVy6yamYtzcZi5Rql/OJjse1nJeg24SjiqUyzo1Hb5qf4qZ4GxE6WisJAOnf5U51
sggrZ+KJTy3gLj0Q4d90zEPU6F/tobsu31e3wBTz5Mo/eSFiqJfOAwGqX0OFqgUHmXRjx1l7JGxZ
inmlhftwGPbWFOPFzuhZVDlPRoG2XlmqRqavH8gCvdZkwoVqeAKYN9Mhbt/aq8SZ7x0qXYjkbRln
vye2BVQuqR8a/6EwnEs9yYMi6+bIbFewLV4NNbXYHU4X+ojCrjjXClRclWpPY6FaPrmHJEGp0lzy
4SXGlV2WJS+jNn4xVVxneQO9po3urS696V7hoIUvhTzqJDLmBo0GgT0N6VHsxbU2o23Sya8yY+Aq
a6zNY/yC9ixZCVW/Irphrh3dvJK7Fr8Qtk7ZRFi0IArh98le96NdQXRh4Unl8xJkQYe6j5xx03KN
aMZ0joWxoy/l0CXyyUzYeGvWdm6nXdoADg21rZ0qgs9MXSoqeKqRqRKFq14YEbnsHkNE4FbjTOsX
1B6UzG18smMlIeq4eFwu/FYD1pChevBMK/vLMBGJsEDuW+5blsqT0vxLlmJ3br1nBu1vQwqgwiaA
MEJ2x5D5auDix8n+p7Dwno958zBxy68MCjJpaBm0NWWXJ7Yed3UvDqaudnlj4AoPn0zUB5ikqAnm
ZYzjS5FUH4yv35vR2xsY0vAQ5Tt3+A1nNigYewptxgJZBBorqtdqn7PRfHW5eJ5M77mR6O6IEV+g
g56mlHJCzTw4bf3CHPPXzF6xC3/pdvgg5uZPWsvnoki3qZ0+MHM+DHSypOQvPfwVfpFcIVVoZf3k
yC5gSIX5Kfs0debAjvVYRPEmtrvfyDD7uQ2mDhCFpt9U1rzn3PVaUd2BNHozq+F9aDV3HVFF1FOL
mOb5/cwI1iqZfUem2tYpD6C8xP3uH6WbAJtrDp4D+d8y7ku+Exqhvnivq3qQRLLVrsyfdSZpDs/P
2sjvk/GJ+dJ3OHmXOjIvTZb+yiqGcW6yJ75wR6zl4jl4TrTiPFvipKzqOwYAo9L+ZGvdm8VN5RDg
cyYjD2Jmpqn+kDXxe5Gbx0zRp5FwwO1YTLjBXm3NvrNjHHCIjZW7QFCqi3T9vdUzTNHb4QpM6TqY
6kgc+qLlBvIzz0svOjZhegem6glx6RHkSAiAKLqVsHqiad60JZc2q6dN3mHyuD1z876rOD/dyDJo
qxbgD1Kk07VgMJfTl1Kb7KjP7tXGSMsCjvnFL2DQLxdLaOb3YXRvhGorK48SJ/Qr1hkNqaRRUKYK
RKuC8iMaMnBPgOhQBBGjq+izvd8WT4agP9SigKa0yYCX9abVqytRr03nPlrJcLAJvmCTOYeR+WaT
FNjlIxKQOz26zqLGDB1KmrrOvTgnk0l2rv60MENHqtrJfL4LmaKSNrjkafMr7+IbHYO+lGA6XPd1
8n6FwMlGe/xdahWTFMO8UKN5C9fePD4PBlGRbtur5m5omjcppne3I8qY+i/S45bDGJeJpv1NX+xZ
oIIzFtlVC/1cM9lOUb1zGFsziLVon7oucLeWyQa+GLpAToOPFgfec0zLcyLnXYjLd82KsXEsvqah
Ino4OvgxNWmSfCi2IOKwaopH+LxR0LvGM9Ots18AGojcI2ecfSyyF9Fz2w9zxKsDgFti61azLwzF
5YfwZIt79rzfE/8/NDxiftN2NK5OTeVipnaRBSchfm0G9eiQ0vLZRjAdQC6X67KSnOtwN2sSgdr2
N44h/iz/bjo5D7rln2Qtz9JAF1b4QrHfq1MujEc3t2NKfv07CD03X9Is03ClyPjZxPrY9uWLiyV5
PtsGaLJwFJxDZL/LbO+kSebPy18a8/q1cyOOe/G32ch25ebOU2lWD53cAmfDKwmF+hGG8p3o5iDN
/U+zCclyW/ZNn2ee5H4wc4DD7JugDFMz0TjzizV3u4RwY6U1uyb21o5AFNEUIjebHRBAJgJzk2pn
oqpUmU08DsZhr9z+6ocOMqE4hENznTT3PEXWgQ5Lqmytg3jrO0Ts6amfSTDGBPe87iri92iRMofy
Oxm8T9TWg1MwA6XgAPjAZ+0/M6LZR2H2HQrvHMowWU8Y+z29+aCo9BbmpNw6efAKFBzYRvwD5opo
eTDNLJFVnu6Q8Nbd5P4qmKZR5Dlfs4wSiHTgo0w7QSOiIMBfuFrgMlZdJ22OdQHbABMoAJcWCsCY
m+/Lkhk145uT18Wa6Y+z1por3Bpr7Sc6zYklXCCWR1wTZxvmBJn1/gi76cfT+L/2z/+X/dO2HGzs
/7P98yVWEWnc/2r8/OuH/mX8xMMpKM7E8in+Ze/8JxUf5yfiiHAF3kvbY2iMvbP4i4pv+f8Q9mIY
1XXLcUxDx675Tyo+9Z68GskaLGI4AOjj/P9yfv78K/816cW/z2LKa/I2yDctvv2/meA9JnUlQDRj
385sLTn4AiUtaLihIxuQCVYcjjNdsXPrepfN7qml2UH0xs7JbUEP11K9Ni21iZxp8dG5l7In/8fB
gvOUQmauVLrvU3MD5b8/5pX23Kh4Caw/z7gl2HZ0ge9TVGll0Gr0KcgcPBPGeHMR5ZjJHWu9eXTM
59lruDEKHmpueSblv0zoLumfeVav0JfeQrfCYObz6Jyi8dfQ3Mcvym7Abg2nOSZk4prVr6QhGrmU
jdLmhk0FuRMWP9kkg0yltem1w/SH4vUAv3u4jZqCkj7XpazapSQwTjkbDRhNORwjXoeFcy0Ll9Bz
Kay9h8KR2uGikcqRzL3wDjMAZwLD+DCjap7A9jFyL4o/bq7b65wfrpUPkoJTKhuk+iMZM3BejP2U
/pL5X8jLTxZktST2n0fD8lf/N+bL13eLw15tF1PR8aeyj3x0riXY5TkMbtRShEm5W8fxFXYpLHtg
4Hox6QxHUCk1PYREhKlUuDLgES/eEm2ItpxSdzRSCfwPvH8TK/JGcdk/h7J+K+2gE1lxmlxIOr5L
LDZ2TlnNr/0zUzIZ6tolziKza6jrCovy1LN/WiGP0V3tR5xiItQ0vf2qhr7byTGZAxmH/sskJuNl
wl5Ic1Jg1jpZrCE39oDk8STMUR4gCxp7L3mA4WGugGNta0+izEwqPIDaJdCrwC0slX9LULjTOOfM
1iywNzxXExs3P8KE5UiDtyKiUx+PGB7qxWoyesZBjRo/B1av9HElM0jh4v/VhehtoUoH+A3mCy2J
cuvodXOMR0VSzmEmwdfvkeEPci/aTUn2bQ/+00C8eojKr9nTPiWlKdvBTIeNzr6TtN0mwcF6JMMx
FTaqpFfcKYMiHNMoym0svaNnkseboajm/FoYrVI2f4bFk64n+ZbnAxNub60PNO1RJnSiGYcJrMqM
denkjwzjm21pTJ/jaA5M+ukBxN96x9g13bnLrWaPYgiKhY9tLRVxP38AKeuCWSPu+9NHqUWTGUS1
AdHESNtju/whOm2VDwm0uaWBe8zeY+UT/YcJp7ByLZGnvP2dgpMhUQcaThVt0AjPDXLF87tQ+rwh
6/TnJ6T+k0yPScKzvMR80OUXSbJXlevhNsw2lNU0m7FGl0lKV4c/a/+t3xUN9UD53bD7KSpvFq8A
G1Y2C+sxp33V1ejsTiSH+7T3xr1fAWVdPhgtr88gR5/TpN0nColXT+1mk5DkY0ACZiLMo3IzFMh8
JfzFEziMB9U5KYdwh+NA4mzb1L7Uta3tHB9+dpXcuzWkpQZsznrgMMf4Es+EhbHBFDFzl2ym782H
qqK3h8nprjLxaxrShInPYlz6ZnOdYBnn8Uaj0LLT1NppcL31i5sj6T30hl6/1jWzayge7AU6uf/r
fcb2I7vQYduXsFoKncJ7q6Q3aTE2yEF+ePI/+Hqz5baVqEvziRCBBJAYbklwFkVRs3WDkI5tzGMC
ieHp64P/uqjq7ugbxTmWLJMgkLlz77W+pYa94ofEmija0dk+jmgblt//gAfWSj2IFnvjj2gLekBZ
gwnLDLFLu6iz7fmPTexxaV1G/aB6ThPdTDV5eOPXG6U1BNFokcINTup5MHYAu+jaeUYFhpvsu2EW
BH8B2hxYCrZdpX5mz0r3SF7nEO4sgkHRgqxgpTGYi9Hjzb0zSul6a1nZ/Fz4/oM7LEkoS2M59Kc6
drsnx/LtR5+DblF4y0VkWHY4VvoT9MuliV+7ZKoORcDBnL6Ix4rgg3qdxbl1nIObKD4Mmf+25pFu
oRtXoeR8funVyj5yzT2d29O/jWjqnKuKSZ+d42p8AKv9UuVRdIhUfs857zxOwqyfuyA4xKLr3ueu
Zt1q1a9//xcnKtt7drqEdv8xAoy4WkI5j4sEo9gWRnyoRS6OA5IakAcxVz1CoBsHphFauXAeaCX/
6XVCSmTd3XOfABjmERo6FkmM9WPS5UzssBxSiUIyxWVvf3BpkTXP/YX+5PRQ4QCfrLy/Aj2w99Vi
DZsO6w/aHqDZGw5FsbUh2I3WLRW1P1vNwc9AY+Z5z10HQjKsHINJfEFnSdkl8QC165258eHeK5Mx
H5muT3Hy40QL88vWKfZYNMQumYanbll8lnxwpAn4fU5xU3GtSZdtogxJwJSPx1z4J7nSa6yVWwPx
/6FzVhRrh66wmvIP1Tvmg4xquTfcykbXnGny3xQgAx+nl1Hj2I+QuyEM72ktquwdVwADLltN4Sij
4cye3mIIK5gftcmHK8vqIR7AbzQpnca8Gd0jkgbr3Nc02Ccd9C9yDp2oULeoam5JUDO6xzqLOMfS
2xw9O+KdlJEwoC2bXaQP+EzbVfacOsNJlMFrOgrzOFKRsU4M9WXxhTwWSLYQnMbF1eR3hf++wSWs
dh6SSRYl2lhp/pSk1hN6FP1S2ZV7IBDyeTCinvl5Pz/StK6uMEjwt5jZczHQco7M4DXmiGIY9nvU
5xGNdVrGHACaayeAQmT5i7aXM3JujSWFqAMxif6MVbf/7iBlmKNxJhqn3NkKxnHm+DS6SzqltAej
vdlll147xLUggJieR1udPPwB2VgHd2fER0YqandRl8COwUtrRVcK1O6xRlcPla+jjBPBcfT719of
SPstMVX4c/FtDMGzDeYFKHG3HaRuYT5788Pa0wkE6m9mGUiZp6vXazdMusDZ17FzQ5dIznp+GyY7
PvlYSnad5ocWl7qsYSw5LD6tib46VFYb7CSH8ApnQ8XU6YWP6Lwk7gPVaf9szM2yd4XxqTmYhyKo
IEzFzrXIskOc46wBTp/QdlUcrbuXZFlRfdZYPDpRYqJ2EfXFUs6LNF3GQoAibgiVErrPLK3+F5OY
+IkiAowjIaW4IJJDlmWAQHNmrI3hDW/awciOIJzzm0qHt8HHbw3vAXzFwmDA4Wmb/ZpRiPhcBtEd
IdAZKCxQB3TeVdQSw44/83FYnjPBPkDYlMnlpU9T8dDnkIR7s7Y+UuvAnMC9MALECeBBxm769GIE
Fpvv0JcPWbZco0ob50bRctdJsOyHJWffb3kJtpEQvuik9sOoE3mMpuDBnEwntGVvv7XcX1vsp/Mu
IQOn4zByS9FOr54necziut8oe6wYeqf1qXBK/z7p7hZk810zqn8l3mXa4RUZrsC+4nOyh/daXJps
zvZWQxZlh+uApW9jN2n/lk44eOK55K1zx1GFoeSZYgYvSVo8eG2J6wspim2syQ7ZID8hbuXxF94z
fUsoEXczMsZt2Tl9iE/GvzHXfUZ3K3cs+IhLapWFjUzQ66VNf6Bu7g6IBaGWAas4x5PsyUbpOyAv
cR4uuc1QlVHlS93w6/JKgZqs+49eJYhGYq95M62JF4Yo4bfUDY9e4791i+duynxrTF73VmWig9Q0
saozKf+lsgYfljBWKBGZ3ZXnWiFotB+v7PQZmzp9/LqS+0q1bxAy/UYkP9nY3WRNC3FmoXdqyw0j
mMahSAc0jKBc2D3ISZh6DjqZO7wnZW6eIrsq6BY09TFfmPWw2rFMkRqKBGq5psMfRYof+X0exVPC
dt7nFMTa5e7gutICCvDgUCRH3cccCTovEMx2lB56rw3XPslydo4GVjIrS5ibBUsOyLQqOOB5/mdS
Rpe0cOV9nnW5tf3uIa+Vv2G2iHzNaxGCAGzgt0QXMO24AukHfqOOtG52QnpsGozxgXMf8emT+Ow5
G7ZL/BxPq3JCV9WxLhPFmzDVSQiuexY7u6b35qeiqiC6VQToBqh3mTjZel8knjjIov870RB+yVcr
hO2NH8ARx9UhW5xMpGMOjz+qf/uKl6Lfl63DbYw0ZxnT6EljgSC2XfLkGH+rxs5OrnEamvoUZ3h/
qzLvjuQcMgV0er1NewNNfzw6R3+G7hgp48qs+SFj+1Qs9jcPTNgGEiNscBTKFyJ42lBxRVPTNa5U
XzdEAJyMrNzZdL46sUm0Z2Oo01Ml5U8yLrBKMpqFONwAAcXKOyCbZSw5wO4l1QOZX/86BggQDU/5
u0k3Aafg+KFhTBL2lkXWEABBHM4BhgV+s9fafyXBI4eWWUEYODTkWW6oNxqhngH1kJCbJHpbZpC8
WSUxuEUEIgOUa0IvLvXWoMII3Sh+nEpE6NEvWhCMywPVHUuaGBuFdmBTlbi/+tm7p4rQ8WmqAClq
+uCeCzDDgcH3YBVX4HZMz5bB2qmhpjGdeJ+QHA9EJBRvVWTeDHyS/wyFyQJIFnjewUGpkjBNPmVN
xnuTkw7rsWpJXYhgNnSmda7a+mLEmkcdp895LPOHYHGSy5AvXOQIu2iWD3cDvlqdiV1amdbObvo/
y+C0F20xMlCV+41WvtyOjm5D8g9gyy00e0d/DE5CZ1vC5KtNp9zhjgHjl0ismRhe6ObxKqQQtVMc
jCweGaCikC0RBmR5ZhOaJG0wz3o6StNHMzWXT2mi/V1T19Ze0Iw7N8QVQIWoLxLz03aokIxKgSyn
zccHLxpvTtXvRm8J7kGRDVdd569G+SztIXmBR5ReW0c8mUa8nBtdPwPMDxABxMolbMa5TiWDxoxC
L3HwhSVucEskwtEK7QQSncPcO87F8H6bGEQvFrRxxtQtnyUBo2b9Mg4g2HLNtzB07iDsx6cSiynx
5iPHbiu+qBjGI2L86BV72YaxRb2bluarh0FbZuIJqF3yi74mXZx2PyVMUqBvcZ266tGqTQKHza7c
B4zXQn/dcb0IoBiDxenYz2a9LeLhPnmKu3cEmBX72LUctGCJ6wF37pC2VI510QglL1lqE3cgKBB9
9TqTc4C+wYg2bkE6OlFSFpgMLAVVXsKwtIuj8gJ44TL7Yqu2dqUgYdsd0IWBKTmh9gkzToEn4bhv
cUJHN0f9CAG0KrH1woVyiezeThOimmpFiE8r9znHoUP8V/LudgVlDXSD0OJ679kCNs0PGeUT7XeJ
jF3r3/DgX5N6AASWy6PNCHU3p86f1gz+SEhrB4i5/0k373BP9ntAhu4VSFq1gajPl8613m3nRDc+
eLOC6hvsnU8jfKF4FU2894eztbjtta/sjpO2qi4MFxjHq6H5xq32wpX4dFQ5nur0QimY3GF814rt
h1ZC8Zn0j61VzR9RvMgTzxyuwNYpn0vbPwV1PJ8MLyMuY3gX9D52wsFJJpP6JnnEL4YxWpuuQzwC
zNe/I+TdKORvsWR8whdsrPk2bxvvBf0q6By9N2hS7zyv447XhJLjtwknyqUbBm56+XpO9zFtJ5cm
fu5wReeRtmHkdr9cr0SQhfIB+6CzzuOWZyxPL9DDfFwDRnQYPmeVaY7vKF470YT8GbkKtaPQcTR7
09gXbjru41zSH+zRFvd9uuAvq4+JpTEs0lwJo3KZcXaMmMDqgRmOS8NPi2/kYPXuycLMrseVHDjV
bIUDEtthMbd85PPjMPrOE0u/fCpKlxQBZlyhOzT3SNX+xTVRUlsG849ATmHbNekvK9EnDlTFVznH
O8dbwUUps5YysLGRe8gf1ET+1NKiiiafne1pGhTqUPovPm8rdJPot8zrYrt0LizaDsvbbJREmWf9
vfIX+0kZcMIAfJXhZNP2MAM1HJeMN+2mxIxMclaUNWTEddxybd3B0nGQfzR/yphTv2BKKhylw5YG
KxKgYTyMGL3Y/UlWMINUkgUhmtXm5O16QFrFEmy6Nr4WVQFjmQ19kKzKWPl4dMr6kXSGh7Qw60vm
Q6W1h/JVLprn3033w+C8pOOaftJblw7jiQ5QErYLrt3zlHP92+RZr18St/pqvb68y5IblFOfGzeE
G00g03TA3qjELWAaMpxVlhN410bAvJJ8q+f4yuQIy0YOcw3AzEbVNvGmOQ+pi/Cp6xpvWxvcYXWT
/hh6RK3UfogB/NMwf0+p9dXFw6GLpALoVN067CJkp7NiBX2YFKjbuMrI+Va1htX8miLnmE/0usv0
joDQps6pyL307atc5g2tjB/mvuydb50Mnhof55Y12psNDH0Gt67666QYm+saxzXad1S7ponvxbpN
LlE5Fu7/cbjQtu6IicC5WplYg9LkLR7na4WWKimcOKxT460qdEDZCRfUyhvC05OER274Zc/4M7W8
QmzCC5SifC2Qse6hYwJez8qP0aKwxmT1IemNGNQbEitpO2tCdkiJEBN/izzlX1b6lKygmab45J78
ckr0zbqy433jql994pDbJ6L3IMr+y7GoHHLDvDTzMDIe9LYjG4BFEAIkH4psa3Y2KC6e5UzjlB7F
xsVqFeaQHaCf2Fsnob1iPHvIm3kptneh+fZOik+Njrtq6BA4iG9KWLr4l1G3Z28OEW1Az5HAEoGz
koGXEGIFEwVj2g3KaLc1Pcu64+Mzq+zXQH8QGZXLTJboxX7kzfbl8rcwfJiwS2gBSajIkPebB9ff
iRwFZO00w9FTgBvoX/4Qm/LjGQ1tY9oHecNSCxISuJshL8AhlIjhhPUq2LZ0k7up/eOm0dfiEjnR
TTmfU/E4ZL63iyfnQs1gBd3ZC9qjcOTFcsps6yzM96FjYgOooHUK76nO6dLoDmqo7sejP8oEC5f6
inL/7glGf+bC6R1N72VmHIJV7egQJ0gyDUZ3n14ZbaMgA36r0kvXNP/FHoXckqb7rtXVFfpcMC4/
ZlEaId2UYI+e9CLH9Cd2RmLvcFXTv3vKzFmciATxNm2aoYRjjfI9+8HlW7YrYkwOyPTzRv2JWkR1
C9TKUsT/jZajP6lUMpaY6gpe8wCJ4R0DC/ZCA6GjGVHZ1TaXtmvQ/ozN0H7lkQnLz/DyWz/TcmiN
xd/7q145WB3TK5RnDngC+OB0aDXdaVpqJMYZZI4x9u2t6YA0z738oWLeYdjDu9+Ks6txQQ7ll2kb
MP6Mv0ZmDedh4Y4D9x6fpG1vRgPRndmXMwvVFBE7gJRh9gSSYj28JcE0HdpGPQXYfjepVTz0tgH1
s0CEVWsqs6LnRmC80b5KSloc/ewcUNM2NX/H0UgHcqUJIko4fVZO+8GRrPuVuQ3n1kkbx0gudigN
pbZT1HLlaHkhf5qGo5EvOKbL/urb8iGomjvVndgOT8YSBaEFvfCAuzxGGFiiog78mbjO9qSQ+FWT
rh6rBrDf1DMZIGINEh3KKOXckeWxzJSvqNU4bQd+yh7mNASI+cbOMuiwt/ggkGkKxcJrQUUZhvq2
jMUzPnMQaORgbrPHsiMkd8XLhIlLrqPKklvcxu5J6eUrssyfAaUOdz6HJM4xPyw3sAfrAzhYCBHq
Jx6JmtbJFX7YuqlrQMGxrLfw/ppdodp410Z2tw/cxDsgad5mRVw8VGZRnSrqgxXbsHfGj2TG2FBg
TdHDkp3IPiHgqOq43Su9sbrob5Quf+fcce6YdYdNkE13EiVWAzWbwtq1cty53ngpa4C5YFWWnfHq
tV9Tw8Ygl/gzkYTrKJAd7XQXs9/ulGV946eVlzI1nqpcrdaT7FyY2P8dBucCO+djYDU/3BGlWD1v
TXNFWYUu1xQoEgMqCgZLMX79/m3UOFbmYenx9zYn4kfDEXX/lo7pEpZ1954FPWBwjMJ4nYdN2QO/
kzYVulugrMbXRWf+fa5X0ODSinBIZ2IcOiARXtOHS++9qdYUOP7qfueatQLuZF1sM4OpQ7uM8Nqf
oC7Hz8L8qnHT7fE7q+MMympVo4jjsuiEpQkfeXtanWAFcAvItx82ihKPnvMuCtT0MY7Zql4FSJce
ltL6GiHUbZsleRMaW2dGDjTiCvS9aWrFX2iIdy6JG7B+kIRaWFsTyJzQRY5V+qkpK69ZgEjCoAe7
uMWFHnyJaAboammecEj4mHbR+Ef2sGttpoS4UvkXrGeDNZLzoXjNooj9CI1eHLnnOSE1xA4m8qXJ
cWwd/qVmmDELTPWfCtXtvnZ/I8Shd47nEiSuUdMipfRvy9vQcsXQx9mQvNNppixklnQcamvVzA5b
Uy+r9acxmN4Mz71lAg3OICITa75xvPF36SZI90tzvmNrv2vFutVOLWpL8KMA/ddhyNg9FsJD438x
E2u4z1ZNq6o7Rxk/1+X4RZPl6FT+iZY6+UTA4mNmb+A6yvkkQf43mcaJOA4fQZcBDrTeldIzMXIe
ApX6DWfDi5t5ZMupY5y7R5Re5SnWZv7UaCN/yigLz9IMXuJGmxf4j9c8cfUjgbYswa5xY/blNtey
6wls7dlkTS89eYlBlwz5zwU9QvVZGSxMgsU7V/4TMp4nSu02RBV88o1YPBq5mR/Shr2qTN9zaYPg
pWvSych84hmmAG7Zt9hogEcgz8Z3srFdkAu9JANEwhKwmhJpNxzAUDaPKLIhqHDqZmOdm+lEdOyd
jFfqQqf9HP5LSxMj6OJ+gRYiMtEs5605FJC2JdctRdjGOX1naLLmBtqQfk2LQiAgnxZ4vmgF2jng
9LOU1abELYJDxrp3AkF3lcZ4C3OmFCUBbwYfjzq6UfCaO9NwDRgxlN1g7scoou9QAIrJDbEbyKFI
syA5K4+xf4ZJp2E80ibOW4yVgk2NNSO3sQBSepnzw2IwEW0z0juo5KA9eMWhFyx1iVwPHUHeXed9
ybJ+7/t1bU+RkZlTe10IkwjFDCpyYQrA+IAanhsz6X+yBjyHR3BIPcFUWAQrNICb8XEMfnQTM8hc
5le35kYhJIoUXw6VTm79KWbK2HxhPJkYLmFcoFHtP+PSPTSe6+ymIm12flzFvBmaej4Qzu2STegm
hXf3Yu80A2YqFzq0AQ6gjtuyt/t3rxH6PEl5A2cVM2tB+x+UC97T6HeOWHfjVNI4tYZnh0iyv4cy
r3etfBaCdVSN0Zu/+M8TwRMM1k3rAcXhyXJHtOxkSOHrqv8jOJ2jw5Jjk4AyuK2s/tCMNp8G5S78
pARy0fSthUu8YFOGjfc9eXivVfEdYMKf/DbYjMlSokdcsTADJpAhBcqE9s/e2vZKVTCyR10m28BS
C9OGm29Gd64g+sHoSSZWe9A5zjAoYt244E6NRbXl/s3DYu6fjHidXElU0jpotkOQW4zDxpNAuznP
tXfw/OGPkX8AjaAD7JMV59qPSw6aZQBAiuaDmYt9p/f7KfCmRB6HS7AM/kT4bYBZ9qjlEziA5HNa
iNlxNXCDvkCCaXKqP/iVCUpZTvseBWk2Lb+NOuOxmcffvCEUxPZgHJLuuTar5+AOn3l8Y+C1l67f
XN1ePkpGiKBewAw6HGhlFIGu8HyandjVWIfwuLQ0ffIWLeF4ddvuxrSWFOc+IbkovmLjVhthT5hj
JFkUCUqYMst2Fure05CqD5gGO+Yc4yEd+IAWahImrcGh1zSwk4r5fLJgeoyWQ+l6NDIKvQlmL+bg
P5FbXLK61ng24Rv5O3pAm8xDst4TNXQ0oB3MSFZvuk4+GfkRepN+gTUgJ6fybgQC31thPeCtex7a
nCLTKa4yRsYAHKjZD2X8Gkz/leAbIOKQLQUlbisKToDklpFPGpD01Qiet4rtCGbD0NvNJ9mt8rJq
m6hdAQEMCk50rQllNuZujzWkP3Qmdjq7HRq8fqM4TNh3qMjcKPQ8QiB7uPoR5hkEl7QYOO3lD1Ey
fyq/v9bVWFzacjhPcV9sip4kj1QcM8Gxy5kmJChFfRFur/bw4MkiE87jQJIM9FYmx1MW1NukUl9D
wuEpCTAkFgxXSJSYYJ+F+czO4g/smhNeCayq63fTcbo6nXdrjeDCwQvuWLqJxXvGK3dt9KUuHYkR
WwY0eJmM96nHRc1oEycjomM9QlizXs2jygl7SrqrsBlVqDyo0NGrbYYjNEjL6TUqjJ0AS7BCR6FP
tsk+Xi16cVy3YRODfXc1PmGjF0ZIouiw8ebmusCJ2K0lsOX9m+WlIUfz+abdhKFY/N1yuN7a8wA4
Lg2LQfr7ftIvWCuGTRw4cLlMvDrCdAGBKNltBfigXeMgaVJ53OFAJx0cNrmzgwds7GiqLE95THrP
SFM0SpM0tKwXieyDeEe2tTqqUG+qhHmRJU7paqcHI2Ih1ahINtgg17+ZXh6wpQCYi4vlwYoAQfOZ
bAlM2OPjgt5Sjd/jzNhZOjRjlD/VJ+3XJ3rfYW77O9sOcO8aLdBjUR0Rm/OcdUcD2BOG/qXZxb+i
fPoYoiLf2ZlDdpTfI90GspsMLrvcJa78azIHZB17SXRYn9qtg813oycTAEAW3fpKfpuKj0Gm8JTW
Q8Pc0szu5L4Gu7qZTU3Q7C7Pcc+5AtiOWZ5Sv/ueBOFTnNeLHQCl7mKZMdEOdHZ9NK0OMtW9Y06/
k4bnmqOanengUMScke1GD3fXODaIpI5QxaNdJopjxhBG192w7QGVgReOwPvZI+4eE9XRjIhce8+m
Iw8pFRf0pTTjpxsdmr5It2Qk3BAzpgRvpBTf/hz23Y1UP4imVvti2WvrJqmOdt9fBts/qIKhgp4S
nhOrccIacuIuq3llnmXkqHiWFwy17cFt34almuElYLIXSUajV11NNb8FpXzLLNqFcwY3hhBBFNmk
BmgyfpWH9R44kP4B/vs5M33YpA7ynTEVz0WZuUAl6YvgEf5JIAyEadoSvVe3fxETTcY6vK0mOySV
asFmwK2O7QAmw1RkV8vftb5gVhcr8zgEy4lknl3FeJlKq1rkd55NxL6xSZwzJl67pJ/AtsbVtaxw
PNQ8TxCKqs88b7ZNlf2uJBHLY+xBH2TqFFAEksYdKvqgO87Ep5py8X1ur6qb9ZdM5IjSyURmeaIW
C/hvvWwnWV+BgT849OTpML9UQX23B0s9WD2Au4434MT1atCyOXwGk+KQ7PnHeuB2ouzq4CA0Nd6N
lSrSWTvJ6nUy0uAwQAnyM1xZ/1WcT0NzMORJNgg33dKCOoAEgUUALVeOmzFOJJGjhBssQvxNpyhd
B5+vwoxoH7je54CyOy1d8SSMQTzRnRMb4mDinc1YmNHeGppF0UB/HSLaWCCB0fLTxDLK8MM0Y47c
ScUmNcpfpUjHW2Hdp+Ax7Svrg32C9525GB3sGLjBMtBT8a1d7KGmytN63Dk47gtIJHnN54rfKQqF
GjgtBSvwYGYjwwz23uuviJHhZTG74kCM+Z27qDzoPg09FT0URkdx6q3NWgZNqnlKNYFtfgdnveV8
t8m79AOnqTB6gtum8tbTJ95XY7Sv2GZ2CeO8bQzDNJ2zKx9B+4Iy6mmO5hZoDYL7snieXf+q2+pX
7/mkhuJ+y6WFYoWcxp3bUhJbLuOoGUVs3xRI4m07jBoEV7gx89Dr/lNZwXR6hm9nnqWSkoWBuNd5
Me56yikhGyzXS4Lxv7b3ssev7LiEPlv1ejJwFP6wPKDAKqcdkn2PPRXfKlMeSqGACOjlupTINc3V
9d2LlhvbZN2DUTl75XIqE2yCmSVpLg+sqRrBIfl19Y9mwz8vvk8YLL47As6xtVnVB87rnN52dEON
AumGfFKo5XvVlVh12gpLa1SfSZjZtW7gU9iTU1+jfQn6G4joKLSXCsJdKxmtReUe5dVPmej2gG3c
wzlHTpjD5bY72k1Aphdcy2CTmsRNEBBn3mNAAeUv2Ltz9FSrIZ8GS8IjSAz1FbvVqfYCGcbaZSWQ
xlW15Z8oy/Sek/Rk/uqShencAi22e5bDrC+d1/UnoxAwdDX1fbm4W9Y2TOkF+dyB7xwLhDGrQSQD
FVtLLUJZLVvtZvIx6TUiRvpobKkc4Cpkedx2pBhyW5Y9CTVq4DTWU7kszM3mKXtuKnjZtoreLPUt
OuN/64GLgkTJJVVeqFImoLC28L1gqVydSWgnVs1flaYn7CjDzszEn2Uu811sr1LlLCrPM32qFir6
yWh6eSq75BF9m7tHwJ3BbDK7V6AI+OQNAbzf5H75N1DTCAhBUuVns53CXK8WD5Qr+6IAwAYPH/Ji
055RRsHhamnOTcm7kwLPFQsT+ejZHop2/0/iiY9+W0TKOkofAMbkYLn5J7ZkJ7g5CxKywM/Prm3h
o1/hUzxhV1rPNFf65lXpuD7ruRfHxFTIJ0YoqUIdoogG+Eb1o3nu5EwbPYpP/15O5Hr0JPnfMM9e
xs5EE7ZCVEqPPOj/UX8vq3w91f0zze52bzRufTYs7JiEnpjAKJdx2UImYJrKJCMPDTnch4gMI0kR
MMOealu/3prB+miWfKruDKPdFQEt8QABWlxZcg8H4uYgCNjXZvpf49fHceThcIGnAQxI8V/OqsUH
9Fsr3ZLVjWRcuKBgUxqTsNYBJ8MhLktY/gZ5XP0qKv0XwmR41XdtltYuIrat2GgHm40P+jaO5l+r
EoMxjfe6mIOP6hA151Z0sXPwZH3Et0o20WJ8QSkk5zav7r0gFGAcKg8cj3/FNZUxFrW+qiUwz8yL
+EKWxildCYRJrUInpobBxy42hEZSeEkCQq3n3Gz8XeZ0jMQKzurrlzZPzjxw0wHKD/iuPP10KySv
wnwkvfEyzvS1h3gCdCr2k6yY1aE5ifmjHYLHGximt8X7xkGnUXV46lwEzsGWGQZUR55yYf2NDR2w
zc5I/oJIkOSa8TH7fkYPrHV2LRInysycQjLK+x3yQYI8JbLtXozvtiXsQ8siR2plBd5A+Ocoj/wz
Jo7QwqsD1gb2AT2pVUubzO5PYVmrhLFqt8nMLdFjS91affPNEffDn8REMLp3ZQNM8RUP87kumPL7
debs2759Rjo97tLSew44DkhOJCWW4DL2o21R0dWcyVSk84x7nTYjoquteAG3874kTg2Dyvh01WRx
9gUhACzmn3LYo/r4H63zTBP14GTBnYMDxdP8LfPVHNADyqmd4UaUdHxezD2c+UfU2hWizL6FtlHf
4nj1MUbVtGXQTFRXtY1IpTsjO92bkidhYItmvCUAOdDKbKTs9p1dvPx7qkREN2S0ErVrzORiONGT
ze+GL01M2D/V878vC8GVLsnl8YQNojfugA2ZCqyvvG4Ax1j+/A5LSO8pOj5Gz8Gl2+bxfpYJkUoW
CrxoMA+jKsV5wF7MwOaBZRth8vpquxr1SrveKeYKqnDmOAnNjN745I7r7jD/SoStzkYb8ysklpcG
NwFxIWwxY9Te5MJxhbDez8o2rpGbpUAkm62ry2dogeVexItiTU4M3p+O/wTVyD7XZdQYCJxRjRKI
4tJUyyzj2Lfr3Z05IPB4yf9gxD25jEdr5rDvMvwZnYKGWRwd2sVBeWmXp4B6isbctDWjYSFFoQ+D
Y8p8GKnu9JsGOfu+xJbpsqH/ewBjmyXBsEYmmQbN6hRKQ6zXRc7KXwYx7GxjU6j8cRByIB0C/Dk9
sWedM1ANdBEj/9h7iH3IAFY8bg7G29DLOaP+H3ao/w+yvIBe/3+5iwLTlj7WG5uunMD38v+I2IiD
ceBgPnUo1LM/i3QivNH+mh3OMGlOCG3LNPev5UvnjPCEkEqPqdnsfge08Q7//6+Fv/T/ejGOLXxp
wdrnKGLJ9cX+H1anItEzVndVH00T+bQnnW5fzKDpaHheraZ94URCzhkZVAbqK1pBJKuInlxNJfwF
3XIdv8OCyHm0HjxQjjgnfxpazc9NkuePLp2ySiuIxnNC92mKdiRSVqEHpOrmUE5mHoG2TOvsc79S
czEWqIfI8RBRwoPairQHj+ZnOLcrCqcxLw+pcPLnvrcchHGPpJemf5nc/5jaxP1tQSjXJVIjtpyB
B555rFnCUYMk47zNco8lALhInpp3o0lZ3UctT+SuQ0Goqe0dIqV3ccG2Ga/BNWMm9tyOxi+AM9Im
jXbtooyt8WhNDAvLZEoRP5npxxJQWroFkKkA+JORxKfM9fVpcPpTZDYuhsrm0+pGCPJwuS6geIDF
RdWz0XT+mTYEtoJOi8cKEnnYdCnLpJwUxuJ1x1x8+2au80VAtw9BZsTvNFGKmJk5p25778vscfQ8
ujCKqQSSWxsUQYSgrf5f7J3JctzKkm1/pezNcQ0RAAKBGmbfshfVTGCUKKHve3x9LVDH7Orw3CdZ
zWsik0QyiUQCCA/3vdeO9dF0QFNzTXp7yaN0S+On3SN+ELvCMD+lzpw9GI5+sKt0vhY0ozekKcot
XJ/+judSs0eetfSi66+JnwfnEbUvHomFRQ2t5ELn8JWlQuCl5TCTmCbiIDINRszaR+4wXtych2Ax
teMVpaCxzmznluiA4usIunKl71kl8heEBkB4QsCCtPFePESPGy3L58gfk4vBlBJVm811jxs8tGcW
elqLRSblkzTwOQHl/Izt5OCWqd6iamtRCNrzR8IWSBEq0x9WKeXexDx9wY8yoZ9OAKW57ReRioHe
J62wYUrNq63q7Gj72R3kb/Maqx663dsXci6oqyXbdKfLgqBYDSaF68Wd6Qgy7TfHDkNe4IJnf/vJ
t5+JciZZ3ZSHP7/RdAlWUv00HXxFVwL5WXKyW+BiHV621VxLSlJ4pEx1HOsYOt740Ix1fSDnbKVH
mEKBfrZj9AM5g+hQu/a6CNwZzWz6CHW8uhaeMjdmEpvclfRSZyopVCCEuXJP5o/NcEY7lN2ZmRsc
SoUPN9bTxfMGb5UqxGNhq45KVDX4oBp0MMlentuwAhR0MXB75StZ1PYD9Saqav+WvO903XU+ut+Q
sNcACCx7sTa9bQcf6t6Q6CtpFDGVOIZoh2bhA/pzYKIaALVP2hbhdbj2etKugLmUt4nzowr64YNG
SeNACt82hB8SZ+U55yg2d6mP8SUhuZXlEIWvS47ySk3uVx0UNfTn3r74QffYGEF5HXvFHFOMu6i0
hl1b1tgWu5lWXlGnG85ZTf7TgnGgkWOgqcBKNG/9Ua0YdRSnEHZWrMyBII6CuNuiO8dQGpceU8se
EXAUsVD2uh2H4ex6iEoZTtc7BKPR3lXzV1q89RqxX7o3p+KgUw38OqAt8/uHs3D/8Wx2HWXbGme+
bWKLfbdQJODefdWYxQFFAXBd/IS2ACBqQqK7OIMkeyNOvtdcxzhmUiQDOirQv48wdRwzusjeuBUk
RG3zHBMJs5YfdBP/cIhyccL+momIR9VRnrIJabG1BVXl78uHrhVNPjRQh1HE1rYJMGoMmgEeWi8J
p6bhis+yGCQxx55k4M2hvJ1SxzLu+njYCBgSJJdfQ9qHZKrqdt/Xo3tViNWiQjtrdEmCRjfzKnqG
5aqhoKfVWcg/rILiH0kvpjYtIFKKpELyr5wlwu+XRbA0kNKbExhY5H7VFbDnHQa8lWLzAcHGIVcq
O5VFfwl4BtLDqvbRCLFU0fnb8fQZ0LeXH2xihjbe+MI4CdVcURnodTM8Yb+/JOz3SVOEHCLzIHFR
Ctfy/nG+sSEafkHQ7gEULEKoKsBsWJrqIPUAaLrCIdMM38agvq9aXX9q1bdxYhTvKnggbY6xgzCa
MwmS+Wb0ybQrMu9jXrnnLJ/Gi0bEva0TlnqnrjwKbAlHzc/YsOSlQ62Kh8xhALoqM9fa90MtN16W
AbCa+o+AZL73860x6fG+LAEGjal9CCJP4ZZF6m+2tHcSF2EEnf2IbtKhNpnkvZ2a/zPk/8GQr9le
/XIRbV7al78il25eMoKcNt/Tl+Gl/v5rENPPn/m3Hd+kPKEapdCzPAI1/99//WXHd51/uRpPosZ5
bfMFisd/u/E12nfH9SzbcU3oL/924+t/Ecgp8A0pB5uiNK3/jRvfdv/5FHSUENyZpI4Q76jexTCx
pw9jMaMi6xNCKjX2zhklxk4r1PDLBijKcLQGRNWsSHdcOgkGYw7Mn/lBQBfeZMgr6V8weXFEFqwX
aPMU286qEJD3JkwcZycmY2HHoKHdlk2LNzpHvqUxV5YJyKWhkO25yeo16pRL1xTGzgi+aFUC1XJa
tW6U6s4RyR44eFpzI6rwxeQ5s0c9fTPQjDxG0N8jhQAuUZs8NO2Vg7uLJmfxPSmyeW83TrzTvMV1
0hPBljef7JHgUvosGQayuku/2EatNz6d4XGs4AfRBF17ofs8WWZAuoZ/owk0ZFqXgxKTprv1a7p1
sw8rLyceJnOcR1joZzNgO2102IF6P5zPaoIfNdv70o0qzHWOz56f0iMbj3BL54Nrku1iN8mdDIIv
yk9hfUV4wTFq+sjIT4iJxdqcnjro76Cwlo5nWNPi0nPFVs910aku2c6B+XlBYuu88NazdB6HgSTn
0U6SR6qnz1Ak6/Rq1WpRCTXhtrZpveUumii3vIH8LFjxvCWCo9nIDKIvuUJfumIbBYbcxmTbLFok
WglRixJo2GZeW+6yLOOp3e64hn4kQ1GsrZJMa2TGj2UAUR2nXMPnLNtnYsfTzTyin0EPdQ4VpHEd
vDrIZ1eEUYeY9dFM9PKe7CQ4rYjg6fiEPLowPe5uw0TeUCahrQ+SH5Mdb1JMuRAwA0wA2ZUpzwqC
65Pvwxl3G8XIu554cEbzzour1zfnm1NN7iZRqlw7cXYX8osYTWJ8d9srLCGiVKS8z41lD+1e/L67
Ch++F5bfxz5qI3RJeOBr5MzjQBZmik8MUcEiZwzupc5wBmYXx/xal9ldWSWn0QCuGPh+wtSMD4VN
0BdP+VBe1Q3GFWj5x9Sy6IgkXyqHwSX8wEcI3ltX5+kzjcs1ckTo1oDWwhBqMZVQ5hoHsBR4hCL4
a7QsuuoWLTaxJLSbaDY/ccTVSjnwyxpGnyQ5iV3W01AycIxB6Am69UQWbmCU24xeTd0VOPdaXIUZ
9/iiDQQMPZDFWiEUKGu6ToRzHlH64MoqwrUYLXReeQpgj4igFWOWYxQHT0qwZ8hbZhihSZC1fvCI
a28GtG2FJ2592zgRVWasutpV10k/dnUz3FL+X8AC7925fFTGhJ0S3qnXL2m8dfhslUscUPRD4GjL
svyYkg7lo+JYaaetbhvlHeLpcZqsZpviQt3aiX7qwqubKqBTWAuLsQYhgcBs8Tih/6NiU36CMNZi
/hhnBIkDD6HJ0NiQb3jUJHUfHcuvdeqgx7ix0hBgg2XcuDx0duXybDMiBrOFHwC2ER+REBS7wOwf
sghWDsB/+OCAEmkrICE4wYVFKVvXGx9W5Aajc7MdVHVfoaC9WPOI57L1gNi2KPRDK6+3eVSiRAFb
uhIYmuc+fUBPYh+yyGRuNjU7H4Q2UpJ23tmheUvyI8lv6E2qjiixKHwswmreol1+bJbcCZg9P0hL
EvAz4KBOofjmRijHZnEaHv0mPvRLkCUYKmHQcBTQBJijeNNw00/3BLqe21zkK8sKEbVl/kb75rc4
6sm/lM7zLHMQAABZe2m7ZIX76qzs3D3HYy+OuZqIrM9IMijHjhkBBT0esWwHjeKbVUHgg+nHuHeI
k21rzK99sqS3TztrGp9j0gZ5NkCf7B29t4K2PUxddO+ODSlCosCQ5WvWDbdWZ6LjgmPZBRs3e66X
B78UY3c2BXqsIs0JQzLN9kDI+tmOYC+QS+CtuVqSi5PSqAxADQLY3RfJgOZdA77vNc/RaTFce0Ve
Y5SXPfSY5oeEFk6/cTbAylYGBsTG2Qe9vDNwz53zPiqZM+eYedMqO4dYp9mFL6gHBcotH+abFnXF
AcvU1Ron1HAiI/9nzjZDAIAhrLxk2aF/9JCW7i3b9c5TX5UHdCHXIjZxd+VTzCzOVpuoRZXydhT1
cihvf6vmH6Dn4Hct/5O1wwgeFNv0cpR5mKAR6FocTQzr6Fsxe6gcdLhvf60iddTts+MRixYo66kw
LbkxoDtMQsldbTOqtKBrIKLtw8Q6KReT1tvfQAtYJ9uYwO7EDokcc/8jc6pgV0zkWcv4U5/yv6Bm
9nCFZ0w36H3Nyb4LcjvZTt6MfHmSp4CK9yhIZe86d9wPxnytRgAQ/1eAkm7dTn8oQIVHlfe7CvRS
oIaKXv6eBfrXT/1Vg2r9L80H7Xm2pcEJOb/UoJ79L9MmWF5Lj5w7vvJLEWr9y5T4uKinlHQ96VE6
/oWEkryghw3Cc6X0IEZ54n9ThAqTcvbXfa6AMmOj+RakiwrbpV369x1ixJQX+6qoMbDS0IzCxtvr
enqqyGdJJprpSioSwkIy5qZ6XDC0zENTXa4r5B48H68UDbvJDcXKU8kFgsK0Z6OJy9m5r/3sg2Ay
TeucMGwbqbqXthSXLUQZv6QayMfwmAngS3a755nbnZSsP5MGBE++BuEQlbDTuzrr1vVHfdsgLgA1
saChMkYRxSe8YTOePatf5x3RhT3y/ZEuzQpY72WmE70bCUTSZYZvquo0HRRyvinYVl7NQVQZuiS7
Oyi7fqqrpl3VOBZpfKDV6W1drmyBjLcHIl9Roorc6L63bm8eu6BkUB0FDLsJEWN3vYszivAwT1/K
jBeoS/jGWEZ3U4XAaxqr8Sw0id3FqfT0cFsjTDVFQbwiS+AWZzDq3fG10Z9DUZcbD8c9VaYy1rqQ
GAAKnNOMaxTMUIxAQR+Sw6bAMIveXedEuBJ0rOdDp3w0n26Dadn+giTQOvxyRd/97Hj8Ghf7vqnP
BUInX9oOVwnXnPW+hRBPuu6LviyPpeU9mS1ovbc/Ut3ka2dR2wdTRxmcdrdmx0HZKXLWyP3rZP7+
WN51M94OxbNMy2bLppHxvOvJSPIixwDZzHEwahgUUG+JqbPJSzZAxMrsg+Hl35l2/+kMvGsFLb/W
ZRaIPFU7npDWuybK3CkxN6FKj40RXaCto2v/IPwZHW9cb2na1/tpMaLE4B4xz7IfI6Im3/tDe+Jt
KED48/Pvz4NkH/zupn0jyZlL6ivPAnOZffzS1olN2QxZ3qRHO+REECRno6VtJRSidj8SvsGGiJJY
2anaqpgha57OpM0mpxBoyXpk+7sOBu97j3FircCI770i3b+9FKXcdrQkFa4fP/7+oK3loH7pqL2d
RjB3tKLY8ypXv/v0EEUMUZ7FHLRXE6PdTAAM9bRtewP1Rozsgo5ctLGG6rMSZr+uAu5DtgRET3hm
wRbwtVITJbLXUu4axb0ijTiMqg+pb22rUU5QizcESJJBVcVf22LZQcgmOSFRaIh1mb56XXNTOcuJ
kNErYON25zsktaARfpC6amGle09/eMfLhfHuHYP74526lukxEXv3jvGNpQvmAThAOxxBGcAMqKJs
j5g31LO8WB7oz9zGaCXt+CQWJa9hCH+VzrgKywFpbYmwk75+tnMVsxATDSDkSoLH5bCSo/fUV3Bt
Y/+m85N+q0oeAl6JHDRP/RevRLLmIKM9OQmhgrnTvVTFSH/KWIhYSA0r310zRkQP6P/pfnnX1+CD
dkAL0tY1XbxVrHp/vzpT0bhT1sFhaGvvqfC6gVM+39Z++tWAvLavfjDvBlcmkHM22FqDAtVXvUU9
z06yqYPNqGA6BZjLhWPf/OEj+U/HxvFJ5oVQh2g4/v3Y6P+lVlur+FhNB7NO2OCmxadCA2OqGvUE
/wWCheFs35YD2VM2qtJe5QFYdSvt+jXyYdJfuM07CeMcjtI8UXcH6p7Lstl0fQWJD6/6Wsz1D1rf
epXLp9mbTk5+phd+V4GYOjDGNbdFXGeEMWZ3DfimjbFomkWZnaI4+hLZvrr+/m2Lfz7CHBiSQnj0
wjxkmu9W+SSIhyhQJcmZCnOxk8Z3DDBQDyqEAO4c3efEysIt2A+tdfZ8/jFPNQYwfLxxZhPvFHXx
z6Ly2/jf/zmG/P26YtOMpjtH6UMpA9jYfndINrHEArBNdAx9j3vVnG/NUNn7mi1pnrr45ludHHDC
nKWnIcy79Q1DOIMNp/jTkSy34S+36duROEJyOehlVCzeXa9x1ioDcnV0bCOfTMnXBrbjMQNosIOc
M6wlz6FkCpFQoHoMSkr1IiwPLfECp2lI1drCvJVq6W/DboZWI53tYlz5/QdoLdflP47RUtpTrHw8
TZYy7pcnPjSHplbFyKOkcW48smBOtZFsbK94NqRuvoAopyuVnel6+Ycy/Or2tCSYpJg3TpTdUFC+
JjEjC12+Jo5HPBFKKpO+2ds0TRooBEjyYBIJYWSLwaY/I2v40HUkRGDBba7pSLWn6xjMW/nHs/9u
WVjOPopM1nShXKnM93dkP4kkqpDoEyMKd7xiTBVW/UTnUQebtgFVbQHuxTaC7EmQzl2kXbz1rSlD
6QjqgRyI05Af3CQ2/nDPOO+qjeXAYDRxwi1tUYu/Z6X28BWL2cdQNcTe3m0n6GlxEbPWT0+OuVjp
4gSIVzI/aN8CMR+RfhHy54753Ci7jCIUhWnt5g65Wb6BOm4Rxlvu0ZYTKt20wa8q1oSOpUDWMwQa
TP02faSJMDJAUKZR90TvDFH/HBsvRVbieO2bNbaVV2za6Lhhqq5pnkKYk6uBacQ9TrhwN2EUX8ET
N9aVDAmuLAZkubp9ZfQ3s4ntbnIwdbd5z+fYEoPnlC0j65jUR5orKZKhMD14KfZ8L/D2OFnjTbtY
Fv0IvSC+X+P+95e1u1y27y5r3Gtsj1x2SP+hBe5Y/oBM0zjYlB8HLJas3rQp55k3jldA3VlZf+/T
10PH3oPernS6mzPys2h50ugm7BqoOdK8ZHSOLnx5J8ziOxDqBFwX5bEu8u+FZVc7ZQcfffgiB+5n
jTyTyAq6+wAUvAE+SmsHa4Rf3q4yy9uyr+3Ppf/kIsFm53QpaHGQ1eJ9ioNQbeJa0o3PffqMJJWc
ZrpcRSjRm2M4oXZang/jeSCCp+yGH0PjthhnHLr0lHMbZXoo9Cub/VNTv4TNdDsDolijkM8YwIK4
aICoEjyASt0IYb7T70aS1B6EXjQPyug3Q+p9cWgT3+fFdMsR0+uqi92Mdehkz+NJl473c/b0/39K
v1svuQmWASLwUTaoWqn3MwoTqFDRpJwlI0In2OYNAe2kPtOL8laTmMB3t9tiMJJVpVsKmTF/UmmC
iE8X96FDMFDqyit2zXRtJSBN86Zpt7+/hN6ezn+/hH4ODl1XaqqO95uCyJBcREYT/ayFcdA/Zj5p
MoXJ2k6UPRD2nJCIaMJyBgQqral/gqr4MkWUyS5tTvzewcGeXXgPMxuwPxwd/YJ3F7hmwK0lWweH
IY9+V29MunEae4y5yujg4JcwkYJ3w5cUhdDOl6g/ynGYUM9B7cmzyKJvfsjmWGJZWRa9sPrTXBtF
zbtaYPlILQswlYdJDAKofFeVEjNiyL6S/mG0sJc7Foz9bKTsAjuQ97nxiS/t2jACvhhFIJ7K714q
yxer+CxirIqFZdXfOr2UqmF2GGac5HbxnXKmO5P6m28iWlY72JV3WDdGZFGV3jHL4r7uuSt6rHXr
HipEhwivZyxFuzK4q92ILRV39ZGP8hqPzWtRFvFVxUUJuWu+8yWD8Sbo/ZPLmdyFAQT12eutvaqj
r3UchpdxCcYG7UnoTUwV7HjqZMXuXUeFgXqc4+yRsyPA/AZQXvZ4KZH72tboHSpkQB1YkD2GLKKX
bPhysRk8eGrGlB6y+GNOSAnCyqJTGfvE/JAguoeA9oOPm6zGuLd2ctKvFgks2zSteVOwIFptAhEJ
5/5gghmUmQa1iTcMu6cdP0n9mZMdXrEZPYCw93cu/kYCHRkbKzbQLHJaXBSKbISmwfDsM1zumoYY
UQwQEYg4ueiJ6jML6hfDHeZ7CwaD7dKScEjVRlMaOmip6FwEE6hnQZSJC06DTiv+q4GB4optU85U
x/6c5YzuPIwaCVFV+CLUdR41SSaamWHF6nvwOgxbRUdapUdo177AnvZpljB+5JLoOh3bTP4gxlc+
dGn84s7TQB9oMva6IcJmxBXRLdNCNcAbIMzZuckALFxF7BybofVv0hlhYIspax2PA5+k7nfSi+XB
8jM4QCHAz5Kgoe3YotaxZyO8KyUkNsvOCbiwxZ7djdy3krsaS4BxnG1grxZ5WVCA3OcAN9lmKvOb
ZhiNXaSseF2ZUD1MR32GxJqu4yAvTlPkdRiy9LfQTssd87nkQg8ILVgFMCSLx/qJbXO2U12CMgqq
B439YjGOcy2HedEeVT28Dm7f7aFqCcK9SgwqhB5vmqIkB1hcbYcI0MhtztaYZAcmAR8Q7VSY77in
FYzPvhJQgthMbXvpOlh21dn28H1FQ6M2NeQ4addXlDjhNVEekWQxyWMqNzZCtMk6cBT74hL4lops
5gt9u3PzkTq1GxGFFgSgxSMZjSkU5NPi+cZIwK9Q7sVNC/PerMQ57Nk2tnL7s+iuc38X0znfVIK0
E2iFLvFqgllvKI9FijHXr8U2MHDQlrVDjehi2qpda0RRl5AAZ6cffYFyvCHmZBn3RncpSZUrzBbt
wdLPRV9FWLWBfHVJKrCHmv0Ve694tnxuyFB+kEYwPstG0gpsMnIfKJg2Rkj82tgHEvM/ZCk/8C8d
WE1VarVLrYp97fgIr0NdqYEI0/IPnuHMezXacIVIoTKzb705qNVsI2sfyTUjspODjhrvVqSY7sIl
fKXBmUCuSkWv05qxzIRwlLzQxhQCOsQKgxs5fVMEYNGSF1ecVmSFxQUQIhsanhHnzsXMCwYanQj2
0dw/2Zk8hEUMeWskD880WMpxOB/ahji2HO9cL0aUxkO7lczL743F2bq88YJAmL3odb2142581mWb
bP14/oC8/UL9aBzCLK9vteTgkiDyP4bt/GzM5OK5hieus646opjRZsrI2WfDbD2XbhyuDUAR595i
l8tqGIVJuua22pWNk1+URfQpqlb7I250wrWtGOq7DKx1YTTm58qHrhgniuhVBuls3TlPmv4EgKlD
RMDYVgjotWLU34oBnkse2MTKx62Jq8h9qAPhMXS0aXVMsTwLuG1l2sLc43allLyZ3GhLocHWv5o/
2SQWbypEh2kqaE3437OergG7xldZVM2ucqzuaEFfvI3mJdEu8+77pMF45TLvYZvNDicP8N+NYpNP
sLZxFTpu+JQNY31rFgWMjwh0VNFa5T4Zrq5/y0eZHsVQf3W90aHbK8pjCt4V11KPNk+Yn0BgkDnf
NqchjGB75ek5hdQ6QzFwQu7BorYMjMbOyLO+6clIRVwI0gpITLcny/OFCLNn7Cf5FfGo3PS1WzHi
xKyDl7mkM37z9qpj48ZrMyJfJhmHGj2GFe5s8cUea55Vg0MQemru5VSDI8lN3LWNPFpWZm9aoIUY
wRBsSe+U2lzQZo+VT4sh35XheWYKziQUMpdmwjSLZVAJoLjOFOmmuM7WmVdD/xPxCIZIPZRTLW5D
2uFup7s1U4r0hBt6xkVXm0fhFSD8gp6USXNY8IyU38rDqICzemJI1zk0Xf3CJvIkr6brUNQfUvxv
jFP7T2n30mY0b9ixoPLQyc0Ilg94PB8w+Ae4RA6pJvUSIMkjF9tzvCBg4tuidi65UvFlCLOacm2Q
O9+yeZkkZFVjEayywnoMf1BGCqAUExkTVX2MjYXxnulLA1dCWO7BRtC/4oo9ptDz0DBjkHWBE2JB
WaLot+TIzHBGWKNLD2wIdJKWFNrkXOonDzm444FlywzMiXbEcmuairFhrLtlC+pu+7JHvZx19dnE
WqUixCl+KAXEr9I6CJSb2ItdsQPw9yEZvVdkmfnVs8PTnNHk6uISViQ5laAtp/M8IFsz8OmYSdix
C3cU+5gO2H8w3qZ27u09OHtZ/6NpzZigP+Mhtetw22TMUKYkBFaRTOvS7ZNT3ThEJoxzvIaud7Qh
p+9BjAGcLcjl0RnoO2EO5dGL62cdDcStfRwzNYJFRtPdkfypfecxWQYePMeP3AV6FXlUhhCbPiww
IIwfuetCEud7ZWCLi8y2WkePEbz4Dbdcw6ILZ2sixIGxzry3hnKvkvbFjIrTyEo8TtmtQf97hXCF
tlONTBsD2KRzRReaAUmjngOCP7dVA4lGzD72EO+UZA5e8ZbEUh+jGf63YNe15Y3FoJ5MhzrY1dBM
EDo9UlJvZKQGgGfM3CPAA1M/d7Rh0q/T1s+7r2VQu1ju6Is31mcowOzZ/fSg7eSppjWyMkn/6gbb
Q2MgxBEIabDCtghVHhkGLgrolYZP2SaTM54xRvWzu0+AT6zNGbFgPRE/Oiadv2UqABtSmtHaFVtz
nAnBNPtN+XHoy4T1NIk2ZcrSHAXyaZg/SfDOWxzspCRYyCNEAnVudInoHKrpFTLGSPtWvQq7fAYo
HDJwa1CgGPEOYyVdGoIwJgAcqTY/R6FFclozbNO62ccRke10WEtoGZAF5HgxvREVzGB8sklHjtT0
wt5esPPR+7Bhu50iiMqZyuNmSDcwTMlytZoPIRs4ygrUHJTtfQ9mJwjLr0JZZ1dlyMtY5GjAhNc+
p2UXq31s2e0amT5xJLF3yj0wwwWDuzmYyS02bhOw0zO8PpJHVq4LBgBRGqe9A6hNtsPdgNii7VtU
5G0KR24WC4TIJCIQMpUV7Ed35U/IoUY2TnASLunSDPJK+RJ15RXsUYpBtrhglfoGCPPswZ9ANcHd
6C4XPRg/KrebNqhbluvaXIf+10SnDzApH0tVH8BxfGjpN5DUTpOj8tik2znqJzB6eWYevIAHn0db
ZuWn3C5DBR2P/LAMDfk8wxZri2hFL1FsLD9ha2J4R5UEYvOlKbL8HoX4AVWo2Cjk10RecAGaPU7G
ugwfy5pgexiz9ZURILcEMQ+ESNVfKI5YsnsH00XofVCRydIp8n2HyOkECi8/9U1EbFdO3nOEjXz9
9s+3L7x9y9s/f/4xzfkJwdWyrL39dfD7baudl7fvU9nAOvb2jR7jw7++5+3fU2WicGAb9/avn98o
PNPbeaMJM275uV9+1fLSKOSDeY2x0j8IXEldMcR73Fl8FH9/ZdmiWNn++rIT4FAa8fnPI3k7zl+O
6ecv++VVAk8+5nOc7grZR/P67TBgxJIYHcTBYnT+6/S8O75fXvLd97w7ce9Pzc/XWV426PIPBCcQ
DxtcA4ftut3CW3BAON0yFT4QVP6SD+744qXdgVoVKaOBNQtS5HwyarjNU09nfzYLUrp5ou3ixk7X
AerNO0tT4McQvbKw24VJ9NIn+RVkZ3RsSgeAYIt0JCGotQ2fh3ZUXOqd3pot0MUIafQWLu3HIMy9
q5ulm8oc/CMapZylDWULamfYY3D9VsLq70yw8ZRWRnas/fDUkIp5WZR4inwfpUlitJbEG51sCazs
d2xAYFmGPiYFaf5oQi94iFHcDVhLZRLpQ14DOfA9e9wRfETo98oY55c6SgEsYzIa+rUwAViqqFhX
dPs2luZpGqfjNXWIDkxFMa3qwTzHtXVfT8scAgvhWo+XlkjoMkrNQ9HPuGknwmht3XZ75db70EZ4
x7VyRca+dp24gCnTh2Ce7jrZkdcZkodp9SkcQih/nnUIHNKiAwBWU74OCttfgy5ymXZx0hrfYLrZ
waq107vUfIxodW+gwH/TfSfXreWtrSXZDke04tIBQPGaUrNJi7PREtAinBJ3pYvYJvbbK8IJcKHS
iPZj3tVXGhPUPb2/KTLjJhsr79bQxyobrvQ1XkyBOArMTJAg5ssa9kEhCtqV236ILV9f4L/sopqz
Z3nT51J4dw7TpH0dE23dZsauH9oO9hKhj34XR/RoSeoEEbtyA889jP50Z5NIyltC7ykLXIn1zZA7
6TH3B+ZY1kfcEinYFgqRyk0KjpZ2uhU3l5od9a0u4OtWN0QSRxd7shyEcnO+GgtdobC1x1NAeges
lJif9Y6SByielNHH9Wx+SBCvEs1oRAdYuzuwQExyCPA7JdigBb0HXwx6n9dIdtVUo76l5REyyZw8
fHI5ikpCpaINBO0e2B7plG/1ojJUD5pHNJtUFv6iYY0OpYheASHku8y0Xv0phu0yDeIgWqVvQitZ
i54jRmcCAtSNAE125R1vrblmTBNy5so3RmzS0HC/NykCF8MfuJajTqxjx+mwQcek9mzz0kMNaXSc
mao6img856QkbiD5xY/u+GqbjXnkh5ADj1myyVDrQvL70vfVAAfgazw/Ep6SHqpZ08C3GoSY67KP
6u0ctCyncn5xSI1b5RHkitx/SgL7lSmSXbvzOnSnY+IYJz9sOcgs9RdKFgI4ZHarMtAMdPFRwTf2
yi2L3acRtOteW0QltjmIogDBpgUWc+kcrZg0AycSxaJxY8FxXBbimjDfifgPaRcCpNhX6KpEboit
hWdwVZPEsDNT96NsGiBmS5AvY7qnhpScZTwAA3Zk1Yb5a0XNU0K2k+N8NS3SOunykBaDriXMgnDt
WqBU0wnlo2mOABCC/pYI2GmdSkBt2izFgZSlLzn6tJ0moWAlnIBEzQjNCDZbnKtl+0mQrNu6Ytx3
FrlGEMsomR+hUe6jHx3ELgDe6tR3XrNVLnAROqbrYUypIWL7WbgDmk0SBPzWzrYgSKedZxGa0844
1CzJBYgUJUSlmFs0+NkmA92cMGjnMs226VdqjJEc6HOR2icwhgb5AMCBluEzwbQPBOASzNhhUXZI
Q0qiZwywqxLYzKkx/ZgUYnEtkN31szxJ26OLavdHZ4qejGiJfzLoqboV4lxt2Nm+fnUiKGAFznRk
SjPkFAkjIbPcbZf1TwB3bq0q/pEZ+l63RKS1vj0SOGJvo4cmq6pdWgFrKab0PkuyK/5Ec7skrrni
tbUsoPxteyG9+KOHh4i0BdQA3ZA9lbNJXEwGft8Y6IHjMlYL8H03uEa6c4uZegaYQG3TTEDoi3Gu
QvLVFHco1oKrYd6QX/Nclg3TCWt48ZFNkFEtkvXUTYyu5+A5Tuzvspr8XbO0nuZZneKckqJJpftg
teSCQnYdB5D/BIpcGu6AsDa+wirBjeh+MuqcDUstiyseTsxszrMrOqgSXybTrNaW9IFvQVAMGuPO
rKJqr4V5mhOf1tzsVmvfZXaGe7fbG7l+DoMxOldm9llR6FWtKXeycynhfdplMMme5pmEQh8fa8Md
mswVqhcjXpOAYq9Db2A/mzEnLeLxYMY9ptc2ZUPvv8DTMFeJ9T/snVlv48p2hX8RbzgUJyDIg+bZ
8jy8EG23m/NYHOvX56P6Jn1yEiDIe4BzBFtWy7JEFnftvda32n7XZSVpHDa0LpFs/DZl9OFuaYq+
9QapLalvfjsjj4UpiO6cTSKpd0s5IxVJj6VZFnNkRnMii2eCIEKQVwHU3DgF+w0vniATdrLY9O6h
DYj9VFB5V5T5tYcvjLyY6TQECn7YUIbroG4fTExOXF2zJ2LBNEezFharJ1vVuKPF3uyzxDSOTTRv
8aQ056ykp4qQmYXXpYQuVna/tpxe38YAN1hytYMuwTgk8cR+EJ8XUiJ3pelkAdtt+Ctw1R6hirul
FGFZHphsK9mwiWgFYE26iYu5QzXgNN34JRdOaC5HwNS7ElhDhXhfjOA4dCCQkK/A+YPqSOPngEYm
FMDRW5rxeDXF9FQUGJalBem91OnmsXwDe1xqNRnNbmgdNEnkbT9b2By/Xds5Dpe0j1YkGTHD9mHf
8hsn3Btb5q0x/bZ8IbwQF1mERrojz7IzNGqayYzXuhHa69ymA0KzAkz4sCgY053q8LuIM7FSDQS9
xKzA+3npAxx/b9sZoO/c8VHBIP9JXxzKCaB7w8Cpw4D2NUzD125OG04S8nQLoz5qI2P0oppZoNRA
sITswCcLtmXVAV9x5CT6aZehx1wELTCkaOCMlnnBUBetg7BmaejNtxCmpXcIVS5Iu+PpAA595HIc
12ZZXWIfezTQoT0oAjTVDDA30iW326lxTicwDvrksGLjhp8o16FEm8l5inJ/N+kTmEbSk1JtLZtm
6yRNz3aG8JD4w4zJo85BkE68PUZXLUqNkVBLLHJjdWBaKvFCnuLDVMqXOmKcXUfOa1eN5kZTdx3u
aPRL7VmPKEkIDDwL4WPKsa4ark6gf+5iaKM7h9N/ycD9kth9zsleI4Gf+50S2GAHvKnENyJGMnJZ
SfQVBgKbYwQXTAv705aI1lyj6A8G+YJj+8ScIFl6mp+v6Ps/KOPaNqBhcW51yAf8cCGmAOwOL6er
3J3SmhP6QLHuR2iaro8D03bqCyb26Gznw0Nn9PQ+ScKA6EWL/25s/cdcEitZzCALWrc0pQsi+9ZJ
RTfl951dz3i9QRxkuiWDpWwcFrmmkaOWVNZzaDKj6kICC6VMyJoZcF+3qiwI1yyhp/ps5ndO5K7L
malyu3FDbUR+R+mUtMPvGyeAMBm5FpbFTu8O7nwjgUu4Srd2cka6ll33htIP2M+cTjpkGsViWxmr
doAYPjjPbRwxJ9Ay9Y46d51anbsz5rDAamxQoFnlKdB0ILbzjaZDM799xeXKYesgvOXtPhD89lgn
h9QkcrKdkxnj+augHRiiGkPYbkvD3gtU8gdiceoD8ZX8hX++JznAXU0hLo4QayWEcjhQxJS1Fp0f
yGQ32lMRs39YWEMLdKj1wlczzQKczuspqYL97XfCjoPE8efXx3Tf4OzgU8md4UDLGoOIXyh4jkp7
FN04HOQ7g+bmEM0/vz1onOF6o0nShbICFuhWwhdEvpGDY7SXTsX+I3R1QNZGwxi9IKe6EXQjGnzu
sA/sdGFhCSpqrPtFzMGIj74l6JOygiMA254+36Qyzw7q4s18kVwE/DnKp/NSBfHeD9xpSzto9/uH
8/6dD5JB4fgJDKFiBjajP+rWgs/a5vwliOvu8bcSyjnfJFwqViNtKxjZsJ+meA62TRI8fjZW7xwN
ajXDeiR9S8hIDUBKblJNIplhXN7uGpJYwUnBR56otgfNM99TW7VkSaU7tNz2wU3BNDo4e62C47dt
5+RH8kFvN/SzV0bnUioPsMEmbOx0NNp//vD2VTZ/25CBtXRaP0KNzdAz0qCbWXNvze3HFwl7coGa
GfgqJ4AZgd7vnkuHmHldte9c495ZAb8AZyKAQkSD84HC00QukMKa7PVfYcndqh/uM+8Iav5FZGSb
09egy6u/KPa1CySrV3O0Xg3TeLF74Dpt0C/9nORuIHKTGiNa592emvi7DKmbP0K7e6tzxqFWxlPb
RXEH5/keBeaL7AfMwdrz6FCBuP0PvSeyWGE3X5Fl7wrxA/Hl/dg4bDYrfVyiWdrnXnHUaPIvvYGW
uWla+dFqEbBTmkHek4z6ckpGVqXyQHLmCXoqm7r5rj83kn4UQwcixgugVLf7M3xUBBSxZ59/9reH
xtl88N2e8vZjvWvddTOK1789Dl8y+vrbnbfHKQl/U6/FuUxzpkKkle9IM8sA3+u/CAE4iwy1S+3H
bwFDvFVDtymvJu3ZpQJYuFgRD32jg6A55kngHRuixtYOiAnM1MSD2sW9Jr27oCHLqMnIZ6rBZQwg
SllmYyyGwYOw5kmYrRHp4rOHhV9gW/xIeow2+rhmbNwSO8MpZ+i/QIi1d9W4jAvoonYJsZTF4+S4
BzHEUBBwLkKDTh6svATbPFHcFAQuHJwxOY4yHy92xGnVzL27cPYvgTj7rJF54lFyD7WZ72gkmDut
rJ/Y9rvUdPWWiG6Wu1bfmGiUV3lcqLXTGY9GUo87yF0U3QHXYhKc5qzXaGs5F6vxd2NUy+uosm0t
9fYQBea+sSN3ZXt+swX3sSP/CHl1hOI6QmS+pRPJXr81frnuyDkqppUkZWCZWMkbrHNaNEKtXa75
0/CKa7g/uGX6w4izdmM6zpfMvLPryPu2zq5OG/4UdqHDJNdWIQliXMqfhxQ8SCrtfUKowkAk6TDJ
bWvDbWE7+5w3nslsmEGdkU8/SXt7qU1iQOp5ECBL98LZ8Rz7EXoDI2yxa3kb4MWfiRzeWO35E8u9
sEz2ElH0JPzx6sKO75j3q2wk9CnlPGuHihTbemDmorotkq9v7Sf7rOGUeM6T4RCbgQjVXeGdeMJx
0h5suKRLrc2ipRO6v6pyCLbE3gUFzlQmbQfmmLmvoQtuAoID1aNgs5LbprE18lfLEV9uQT43UL1k
yVxtAhnIJIlp7OjyeqwgnrVUVbzsGCJ1gP230LCvtHqpctmcW9F60MxdJ7tTQRjFxtYwtRJithR6
fNUs48O1ousQ9jDQCS7P2FAOIvJXQQCSdvBrWtcp4Q/6WhPzTnNdp84R4+mdshheEaS3MXHx0UAa
n0KDIXDRRD81S5l0F7CT1QRdeh00wfFdpJSrkTVc09K9x3d30Vr7QR/6V6Jq3ooI26U97hJ69nZC
Zkoy5R8kQS0s1VcLS+O0EEN5KoviB59+ijskvHey6ItaSy3tItqbU3piodeZK/10ZHnqnOF7NMQ3
2NUXFugfBNKtEmkPzE66qyJKcGm0sl1iDzi5+fSZS+8XNk8KYhvTTKNzdhpXS/5EA/PZG86H+dRC
EKW9w0Kp6vJr0h3e/egbujbNM2B8gAKTS5Rb7+nMbEdi+R7L/mXyZ7Z7TNCTxH3YgFueaviNCNzf
OS7jdULsCIcpCO5Qf2k90nUTdML04fVNPT8PehHCYowZKTWmR5ILHw3wGkxVsXISnwQMW2JEDYZZ
BoibkgBFXy9MZrf4BTJTnSzXYkjPC0+lDjBfDE9J3VaYxgtG/fUx6tr3NtPJPJteYy9NSaIxgAjn
NPv6wD82OHtTyICtZt9F48xTLaBJaCAMRzTkwJ+JhTDGi9U7dMEyPrIuBf1Rn5yRwQab67soNLmq
31WzbUjUzw1NXie0T+1E78qd1yyT6KIwiPY6+GSHmRStNfE16MhwTDD1EwGIKzPsqH317smTycMg
h0VN53WsGJ90JRMQ0DkcexarFQdgAtsI0U+Nb9LbcZbOOuF9Msj7ztJ+BL73wDs8UYlwbe+vE27/
KQc4Ojmrbkawde1dlwaHMrR3pUnnazDXxFC80GCCuvUL8XPR+UwI3PShLKfHvlWvFTkNC/KRDkS3
npqMAYjGx9Pb6B8NGlhG/IUwJM0ssp2xqLit/4mbQJLICQ8+AgwvYx1Fjd2Dxo3ltrBKVK4SKcmP
EC3dwu8J5Rn0fm3wOjLOyki72kAoU10hqGFe2VmftCaOysanJILqq23HV3BXy6SSDruM76pDhtY4
AbMr195qQLKj2HlmakETrZtzYrLhG6s610zDu9cJC+zq90APAOS5+kXPtXNiqC8v9l/GkFEok0IE
ceugtYn1CIoXreFqW/rE9UQJrcAq4MLT1JveC4yNpLGPJ5btqZBvDJPEcki8aodVYQ4m7dG1mTrV
wzjtTbP/GZC9gppHXRtHB1sf5XhBMY55Y/FLpy3KxbW/D5uAkxI1wZQArZTRk5JfWoztqEsbjhYA
y0YPNY/JPf2j/DFvSLEoakRtJd5arAyUwHn/Ywrd+Bz7zWtYEIEClce/C+mmLpglfxoMBXa4n2LA
hWW+j1hLhMYgAmFCvtJwuq2UxvuJKxqwu0ELVJnE+in6rLo71as+0i/+LKPXq+AQevbFGx3xWE+P
FjFHpBshrzBQ49lBmzCncNb8leh+5vZS5zpfAUXNsVaSt3jAK9IFw1Z1Yb2z2Iit3RSMaWaF4Ccr
5OslyI6lrusG42f5KzWGXeYje4rTnPXVNKGHoWUET4W0qujy9hC3ntiMsASXtuE/BV5WPbbETS4z
Ifst5Wa89juAsxC24mNhT/c187yTL1r35MS1ucFbAkuhtssTOdLVKjTMM6zUz7B3FZy3ogXjHuwG
361JS+bGK2NQXgYfL94952DOvpNphPc40iLXK1UAUGODmKZzZ2kmfzRZ529mG+aUgd6lf3bnJKjn
bjegoChmc/Aftr9NbXc6xNJCE0RbP3QGm9Kai6ghuhw5gqQ/xqXkcrsxJpR75HlsXKGuHoN7iFHD
7EpE9An6zj8Rzo1WxBlxFiY52GxUv2ZditPIxRAgQgdMrhyn5QiO/ZFatX9091Wkq0fPBtCV6bZ5
dMhdWZAyoKhXh+apNcZ8gyuCKjFJSDxOOOTC1tburfI57Er3evvGCY1pY8wz/FIrF72wB2LGOL1W
wkTRnUqpLpGKuK46VDOVbnGla3l7CHkUp6gvvqXAmm2ZjXPKFM4qo4l3DhO6pVOTRqlHiH/cgJgf
l3g6dKfa2kmxRWR0goFiDWKtBiIpTJPtXpsoZzH0jaC01Biu5y3P1jMYViVT/kmn59L6l9HbDlY1
PfIsJOtiqeeifkfWl7ESvVEiw+vHpTM4POc2mEOfw4lLnDRhjrIBrfiQRwIqRceWIVJ7NXX6jvjr
veZjMYooJ7LESI7dCOSxcXaJXz+0iqiSFDpqNPssMdExxFDaeWxskrojandnZrYij2lXnGaCJTXY
aWOiOEjrCcHouq25MsWSfwxYZePwlm0rh0a8VtFXlLL1VkOP+gLxACZKcQhiBJXSktSK7oGYqSth
WURiIFhB8SJxL714OnuPm6G3I4V6qYdyOSh2foPV4c/jAroWXrI2RDjtsR+cw7F2z1EyZlsFCb5S
4qRkXmxGt3lPe+2nLwaBlhTIQzjLW0piDWTOG4Feh61rkB4z8NQMpgNSmUZWGNV9imm6zDw4YqNS
Zp5jsCCCnQRIajgyhPFr5VcTfsTabsJ47QH7hQcvfqXB0OxaunlInMYLQb/H+X9lc/VNoLMQlVu/
RojEGGtGDdkOXmA+VRNJBt4AiL9n/bcI3Bun6J0oiYdSaguwY3BErBSF1wQFPKZMEczOIMmzVItS
mCsEUEttAvws2k6sYLF8ZolEUGtBfIWUo85J/JUVtr9nn08D1ZGSRWqqtqJAhhkHWIo1xz6nRc2O
uMGSHfo0wUDu0XglFstK2rnXbLCC6szInFdcMsm1DYe3OU7RiLpuV4Rs2NSQAFqUc7y7OEI3ny3T
PjE2lEyOQfJxmFoh1Uwb7ayRnTUUD+yQICfMeggOlkNwRq9n7QOspF0ifgapH1GDo7gGoEhPM4mu
BMRr+4CZdBvOUShxgU8pMo4yGb1VCeFumWZ9vs7pEc7HuL7uLFrDyk/r49Qam3pGaU6jt486suF0
zFeJLRj29Oo+M7JrVOfOrvCBLzDviE8gM7VFOrp3XA+f9bF65xTS95GG1pNcWn/vkteFuFO7I075
xWQKtXW69rNIkuHQ2fEDquLZbTKepkScnS722AVTX8hieAERtlDOgOqEmcfo0Jwls5LnIhHNSZiQ
KPVR901HW9E+Aa8DylSxozI7zm+myAFWyuTA8RXTy6uudqOgBXWYf1yynT2wap1CShPeF1Uv8I/b
Rw9MjY1omamE/ZqhiLBsko/oy2LoLsSnoQxtU6QePXQmEut4rFaB337erPG3dywv2n6dxncRxqRA
YgtVz5UN7ZSuXeW5sCtadJENqOZSUCJmBszSlMoKhTnuTxQi9IFpUngiOUnfvu+BmhPh2GDLn81+
+tDaR4cDnJwluCOubasdkPPxUomH26OatkGh6eNpBVOA2LugBukjiQIKEgcfegAGs0WIYHqAIx1/
iw2DqiDxLjB5y5Vfwx4XRXJ2iczsagfhSOoBRkIcBwNSWvxb8AKwmm7WTD3UPsmZf2Kvz8xMRTtm
L8fUSCk2cdOU6Wc0hPrOcGgGSziJZD9+FgIRK5KW6LfX3ujFZgB1xNKAhCngDKhi1FWOApMarVkd
CKKfUQIYwDFpItPTxEzm/rCqAZs3stF1OaUL6sCWzwbzXOi+ZzTjSE+MnxLBU2ZW1S/DOthnFu84
uqgDCZnGQuKA7Rw0s3H2JOqRX51iNaZnshNVf+0sKq5M8s+jALVk0FRr6Qfd4vZIN2VDe1tSU7vO
l6EI3sHnPoXtxErHDAn5GrtdQJ2rwdd+WT0Zonld5NAGmdCkGKgbrCHorJYKiRF5JT9ZT2cLW3o1
Knpx5lBYC8Pjd6TA4qMIKcRglqs46U+xbf1wDdYjqEiXMqKi1oGChSbrfMT8GDkj54J9pw2CD8m0
H8i9DSZelSe1pzHDU14l03vbsRdzKqY+5EoIThV9HU0JhZGGykzK1fzOMIwE3ORR3MlRi0FijUsa
nFsXcaGVZ6SAGdHn7XqianefhcV+Sq69aX9FFVuHyuef3Np3jYUmiIfC4lyMRf8WKT47ggM0nJpz
8CgilJiP72Imd8KAsuRUY34kvQ52PwYC2bXjJo/Y5Hom5byXDdqzE7XjYTDErtb1i5KOPDd1R+QP
M/ecmeneTYtxP9fATjbU18xi0Ywn8d6Fg7j2lJH6aDYY/rK1BsH+mrbzhIcUU4n2YRhGYDad8w5S
kti8+Ubru48o0kISgSt7nZXxSQs7PVjSmeshScbhsVDuazRoyGftyTxPox7vAoUTnHX0gWF7v1Wm
/lBBbduwlthHqwuOiFGoh0YCENji72qv/vAzSP61NO6jjkO0nTTgSVwk54NKn7EOUSfeNJdhImnb
vH9z2Jo94UwTwUEJmqD8lafR3zPs8bfznn8aW9IJeraTrbdza5i8NPnJ+UXfBwNKX2WD3uynFMfT
TXZrdMS2GiZ0hI5Pj8KA1CjKhGHeqZkNieWSAUxbMvrjRAz3cPLfkh4laOriZqB+hFlWXdwxxFJG
JivuHpm7qE2bmGNp0C4llQwSB4qmzEkfRWsXyHC+cdiBebQQYBvs1hcu2iFeWzUty6Ze14PzAhS8
YRtEuRSi7ilk/dJQGS/rkTXothDRXoFyBVtzUUkuxwQk2Zzsn6qYd6Ody94/ju8ggPO8zCWY3VPc
giUfoaWhjNjnLlN/Omv92s3vch1kyUDwx06HEkGliF6EnL4tU2DqPZ/VuJP9q6FhuA4oywRcGEp9
RsZtBV+0OeB6QW3bc1G9vU+O86YNaNME9NPRxDF0e8GVGtUipNrSh/BZUQiuKF251sNAMUiRiBmi
byIOAYQpxvc0RSPETBaIUuDG6hBLeENA0TrSyMRVR0eBczUGu7wIi4SeAQuWabDUpMh92rbvqHoY
OpAr1HnuvkwZ48VVdGjc6HM2/7cy+8wLjiaEtIi9SY0yp9l27vWPodG+TBxWeJQgqfzzENQbht4J
nu9QdE/Gqk9ZsdKJ9bHYNEV9Sf2J66O3j4lcw0UvV8WAEQ0qBGUJDypbdzuRqYZfC7wavbVvHQM7
3TJvpTcs+cFl5vstpDOcaV1PS3fm98UoP+0QkQn6ALmY295LD6uLkT+wj79oIQZB10AwN69Xvdz0
iCLQ7LOSy4kNX8rDRUPJh0GEVqWZfPpyOt9a6thILJIn0WOkIPxLJ5lWmiDuc+5TsrSrTVDNlIsU
mp3bnWMWmYWWf7YGjLko4K+p9JzoNcGsX+3yQEYrm/Y5UEI+x99rYjccNCMdNv6QfGYMrZY1GZib
OcjI7K1jBl+4tQd/CTJMrrzpjj0JCR9MoRY5fdvXvo9q3CJluMnccHrN8Rzqgze3M7rvmIbOrh5t
/eqV+vc4PobkKH3QqEDxXCh1ioWT7GxLNcsQs/pKo0FV6np2KGsCImyzg8/V7/OezR/0TfPcU+Pk
c+R4D2186zs+50kAIaVAvom2n8O5AnlAlE7GEw7ZKm5kzXy3+LQLA4BHxvk4HyGN0X21/vRsmsUZ
psBlKMGBBA1sP0zve70Re3rfbHI6g7EefeZhPnpsvZ4jVKp3YmwZovkpl1kWFSvTyJDOOONE6H0o
whoA3Cn2ZenrvB5ynqA6cNdVFH9GbvBUpvU9VMm3dop+Zpmzi4aCVS2xZ561vUQ0Q/qE4z7WlNfW
QIfQiufOfka5K+aTqB75RbKksafs2QqZV3dhFS2x+nJ4V5Qd+G7bhQLjPumsyH7WkJTm7m4XbLJa
Ld0E+ccfE4Z2tkoYeHTJsT+ajfdZ6d4+FT7uQHMfwZVfVG31FUiPY5aDS+/sp9FjTi4IUAxWhZ9P
i6JmiZ4Q8xLrlyy8nkNbMEjh4pd8OpipF6Hyd/O5ayZSkWmJU0fznsaW5a7RQclpWnu5URK7uZyA
j7gRNW5lr7wLKk4GvcAtLWl126EA9sku5fbKG3JjEIxPdyTcP3a90BjHY3+jiqiUT9483uBJcSGw
XOybrc8iF+G1Gt1LnXL430BUt9MlTEB9i+KsoZ2mt8jnG2JC6LokWdoVy1KAOB7Dxosz3835QNR5
Y5EIyFWlxF+7ygF/lIa/nCZxAe/MuyDchgVMD37FQhXb+X59QmpF6eqtsh6pEJKhJqj5JEHfe9NZ
kFxJ1Cm/a36sZIEDj7QoQ2Cot+1O5eomSUCcSV18xhE1d+m56BD2l5InQnKnSTuk0JiWECDJBIWD
wsPTBF6RDy/nGtbl2aeZW4cm9bCPzZysJC52GRFGsNlngZ3Dn638ZFpP+dH24FNF894+h/2WlvaX
XbFTCXKuzxEtaDeqCHrTdGdN5fPS+8Faa9jccfQvsgzLwM2a6xE/xwE0dwoJnAqA2deSrXieUSK4
nk/iVeQw3MGQoQ3WY20Szoa8zeEq3sztigiBG1uB+bLJwVHiSVdbLBraWtW4zwDnccx9lHxy0E39
Z4mxxoi1+1gCUIpzMoQ9QWYFurtl0Ah9a8xZ5YGUj2LoXtp5l5U17rHtrQkHBZdpT2dcHg3XBG/3
KlPx52By0oP12xLExo4tpaytcXFgQGp2IRJ/NJYKSYnyaRnPxyP4VGuhlb3g1f66rd146Wg0GCjY
x3JHjO5E3chHNlrWo1dXycWdxHeWf4IxG98YgxJBd8JFhxA/Q9OLk3lvpfF0qI0mxf1MdoztJtUS
WUN6l9B7WGYkCaz5tEEX5QTfG6X3yDhnWQyRueIpNhiFkQfhvjM4g/YiydaDPz6n3RSt/CZFhDNJ
Rvw6gFSah8MKSc9aH4zgrClWLNOdnjwLTRQnP26NntFK7atdL+UVvvdEgC1Ctslu9iIeCJWc7iQd
L9JYX70kePEBgu4rbDnocJxtH+IaVBU8DZgRRhynWE39ZtNaHdfYkAIIc0O59KJCbca6vYI9wtQy
pdmDYaG8KVm+MdL0iPrMLjlLdvBLiyZeQVzYdWS3+KAQcHboSX4jff4fj/2/0AlN5iLgNP7l3/71
N83hv/GxqRnk/F9VxX9FZP/z3/3hEyLqhUJtCRcACxff/2Rk+8Y/HCFsujogW/6Djm3/gy46q7Bj
89v/C5jQ0v9hwHsyfB+tq+m4tvd/ARPSYP3vWB4bPBCvzLHwLdA+/q/IGxhyNSW/hOPbl/HOH9oP
ZrkXH2HaUhAdcvAg2PpaTwrtmHo7Fsl9OE4pXNKI0xkVBnvOhCp7uqaN1R59dHgoYMu9o1U/qIlo
BhvdNzYkLjYhSY0pwlrUCsOvvjSLk5yqu8yl2+CGqULfioQcF/kUTtvJbbCYaf2FkT0ZCZuUNtNv
4rLekAo94CZftNavxoQ0NtrhUQx5drSvXTipNdvoj7wOEZh0tUtgJTs4WrBRx7iIDjsjiUenoLJs
YpGurJDAvkBlm0EPKAB7RpxdlW59vcH76sUaY5nSv0tSus1KQx2P3hGicJBdUs1Or6MtO3zzvYTo
D6tfEYB4ABL+pTWQg1DpWU9ta8VUGMF7ZCXxxeeCe3GDMF61bDhXLrYCmqJqmFNFdCiE5InklojZ
IFUYvxONHbtPeeu79F1Scj0Yq7u8uBr7iG1FOy/oUtaGrD2bs1zZb+XSTvvzJDNgfWm1zdkOXLOI
0QE70Nnanj56Ovt3olajov9uuJwrGbwPgqUnZ1lfgkXDTDM32ck1ruN5G1VK8htHL4c3bb4UgSdW
pjE9GVUxbX3Z8ETzNkyb3GWJZ3+F7vDosfe+KpcPFOjztC3HlFjXGj2g0rKTb9S03Hliy9OsdVw2
PyycdLdHT22EPFj5xzF+yIO5MYypV6s0j4p5vCYMYpae7qerIWAvOjHXWliVhuSSPm1AADiCff5I
SPOHKXMIZQepvhna+KuPbLDA840eDf+8kVGc/uXb209vj7s95H/69vaDQCT6drTF6fadNg/DKL9L
HModG72//Y7b81W3n9y+VLkAfRM6D397GSLxuJqr7rW2iIn48yr+vBSbo5pxD7iwP/f9edyfX3u7
7/YtniZjDR4DmN38N//5we1b3FzUUrcv//L6fj9SUy82eUTUwHOi5Z8H/uXL2wNvv0ZJZtiBXS1H
k0tWxC4GCBI30jBbigavZUJDltiAUn4h+txf9bPejVR6xgnh+FTkJyft07/caJOALmxm3IefdclY
pAHuzH3jIIyNFWzdeni//ZvbvZ1HFqblza63UBzsQb6SoIjN1TTDZmUltdxN/SnS6nM8luTD+hxK
BsPlE8pK7XT7ikAlbw3svlm05tgeM5d+lD8oRlAm4XW4KAsg+wvd2Dm5sk4+uQgnbb7xSbc4iWUR
mla1kl32OmccbG8/N1vT2bmyPwWuBm1GY0+vO2a46eminsLQEafbVy0elYWcpgciLejE8gFrHFjK
TGxiQjR20TSA8Mr8x31uhIejQ0U6zo+YmuCr8SNK59TaxcPgHKu8cI7RgK+SXOlyI+b3HT2eVa4S
Wi8nYoHxkm6ChNBO2ASEduJtPd0edbshF9r4/a3lkfpbDekbCviSxZNwiKDOt1bOXibwJ6AmiBRN
z7eP0uT/Sa93eVTT7Q4t8nKKrxRUPAKcJN8UGP/PuZu+FFXrbJuatDdZA6KfSGJa652ODlGVxD05
7jwliLytn5dPtySRco4TGROqyMpo/LU9P8JsrkOvrGPOSn8gt+ESXeMByrQWkPWj96W9H+NyHyEX
PSXzTT8m1kGCitJH21hnEAU8OWuEXJ4Q01CKfS6FcF18OJaenVRAH4dYPIzezWYoNHXCHqVOOsFl
J5nk6V4xWo8Ud93uV0NYL6AO4xeeH5bMB/3tq89aHOBNlqcpg57qRZsYCBJvBx9BASyXXm9l3hUC
jERFei0dGgz6zLOWfd9kp4AO/ylUCJd7c1HY7WMvGMeybpymURn7KR92omydCgN9amGmQvFsaaG9
rSz75XZg0VMbmTxm5JyTR32uBXkCSiKWhBXTbG7fCk3KzSQwePT6lJ9bvylXgzvLRxpGuTLA0JCE
91mYX4mOgDnlenjt0h7AfDhrlpKK6Ho24iQ3Sx8ramjcuXa+hVaUvcZaAZc/SO5MJzJmxSu6WjsB
9YCyF5/6LLEV8524CNAsYcTb4NvQ1/VNj3uT5g6zXPkvIt0/39/+YaKjqFjcfv63h9++Nfl4cCV1
d7df7Zq0Tas4dpZ/+we/f9/tqX9/SejrswzMaAPCAmXw7eG333d7DKm83NkMQbUMESUs//Ii/vL4
ppAG1n0CzkPdQBCs1QijbzfeTfr9n9/eNN5/u+/2OHbr0RY8W5Z5Wwi8BBvAZN0UoXuxuhqlUDau
yyDhhHM+oSl9tvgYVnpefzrK/TDGpj+zOW+Jio2zbaLebKZ/I3/NPhsdTiCik5YAq8zVmIgtDcl+
nviCIxod/sVskGoFaQWKSA1J2u0+r4xXzW/2Dqw9NpArIHiku0dMqWy3euidYhcV0wPZnuMiGHr+
Zi26I47B6FKxAo2ME59wlIWFBUFDK7F2whx+MOoMVgmVgHy0T3YctDvG29LFn2oYB8amA0WaV+9p
Q6EWI9RXtjx9iZ3JoZO8tkPzbcAnhi4ycemXrPMm188uvTKcSPLJEIB0gteox1vIdbndOaU1rQYm
POtUeZekbDZpGg3MmLSPvMrZg8Y2iLDR2yE5MVfSNvJVKRWpfH3cnbqcSy0LIVY7YIFGScck0fco
u7o5jtDfMxBHPAnQc2mXwT5to7lEsWOMQ+MeJleI5ybKVmYNT48AZkRx3hzS1pPNrOvj2qiZaZcK
8ZMnUZPU/lijGxhegbOMNL7tkY6Ve6/xOdB0T3Z4sOJFnoao7WyaG0OEcQlWyI+qJ7NjIgkgjOQi
tX7GNlzCXH90jDFZhaI6T5oF4SSXb04og5UTiJ7UmJRGr+8fgixnS4qMahVrEL21Pn2qTHdcgrio
Nq1yPkLVY3TVGT4OHJ7UYs51srv8VKTNR/HidmgaVVaBwsdanOvdmwTLR3yV+zm4erM2maKmLQkW
FaYTyyfEzRuICTQHjaJiDLeuntb89dWHqSdsv8+uN9CerUAwdD7omMnE0pXu+oHo9owhNf3+V6WC
76jzd24pCQcP8LzFnbP3lbXjHbPOTUETCje/6rNz++/sncd249i2Zf+l+rgD3jSqQwD0FCkvsYMh
F/De4+vfPMz7KjJzZN03ql+NYEgUSVEgcMzea83F6djFGKPH0WHTINTJJfkgmYE6vJSb56hd4wUm
5bv8RcobfWzSTw+UAcaRlN8CVJeITGvQxkVz3tHRN49yha+2kLON03AENfJoMYYikEHnN2iNc9Di
gf04dYJa0a4YeWcCWSjkRWlzikfOJdsMthZZEPRbOUFJfjw30vBIHqM1xDgGmeDccjGQwAYOnxTV
EpqNz04k9X5Nmo+b4OeAfplt4iwh3IIHygYEmijJJbhABUm84XRMR6C6CS3gyOB/cr0VNXxWaosg
QOqcchBCZ8PV0o/Ak0COoXmmL15YVNELaEyEOaNq8EulPFsz79EY8L8Y2EjBua7zMMGYoOHuQ6cJ
BXAlZzrlcRljfjC/AHV4NrX4YzJxQE9ZGnq5qZIm2d/VGj55qWNYMWIqwreYShP7JyFEBqmSErl+
rYa/se28ococP2yAz2PHA6a9chYSLViFbYxC09wgZw/YhqF+SNKzqaSUsaPIdmMZzUdFlAWW0JLN
UcJlGb4FfSbvxnZ6IzWy9u2xu4tiyz72lKftrjgbRKT5HWYxTxk7dWtOjvQxEYBHmCsSQKiAXj7z
vpEywgms89jPHQB1SSSvjTB9MTJqtWpUEuxeRZKrOhyffqZKqCXSRpSU1zJiKI9EJ9UvgvYkljgQ
5lzTyEiAtxAxlF1r7mPS18owzNxJnhevr6TTYlDWYthPKVqiFpGwGIUPgenYh7If/CrDaBxJpg2H
gcAKU4FkWYT2RWIlX0wWcZsfdkgQtSnZztZgDJESNUa0TENRIYQFI25F6Aa6DVv+pQZWsI2tHE9V
SGgLudL87X1yRoSVsQnn0KL+BnuOi9yqCk/i00gMGvRaXH0LFU/3aWvCgDSZKUad6cqOFQvzoCQ4
qBmrbGQhYmkXbBdRqtaDkjNYG04NEko1EZ1q3eRVW1nDbAAIzjGHXecsICTT8SFarPdiaAw31gnu
zsWId8sh7+rkTSkaaqpBtrdZPy2E1bH+1iPE4V3OwJ4RqmxriJFsaz1I+nfY7/EBBY8tB30VXnKz
CA4BLikYE/qviBIG0s2432oJGs3I3DNSjZhN3rWm2TVZxDZd0q+q1CT7WfHZIEcMzfV7UzAp6V33
q4rJISIcixlQJ+QrEtvRSB1PkRSh/c3ip8bq2FkI8sMw0jqBk4ZpHOOkJq+UBlRTbeTJdiwomNu2
byXGfehIVDjhQ2cjpPuh90oHA3U/N4Wbtzqd1UK+4yw4anZ+hmv1UIzpKZQfwrE/yd6UkdJEfOwK
EMsBrjPULf09VLOX0eBjIJxm5RA5m2ThC/k85qYwx2EzFA+VqCPTK2G1WZVehaEHdsI6USD/jFaQ
+HNhXvW879xywAemECzqRF9qUmKd1cfOdeoYGiVFYFrusUcYfZ1iiOhBmtGp6SUEdU1iWyt9Vqr1
pbKR8Nq1+VjY8n1acPlhcYBHU7TfGXwx7Cb6ppuML3OJ5Add+rHzYdu3ofMw1VTCF3ZD5mRstFrZ
Yq99gzgwYje9jGrIyj8PP3C+JwSs17g1o5Al8kKfskJVr6857HTRVUDgSxX/jLX+bnbUTRhEJvTK
kPixKxicKYcM9YKbhSofomRtHZt+GhNj4ZkDw25llJAn7IkWYw8eOYnerdj40Ar05BrWhj2ihqeo
oGgTPlf58h0tVepjPOmhCdpvi4k/v4wkqIrLuSz5XCNaoSHbBhqj07UrcoBo9pzA4aSMMD3EdUfe
D0r5QvTgN5THeVUJd2lx7WqA1EZHXy0YSkDmzd1gwz1towH3Wapb6H3m5W4I4IrLaXktqNEUcvow
j8VVIn5xG3cgpYa52XRzY1CJC59tyufubcmlChmU3jBBKwm7U2JNkY8ZSFljh7j2Otzoir0uRuOk
OZibs1oq144xrGvTrNe4gtfoihg/5AZjSRr79KdeywJA9mCyBZpQnxOP7Jxne0ZqZWiHge5nrKWm
q49OQDvDWTYT2n8kK8HFyabzPP4ygMivp1wq3LFL9TX5cImf59Fr34c6ZAf9sejllxk11cZGudol
RJ1lpXYItb2hyePumqYLPRcTu3rc6MA77IM6jcVhUg1ylPX6zbGYVHPD+qGh8hOqDJuBqSJBiGJs
721JkFEO6yML7kB2j2ea3pUrAWgzS53dZ2QDw7V3qNPsrY1HmaDfBEmAOXbH5p6unoxAMVG8DK7w
pV/0u64eaXLXNn2PajEPdRU9bzW5vFamHy4Z2tQxucR6iLQrdyY3FxIxkO6bklIHFA8Sy5gnA9bX
wVa19PA8aqh20UMQLWhCCtN/qTnehykO8ct280TjMcabl8jtkXVdmSqfEYumPphSkJ8kHCS1Za8y
NqXrVaxPy6kPaehw9e9jvaXuwJ8+J0Qd9dYryGZW12o+eP3Ssp7WjkqGRwE0K77aZvILfGc7WwEd
I4XPhaDekFDYrBonizzLzN8lY37sIL0w09aybzjNO8VwEoRbN+nWeqp+9VRmPENdkDpo6ss414dm
mR1PaTTbNeRzphDFPaOmU6P+4CQ9k6IUnrqwuhvaAXmB1LCwNkodxkV9JJBgi4MNHcXiIHY0gUqV
MxENoAJXQ42sKXogQwKwQoK5ucDlLIdHU5ieAfXTH8MHnasYonMV/Ynl9DKpcQ6bF5rngYSFn1Lp
KypAXyG8mI+CHU6A29oStmvC9CAfyhZV4NZNQ+Ni4NA2cGorwrLNourEcUJvG5zVSIdL0Nmv89QC
zcTvXeH7ToX/+2YEF5bwAm94pmASj4RdPPMVYR6PrtnNSm4R1osUelPiOaC0sZmn8SHGKritpOgk
2wSyLn1ieqtKzxNYRJuZ8CBZa4sdQppxTZx7vzIbY1crQ3LX98VdJmzvYrSoKhppoRZgfqbKH61H
fPKOMMwHwjpf4aGfhJn+FqylC4O9I6nflbDcswmiCU/xv8KN7whbPij1ZuLl6I0SBk/rIA8qcxUa
zstA7foV7Ve1n4h8dBHb4LQuvrXsEUToTEk+tDcdbIBYQALmBlxALsABVfiDpEKABARSAMxfUk0Y
IHLDtyucBEGTxf6oFLiWpyJfl0W8nfAxSWYCo0wSJayOAGiiCdn1mJiLIMMJyEEtcAeiI4n2AwcP
Q0cgkAhDJEQLpBNaOphJmE2cyQba25GG/XBpbByWAXE0buZIT5YTtmDHgQGk7a4Eu+IsiAunDqJ9
vl2gNdgC2zAIgAM2oeMikA5SSzuWjiPGCgF8qAX6IRQQCLaVO11QIQQeIoYTwUiOFw0p24rgFhYf
i7MnqQyTgABMDMyFeCjwZdYCP9HDoYCWCWVeoCkQmyiHHFoFvQbaFAJgEVq0pLt+Xc8JVkEQFw6s
i0lwjcNhRKbem9TiFGz+vFcQOYXXClhGb8GFAZ4BQJpFsABqZJxQArBhqaA2QgHdsGLwG7MAcTQC
yYGN0x2cRSUxDZlXRloR6PMfmvbxAa3ne5xsbQH46ATqI4L50cH+kKVsYIsRgMe0LAwzVebaWc86
2Bq3PanIDvVmN2wT3Z1L2J5gGAEjWWxtkMPNy7gdJvOpETASjNSZWwlAicHQj8KHuHfQJQEME3Dv
wjMJ1kR1sJNpPZtnfGv7tK/qTdhG95WCXSBDRjUJQMpSXzVK1kr70mR1vdLJbz0tsTTzEb0RVsFu
FtZKQ5FCkSfgK7BdfHYkFpn2NrmxD1KGqZ3q+74T6BZNQFxSaC4OVBfUnZhLItwSXEPIFWC/lBWC
6AgazFLfhUkXnhoIyJc4S+s1oo3OL5qXAnMm8wmFHAGX6WDuGxmqg3ACPJMKBE0tYDQDVBotDHq4
zixLVbl4bTVqwMuk+ku6fLMVXAzQNsBCThWsm4hPjBo3yuL4oo0soTsc1+k0RYItfa/Dy0nh5gzw
cxpptHzLpOWBVo48+UxP2HABO/logynfSNA3qKuyIV00k8BuGD2ZgPUoUHt66D0FFJ/YVk+NwPrQ
/6tYyQvdxQtFI0RMuvxCVRTFnN49dOIipR7pzQIXVMANGgVACM5F+rkMjTjVdJJTxpk2nUAOxbCH
EsDFLvAY6HDLFrMzeKIbqEggi4hGUDYyFKMx0V9GrICcoS27MlLNl5EQzk7CklEjc6u/gnDAXjE+
2sOIWWL6NpYeGPks7Ru7fgumsPeLEvVtpDnUrwLnV97DXKqALy1apmyZNgvWN+0MNQ96nYyUJJ8L
HVEK/KZYkJxaMTvawJ1kGrMrp/7MgD5h7H/SBjlexwHGhb5SKEWn9zKgqPFGjGphRy1ApGpBk0r0
ApK74luCMxUvn4rgTpGZe4gEiWpBB0l9FfNgAI4hQ0R2nMGfAn5ipzOWSIGwf/HGLTcbw4jqcfbW
aFrlR5WiuUy22KdUqrbUWMBvFI6zzfsKnGSOt8yad5rgaZWyl4DXMiTrCQ/VOSMcYFWm00cB926l
zMSmmhg5k64lih3STdhmWyl/HNrPpI7GQ61p17wr/Gqi96oI3pcmyF9ktLHGhARm0m00+uGw2OWu
H/DYcbgFFNIn5RjVucGmTZDFQqpgq07QxuiK/izDsrJM3bhTLVbkddtSeSkuqkPjOSL+0cNrItji
IGntwb5ztBLDF1kTmwzcGZzQYq002Tfwr3gb1VjSLMOkydij77nJ8C0GT3wYcB0ywVOT8KUyVxRg
7UqIVUt4kgV9rQTDJgkeW2WHGy4geGljv3eymFwHsIF2rMfbNIs5Ner5ee7awKVfn61ntJZdDAAE
ZwOZ6PDgRkGGi3recWksBoRiDBm6dCLEiK5Kk5/1pD3OgjDXCNacJahzmuDP4VArBY9uEmS60STL
h+WrAbJO78ku66TxIsWKteWKoWoA4M4RpDt0KA0gK+h3GILWteDh6YKMh4DrgkX33TTQuCkRzLuh
dI6a+ZzFzoyeXmyP8N6vCuQ5jE8bQmk/2FmdFiBui2SfxxoX11wFlAWla1dRCxuoFGxmG5OvlrUn
yYxCbANJ7c+GOazLCI0tcuKh+I7nClvDuFMFJ7AFGGgJcuDg6F+osnLg849adhkFYRDxLOtZQR0k
U8rykUhCIhRMQqS2OoRCW9uOLbLxRoFtYqQ4HqeKujmKS6qlm4IkO06okUU95EPklk8WKERDMBGb
GTpideMkCmJiH1EbmIjgpdw59EbpaZVyX9gEMwvOVjVZwy4GwEjCWYHKktKjAZxRFpRGaWCJPsU+
aJN7KP4f9KbUlbVTyxk5vOA8Qq6lCi3YjzEMyAgWJGPzL0vQIamcRsQuq8M6Y6PkN8outq3sgkn0
WCokMXRhcSz6cA9xMcc7BoESRP2Fzj+mpaTI4SUprBoCk0JORqF6qFOuRWiWMhaiSPAtF0G6bAXz
cugmk0p69MJKRPNUTmpVhi9SZ/FuaSmpztI1sIjyRdn9Zs3mBnrVeIkFZ1MXxM1ZsDchc6LcbuBx
AhJZ9qNgdNIe6DfM4pQ/2+nD4kygIbEFvTZwfrToHQAqujjhIVTgp5jL5170iTqBYu0xOO2NGxH1
9/e3r3Av/Pkxt6fYNxrq7Tm3729f/X7e7T6UbaGLa0HmUuAVAPOCOSUHJFsDa3n808v88Vv/8SVt
wVNFu0ikx+2t3X4PsyFN6N+//I9nWvDeO0FrpeHLnhKv6nBDuf7t/f3xOkWnABOGA/unl23AxLJn
ijd/f+Xb93888PaXtIBnI0Ggvb10ROkJiqw4kH88URzI3wfudh+se+g4gnN7+/b3EZUFDzfWlAM2
xOdAkHKJ+YjcOKmuworjRbJZeohrBCkEQR2yYXYuAzPmhEEfRQ2TrqooXj6wKWbNfH9naiYsk0l1
duA3NqYMzTcUXN956Z8zRrgE4C/S+i+2/MJRltQrptjRR8XKMI9CeHRo36sdgaN94k0zxFCzgBbb
11hC0bMYyUM2fA5ZISMwyTtyndM7WXCJ8xlC8SxZeE3Co4JGb4AuLFoYjWAaJ311qrTlIxW04742
jqOqbxzBQWaJYRlr8pHvtBx/aLagvNSScPRawVCmQLEagSrLGgNqgv9ipRkxZz3oZXuBwcwFC0by
bIYMkcXQA6ozDjXQ5kbQm2MNjnOMhFJwnQsAz5MgPZuC+Vzl6mHs8k+cFaVX0uLSBB5acKIdgNGd
IEcDFctgekKT1sBKM7FtpQr0ZxcpQoP6oVHLmwFRo9ORwCpOR6Q5rkbNdjXgJHWNuMH8Bcc6Amht
tPM7shx2DsQzCuK1A/paFwzsWNCwZbDYOXjsUnCyB4DZoyBny4KhrQmadiK42krf4XRc3iAtPJWC
vF0JBvcgaNzlaw+aG4MEgHHFVwWzuxH07lFwvAsFcbHd0EBP4qVCd2RvCITi9dJDIDjgzUxlQNdg
g/eCEj4IXngvyOGd4BwtwMRrQRW39PRpBDMumfDGafa8L7BwKKRZtKOaz9kLe/DkTGo++Tn2uhPe
a8Ewt4CZx0DNa0qctaCcqxZd+Xwp7hjGfEeQ0A3BRE9udHQw6TK49Epw05HAgS9rzZcRpPok2OqF
oKx3WJtIuPQW0jZxqpTnbnFe2qXaGwDa8ym+gHUtPT3q3+WpN31DwcoXdJa1vmmezAoh9p/Uh5c/
Ipn+nCSr/kPYl2pomm7rGksldH1/FfRFgT6TakZxap5puuQk9u6tlM5CjMkzk1F3kHz4BGRX86Uc
YofUkVdhh1SFAa6SAq7tMCxu6KEobh+G/UHJJeden6AGRXhrUk6E0mofGQrC/+GNK/8QvqeSTKfS
WjU0k7r/X9/4QhiAOVOj3dEIBpNvGsg1KOfBXqBz1mMK99rEpqefRWcjieL9rEH++s8HT/mHg0f9
w9QUIYW0WeX99T3EyKKBTObxDrEG+JBM3aVKEu1Y+WGbXCxpW2JwWAfsDqSaJUMv78HRREX1/p/f
h/YPcX1IRXXiTInEU0zzb+lRaYnsHX5BuOsrYuYjG9tF39GelxkEx5bY8iUsN2UG8McO65OdKtM2
ptgyVPquClrpNMBaOrKgXzWFPZ5CBDPMVxkzuhKNvh4yTKMIVU6BFR4C3djb3dieKqlVyTugH94A
nRD5pqUPQeiD1KBhO5X1JnVK63i7icVXXba8/ec/+x/OXUt1iMm2LEWkjFni4/lz/qLc2VFHPszO
VNTcHdsKn4GTzr4SWuvKEHSnpTkO9cjecsApq1a7fCro72cLy/bpWOThsM3lUd8qRj7sAj262aac
VVMFwyZbInXbq+MjYnJtfXvn/18e/T/IoxVykTk3/+/y6F2WxUUZt3/WRv/7Sf+tjbb+RfyjpuFx
QAjHhTD+tN3//l+E6vzLIPqDME764ziYZK7Ff+ujdVX8iPt1xNS8A/13cLtm/ssxiYLjKSYyNF7x
/0UfbVCn5pT7c/Ad+maLsBnyU3XL0JBe//WUjM0Yr4DSRnu9f25LB4YAEYkwhgBivXGNsh/IIRCY
8UzrBYCb34AXoM8l29S2429zqn4tdSdtjaipYRSAqw4DDKaxc8HOlO/tjCT4vqM8yDA9U7A92io2
8hw6BK2oQ4X76YUgc1v5CrXReqQXdlwkqK6TYS0wiRYbvCzlcVWRg4sBYcyZVMLkalBmZo0su2lm
GC1LN6y1NiPr8W0sq3o3MppXg3qkWU8ViIKtMiavDsQoj/XpTEwQc7hl6DULkOxDQmONqBBGD7ZZ
HPlJ9mLP4XKQtR1oMHU90bvrMEsU5hy+jSYwo5rFXVE0F8jUVFk052hR08wRXa5I4YzoBcMWCeFH
jlmvHju51S5dYQd3FSLFhaaWa8ywM0JKcCmBKq/y1JD+OLE/glApb7SK3LMekRFKG0C5VuLb1Cjv
bjedqe7sup59HNW8B45GRr177pVym+aO6Q5SovkY0ElPKxqq+rH0gCoquTP4fW1TLRtDGQ9V0xSI
qke/JinFd0yj9Knntdi3KOBMvejFy0CxikXZ0t/7acZ5Jzsa+SCttLbsrNyQH3um+juD5gZIYaXT
pckGa5WQqov0unPrgeYdVczNklKMRabo7DGPQlLzyS7EDFe1T7moc0lTcdBFvzlu2KFEJkEo2lji
EnbOtgLdBojkIre9n8Py8HUDjEmJsKnucFJlmUTvPMlf4yg82xktaZxTBzgSb3KgHFK2xPcSGUhU
Rrocu2CgXUxBgi4s+4ptb1wXlH4ALlQHLIqxX5e5EKcnPdLGEeqKWSFumqUWIxQOLjhmwH40r5ti
NrYsCkG9mdkfN/xpxhxlj6jSjmJXSiInbeYQX55avAcBzASYhq6h1rB27BnmWwCzubbjLcp7zdci
9GeF2pewUaBZWa1s0ybqvBbT75SmNe1v5cGi0KhGS3cGIrZSNDU+pSl4qxABtIpvmxLg+FRbc3iX
1/mOPgRpbVppf9KA9swiOeaV2T7MLfxhIQnyY8vTapWdspL8AMk8FYHyqUclKYEBPXSpGIYz+KuL
VCv4GYoJMJNM+aqTqQeiqQk8iCchGIY9Jrh7pQ0TnzVfTdyN8mXnuHQQPbgyHbxTCWJFcpzGs+Aw
eZoTU91D/RtCVXRLqnkuS1s0ojnWiHhYaFF3veYi5IEcbhpHW2HbnmcIYGAjreeQ0DFsCSNO8nGI
8R2pX0aTPpU9G3OgbDy7kevVXNmYLu2Wj5P0uIjOpZ1EgDNrurSJggwEhglxfuWF0N21U2g1nanY
oXPIyrmkURLOlrUJc5o2ql/PI4W7fB1MsWsSx7ayUukcmQs2eAL4hpLV9tJQvkck2jA0Nq6tjh6i
IABRyvipaoIYQokzBz1j1PDbAh0FqilRgoimur0LpYbN1/1UZ/sIhahu6DSAU3Nc1aWG1MOmTPJu
6ea0/jFzVXVH9buQ6KAn9AEvHQofdiMj3dL6bSZ0lxSfATPogio61hU6G2VEB6stdPoOiQ/Ab7ng
pvzFlvYRzyZGSNPL6xJdxAI8OZj2sdZPh7Rukl2vRZ/UszsOXvpJP2BHCu1As3X81RQREqu0/Oqy
qnMrAQxrQNz2jJrEvhkmrUc9dVng4p5Dq1OQnhuWAUTwCOFiGDwiMf01DEhDGn1GBqSYQLTK5oIJ
eCONkA+cJ8KF2R0by6ujS8qqyiiMN+q25nyb2/7OrNrnOKuvBfuNNgtItaVFujUlNNvVglA3sPtr
HswiXRP+gqHOLlkexMKYFlOVGrixhUlwKixXhz3m0Q2FtuhCul/1TfVd/MD9wEaSTXt1ltkn4aXM
Ju2Q5PYJzeCOHjmMp5lwzwiFqQ2CBmmULER+wNpNW3tVg+yaZThycUB/V7G8Q7n8TppXta4H7S1E
Eo0PNH6dZOUOx7yxUd4qeUz9uiGFE+UyzJAY3y4sFXlFVfY1LpNDAKbMHcMFKCl7x5XWLo9LMfzq
ES8FMAe1ILg3MGRh6yflQf1VLuyFu9GhQ0pH5Oy0oQUdZNkrY2ShznxTM4rkpQWtiWvdWU8Ruw4n
Gs+yc2eTuEWBKh7OAIb8oWq+F5vMAEA3uAX5XXTT/FhNB5dM6Y84jk+DkiPWCabGY2x5Rlb9qI4i
9iLpfnSDRFFsPYRsSevJCc+hQdOBnnNVMHITLhUcIloXY0GkgarawTrDo79IHT/j+qhSlrQpkq1V
/CtujQ+9p/gaxfpzjeXABYeJUG1Qdy0dP9d5S2T9YQ5B0JLpxOpiJolTih8ZeuyWV29NaoEj80aX
iRCO5Xm2SpXFwwyAyzzDK/swpOGFnibhbfqPzQxEnHIKRYJonpw4bnV+r0c09VU6N56kKjts3aL8
rFxZRlC1T16tOBG5ycxqBYEo3myp77hlqzveHkwVxLmOxcRhGfg9NHmCNWBDexRjOHXdZ50Lwxtr
twvzby7VhfL5yFys92soXKuZFj2MeHql1PS3E5wbVksHwwFQbQMqGyGHODVN/z4ejFVgym9s0B/k
lCJEWOlf9XQf1BryVVNUfnJDh9VgkwptRAfKDAJNZB2rHvafAagzOs+LLq86nMvMGwxdifLT50yl
lUlkOC54hbZ4TB9Q7y2qpfmn6mTnjnhduSk+YUVcw/YFUctBjVHUWSpKbE7Z3n4K0i0Omuchm02/
x5xb4FulII+gsVunrD8WWnNWA5N6bD6WWUB+JzQx+oNShxSZy2+0xbu2nvdqp+zRDREVWL3Sd9F8
k1NMxo+FJ2vL2biu5CXaDLIGu4R1+iEu7M+i/9XhZd6UrVqAtm9y2L3lF06/Of3S+mUTpTaa7NB6
a4vg1IbGt2mpNBwD6yfO7qpxkE4d4uAVQQ45mlrnHQpugBiUIxaljH3AkUaDhGfi5y5Y04glC6xr
XFSHQjN7qLTdKWQn59upY7scJbx/jnqOYMu0LP04YV11+Fwc8sfN5d5qQmh/yEsTaW+LdaVca/vi
W9fCi6FwWsc0TOsoPk822vKobdahxUSaAORRWmlHrLxX0qghQnkd529SlV7Amh3zAnu2TQjS7Cm0
awMqitO4HIw2e0SHR0E+lJ87BQWNkzO0TLn8hAhvV9vmLh0Twcp/XXLwVCxOg609ocNlGwugWNV5
y4Yiok02ioOFWnVGIiRSh0+VncCqgsS9WugwIlEAgxYpr1kjOZtgUPyazsaUDptOV69O2p0SQExW
ZD8YykIJBA4S8otVE6IQhYGzQyrbYBK2t0v6qKYA6TXTeEJTWEG6xDI0tCe1TYilpO0kYoq2hV7s
mpSBjrTFmUYp9EmNeTCvktFvZThwSRtuOGXiVVCISUaGPd9LZr2PagGgv31p2L1DcgDl2ET8mPo2
8vXbT27fx3UdeXYPfOB23+8fqBx7GSkgr/b75vaU399aWC8CZY63f7v/T7/+9uDbG/vbY9I0OdDo
LTZpTwHdvz2OGbb995eM+/R9fv+q2lBoDI+gqNpgb5T9Y2mllWi5Q7EXNwq+zz+++n2fWQrG/f95
SN9o0b6m2BwEM/VT+yO//Y7bo/S/PvSP+/S9zDqVbTLWl1bHCdOLmyXvybuKA8oygUy39Xbn7TG3
G6PBCTOZTe625lMZ4eH/2/N/fzukCkX8zgJMkgmryu+fKKWZbmqOUCkaAJNh5HykYCeVIoYXJ+6z
BvQHY9ZptPtjtHtzew9nryYwKa5KwP4Tkpjbl70UXgohWOg39RgdaUXqd8xWi3FiP5EkzyR6oKlB
Pu0zU+9F+M77eK89QrQ7owodXZq5r0RGtM/5pgjc6nV5ZUUKpKj8ogHgY5thJb2PnxRIHXr+aGP/
2yTm3mIX5MI0/0nOzl0AjuEVnnNl3WdP9gXR5eoLszANzmY+ArnI3QyKE7kHXjWu+x+uX/Yq6Dyx
t+RX4glJH0KMbm3jj5GBJ0dlt6HkqZDdQm97032RUIBOGikk8QPlcCV+S1pWEVOLp322pwA6kdtu
IICukSuNa6C4mKBWwUv1lB6wR4ELHknnFNk9nvRIbbtnSjtlG7tbK0+6vo+UzaRMnu5TTLvLQ/eS
ne3LwmgBVHeDIEfGFxuymY3O+b58CLt1+QClE1MYt0S2RjhEF1DT6pvIDSP33KYeK524VSy4EKv2
Z7CZufo1MItwmHbse9CYb3La2ytyKEniYcs6IrgDkg1HcUWdjQ3mVlPBL7Gs60ngYVZ39Sd4/vrT
RBzds/Rxacs1ikPqbDAGDtljfhWWzAuyi23pZo/FY31PmOLKWAfZiq1ZuLVWGDeAUq/yD2f9ZqH1
dCfC/BBK0b3ZZ+u894iMh4wehwCnVJDLqKIw0mAYyr3kA6LktvHnN/1c+V9sTMOjc+pGb34rCMq4
Qn48hgBP7l8nVz3TLT12zYqgDUhx9Ks9tofkcLuXGgDS1vYuSLi4G3O6uC0TT3L1S/Bt78hB87qt
/h482Tv8DRvzEp8QI34Xn/w/cq41r+Yu+4yxTmyCb6lfd686qQ/JKriE/rJC4LkSB0DbOhhfrpGr
Bji+V6b3I1+KV1BsF2bFEuDjDqLLqmQz6sXX4P3LebYv9gWispG6uT/puyDcY05JARsaF4pIiBas
Nb6BbLXR0Wog5PbL5/onvXaSu5bxqXvX8u4cPrwZ4DC9JnMPFjkqZ1wAWVl7BtpKgpZWpPIi+7BV
jzAvl2SMjfIwIz5/Do7G3Y/28IBNRXJ/uspvPqtuZWEOPce+xG+n1v/8lHhwFJXDQq9yJdYi9xPy
iHfALjnXEip0lHWj6/gploNa+gGxeJ797lidcYADj3lGPzYcYkaczXKI0Z/y12feRGTDelc+kwoc
XpXF++97KWiswz3mW8Cvc/HQl1wBwE0Sj9b1KtwvRKQ/87rJud7UP+SDci673TYmr2b0Jrd6aY/s
UFTnRd9QZ6HW4y5fnGxfp+Q4rRuPlHtjFd/1p+bcPeLAp55ztk+Tzjn+gixwR4j1+kffNVvEqpnj
xZ1n+X+cKT+pu3Fc0DBQzGavef1KN81Wcu0naj7M39D62oS3kmNJIpnXS0/SXeDpMErJM2QI4nLm
w+QsO6A0CffiYLY/O4Ufj8/owWkeFueqOAXhzqLGsQ/zg7w3viSA7i4e03uY3sEWpd9ibqd6F+Nx
JdEVoU55gjp8pUiCYf819tHfrdNr7Kf7murQnn1Oec+CiSNXIj1ZDfn9eqxX1mfCKsWXT8RLRQfi
3df0vvK7a1ld1Pv+FwpKjgpp2DQp6y0tXhNppMNRg9ZVf7R38cOMoJCr1xubq/oN7lJWXljpUsqq
cZJtqE8unkIcCRdyZW4mrLG0SPSP4duAGNadasS9wE9XV4h8i2v/iuVzoq0+6fKbrqp70p1BDtpz
4E2vNYTdmHtoJxvFbrFWVKLAtp+x1eEqr7z8p9wAgWRtpX2OP4WxW1T0Kj5DGMDsVX3iZCk3HBU/
3EMZm5+jt/5+3AzWmaOzHGoXLio56Z+2Zy0r9kZq4RK6kLGNp5lEDsp81If38qTwESFJfgMFUxib
BU3SKt9zFYZuOdEFPnKNkG1VPKCN3fTP4L+ws9rHTvWlh4R6DeDgCHQ/TjOXjCw6hXz040/isbwS
M8YjLDvjxBQIwv6QeSGDwwh979owDht8yzFAf3gfM9Gvp8+ZlSqmjsqj/MMA7YrPnlJN+ZHvl9W0
RScjf6P+hqtknqL1sNXFuVcRpNy/5JshEB97zBIvUR8oXGZPV2hy5Qe23kcCg88PvEX5B57/ahR/
NIntQNV3cbTleiPSYkXI6XpEwnfXbWGb3f6F4275xAx2CP11+zyhbEfm7FFnvfNQWgb3xaV8hjUN
w1PfBuOKI4EVaSR5miBQc5N9yX2/sn8W/YwVu94ka95BumycDri33yKUAa69QnSLgwrP9/ic/xd7
57Xbural6Vdp9D0PmMNF34hJWZYlxxvCkTlnPn199O6ugyqg0S/QwMbay162JJJzjjnCH344GQgj
Lz2ifILNeQ77qLqwzjnegn29EV3RDberRNG3+au3Hu7cdcMZhTTqpmWvAI3mPnKScoFYgV6lz8Jr
AbG70qf8k+8NwnlmfRnYMcoIEgNiGDfJrbM8hLLiPZiUTeF5SMxrLTabm71e+xj7bEBBI11mnJMQ
mSDQ/tdlF/9oPQRjZBAw9qjgGQ3ic3S3OoKlv5zTO4X3Z/eCiee+/oHvQlTfK4f6HSdkm+BJzECE
Tra1T+MwLjCsN1546D/gIu3YBq/hR/AuHJRdfQg9NDa5gzYw5I28L9uHGu8LUr0H+SM8xCQ6dEAw
63P/ApNDcAIf6jHIz54fug00Km6PDCB/OPNw2idT8rmFNphdHiLWVlxv4tzXZVr7A12jTXUwFRBE
LtGxRV1l08277AO9poVYF3JvWjTGHXa++QC0m1hI0SBINCtIhxYoJ+Rw6p4/RRzj8gd1yA4q55eQ
Ik8MDfWIqZOseFK+NfqbAVZuvEW0fmMIHAgMhzxaPdlpEP1iT3pE4tL+8U287LcHR/TxNjwKN1CT
0NnL3O2sjeQBMmgVD8OQ/r25RF5iPQBLdv3Ao5vlBB5Gszar/BHhXqz4XEyFLsF4CUFdghT4qoV7
AwBp+laoJmXFOgmHqhD3EQAyREaM8AEI/n6pc1d4TpbyrNus5XxrfoRJC9Vx8oVtZ3xkJouj31VO
h2xjsNzVKnNFBNA2HFe0qSbjRotTC5BU3qhuKuCl+CXfG9wgcGelTKzRw8W7egxOwdYa3lWHTgJG
WXvCjrSFmXdJnEXdKp/ENs4TEmnJyDeENrZ/z5PLwaHxbD3Slfop5fidaIztSFTZeBciTwRleN//
1Hb9hBGQZFerOLpDCkpCXQ0Ej8dWdbTHWj/Sjy80pupkkO7XchgCxjEbUwUg5kiaP8BqoJUsP4F/
IrNOMdkk4+6KKz46rd3clmpbeeqP+iNUW6QEfkZfMUkj3qoL+xwWidvtxHYDGDhyZdPGt4qmP92V
Tf4owe+Cmt25NIkbTAMkP23oQG+YQU+ho8/EChuzl5goxo4fN4Kt3/p+zXfk8YBUn0wniDlxgXMu
TmHTHrAyLZUlO0HGFB6D5BziK3FK343XQHVM9TxBWaIF/C1Izj/3g9iXcaSkrspn9jkTqnLH3c4u
AoUH8tq76kbqQvsRTlGtAsfkxtnK+ixdtn+fPqf7JPHYz8iTM3ji7L2r41YLjxq0eVs/zXsR0U+3
Wo5l+jAdSpTV1ifW1XtEiyLxR1CP4DDzwnkHmiZAACItkt3AZ3qNFx7n82uS2/25eZifytEdwd6X
jwPCqqnfY2TeO+IT7BqhQ1htM+skaTtFPyntbRaeg+kNNVWElgkukNjy907ckBG+dHSYScGjDXhG
+XG5TDATPcPystolwZj9sL+QoC4HpB1Y89qFRqOx7zkFRFKMxEHtpT7h28DhD9rnKbsJ8McvKOvC
6h532mfLSTA+gGxFkRMCJ0UY7lyVI20xZ2vyqx7tpwqpiHuWeAXRoLQLB6QTR51CNJNREwFCXX42
Fp6H2QHQdqY89NKFdIbzEdoIwW78MX/GyWlpyTZOghut4deql8Inzcp7FDLaEgAM2HVg4zeHRnV/
YUgLsDsxiG32CCGtQfV7D2TSyA81lGWwZf0vdcJInL3RC1EDxLbBzm9W70/YPRrNb6fAArTysxQv
XHcWjkVLJu+2BiRs/7Iuv611KZiGwcHObcCm2lcVPSa7wthKni7tK4DYqx+wk3OOoFhul/M1xDMk
OtKOLizq1mOKSd9qrJPNj1D+nZ6CBJaCDgCXHJH/kuyKkHz6xANYPskGY/gt+zTlXK7Thzz1597J
AOUJjEsOEXFQ/TCNh0b0ahGzenDddqV+ju8qva3PSgC6T73DqSRr9o8cbBXsAPut+KC5OsOvoxpy
lpPEThUWmu78Q7AB6UsnGPsYjmlGxxDiQTTP5MvCk+bhZxdZW73aFC+N5ObRN0Rxcnc7h2aJYOmE
rvgaczJzo1R7QKsElicSJmLdkl0Rzx7uHA+cT5vuwr4x9wojbO8C+o78taYf7pF3dLd8S//KRnPq
HH6kH93xvdqVm/fqW9lOL18LldibJdjdd4XuIHUaRWn8EROY5hMP4cUgp2GJPtMWgJ7/QC27jU/5
FW6YQI+dzizl3YdwSxD6vaFcYH0oznCZdDf5Iu0ybIVjzDjeK68SUN4hoJq75nN4IZYWTn2NWXsS
i3hqfHzrcauClfKXpfJncclP6Z4L2nQ3bbs2D/xm9NaDl677ZyJ4hBsqvXRfXIpqOz5O3/1q60mj
HVqQuMVDRKMZwaqu3bx9n1iVlRvAvgQXSQ01LYwXHKIrN5SuBF/hUqkCFj6mzHMfItS8TutBMt3Y
W7wTlbtfPxHGymvvs+Gwpb+gLm4Ss47Fjc3Ljsw8ZuX0C4jpQLz7jUz6NG4jG1OmaScdUcNnlc0/
sVt9I6UQOWQfaJ/m+xrmgEcv6ld8kq5sd94lp2h46Jw+/U7LTf4TX/OrcQC27pLe6ae/zwNVIvkS
3eVoeRx75Ykkv6q22SXoL0XyhkNGKwO6ovaGXJGv7L1zSQuBtHgdmPZPCgmV9ZK8UpMbnjRstK38
Q4NJ+EzR6PwyKqe/yi6ZDgESGD4xk7bq9LB6kVyoVKUX0kvd7t4U7MJpF3gXrJu+VkPey+o5sTHp
PMVeUbsiGe0q7sFAypa+aByhC0guSrOaiX4WULgAFTW9ErcycRO/Iz5eeeyakPiHl8KJpEmz7j/G
4IWu/DSNHkX7oLhY0phvpS85SPiX+CowIXaV9NLolzj/RR3ihTfv0B9mRXMc1yssJAGNOThR6Ip3
ATvftXuwYG71EBqb/nE8Z5En7wIU7MhmVeUBJj4ofnof+oPJ/vphAe0Cn2tASzW2CVm9LS87KIUf
zbGRN9Vdi3zhC8GbREE3GKFoN/QsBNcpeO2AzkvtwJksvJf6S/PH43iPDsFL8zRyYFJ0jpsRFrm5
ia540Ni3xniBLCKV9se0T9Ax5dTJPaecnYEUwilsmKQc9jU6Rx/B73CDYFCyvKotba40vo0p/Dx4
35tSv8copHZ07Y/V8Dp+cJ7xNu+5D5O37t5eql+AibAwCVahqwq/VctQ1U7fs9sdFGx4bK9kI/27
znFdwrpAEA483KYotyAuaDN25LF0B9qfGXsYJAI3o+Ysw0b8UQ6+9UhufgC9S33ZodVAD1N+k98S
jwcppufwPI+7XvZm+ZAy0UUvih6MRzHB8VzcyAXyd3n27wbTMFYqlLK1oCMJW+M0vqX0QdZmx0/S
+JmXOe1pTn2+K8oHgTU07ZD3X9qTuNBrdpNjm7Ys7tx4QitlxDOGXs0LPd/KAA2zmchDzfaQP5vd
ZWoeeeonkQFwf0jhqRYXqyETyD5LDoKaHlwSAtnlp42jOL/SoSv0vWgcg8LTlk/+oyNjAcFZ/3dW
gkOuQBavnizjOrUHfc1D9fgBJPK2Krf3FB1pFJtzZxAOvAdqgr0f/BYXVv0XvRELRta2HXYm3plY
BtPXo8Zf+yMbfdgGHhJNihOgGbRtH43ggNKzQnWFgPQbfTpSeMy6X8h4qZZoWFZ7IbB33Gj4pvVT
0NE+t7uX7oX/rR23rfZiPdbFY0nHGcyu/tYLWwqvM+u+I1nxQXFSvb0MhJ+lcknDiBoXKg2z+BBH
pAMm20TStkdP4URE5W1oX1O1sZkjojrpb+w128RLEPjQHGt85sU+KS5Tm4XR9hcsWNaGrgwtBK9G
l+LzRThzDJUOQVUHccLghySqcuVwm9O18eX0jABsM3jTdr0h73wiINpGwCBsw1m5CnrwyRl00cMw
3b8ImJ8Itzdq9eqWU9XoyXn65G4NL+RahDVkgpNNtK4+gh55afDWP0VflC7kxfRyCZCxR1gytnJy
oLA4/GQYnrzF6o0UE8twZPTblvnjJ9Ftes0lHxw3flP0UUaGTtAFKZRparC1zmTt2a7FsXOmG7OF
Nhm9oKUzfUoMsW34ZMyTJC/1d5T20NLBivgi3jwvIuBNqrBDamC1eBcZU6auEF9a0xXO3ORVYote
oYq5ndufxifVRfO33pBXe2wy5bO7gSVDqo6nj9olNegb2T3Qb/5K959SiJRComdFjqDzDJ5DakVQ
HS7JiKRspeTSg5ra4Pbym1keGRX6A7TcoReiIB3QgyEtARmBqjt6CuXPqL1AJVjtevfJ7lW40RMl
ZPhphKnoho/FA1KhW/6EtHN+VQ5FvKCYSJQYbsI8T3zuKMCUlBIp3VMkBW/zeFJeikvqcra9cdvE
5AU6JmvtbtKhSR3aXYL4iUbQW/yehjtCA58mf5o+eSXCikbBjhndQpp6yUBP3XWKWlTBPSTnlE9V
PsgEuPfoNp5jSOx0HJ9hWlLYBCd0cxAT4MWy9kbUkrkz1BY3ZYsO0TOTZG0+1vb4HLEI+fkKq1MW
9Wca2tZtOrCRaVaDBDubJxY4nSaTw6es6Ci63BBiV06KlboU6ms5AnZjdC0TFSJGSlilPmvNSz77
jNoYhlK/pnd+lsZOTXKRurLm8dx5GoPGcAkeo8vEgn5xbDxEZHy1y++NvUOCjqgpoC4U52Hz+byU
hRYtzVHthemMuSust1L47UDHzDhVAWgBgm9P+ntheXq4BRhN5twqh1x7EQj9fGYBrXakVsJt1vjI
8KyLJ14rD0I2pTXgFyASrMqC2a/Lc1BtsbssKIrXCNNiDoYGyia7kZioqzQOMiNbPj2flVfmL4rE
eqafztPFyQ7TC+4N19spT7whkYz7URFSpjv/iiUoQgCF7NJN5O+UXCWWS7Yq3RPEw9Vhy2C9ZHtH
39X0zU3txzd+nfdZyxWHG91Rnhcb5cBt5Yq4rop0B0dm+F7Klo8kMa9nBMY/L8Br1nmOMTxwFnLH
uV+qgO+Tl8DSWdY0qNrwYQwTSAPNHuriiqdIi/Kd1clr6tOVcy8ACC++ctUZzcY6fabtzxd8fDrr
3ZqOaPyTTN+aSMnJR0ktocnCNFODVElXk1XCM+NaqQZRYCFz5KFyznNX8b8UaGjAfmPHM/EG2lJ5
PPUOrwZ0I6HBkTKjkqXbfEYeEVGBpRRoRLir0N4yhxHlu4VKr5d8RR74hKHcikiQ07Y/meFWooc2
wML2aVXCe1sXrenq0itrhS9pucra+tr/vDPvYHU7PgLutvQ0VEixzMcdypMKZD0LFeVemrExtb9N
IcurTtWO28/bc/AXt3nZc1v5fSbj6wPFiBVqLGsZLR7L43JY9IjihKDrt/wLP8LjGP0J3gzuFWQB
rPcJTV87w31FW28BnxELHa5/qRxejivnl/i8LIL1IVXANp0CZBsmrRuVGhRRoHV8A2HtGOwpNsKM
s4csiUaLbfbOfBrfeePhxpQA3fnY4325HP5b2hsvqNPm0VAsdugLp1TNqnoztAu7QlNRCfRy5dBp
u56pgCZuVIbAogP+jYfIi60bI7bZqLXm9DXDurtxUKl/TI8HywbhPfhBHjtXyGWqG64IEkp9DeUt
BJx6QT3pWgOTXOcHwEDJfp1h3cq2BCW5spfAm5jqWo5017MDzRMhpZlwY83z5gGoZwEopzsbD7i3
ZaKDDSLXg3UytY2yxUCSx8DPWsvaQMFrAFget4e7tkJf6biT7rBWgXU+jT9agwPkhrvMp+DneAwS
Oim4pdJSMODgYruH8OQTvxChdmsdmdexPniUqxNV7tcSChwogjlRRsK9TxBtkxkCWodx3X3Gam/l
sepx/GCwwbZA9a7rDyyy7qF/ZEAaQqVnL2Jkf8+AeE7cYzeqSVtA6fiM2NBxsTzIyEr0IRY+n459
rEWwe+yp91pk7LGKQoHRKHaPiKIQTqz+OnRvCTCxFk+FbJerJyBtyCWY+qaVTx0vv3i4fpTijtG4
pbggxlLcWjRP1F54xnxM3DvYexCB+JLLXRFclQ2GY5XBkbbGsIEqiGxi1jLmWm9seLCA6MguxRMI
x6Xa/d3+Te7SwcFKgDVp1k/qtPvnDhNLhW4LppL7gwATtXDa2GPhms/TDqwbVzYLEHfXvcj90Vqk
Y218z9iCzYP6TA+Pu9EubpluES9nFYIpMGRHFuCRIGy2jXKPR8eNYmqNRTVYnQzAJzeWCMTXjeau
hRQEdT53AkzcTgu0xGwoY2zlfzYkjL1q49GT++b6eK4sy4C5HZxACqDsYH3W14BronBiMcZ7bixl
Hh+J618BQQbgIjvSXTx/sSEu19oUfGSs7pv8aVkOvP26CAZamUjDYkeLshWIE1+ly0lVhkc8Uyx3
snyjoaW26YcZmmRt+0RPrKfo94MFeoz1VzajdYi+QKnmj+t6hRhIkWruZt1LineqBxYZBS41sErV
Vo73FNH36ShOgVsLLyIYz79th4mrjtKhSs9zjWR0+fIrZyaphdIChXMq1liBJY3f4nWDWho3XEdd
xa4sW3uOqB2I5cC7mDCCnkJ9CkTAYVCuQPrrO302kByo3EmoPEkFHaKrkQU+22DdP5D0TPCFDha/
GYq0+7I/8g0edY1IUE1R4SAdxZYcz9gs5CzhE8iuhM499NzILYkh8sZqt7oG/2HbmJ/rulauPEsa
rcirNow9a/zMadQDekFRg53Vtx6ASzq5RKCCNilwrhypUOxtZnNPHJZlBKIUSvz6jBICXUULSw1m
5MNWU/0cCdbQJTyX6ACb61UMoU8BLZCos0EbN6EoeafcrZOdFZ27EAC4h7VXXLld4kOlYKeByDQT
LD0/hC8QK4Qx9QcddGs7mY95iSA8C2FTWq9GAy/RAYO4rqR+B7IcvTW0MsUTakrtqqF0UMIzk72w
PgzRYS4cZNOG7r5OvWglRG4EKZ0dit8V+4+WE9xZoMkKjT1b/aCNYDGm8at6y8LkUbBkQfzTkiqg
8J/ZgRq9PpIsA5VwdPieOIzMEi2TdYg3mgf+idC+5hzRrr0Kn3xtRjteKozuOpdQ7XhqnOSFyGm/
X8WOmJnN61XwkyWyn3ypO1VPdPWL6BABtjY2k7VdM2n2PVKLzRsdEd7eQK5KX3cPEyfO7Yzj1C5l
ViND/3kNIOuZndFJ2xFJACgj8oqOP8um165sS8DpQfuMjCzPvRr2Mi+1uF3stt0XC54ZSKBc2bod
av3QFRY3Sh4nLgiwA7tCaJ2lRvrHl7o93JIN2npkTPbSHxRtG45bYfZEWuehU2HGyyAmc6vhgNMO
jRxut1BcAzIuAstfMGKzVg/ZG2uGLcUnIxItw/qw+SEWM8GIyMEjCkVfzHY8NCJPDmgFGWk2MheJ
cOkHgBACFOedoO348d4fqZvJlzNosTYJWCldCGN45mBTjjcUoTsUbdIG3ox35eyjWcaX3EOSM3aL
OFGjPjDB0Sza9uuQgcfKb+UhxBww4ydL4rCDkoNf/KZQnwWwZNrnmu/xUqQgqU8IyRYctUwAwklK
d3hg9SOIKfZ4V23pp2XKxyOYAEYyZGJcvfFFkH+gN0qxTr26Ht8gT2h/giyCx7zCDLoW1N8OpAXN
ZA5nvFcp+YSlgdePQp05WTlwUlWFPC0SPDQrpitU6+VeqbuJm7l+LTQF06JB09FwKgiwNRbY+76p
UeBcVQImfTwvZob2XtEZ+9VlJVSSAYU9kJzzCCW/0tVrXE3KXupLZW/VUFTxbRrtQs3R2FTfkw4a
Rd7NSAsJrCmxTnfiGDHoFiC1xHpTuLiYj/tANIY9fsmoRo3yKkk2KqI9iATxyaJx1ujSuIeVfqli
XfCkhSfSjurTqI+ZHQatAbFiInJ1qoI4yr1WTQqpUC5X5ctybyzad4M04ohqBSGL0xn7Sb833IS8
BpGtYpcCmt6MHQ6KqSHdJmQ9PX39zb9fD3R99oLUvPx9q0lXiR5FvP39W56n83aic1OstKBCnrp9
3urdfoQ/65s95pYycMr0P/+QQ1QkqIP5ZhcZgEHlyrSlmo3bqFW9D9Po//yhtL6mlRwl6MCRboiP
//6BRE++zFlHCL9AOujvj2aYUZH+99d/fxtall9e5Ds0lpBINDRQjH9/zf4ExIWySvyiWA7/iHSn
zexM6tTAfjLYIzF4f6cLsBf5+7R/Ut1NnaLp/ffXv2/+84urpjfITv7l39+sUmQ2GmqwrqXXg3QZ
bibrh/j7I1mfTPr3cf7++vdNiNgvlsgkER8kQD65WFNXctJV6439+2Ncv/xv3/v7h7/vyT12womO
fZkxHnMjk7xiQBrcWBDNHhMKuShEkymtnxtRbjfo7xhOx3wDl9HREQdNs2UdlLl17BNTdxG3Lf1W
qJ5GOjMLYDHNXNvb6HmNxfTbZmJD5Rd8hlqakRHU+xKrXHesNQYjC5i2hBZaYgwACIYivBQCQBlF
XSj9ViJd1NLzrLCinI0WZhO6DPjGcu/m3twI8/iAXpfuDaJm90WGVpY+UxJl52Za2YQmTi3tYC5b
azI/8/bWaDQEtUYq7vjaCjHluhjnoxeadeJDCmYQQpNEbfTrLEsPNf4xvqICfK3HYNNNpCczmENf
Q2oBUZdepySgP1fOnhJliRurHGnl0D9izrWp6FqZaRacqrzfacNOjKFUJ1lTO8HUMzU0qbWQwNy2
2UgfqlJdC3Kfm0/c6XD22qLrnKYvAOzBmw6lhoq8/p56LFPbkDRIp9sWVgzTUclnWs8hBPfQsJkq
oE2cUBUKTGWQ2cb2C2FOVDZWD3H6o5aoeNUIIiSXqDDyMn4uxW4Hnh6FAwa0CfVzaRgxkjBgkNBr
iBGPppGYBoyJ+vcBE0GKVzx9Y/1ZsagdiolsU7R0Min0HnIYbdM7/MAeaOYA4l/Z4JvziniZQGGJ
Zo/Rl6qflZgw0gHSpFTbTorA4YUemxoVDGB6mlV6wDxqobeDGecIpi0JoTT1xQlD65u8Vl1QIXYm
LUSgXjBoDZBH1mWyRnbNIBg+JiNvZc8nFoQUUKCAfDPisGeRs8voo30xhcjSx4A9qyh9MzqyUVH7
tBIL94yeAy7XIJqi0fsi6VSG4Jj7nSDPhz4aJqcWi+JgKQNECXw/BgPxhkxa03sJ//lwLLITdLCx
HIdj2wzKCeXk6zL2IKQY9EJBWQ6Sob3WsgKUYBD8qo/xLMD0sDb9TA7D61hcWkW3XhCdHRbNtUbF
PEBS3yVx2cHm1zZpUJUHTWhOhqGNW4yK35Ejk/BNrsGqsHntWjCuPUZjABtnHApDM14XEXVObAx0
c4zvYrWUX0a4bYmqftcokQhhrnidTj4iDCggmrEBmCFfFR9j8RAZkrYbQdImy5yDVBoh7yX9WxoL
TIGQAEKVkPN3Vr+NEKW9sYHYB+3jrAypvFfSZR+W6E0Oc/CBagN0jnQ8Ickc+vMdiTtvUCXr2KC8
CZ+mO8BbOWSB9KvMLQSaisYZIZ9ZA4AkjK41TUp8IRnwwIR5lEs16hqPnQ55tkVzYl8AjoDmtzMH
AxSbPFMkVUlmN5ne7mFI4fcbaN9iXuZ+Xup+IGWcBE37NDbF+6hnUNp6yUeD7byudJi6FmKjQiYf
jWj+NHGQdlDld80IytsIRaWWWn8i/1aRUVEk5IcrKM06VJvCAuvRLGN8SDhHrG6InQVVcBRoafsB
WgQGYtQwYGvNQBaCfEuTS9GTQ2OfVwMHixHMTtpHtQ1pGOVFYdmNSjFf1SjaJpV2YInkn1kgn8wC
8HpXTk9STh2HDR1mOUzWxpa2YdS8qe20Vc1OOCwxMA1hJUhW0xJ6itk+zSICMIqoIIVZcnRXoL/D
CKfEXvnRRuobGFcjPQGyIkmazxPz3XG1IbBibbloqvKCSlxL5wPB1SZWyAlLGlHN3FETQsLSqxS8
WTNMu1LSwQ1GTJFxSA8kxSkVaDpird9m+K97dLRHPw6syJ7lYvWFGfZ42B/7uFKufZ3cAwnlYIJx
upOTJz0sxXMXVEcrxMRFZp6lp7F87+aBoQ5QrLYRJNT93qfZ+p7mPt4ilvo7R/kGiHr0hOUelNNd
ab4LKOYcrao8BfWM0wWkY9gD4ke2QiTEgHmWWTXI9VfxMZWi5wKNTFtkkjFn0kkSFsImqn6ekBqR
K+UVIozgCmuhOuno0XHCjOTNloYLfCswBQy1myo0brZoGEdO1U8yBceklfFyWNXGl4q0sxzj7ojE
HnAAxi61yhgILQ79gHDcvcPAZhfC0GHwsLZI4A6HTRKfYvQcVSP/bQ0JfoD0FUBShwQ6jrtWiVPc
buSXLg8R6lE1BHiHSsfuYtihasZRq8q6p42UR0aDLL+YPUuDAkajna+CETIUUwYEbJHPs7Dkhvho
dUd5UshtCS09OuXeKMr9Ua7yh3Fc3qayuzR4YVJXTMp2EYejGleh38URquT6eFPpGl4Sw+bmlb4g
52gqdRi+GrpW0OqcgbgICsxoOdjJ05BRWghkdxqEpBZvHWaMcnaH/nMZMfNBR/ssYE7gGksOC4KE
vq7qmhMV7LyU0EFJhOIbew8XuweX/F39CES4zyz2x0KVaJUb5i4mQ9/mIbAOPeqx27EeJWjIYdFY
jEzMAgA39soYZlRD+2TpEqFdoKso6RRbS2h+xQvZZmn2QGV0+lSNjMiISEszLQwNbSF3trwUCxS6
VkBNsPSoEeqnN2fW7BlR6n3VQOJsSYYTrMcpLX4h7qNLpGsf1fJaN4Nph3FQUN1w/TqMl2Wx4tMc
XUyESEAuvc3qBJh1phqQD/OCI1ndTEd0VjCmjFDV10nM0W5/joRHnEToIlhtjV3TgBaeGtwsJkti
uYq4InxxCsPhK2yNwEcwXqu2dcXoVu4m2gBLuavx+tykUo4WZK5etbT9krrBb2TSjdqkCd6Yy2uM
fyvPh7pvntnG70bbogmzdK4mDYybJTT0hCU9S9NpVuLo2FeMUM1E8UYJI2fUWOmDgsMqNQreNFLs
qSwjqJLGWxNbu1Hu3zhwHnW0djflqiiBSwj71K2CQDtWVnaYpKWDbb72mMTyNlnYNiXg4OZs4iJl
CL7oV3pYFTIebBX4z3rtNjWOMUinG3FfnxAmoK2PZLlFh8CMBtSYp+qiSJ2ONg2j1wkiThphWjAm
S0BsSj9NnHOOTdCDDkpSH9s2Wq6ThsLDiNHHaDg4hFIjaQcJVyPPmKUXRU8vSz/qyIk3z9DWOSdN
0JsJhHRZJuRMM829ubAeUp1HiVAEqCYZ3es5Ys4pjpWjS1c6Zl2WtxQUNcrzYnEq1DahA97Rq9NX
A/qw3SfDUD+3wBaxytNWdYdH/F5pX6gVjywjoRtEpvS1VNAabtQC8l55Q+WccliDcAejaxf3srxT
LeuhRScO5et2zRMRg52MdrhTmlZ+Cw0bODBf5iaOTlmqvc8WcLdIbQ4jJGOaltJ7o9aXvMR8tF8W
XNvYPDqqOxSP3FxNV1dMLimpgKmXPs2e2iEdX8ekEQKRKesbZ8TPhuRSfS/JfV0lF3/yBgHCSRxz
ICFNdIhrFADZpJWM7OCosMADxrXZ2Eu7YMhNWylz+G6EyWKEaaGYcGWD9o41l3mqBzq7pVxuy3il
IQD4LCRNOkzBgtDbIG1lxCG21NPKuKxZAdB1zHK8SV2AMwIIo6DeS2mTXvvYShDVZLierrTIsjSw
FdBnBZev1Jfy1XKojgPb0qadPkI/Mo2eog81hH2WDRHnVUpPCn0wVVoU0hPfVLIZ6vccPpvaAN40
xas2KaXX8DUzoOAnJPWObizpsbVop9RjwZkni8F5NtKVL8D4JNCyJ1GkL6KrkvRQmZBhVVKbjRrm
C1JjJkx5dErZ9KEHDBBbtmDBeqkrD/AYf+rZiPfWUiKvPLXvvV7tMKhsaTlko7eU0j5oQG5bRlvs
G9poRcjFimZ46RQebrsQn8WFwlDDhg13d2BkeMph9SFqKGe3r4IQYy4mr64PVdLsmhk4OlUELacY
1H+3dPsF/kvbnQV5CE+miOmXOgp3yl2Fs/NrabAWV9vDoMd0bExmjb3wWBbGDnVmxoM9U00x4PjO
OqbohXGmGHKKVPka00gH1xzjdaTmKEmHC/it7nUIpmfaDhrlk0mU09ptaTQ1BAqrOga9gnOUnO1S
ivu9UTXEljrat0z68WAO/LRGWTvDEs2E0uwLC5Lg3aitVag4UJYrACdDZoY9qXORgQyVFNgn0pjv
kLxTHtRx2A20R4YwiE9oAANtt+r6zPoknCbK4iSaSOxEy9pVdeFbhllwMKX4dYo5VsWI3chqYUOT
wkIfmgqvkUo8thKvlQijsx7qmypUTX6geStX7WVcGd7xksIKKI7ZolVF6295lWLxKUoYFS4DY3nT
GgPg/4z6gxm7UwHf5yiuJVeZQoaUYM1bBEm9qGb6EUUDZVeenqdYuQkGrh+iNRvMPXBk+hwxS93M
UQVUQ9Bzkocmc5vomi3z87LMUMgsGsB9mZ+Ltn1C5GwrZGF4y7SXdhi+pgTxNQR5xE1FmwO9U4QG
ZXq3civu2ymHHQKCRCon8ArmfjDTU9QcFUl8bxYkGXLFOhioDazWRybY2+GxtfLhmorjj4IlhW1q
sEKG2NIwCMO0VIuzV318rspS+14wfYjTaz419a4vFsZAybQOnZkEtRbt1lQ9TRxILt2o36G2hm1n
MctDtwYLO5QZfRSUkOSWQDSi3/Ih4OtHioC0MP49jgCGz5XSFwLW4OEiAFKyIL5XQ/wVl9l3ZYQ1
Xd36ocEm9ViApRw4VY3F/LZaUXL1VRok7pbnj96UprPYoyeYc5PQrSj9WgnAAbho1MsPUjNsjTSn
phk7TIeQtu0l5BqHUNnJoULCH52WvETXfTAYXVTLdkJdw57mGdpBj3BErO9yFAAdZSUmjg1NjLmr
aIj3tRONmJJFcnWB48voombvRrX6iorzj5Jj15H07Weh88TlOKj8edEvaFbTkUZwshXIigxqu8qE
SqMiFo81QA1FH8D4pKIEYsHb4qmzfdTIaScDrEeq0SpAKp+ADVVASOfgPFjVd8yYsuvyXw1ZTBDy
cFAbAMxEGhwOP4QcOJEULlgmZcyRY4ZxGAIxpWk+CwkWVGB6c1uXO7RxCa8qpVww4PjRtq/TsCyX
THuwcpjGaS9kPpofBdhFRJUEgYy5pZdu8RpC1l67tIm8aMSy5v8LvRVd3M3/L6E3VAQQYPu/C71t
P0b0Tf6LzNs/v/K/Zd4kTf2XKeqSJiuqYvxb5k3SxX/JKiecipeYZmDQ+58yb7L8L1mRUATURENV
deTc/uf/aJEtiv7Xf7B3JttxI2mWfpfaIw8MMANgvSR9orvTSTopUuIGR0MI82iYn74/KLO6JWWV
4lSve6PIOJERdMIBg9l/7/3uf4jgH9rWjB8d1/YF/0T8TzBvwpW/UN4kzVABfRycrTw7oNIsWHmM
P4EHbU/nS0rJ4LNdp9YhnyEWW/QB4TcW91mSWW853VY3NeUxouvlh2Cx4xuHQ/MxK2qNrXB5NYY8
SR6WI/qnLfAswPHubDLhWWMxaaIg2GMCuB802O+pE8W27miI6F2smY2KrmNglWc3My9JHexooce7
31kgOeLwyKty3FgesofG9u07ISKliCgTGnj3MDA4zAKbU6Bx0ueQFemkqFctZXQp+7Fr4rWjf3DL
sGRBMcvjMsEXAeLbbQAhZbss6J+aaN2/2J2DsyjPbjqTBvcdB6XFeB+aMt442jw3FfMIL6y38GjU
KcqAjPf0CPAOPOiI7HVJ2+bkVicBLW/HjdFS0BdGtHL49Gv7gw1rbJQPHLG/Qlpj4FvLfZvWPcax
EZHK8r50an4LStlexsh/cmRbPwxdi7VhJrTVZMXTrLr8LjA+pPlU451EtL3SubKRjd+9mSD83tTg
2b1MF7vJJcRGPwQvNvI5TSE22ZiZg6P7eWsLAzMGy2c6jP1Fyei+mMLhDpTvRuSePFbV9L2qxuxh
7K2PVmITgneWa6EmIAuZiXj5tLvOx7nNulrfD20EfK/OmX2X9veR3/GUxPZXWKXehZ5ybPFTiqBm
d+QOluWlmXwGDl1c7uvKbx6LCCjNT8/cf0F/BW/4M67wx40MLdTn4YBYGIiAp+nnG7lYpEyt0FCz
RW1LZof9Qbm92sYTm9VQDeGdEojc/FxmGOm7rdBEazoXAqocjip2zMPAVJeDtPBxq1b7MRvEk19O
xFWWwX3kUOzp6EVUNdnBOYjYcA1PSWaDl4nTmSlJv3N49dAbJC65yOq7mtolbXVs7rFI8e7090G7
sDFoCP27FomoQY+Cp4w2QGMuVWHWpoUJOBO1IV6X493PPvvDYt5Ml+wBsL4Oea+ucS1AD4/vEAYj
3vvcqpoJZm/c6iEV89WwIaPaA5e5H41E7YjI4+EkEOB1hX7+8wV3VgzlT4BIrri0QRQBLA2oY5BK
/oZqrQMvAOlYl89+k/WbeEYv7OJ5Ow6xe+9GGNFCTKQRIL78zJx9OKVUP0z18N7Z6AAZGuKmmXE8
130LnrpsETmH8uCKoj3P7A0Ql+4TkeA5DtbU6vpH1MBZF2vTvalHcUR5VVhLe9K/qfsoyNpQaoI/
afoSlTI75vXwZrLVFpEnj7SdkmJL/HizBMVry2hkjKbkg0NhK/VnTXm22PIxI/GPeTviwwY7pILw
NZKTs2+bMjlSZDZihxnZ9yQLXRN+/Wm0zRlkZAk/eLH2ZKJNvR4OKsr66DYFmR3UnxLbBI/eKI/a
CwqCu+630uvPY+vgFWJxm11DwH8QhAIZAr3O0XiWeCoUdUrbTlodEDUIwMGEWz4Fsu2m1PHJqNKn
mSlUP3JsTFZkV17EEpObQID1LrkNikLMSm9c7JGxM94ViX8rhjUHX6PrmxQPheq/VguzwtgNz7X8
UJgKRhaNJVmHEyE3CMGRi1Wwiq9dYAWMRgYMMWOqt3ZPLKfQ/Z4uDqpqS/qdbUMSLbcuQ2zI7aWL
OtWe+ECF2wNleWiZBnFlngji5iYhzhEHGYQmzKY69leQ9nyyFwwRTtIHmxrbRZNn8oLG5LfzeLJi
hnodBPPbZajnU8MJya1RE33aoIMx6u+kRbhKB5BWcnvaNT6mitJFq44Eh79FQbwOgp7RWM/AZ47u
h0Fh7Krqb50HgqJ10Ox6h7LGMMi+lrFhzpYzkE/wLnadTbWwy5Ycp57DabZR7SZO7frUs5g49VLe
j+Nc7mYhdmETRbuGw+XDNON3KCBu9El5W4ZqPzF7hk6v6r2nfeat6x8+QM266ZvjzG92E5VZfSgL
qJQUit7LnDE6HOh3iI7Rzu7bbCdqEJdMlQ59yYCT+haMrhSrlKMzHVKbloghjTKygYT12Ebv5UKR
2bz4vJ6y6BzTm3vjBPVj55mvfRuPhz8vA8L9deFVth04TBVt1xWudjEBrRzZn3YQTjSENMf40ABy
piNjvA7Py4aCFz/Vm0HRKqRl+5Q1wXGekIuoSdAYRW5jC6GOh8VgbdXzCSI8Pi1qIf2iHF6jlsYj
wev9boimb0tkq+ekOIYEVPt+OhtMH7lqjkFpUcjQMlMq6hojSkczZex2lyaoPzJKzSgFmvq7UXEn
W9Gc3I64EpjDQ3+DOhY/2NDIMYW2WIEccWbKCJbHGGprHGFtpVv+5YVuf4ojdFqKQSEcwFI+LQ7H
z9Zh5EEHRQO1cVe1OTayGCPOOJEdVzZBSKYpTvhlKlziDrYsTi1R435lX7oUCtq57zDcYe0fLQiN
ysWCXvPjVwC7s515sM60bOjbzg4T8tXo7JW3dkRa/lrjQdqwczNGRaWlTs1svw5F/D7UyRfPivSe
qQQqqRedCqYd9UCpXq9m6uo5dMedt+xKjTTlS4jSOinHI1WFVEESA6QLwjp5miqDaMDsTEs1CUzR
yfuxdGugO4UNZI8qoFllBO8jvt5uSkFbTnnKApBBkeUbdZLxYHSd3XcTiLu2YtpdRWN2piTwW+UL
PK7zNbF0jArAJJImAXN1Urs/5433QiUXMMyCwoJgXzV1ce4XUug//jhMQ//9z3et9xvcmJvWZfPs
A1j2HAXv/De48aqCWdHShlf6m/RGD5E+hV6tT0vnmIMtnde6LQ6WtUzXQX1NFz3fS4XdevXQJkvz
meot0uyAAS07ZxfsTGZD4wxgn8yZzsXIMc1artZs0uOEOEmsO3iyVD5/CkrGI8Cb4+tqBFjx/cle
4rpLqATZqoDqtVq1ONuCdtjIspjuGwolb1y/XXZLMuVnJ+r1TeGNIa7z5QsyusCHnK0zM7xbxr0f
pqcypPJ3CukS8KgGhXIv7asKcyxC4AM6r7VfdYyL2gfjO7rMPNkJemdmwh1PzmNaTPSBh7m/94GZ
NOAFd3++8PI3vvt64eV6thGM/Fyf0/qvq0W5ZHS/xZF/BZzYbaeUgQEln9HuIwJz+FhOlGHaEuNY
FajdSABIW/GK8erPtULenjmeYwa8lLGytk2Xz7s5yTwSlvWrHdqKqovIum3loC8Wdn7eKyCQ6F+7
lK1tQVrIT4KdwV1YRTSssWSQ9zS0Ajk5ZwI11KecZo0XYasHVC0qb2NwZUMcM/UPy7OXBUwBbfPc
4T9irp0jFoL0tCREtT9fI+Bqv+ys1iXVhYFPt4PjAAGUv1+ksWiTdpGjurJH5I2ZZs5DIp4MzN0j
Exp7z8/86Dmr2WCY+qPdLxPHlZTJ3CCwpw8sdah5sOFM37H3nRi4hQXbWkneu/aJZJSZFrhhBG5F
vdzbmqGQGxYt63aJCl0nwzHrknu/Sd/ItMlDZc5xMZxtv2aGV8cCrQP2VBDBiPLQcLXxv6BYkj0t
54VSQBLGk6sZ4cLwDEzCgKfYiDogAW7jOK7ZMW6cADVMBOl8ySWLXJbA+wQ8sbPsmROOxkTagMY+
F2g/VI2N/d1czhgPMxgkSfzREkodyuRtsPr2TAMopOssvvc9l+D4HMsXW8wY+7LFOxUGuyAbCRaS
YxQl1NknBecrsKU3Mb1/e2faScsGTW2w7SG6Yz1vFCM3HsuRs86W0lR10wYx6djKwPsuPLFJS2KA
1Z0jMPFEmkSLxabpUcgRopRuoYKiftyPYC6ceHUmVt656vP+miz2zurIyjZd411oifZJQ9jxWavk
Y+8alg0zoQZkX5xp6j4HGb0VHdNKWooDGiTdDeN8/zEcXLigt/Na8NjNIYpAAaFY9K3c/3gDYUN5
DFigzpXdXJLaeshHETy0jdXugjivtrh2lzI3F0nJVGMToadr+bbymZoDA6kUEqOT+taxjr07Gxjr
q5sV+P/nZH5KmC3jGgaqNdtvRReID+Ok77K8ZXw8gd20JfbE2UnMdhiYxndWUJ7oQH7s6g+FU4Cz
ajjlOB0BXUXJa2lYeaJiT8zbPVFbCRF56E8022lYKeNfPkWGG7vyol2dtIAbnCJ7cZNjnFgxNuio
2tUG9tWPvw0is/eL9Cs6SnU3T+zieKQ49jrw6QNN5j3jskvcEOyWaGkfu2fXnQnsz1ii/C6CqDJF
9j0XN/jnvOzr9L+ivwBv53NUlT/XkbCY/f4UU+jAcVQESv0Y2Px2Ig1KUfQmG5qr8tgcTOiTm1r1
RLqZqFx4KV0Xj6VftaV8ACP97MQhDbYNTJ18nJr9HDaIi1j/torT3eTCN3VTCXM3fKS+5Ek6aflC
EtFzuuXJdtKYSuF5rXyLnQ86MDiEKfsAC0swonJqNPlA7W3De/vHOuu26DwQMce7OJz5JqJ+hCMe
fhuC4Wrnrn6hHx3QTBdchow4piMgcIcMUG55ZzK7rDEqO0MwwTRUJNW01d9wcKZDfQSZ4lteeAhF
Hd9OkLFZwBkn5yNYHmsOTtYSBJewqaJDD5f8pvaakh8cUU7fuydQnGijWuPqLaP+k18vd2maLS+e
ALyVR3a8bWgwvi3rp6HsYOBbVfzBXZrmkCX83Nya0pcifPb0+v9G5LmfwgAirjQ5biANCihkdbP9
6Anx3b5nJEtxNF6SNPRAlwR4Tdkpvhl0hNsY8fTsNezzh5jO3Gi2U2LI/teiispr1NuEoiBcn3yX
6jniuyUY/JNYtzNRiiM4x2W3qQdkb9Ra69oJfKrMEPZGE9FMFG+upOzvXAxNt0jC7ObRuHZIbfuS
zd5N4RfhxWkqfWNREnEb22m3ljwjU3RWeTFTxlxjtF6TgUF5Gdb2vp2x5vlezzGDTQeeFnUqHfyB
cXNS1QoCDvvlNqzwF/QeWEc3hlpXjKC5ex3tQpCYSIVey62DWYJG2T475HrliETpW5xiz20m293k
PTTtMhIY7HLNGdaAM6Kp6onrsFEm+4o6KZ4rr8v2qnKjY1KX5sHDoepXdEd1Y1N8FdAN6y78jFVh
3oQdT2QkRtSrKsGFr6mol6g1CWy4Ku/zD7lQXxjYiPtm/buu0Sf8M9emyd1jzjDzBfdcto2EJKCR
vBbGch7M2qcQxq5/W1N0uwuMXeI+LkDSxTq7Bo4POKji+C2z72E7fvGawHtK0bit6BibcSGI3KVu
9ZRY3xJMELdd2wanOIeUGPklTcODCjbCroIPcskBaFaEIa2U0gM6BdQtr4FXy6DKo1EaDI9QlkMM
/m7M+3cyYCCcpaASdCae0k1lehep8kMdVf2+t4Eu1fbL4JJ/qCo3+RQMxaFpIQ1HFVh8RYNT1X0T
bhqc5sJpd343d5gPkl1EM8XFZsD9NEbdHdBqbxdJq2R5refXLOS2Y3MUxx0ejWnm5skG7IBUnN3O
rOLnIi+zgyw/1RO9UZJakYOTqvMgoeD7E/EYa5jyx1q2z31HlCfXDbQFpfP7pW8GQniMJ4dkYk9m
mRkTd0pWmC7fgD0UOT2NTQ0xm7sFKoRyREya2sdIOw5E0lTNzIHsEPUllziq9WZKsMyUGf5u7efe
Xg44zrtE7JKoC15A+Cr3ym7lzqJ24hzI+APilEVK95CnHRTDeUwZg6ni5NUz20DOT0BvZXgorMBQ
bAnY303FcBU1niH6LOwOg2kOsx76EmXrk2JwKoeSIBiwZezHbniUWQHAXCXwB8VIAtokZDunEU9D
Mz7jOsvBUM/T3h3mY1HAffixbZ7V5y6v2zsO789LOGe384zkXlqzc0HNzDU+nj79mqdjvkPYt89O
Y5NJWl2tfhhjQ8Nk783h2Rqb5TIORMl03ZBsl5LNrC0AHgv3k7/SdIz55IvFOdjFPN2RQCAj2q0A
2sQfL/TYvi8Mi7c2NoSbIRivaAiai6Yh2GYtgcweQkYNN6Qp3e95g8acTWJ+k3OJPwstC0M6a5rM
2mvWejutX4U25ceA2TmGDnKOmEmR5di7//NN+f8rhP5GWXKZVyPH/PfK0ltivmI6SMqfxaV//Vv/
2SHkrdqSo1CXOMWutT//8X9qhJx/BDRoOVpLN5AYsvhH/1kj5P+DI4YjKf0JpOP7qyr0L32JhiGp
XR+JyZOOHTDk/Z/pS7/sgWSgtfKVazvS5T9HsTaf4ZfhkLDjrFexx/JdgZwKOypiuivrUEsBBo6a
oBriiyLBRP20e1dGNXtDG/mTwfOe6eH9T5fvv9iTiV8PVv/8OD5Sl5ZCcfYXqxr206wq46LUuAAV
MSUnoPQjJrXufB1mv36gxFXXIbaDAOShNdQPox7zvznZIdv9PDH/cTXo5+Dqau0GgbN+vJ9+vE5p
CtGOL0/tFH6qgqF/VlN48DpTnkbEru3InB5eWMeEa0j2f/O7r5f6//Y5/fjduVXWcYfybJ+J/a8/
nNEfo6xMyFNWjOpzxTK1xwSE/4W5a9riSbXS6IRvKKv8hVBX+s0r8iNNNwV+YNntmVRTxRgzgC6o
X/q7KeKvY4F/fjjhKe63wBaa6cCvHw6ha5htq5WYqA1hQdN8UjnUgKYBpVGYhCmtiXkVy4h8V0ky
MoHw3ONfyQbnOa/oJS/NTTNOwe7PF+2HhvHbReNpENpRnkDPWJ/Xn7+xqcpN4U+JPMVDKPdRE4Je
62qqQui/trOM+J9NGNQhrJhyYN+YfFDHvCnUERUg2WcHk0rn4BrwAXkzM7XvfM64SBajH6UPtjhq
zaBn6ttnt2JAPvuS5pAowRFMKbQXt95TX33yGoYUOpOHZJlxOiRR9e51+oMF7v9qZfUjJ9GMOFq5
sTnSP3l2uiMKVR97PT/1Ufidxpf2KazgaScmwMOb+p8srLa2U+rzn6+WWE80v14tj9mFh5QsfM+X
zm+KUCrisM+jUJ6SCms4cxJJ3EHgeeMy0g3OSX+ZGOUnnOxuaKL6WoXYxf9fP4ggjrDWGQoeqN8e
tCjFQBfTJHhSQTceezu+LxjZXZd+2tdOB56AfWo9m5MMoWN0xR0ix/Ty54ux/q6/Xwv63qRC2keu
V+vp8KdnPenq1vKqXoKTjL9bzkH65UIuff5hWpToWnxHf7e8/TrVXJ8iz2bFFz/+yivht7vVHlLp
4z6WJ9cmm9JWakOz4XMVBaCwqLhOOfKAAUkvTodZKlv8e7Tim7YR7mvbqr95dJx/X28823XwKHgu
uzRUwl8vANEbMSyWcE9V1sF/HN0z5dr3QY6TPs311Q7mr8q3kk1R+tQUJeOwW4byXrD9vDNLiUqK
2HmPJwLAw6zUcQzmnFay/OraQNKqGShi05I6C7rqXLRm3mUcSn/4eHnc/mV++W8P886/r9yeLXmP
2eviKemg+fWXCR3hhKGXSWYUc3UqcU89tG2E83WKi/2U2hwudbDuhwE4KFTx3Kh+G87eu1vVzdWs
eaQaHxCnKzhsi0+f7NhCkKzj4a4f3dOgHOuSG2wDdqw3XoFLwu4xoloz/Y+5j0qKXgVsokYuTHEM
Hf58r67T7t/vVSlXa/F6u/r2b49LlmtvKrKa+yZTDemrmkS5vRokyx7P5fCxj6Zq++cfKX6djvzz
XvU83CfCZxvi/P58TLitqtZvAF8yELoWUTQ/Mux5FDUgPc0QfKeLIN7HOSmiH38EK4zkW9aUxd+8
lMWv7x5e9FJiGvC1ZIfi//uTWnNoy5umto5dSOAjEfazzHW+972IurApIQg8pjYBCqLJuPBdWkYM
b0LTuofAMf1e59EmilocEmJo/+alrX5dUdfP5gfsxtj08WhLGrN+ve/qbCH5IHx9bEi7e1aOTU9x
ogZsxlyOruXN0MOv4rPd275jVo8OlQJh8LC+V6IRiI2z5nbQdKwT9vrwxpuSg8JwtyOjcspCpfdt
xW1clso/oM5tNbsyYKNGbyeHfzGdlbxx5hDveq/O9JJF9/TWi0uQeNRQdwHnNxk+2RFcmCjQ29Ko
Y9fWEfCNwIbmgkmSaV17yCiW3RcZ+mwLvZjtEUi9JXE2KcEHYWG2lVFtP46HRFTV6c/3GV/hr3ea
Yuvr8w7nwSUe6K5Gp1+vISHnVCLFSSbAzHaM8j7QDbTsqjVZ7JXFgzuFIy/t3t6kVkd2j89ODIR8
NDs0gjjhGldOiTXTfjKV2yTA+2dXkKMKd87uUkLO+Zp2TtbcM9uu94Ig9LImouNJVjfxGpWeU4+o
tO89TetkOV+z1OjWw0YQhs8yxz+WAXR9ws2XZs1gcxqFnmv55hjLaL5tdYj8vUhi22Jq62NaMGe/
lWuY+8ffT2nubowmWGq3Li8ZMiM09RIKd5eaBt98GLYjfmoMOhQCUGmlQakcwn6cLyVzjzDvi5Mz
RuVt53gdPgOfWwiKatcQoMHqcmDdSJ68jvJIagrg5Jdv1GQOd/hir4g0WJHs+LBuiyh7fJ+TCXdj
bJ5jp6F/O7YJWDUW2D/PCx8y5XuwsamqYw19GK2u2gzNgsHcrsc79v/7Jo0NY3AGUrWK/G2Gz/zG
n40+dxHWqUqPwDQUnGNZ9iQ1FsBU/oSYYBdWifwt4Kc5H30iYtzA/RqLmz4bXsLPef6elulHyAR0
midbgaK68ZlfnI0E1b6M9ltFrO+uF+pz38FRqA2ZscWaQcSIkFiwn0Pp9RGQumJwj9jEOZvLOpGk
eC5JD3LYcNhfpmo4lWsyv9P+Mw1tGtU2JL/addh3Qu84L/OHtEzGM/mZg6PsGMSM91c5BcPOxLrZ
5j5MGreiu0iSIyW+3EWPwwBY2yYU5uYmfsdn/yCDEjUgGa4+OUwzumzku/7qZUN2DvPSu4kUdrcm
zeGoVPGLzBr/KRYhPYQRG4+iaPfj5HUAUpscjn/+3XgmulpD+D20HcCKKsOQEaNoTh2pSaPy5b6M
XrNatwgF8ybpS9Ad4Y95VhB8HOt25ZLeN+non0I823s2qv1tFvrjVuSDy9x0bl96ANC6rfc9/EJi
TfM1KGKGhPF0sRQAxGItM0UTgudXlHdCw7shfSQYRDIEXbBH5Wo5cK8RwmthU1mC7wYRPUOSRynO
UQs2TdQT+V7v8La0iVeG3Kma/0XM/rtOWnOqluob40Nm0cQGHsegurCSwVaJsUVDNwAuYSDx6x5x
x5gvFo/Gh9D9lJbjVZPVOy90x966nKQhZMv0NJZEoYjijM3cPBs32hMHDLFXdOCYDf2PKbY77f1F
4xi5oqJtd2TqKIigPYQx03IyORlFmaYxxIE0eprT5rN0JyAtKOcHE+Wf1249Fgx9Yf7TPPIL4gBK
WyIETvhZaggyXVF9t+RAu3UvbHBiLrU+fKs3su2Tl0hxh+FXMiKZX0lQtQ4M3ajv/W/dWaFmXiuH
jHgdsPGWvts+mBIAk1cUx9wu3Vuv+Y7kaN3nynw2edc8SIhG2Ju+RDZugbKfzVZlLlPPpP2I+JlT
RvdmqvY9AUNhKhU/eBVVWVEYyc0c6Iy+D9oKR989KsMPnCoYLB15nf3SMADI+vzSyxZQnsW3ZReo
NSjj9m3pW5QSNtZry3F4r0aGh22O6GV09bVgS3GTAdYuhKgfSWyaOzz2Z6Lg4b0TewBnl/LZnmh2
97R7N1jLe6xmeL6ERiBz+PldM0DWbIZ3ILFpj+tOl8Ak1sahCJY9icJeeOckEIfZgA7UEE9cYuJh
4OzQaoihqZZQ9kjlYGvAJViVI16Yy0WdH730a4JC5cWHVqYE/0QWvjZS/hXZ03wTLHPGMZpPMlAZ
+5TXNeUE3qhfe51VYEZZkVLsb5syttUNL+vykPjyZmpzIAJh8zaxQ7sRMmoP7ep/KQZ6Mecm4Xkb
9u7EZN0CqTTJgjD2ZEA5lWp+ic6TTYS3kMTR/ci+JJXO3iEkkPRIo52gAxjqp7ozprHuhk48NiGA
oUb20PBNcG8t9y0jRHCsnBJLTsY7p4M8mrZtXN+IIKGYpCexPzpLzn7xeTEOYdNJNnea1ekJ73pH
yoCoaaBg8y0MIPH54JoZdkVBE7SdmpfVzHmKiqAiiKLfw8KrrsWioTx11LN5I5wZ6Bru2yAB19Up
UqzF4uRiHzgXjvlrIcFKZMod7soQW5AlxMota/ptiXWTM8MmjuW8pQds4iZxniIG1bee4iyBLyfm
0cXG63udpIAyf/EtnBWuOc9DS2NU1fQbgiQRofml5rRYT4+YbFdcB2x3ChXPtWN90C39pSFTchoS
I0xefc0xPsM5GLe+tc1/cABayqotCwMoLsoHZ8woJ/Fpr2hG/bEx88chT9rDVMh+7+jmk9WwzY5m
iVIjCm9rR1DUy8YOD9mC/lavh4sAVNW3OV0TiD7h9ozk2U0/MTVqZPm9MC5FdJYiGh37T53XFA8B
mjYx7nqifipAhO/aJ/bhCz9Or6QmtWNiHZ9yIwlfi7Y6WmpX+1N5tGLOL+6MkYnYsFfFaFwUUJtd
4NrbMSamTq51JR90RMitYY8bktAZHAVrkiiF3USio01TsE4UhXpjj4Q1gWExmDpwvwYtAq51VNNE
x/LgEHJfhvHIOmwDVEECmH3O4wPGImzaudDeQ1s1ze1QpTihZNwB8BL2yRnyi+7bb7AI5vckWjdg
uDTxz95PRm5llvYXg6i3CUWmty1mkLRxGfQtdbWfShdWcMfIy2GWysvfSXdIMu0mm1kWoyELDiFR
vu1QUDgQGAc5X9MslbpFCPQvSe/nnIEDBFRLERniJwIW6WHiJJgY1KccSQs9UdNzzs1FOgtRJV4G
8sNF65xlfnSLTt525ayIUpdAf3ovuyeN3O9dD31tagMSI7m1480otuOi//K74HtcDSSkA/k+lN63
uk457kray+lV3eAs+ZJZJLQcU9DDZg2PQ9GpnW4n7n8H0GILeStslzM9mBeMpxxUZPfJsfRdRz/V
zP1diJp2VvHuaoeny/GQC6d0L6aEd4f8WtVUBsqh+NhXWXwYyKeBAgdALbzrVEzTLgyUt8EoD176
tA7DJngZsLxpUxXq+1Tidx6c4gt5wjc0wjsfzomXYLeqqyJiE6d2wAbgcy7meeKR3Rq/xENXv5ug
zvYF0uh2LoAmNxMkSh2FO4Kgm3bui7VD8l42bYjx0dxbTjAd7HJX9qLbBS/DCN0c/8lrwF9nwdeG
6+9dTZm3S+LpLlANbE9FFjUaqs/IKJ97kR76WXxVW2y4yJ42rd0zWUqILfJW1vJQtK9WnwAuzACe
Jcq4t6365uRkwU1GcCwV9Hn0pAcmvoxKYoENNAmpqqZktIbcMQ9U8IK4qNkYZyCeawMKKrX4WuAX
jXMlb2lteBrsBqbX3G+Fi2XHJVER1LjY6WNoKU6NW/Lx4IPOzRRMmwxTALRkxK0yb9j9epvK9LA8
bHyfY1JdqlR22w7cp4Nc207dc18Te8wbZ7iD2baWdUtcH0ZAqpBj/hh1Q74bFtqVVgoENlvOHhHG
eVVz2OkIWTgZL1ki3tagAORa4KhI6ROfrQ0pc2Q4cpghrdiYJjn0EU+gEp4EwG2qE7gey0NDAt7N
PvWZ/V7ERbCT3gRstQeVrMoHy2/3fYgDh3hItOGktmGPGOw0jq9NIKmabZK/OPGiVVKT0sqw3Ayt
fOXF8Mhe9JtcPEISMW/uCHwX+85xI2GIBFaS7B0jd25L11a5NEDWBDnZEpR9FsQwykGqddkdwd+C
JZRVzrcPtdX8NSuOGHhwaGiq39pwBMbMKEmhp227yBLAdcnJxKwWRYEPb/Grk0xJOhdu9syp4riM
ptr6NTRGPui+jCj79SoP6iQMDiLdgH8MhpO8h/IRZt+CWP01ksa+jXH27Myc7ufJf0ngO2yzJuZF
kIbbAj/rxouisy3cZud2zirsDSA2ivCpqFe9fLzWbIJZP0iUSkt/HSyWyqFlTI/sA4URClpgfZ2g
ybuDenZHsET2GMIOcb+55B9Obs/gHHzSpm2SYQOTd9JQkwWhm6UikUtbN/daR0pS9F/c8nHJY4jP
2lKbzN9Glnc7LhTKZ1hUAAGq8aaqvuQWDMGujMwhI7Y8jGarVxtCvuS3vtVsxVyacxVAie7Ep8Eh
L0PcAXiNhHWZD4fSJzkoVe2z0k7x27LvMA4FBDhAm2qYadI8OQ7/TSuEtcYHuVMhv4WxPSoVMbdb
/OdAFWeybi+FB9Ai8J9KjOkbz4V9bIv8qLxPAJRo1JbV9DDDYcc3f+OmIOLSIbZuRp9rzK0bcP2z
C3baYtuu5nfJsGorC3kMOE2wVHxJ3qsJq5ucps95gtfF0uyUA3opgp44OS6VzrDPV0VKkpBmw6Dx
OXFFV+n1GHMzt78J59jZGsyXacvbtRBqn+X+GynlW9w/Q9QS8CZJ7nvD51Z9zJ3uG63mbE86/O1U
NsEK2URGnkBn5Hh5W3dfoZAnLV6PmNTNxuqzoxzjg19Er6VdfxcRy3M/0Y02ao7DCodDkF8i3nKh
U8S3mfYerW6udy79Hgvj6YPvkd91bH2FELPJTTmcGYEigetKbDlbQPTUTImw37QYV8uKt0+WbvHE
/W/2zmS5bS3btr/y4vaRgWIDe6NxO6xFUqKo0lYHIUsW6rrG178B5n3Xto7Djuy/RjIp6lggQWAX
a8055s4yDLj4iJHQ5YsXKp76vvLQFNMu8FZB1yY7w1eSEhYIiFbLSBQZPTJFSjluZB+a2yEvv9s4
fAD85ceOYXhvhCy0yc3e6F2FuFzPnbUSQ3TD34luLs8SVBXoCdJbawymqx+v1w3AdA1PL6NOHrKj
QuZlmNwXlx8vD2xKCsg2DjNuYRGh3uLjWgx112y7pAxuCsvCOdIQmrwvQdg382vV5bWxCd6DLCU+
bqj8m97Udr6OB1iWgX9zebD/95ljefpy8AGyD756tHrni0isbtc6A0UnVFjuFbCyIz0ffpR9eYwL
m0uIUGnXoE9QIkEowqR4STZ50UKp1pIU+WPXs00cFQY0GBytFntLM9Vf2BUPKzQCyEYLaCVYV3XD
X6N6fK+zCDN4DFaw9rqz6nduxv5H5iIm1kWjvGKwhgl04zDWzN+6I/d8pFnL19rxuKS0fV3Z/Sbo
mgi33wgonMUrTBTt3bar4yQCknF86mM200xst/dR5J/aJECsmuNH1Y0TRRmwmRO7Oddwk8WCLm28
CSOoosDsHurSeh3D2lmxPflo8bXDBoByJeYaY2Cx+of7gBktJUyNRtvsva6uajEFd8qAVwUr5xb5
fmxgIe5FhuuCiqhVO4RmMFL2Izbi0PZZ1mYRMjMf3xC6Qf3KjtkN5lONtx7oBETXtjkqgBKLqQVm
NYXTTUFE+JZJatiGFjePF4Xand0aO2H2JgyO0oTcOdiHJJ3eRysP7uleXEtkjkelCCKvChKOYWa4
J6y/mV1XZx36PzzWCOozqph7w2Yy8XyjW2kBBCmULKfaxqed+Em/i9Ix3cGbcRmxm2ErM5cVTcEt
GpT+HiBbdDXkEQZgRaBQQxpchxhri6Ulv9UplUHCACmZuvCvownzZP+cBpq/or1hH+ssu3fK8mSH
UXzMK0KBSulc9wS6b5TJW858U22ZN/utU97i75HrwFPG2Q7u4kSV694DMNbV6Y0qjOAbLLRGDRTd
nFCuipmJp5lNt+ZuAUufJDhqGjAhQwkXc0zAT8jHSDYM7/0wXXOsJIYMALIBbWEbVvdJBHZcwAkL
8reqrOqTSPJwN+GlohTI7Grawwv+8Cd8GMQdVvBe+OjBtkjNbj0MhMf11p6Faryt1MzidYVzGMCe
Sja3sXD96368NSdEYoOPRZuWJD6VwiERtAb+QkcQho9djXcFy/vGb8tD7ufPZp6CRxwSeyfRaR5V
md27YwzgOC83ymH+b1D8HvOU+gl+0nUzuP5zVaB0Uya+sVzdjZAM0fk6j0YCv8MYTGKwqNHti0l7
1McgvzMs64rtNuHUJSL3y+bTzEv/qumcaypF+CBqUn/Ib2egxpu2xQWvXxd6p1/jXjSuaz3BZCuF
u6lrfUKAOL94+W+QL3fX6n628OI1r8+B0MlIwBMKVwOLRjSyBFj25CuNWdqcO1c0V0yFGE6GOV0X
3J19zL3BWqeOBbMgFRlst4FOgNX2VEdI/5LqwSjAH4mIMsYEKCjPcK+XbH92fe88uJ7lImdLMSTm
oFUoixJ7iAhVmfTAeZf0tcwe2geEUbRTJoiLGE5zHdwFk/FFH75EPYRyKwnrpbDgiYA94TsgE3os
BqjtPiniVsbSkwEL2p6xriqAy9yNvFsGORPlZuSxslPhro8cEikIEggRCnMlrUyRXdPOB8MR2tkm
FS6w7ZPLhmzRA81C9RgHb5YTGKhMtXEfQfxsA8fdKaSGe2G2CEn9p4ur7PLAfXQ3iehNaIqRVAFm
MHVKLZOiRt/21Owvz/JhruEXkVmvCZyndtr4+QHF+7RyLW/ghnWAT9Q2ZyVRlDShGvX7LtGWrMb2
k1GH5G3PTTn2/T1c2jYnOkxB4e87EtV9srHyDrSaNcfbK4ugIu4NnaFZ97UB151xlVqBXMA8JbwE
exVtHed+7J232pf2MnIu46vx0JcDmQpGcUbB3hGpJcv1YA+nMPKpSaGa92pOs9VhlcLhxnaS8au2
AHPhwdwHVs0az2rqddCSXQzVXMJC0aaeXhVL9ZWT2ldxTDUafNuHXcUamG0XITBvxmrFuIsVCUBs
+UbH6rdZWyV7VbiPxSTDcwjMWNk+WWwlovWRdzzYWrTuGkZHtmTE5VX+tYHjZVGkLgFOGplLBZbK
RZp71o5drJ9AvSkZORdF6I1zHrxgW5Xg4euJCm5SFoeUIhZ40Z4s+FmHPtHuhwreJKxMqfnO2pUU
95XfQKfs3ZMeU6Byk+qlYy8J4pDCugG9U0LeoGnmdVDH1u1gI7Wt9XjTJinnOyJ6tIeBRqlnk47m
uGfbuRBjNN1axpXWD/WWKv/Wd8RdQUtraSO2XGtkJkxY6O0mdNdtpBOcJpxgm2r0MexCrCLWJPqo
JUtDThQ2NetraJj6VkuQkIoqvUoIzaZ5S6RikWxpKSjsz4WzNoc3SnMauzVKeg7LUOqLWIYFhcry
XadIlCaSEm45l3wGAqaC4lXGZnATDOcpGMVuivVbwy+aLcoZgmszdROmwrrK0bCv2osavCenMq9o
YxsR7KMKT70ZAZgJ01Uw6TmAnJbPpgJWdRnzTeF8L0XabqQbny322Wx8wBNr+bPDxLDxe3Y9Bgm7
tvc1dfV+DYUPT0tKuEcaYxvMGZfA0s18KrkaRvbV/DGaKbFJQniRn9Gwe7gov9UUw3eO2+/yAAx2
6tz5ZLSuGtN7rxztu+1b8G6QjBOLW76E6HkWmsviWiS00krJPigkC1IvC/wmVHkDI73XTUX4suN9
xRgCEqeDijpUVAl6mCJUlHqs/hl9miaVu0S31m5mPXm+/9WtYNcVFiaVDAv1ahxDY5W7WCcydqtB
SLQ5gdmkA3irRkNvq7IhIYCJCnttmTdyjJ4QndLxQKgZVe3bNODVcz/6kNVCSdsJF15x8DKM6nT3
VERRJGzXk/5lqkJK+CHhPQnkH1oA42ZyO0wruYNdPI0PbOCdoX9zi7nEQUd61QuyIaoy3Wq5zzId
Y3qkb+kIM+OBBdyUxng0KFFskJE92kOWrPo6ebKdag6JwmGT2iyaUbKSQp465SpOnPOkiZdRBxbu
CGXu85B4RUfka3g7M40cMu/o4WdxrPny1j7saIQEXZXJ2hkFGTkC4FZmHEos0luar4zxY/mORIzb
Q9Xvulebq6EBx91EAXEmLSFMBkWgnv24K1mATx2FDF1tyn561NL87E5q6+L+2dVNr+/LgmTRQozD
LV6kaF5IUvyC2B2G9EipatOIG7DZ+EZ0P7CFP/T5ykI7R6yLhvnWjViTOoDHUdZEK4ZVe6k5pdjb
IZH1opy+Sr9pHqMwsE9O0J3azvXPZk3urd3HD5jRaKxWXuUc+4QxwdMANZvYrTc9ZqllKsbu0LO2
MyXWlzbFeuQUx7rcZq79mCn1Cn2y2KlR7sA1y1MBMRMfEvFqIZmVesLGIjXZPhl1cgIieUhba7hP
aRnOCNqHyde8QyAwW4k2YH0lMBq53nZqhQt8cFbTpzWBYBRAqd+zO0oJb5nCcp3XDu38kZAo+gZc
f63xmHj9sK6x3WJo3mud8O/tKfzeahalnBy7dJoPN3ar+u1oElCiF+lbNkHBpIhX7yxNvSLZwn5a
WPoT1GzSzWZjQAa+oghDEBSK0FhruM1YcBFTTOVFuM/53OzwTP/FGvLntCeShuaav2NV+ga/M1/n
XUuIREoOQzxhtGgima3zpsEU6Bi3EOb0bSYxorECbHa4pTYGxpEAcX3mglBXPjjdjCgHl1ITWRa5
TiuYLlHHgR5sP8PS2r6JEvNr4xnXdu6ooxXCqUVNclXhLlzmVrJMsOdvTSMhF8lmhqaHpFZ1gPOj
DRCxZ/xzxO8qWWatD4NLR7VuVdBc0cV8ox9NikBUnhVj8daCyQ43q4RXXMPfzLImWmDAuEkTDc9U
6PH1UL0MyRcou0GcfQOTgsVONC3njN4KThWjW4vDdoEXkNWWAMrku7AQi9HYYo+5aytb33s+tH5/
mInYg7esy5RAyh7i7Rjv0er4awjFKfyolrYk/XAjIGAbrwi1jGCUxNuYX72Oby5AHJGYJBL2A/B3
Rk64vDRFKejGM8tk6rjawfbDHqcKyRqaiuCqjuqdV2rBnlzIhOmcfiZ8q+CpaNHY6yxFcjo3Sx1d
KsiAmHqB7EamGse6witkbEwdAzK4jJmV4RQHuJHkrDVXMPe/VDjKt93cGxR6r8gViD4wtBHm1Vvf
BjvWSUOa9iIZ2aFj41819bgt/TI5VrFApThAxZZh4F/BY9buvRIqtr2qQvC3lKPTE9YJkiG+SzI8
fDDYxxzr8wqJCvZ8Df2nY5sEBW4yvqWTlrFUtSomb9QzAKOrndbKkO5ZT7G1d9cAyRZNDT8ucDAt
5lg3VpRBQUOSCOMNeHyQ5mTrGnOVBc3zKorZUGlsi3yTlriGTgkO7lzJkbAYw5TNpy/F2qxid68o
GN8ionrQUaUtoAneJL3QNqphBReZpbc1gKg5X8yBDBPqM+lR0F/HTfWVXTaGH0xuG6+yP0ocbetI
IRk0wNSGqU8HJJynDXADhdvvmUBvuqTZCralJ7vG3qAZ9dGsKhz2jo+Eti2OnVNdd6XXbKx8PIgu
T27KyWD/ORmSygFYjgYt+aIah26Ft5VYTb8mDUIfjZXXlY9y5FZRWvJY6C1IDIyhFCrqw1QDsgT8
ymwPb+CmnWG0ddTsheTQRU3uwuQqwmFHn6ZaiPVqKna+2ewstzTZ4WJcpCBBzk7B3jWqMG9LQaYt
dB93P6vmFwHhlvoInzIyCCIZIzne9rbOotMjvE+R8YRqoVlnYrrVHKKRLXZhRG2CJZhkk5E1JNKb
qgDm2o2EBFc4kfDeNmxBLeXt4+4pWjq1bp5kDnpsgB6+kSSn90FHFE9bEjksKLuPA50cAJf2RqXd
nY9U8D6F+RlXnLfSiDzyFAg7Gtp1rXXkWENH132Sc4sJNAfedryaj/YUfTOA5rMuJE9mpuz/eLi8
1v36i8trWgKXv58J/Wpm9WMReR4u4QIz0j+6IP3D+enlxctDKYEh1jUpAO2cB5Aj0fTmxIDIJANB
mwxwBpeff7woNb3al5eogcvTy39Ze1xnwZxJkMo5nqCfkwq8mMyCyz9MiTHw5jyDmX441+vIGggu
b+fyVJ9TEPAezI7mYv/jobzEJvz4Wc6pCiHxClpEEANgo3I/zdELcwaDmNMYNBN/3vy7H/+BPqc3
NCY5DvWc6HB5t2DdiHm4PL08BPOHlcRBdHMuRFKTEJGac1bEfNp7bv9kzpGQl8gJS78vYzIm7Pkn
l9gJd86fuPzu8lI/p1PUvrgXaZQyghJf6McxwdJUWBuK8ERb5HPGRTenXZTEXjjEX1z+eTx/M8Wc
jUFgQE1UhryEZmgYtpcXld3/t/A8jMX3//6v1/eUoRB0ZRW+NT+bcQwDifPlVP1bSrx6bV7/z/cL
Vu7mNeVfEqBVhe+vv/k3/8/Ao/9LRxyNVNoGKGuiTe2/181//5em5L+cueHqugYC/lnA+L/2Hcv4
l65beCUcoEy6LZwfeDhT/AvOnDPbKByJ1tG1/xP7zkUw/kMYbAuXtoiwMMvYFk/1i4j3JxG73w/6
pFhQ7gi+aFYlXIKTFuXRoS7KUzN0xspJKL4x28TH0NONZYtxlTTWeBUVt6KYgoPZtqAY4noBnrxf
SszOR5sgM4SkIObbrL5qjO4aqK/aVXpWbt2AWeOn83377zf7sw/7V+W2bTNfKFOhbNCV5AR/Vm6X
+NxcupsN2UE564023MQayxZUXugaTIgbU4lp0JXvjL/JX479yW/0Pwd3la3PHD++kk+y8YroHMNI
7WZblZRWO3CYiTUxvQXrxDQIGfb8U+EUZGSX4E8sONd//uy/PT5fm0s+AdcYJqxfpa+TgTBjFLh3
UlXfWoIII6M3iHtGKZjKGZURX804Y0JE6rWyWcz/5fiz4eCn6+dy8i0+veDyNi37swdg6Jo2TmxO
vm03dIQrpi6wGgtrtA2IAchxLGuOAlPhG+XPhHY4+IdUbAlfyVKrXljIN/9ySn7/jsBrzDeXQdH1
1zPSIA3zrAJRppYD3zSiIVhnhij/5oT5pCnng9s0VkyUtsIxoeJ+OkztK1wIpdduh4kQ5FHl0boa
nOip8KCIOQ31ez/zbiZor8oE5dz2Wn/LaoUEK1max8ISwTYZUFVEoVB/0ZTP19yv3wmmW8YHKCwm
l+RnH5hddnRLEIoTWvcuWfATLx28IfIl5817CIVOEpkHEejPV8I/T7ttwoYybTyHgubRJw22F8TR
PI+BDcNhARjLTZaF7v7NVPC7s24KBEwKDTmmk/n3Pw1XbJ/MyIhjPhp7GEhvfIwqh0CcWBDW/vyB
fncWfz7Upy/YEdR3fTtpt2oMoYej3cMH/V5EBH1ZVD0XI3qsMBj/4vCxfnVqzAMKngCpHNtS0Jic
zwPyiP5K9T03NOr8lji4Jtu5qX5oQkm0Y8HSuXNPAAnb66LoHxop4D2X3Y6hgew+DSJll9gW8Uja
jJc3dzScPd63uekcxl3iq2gpDjPpjK0qeICO8OjwA5vLBHHMvPbmZSVUkA/0P9NujG8rRcEfImYE
bs4MjzAr/eZstNqLKO3wLxaVy1D16bK1dCHxN2F0Nf9x2So65SZ792ZLKxwm2hCerYbQPuzI5OYG
3bkB2Fv2nbaWqCPrhNUjLIZbxLqUBAe7WzvZfVI3JdspF1mJJC1Z5f3KGglN9Kk0ZB0Xi0mBfVFX
U7lM7PxGyWlXEElblgSKTKZ1xHAVITF7C9OMQEnV6zvvy+gg1zWjFoBg9PznS8ww/jl34Z1l7poH
K5v/zXfVT9dz5CYO9U22VHkJKq8lgqcvo+9DjjS97h+nKKdX3ypt2dv2sMtGTodmf4xufQNHdVNM
kXb08/cs5v91/StC4HzFPuRr4NEqoQ9CIifxO05rA7VqwAdYiXxwW2pS+jeSlILHdABP0s8weK2E
1UzLZtt06Yi4BV8HJfMDzUXiNTR+hwzmPHTqDFnvsWmPBnwykbHHxttybTa6cZXZ5Gseosl3SdyT
5iLsy33fdmdSoB5Vd4gHl/jntA3Jj7zXdftR2cl9FYH5cR2tmElWCJqUR3dpn8RUYypkPptJFqjC
TQrxrQifwmWlDFBlzbCZlP9oReFtK7tTxZYrCelXqLF/G5FzLrUio7/tlwQ+tNSL4r2pbuVqdNgy
d0X7IHTKLpgTTj5JODF7t81QPJahhBhO054eS7IXekl1ggChxWhXYA077c7ISXXP3begst9yWd3a
4sHJaxuujf1Cue5BTOKLTJFAau5wlRoOyXjSYhuh+CNV1xITozqY6lW4zVN2/4xXsAeq5oSL8S9X
1T8HLng0rFoZilneyYtb5qdraiDhqLUha2GvbjZFSsxXRyXBCIcHb6jUCofvEidB9pfx/7dHtZl1
bd2W80Tw65WMIhEazxQz7epP9IuwtSYfbeXcDLRAKxE/oz/58pe7Z55Sfh0wlE20Aubd2Q8pPput
kVp1mZa0rL1EB9CcSOhxiO4rLD7r6tWGrbp29YPezAgXe7r988H/eeMqaG3z8ty9mI4+3bh+SzBC
3+V8XJl/KSpzE42mdiUm/GVFY+6pOUvtXesppv35uIb1mw/NkkOxzrUsi1P963nG5aqlDfy5rWjl
jcsdtrbSlLBTH15EnIWvKXuGpd0BVkuC6YbWX4xaPHl1qEIga/jbu/nnrM9pUIahTFtS9Prs8SNo
a6JU7RI4NbAKwlK4oOgaw6xFJZmqkTuzr42bWurIPEV+ok2zShKS8tKgf8gdM9vaBHr++Qx9cnLO
M6iyWQ8bNtw3pEifrcFlmYspBDC/NS1TLZMEmogjjE0Xdk+Ivj+6uicLusxnOr7pM+8lz6mV3400
EI51YnwFmeEvdhji94HSRmjsCMGlU6DRbggz1UEER+Z1E+ryhqVIt6Ub4eGYucbn9BEIb8A+wZ/+
80e6LGs+X+kucj52hJbLXu3TWsQXmqZBvkHMQ/bHlsxWv70xJCXhjHIzaOyYTIEoREZtiZQQPxBC
E6pvZLDzjU+BeIV87hXEKRlY6H2WMTJSUD0rZxZ4TamFJCkBXGJDtIl9z7pqhXrQzZzSgxNMGADR
AlXu0R1ks7NzPjA6G1w19WpA/OFzjnJQ939ZfYlPvsh/f4uugTACeAXD2fz7n0Yxz6jcdFR9vaWn
s2yIGAsksKFAG3dTaRy7piTIPBBXQU9rtM2ygXrqB9odwpFZ8Het0HYsz0d2gZRr2QDSYJwDG6du
NJd9lH9Jh7KlnMNmtgmcTZN801T/WAUJQciZUa/bfl7/OIQfo7BemHYXL2yzwD7TxXs1C0sK75Lb
Or6iLUL6GCNuBGxgrUz4gX3uvP/5Avjkpf2fa/qns/Hpru+JPoEKPNZb7CvAZ5KxIhwAACh+m35V
kB2yZlwgGpsQF8cAeU7TlkB3aT92UXP683uxfzfSswBnkmYUMqTzaehTYyf60W7naHLZbXuhqPOa
8XNLR9OZO4ah3dFUClssFb7PgJAYp3TI45N0C1hdyW7ijR+9XOeUFi5atWwkMYMOTjVpUHvmNU5E
OgNKim+2yR8Jy/y1MdruyvUF+qzSUStOxgN/9qFS+Ogm6cHz6vIM10qcram9f9D2GpeeNE9QbbyN
nTpf0sKukG2jCrcmgi/jOTfV0q8CkyEKgH66siGloIwlSCnUny3hvRoyf3TaiLm9cNeyKZ/bpl5a
ZRAew9Jaisp/VwYKn7+c238O7vAVDCFYA2P0v5B4f7ro550BNDaGUyXiV9/DP6nNOP58Yk3/5yP9
Zv5y2GpAghHygkn99faqk9jJqpykwMLPPqKiXKaSvK0yv1U9jtgA6S3gQVDUmXj484F/s+SlFkas
gYkdG9n1541z6WHmkx6MYzMDWEZvcAH+Wsxc6jfTguE1ISKVJkV5J4udhe0TqJiO7OQ91vUIiHMA
l+pd2C0eswKd+RhU0TonnMqhE/znt/qbC31GATjSgmhKFW7+/U/fRuOHpelFek1MN6ruHq1YHb12
enI7aDb51OFHLfO/FbMui5ZPQz0VPxP5K1gFm/bRrwclZbWGmMXdZXTtjW7p6N21FZGnq8mRR18R
v0SQWLHRXGtHleHO9NSViXZ31bt4sqxc3NJHaDCHYA+oPBaaUzg+hEZ/aLS/LYHmSeef75SpEycq
AI7Py6+wbTo76BiT8Fs2Kx1JC+OgDJB9wuC3g+jjz9/Gb69YtkgEYlBuo9L364lx3Cj20xYNjQWX
uzGvheCoZubcMDjPgHRZLN1pSFba3y7Yf+7I4QhRJeVy5QsB+PHrgaPa8HNDFPWcKPrcj+JsSHaH
XkDMezBUkGQzkPXsP+Mh0DBWNN4iAq0bzHG5PenXtKdrbLB6t9FVvJ9oXv5lqvyMN5inSseQbB51
bmZlfx41+rG1p6COuaM08cqogr5KNNEmLupr9o3fg5DVcSfUxsG1ouR4XwDZ8cRE4EaFUJFR7AOf
u/WXm0f87vtihcw3xe4WSsqnC7mBGm5amV5tx9ZHpZCOONXheiT1RBNsZPFawysG10qimU8Y3IqF
4xXolmDZRiq9HdNtZtrhvTUM39so6O9bwz+jTatvfCJuNWs6lCq4mRhpjqWLoc/xwOGSY6vfZMwL
LvJICKa0y93AvZ5gs62yjiVcqI/OGpUfuQHldVawQ0D12W6v6qZ5TQb7y9Qm+ZVmRfLJLP33qQzX
hEQE2z4LhuvEYFqzqqk4kiJRl6wB/uPrW9H4wRSpS9bSnwFJgabC0c6c2RmAiWgCNN6KCWN/1gKQ
a+2HMGjPjlZ9wJhb/fnIxm/WWi6zDtEa0iAk5nMRO4wMyv20/7fQviXE+RYSkeZ5W9OzyORCSnHV
V9W+QxexTzzqm5ZV2vtgtP7zPRV7KVtAvaQb8Y+ZoSD8tymUKDEfj6dKoBMsY11fhz3pcTIwXgfa
0zdjnh1BLtV/uVx/U0hXHJxqLpsYSS3/011uTp4fAfMpt40c7UXrB1tT5d8iyNXH1EdKAdYcBcAE
sLQDWhuAbv3zl/CbUcbVKfkJB7GnsN1PwxsrpaxxA7uEejXB+3CvLG8ZqbpehFEKan2OOP/zAdkK
/WYvyZoSVpl0pbIYx38d2VQs8tafDI7Zpe633JRkAReNcztQtNmEDVrtDPmcMZTuw5yXzmXovVsy
CA5yQCfhD557G2mvGZkV6zYdMfyE+GTgAPm3rQnizCgF9iJ8YA2KhRWQG+1ReTV6FFIEWCfHRy0e
JOlCzaIm4BY8bvJcj924lHUVvSKy3pC1nJzrJO3pIoA64m5n25uR6pE1Rb9GSQp8H6fYcyzEt84J
7DUI4Iw7vVXXvjH/IWF4r7HUtpCzEU3qd1RztAfhsYyUvf0UunF0RfnLu/bCxMfZJLRbW++q82R6
yaLtrTONjfKx+ZjlGItw6JxnZT21kxF976jrVz35EhjyJTuIc97b2nVfefDdwR3FCxV47l0kXWyI
GI2DNrydg+ee6gzdGUtP9wsQgGxrSRxYjSnEKXOTJ1Yy7VUV+RPBxvrBLlqDrDH3hU1QfF0YQ3RU
E4FjzJDZ0zASY1/57SrFRLpxjWb8SnQvq+dmeBU5Ob8tS/JVM8F7jvUEKeXY5vdRKN/MoJje9Ng4
Zyr52qQh+cemIM5VtuE10QPvs0J+GRCWRIxemrfkLoDS9AWxZyEph9i+0EquQrr0C6QSg7MOu2Ep
E6veTznxxLTcnhstarfE6GAZmR9kMJEuAvt1hQkuvGFmD2+aHJPTSJnk8pKhCqAyytwmMzzjQtDI
ddH9+9nlNY98EUQe3jaE/xbFln2k9Iitan7246GHqrIuempyyi7SzRhKpj0zD6+9fgyvfUFOXu+P
5donI/YQDDpMAPJ7wB/J6mVwcnYvk9fsQ79v95dnE/jPdZLgFos7fzppeUXeCfyB3CtPl1fo/I2n
MInETk3xLkfc14BLvv3xUGb4Dlir3MgULCkOWXjKlN939Zhh4TEL8TjEFnoN7IJ9007kz3nCW8Rs
qfZuVz6NfAObQEp/DSzXuxcq3+CtM561AIhOHbCX0Vgm60UBC7YwtDt8Vecukc11HmXarVFRO8ah
ufUGjcAZuCEPfhCX+6AmGvryIxIKcT1OZETWA+4ELdVQqMf9LcsE9BEJOJQobG9n4LMeHcw68M5l
MgcX4qa/6orSWxqlQ/AeCapnkXfRmQITFo0xnFYTLm7Ukl0ApyzsDt5UwAi2pPuUjFFCQlRB+A3M
/ScnAqeVCSAQKVJNBIfT0ygITo78DjCJ5k1PJmmCmjDcc6pX1VP6kswvijpIroY2m6NiJFCZonz0
PXe8d5psUUmjfCzHqlzVUKepkVvR2slxz45siU9OHVqnyzOWriTNq4UEYL8x+oY1UjRaXK/lJDGT
xC9Wouy9VI2zT4PE4frGftl4+U03pP6S9lq1tQ0cS3wWcNx0G8xYyUVg+90myizjHoEKEqvuts0L
/JGkb2zdznMfuyBzVvqg5JZEtJCiVJusBqMvrkHJTviT6k1tHoyqnxGxrXduuq598QfxpWsBUE9Z
dnJ607rJa66THF/0SqvS5hpexUI4BW41Z0a3CN+mBqETXOLb4F5qsjqjrEnvp7Q9j2pwvqYRebV1
VwxXGrnAX+zhCWhY+mSFYm0VGoVjoga2Xlqqr22wL7ERvND/HVA+T0hpNT/+ggR4Wc+vI+S11knR
TMtuYFi1VF4/OkIDjU8u867FSVxgb37KxvCFgSR5QfLMfx7fR2Ze3Sojdp6CaGP5Yfo0tH17ttSc
RfpUiNJ4UJWbn0gRePTbynu0Q2Kbo0Z7u/yUiDC8zuoErLyHcbDPNL4Naq9nJhkUZQ650vPD2AiS
moMJ6CQt0BW+jIq4uLZZTRSXdoVpjI+u54gVCZ8W/bZ8fExmKVYi9W8DqvhlmUf1fTtgRndFeFfV
XX3fzA/GMCuScoBlvh83S8yvlJ0zBHJ9ZtKjmn8E9B3dhxnUm15/cdOq25ZqkLvecb8MVhazX3O4
F82Ya0SA/SUu7Vv9nS+63xGz3TL5KCKGHMl+HDEirDkCLiB1ZwMOClU2tCn6qlwz4DlHG4ngGvcA
qcmhP558VY6ny7MuYCGTx8TUTlq0QV9GP2+o49shLcC4JE/unGmEp9elNOabB72zjENhUrGRpZxW
DvahvWMw97qlSxLemMqDRX0tLgIU6hijfULQDqLAOV3XkbvtR7TDMU4bWrT12QxJrrKQVh5KookO
qSO4SuUUnC6TXS74bYD1Z0XRdbq5PNj0DaA56FvUr/6RLNq18g0CoD3vdQqbgxM0KZCX77nWvTme
wZxDnY0PcCD57woXYrVhR+2ucjmQrNn4B0NH6WlnRrTIyF82xwmwSgStWiCH79ytZZHlGcd3mFXI
Ogek7SNk1sZqWxEwSNC7gHQmeBes+zpin3MJotnEL9ARt10H9TP5owvPrN4jkuWZx9nALIdGfO1C
507HHb2i/HVmOU9yApKU2VixgC/ur6AWLbVUHFXbPJtjczuBnaYcckqwZjDr0lmCQVqVcmHL+BkL
1U5M9ptpBluoA9vB3Hudy7CmfWRdeDOa6n1qsOVlVj47pVi0SlKyqoR4W70plrRCCXvwgcjLFn+D
NpZ7NkN4bfPpqR2d29LpJoIBi6u4mqCBJCD3iQ5gy5QA6wKoliHPNTbgxrbQWddjZ25j31nZqM19
OX5nx3kGyISeX1aoqAtBBTKFfkOgbj0bllZFxlpZjw8dsI+jUzzGcdlhL7DvIqFPBNrBQTU6j1UB
gEWikPVVHao3ZQDcDsM0WExJc85c784Zid/WBiTM6If7paanc5ERLg3VuDJXpyRq1Xqa+maZuVA+
yYROLQfmd6adQozb4eRsbHzTK70a+UCW8ZIV+g2lElTjGCBJcpITe0+3nv4ve2fW3LbSdee/kvru
8QZAY6z6kgsO4EyKsmzZvkHJtoR5agCN4dfnAX3q9clJUqnc5wZFQrREc2j03nutZ/2KB4A5lTLx
5PH54ppE2opGgjXqVnJbNdLZMz3doAip1k0tnnSpCayEaLaVgZPF/Gr23hVjLc1nm49qVpDRaGZp
u8WSdB2QDwf6aMiAUZVauDLZJqrMq43plYF7nQStMsl8c1gSLPdd61RNPo740Mj2I5+MALhs9q+Z
Igii9amQDdtchY6ztUzC0TKsZvss7BI8mJm+jhYLlEq0niBohhYOdlU82ceRrJL1DMyqGaqzaSSf
u3nGY1baRzqBH4TzkXxQrNq+ePfS9EO0FSnzcwmAhp0FricZZGDvtpZqvzhKfG+MGoEBbjz72bol
GsPoCB4hUJ9xM+q+XCVEIXsetutYs7V1nXYn3wuqrK03+tDnFxVGwWw6b6g4MAg2dhZIBxB/0ysu
uwb66nTwVs3UnQnEAJyET9A2NG0H/uFGwp3YJEw+Yc0Mp77iulQr91CYOLTCMl+JSAcv2vQ/Sy6A
aT0ld4KnbyrN41WPvQfmTj2eMgg3p8etliQ4Gfn9QbVcehb/xzBH9akeF5yeS5lLn5GYApKDPEtD
ChKf/LKpVo3uyq2f+OWm0ukZeynYiiKSJ6+PJCqDNkLObtOCf5wkZK451V10FuPg7ZjdNEiqyWMY
aqS3eKSbk0l9U6+KoTZ3vd5f3OUPNtZUn7CJsXoaYJxImMK0KRfGFqnaj+ceF8RuCxdTYlQlpzQa
k5ND7Y4Hq+03SiqT5SrCfq5n7cluUgt53yL7kOO8VYl3rbJsTziatm3D4oeKgIG4UdasCgUStF9e
hCxluOBD6GeKopGTZrvTvppIHGTYXoxL7KAX0cvhmrnSKAKPnoTRIJxW23h+v59qZCPDgC2HYJX2
9DgwFwzcFkugxH47tkVykJ1NXlNDXAFOCub/jSRWJrG1V6mFQ9Au9x6nKMHPSemm21kWwIebEpB1
XJ68cf7ukViGvRBhGY2oets7TrOqwpmQ7nR5lZu2rTYGaX4nnl55mEO+810hDujc0e/o+Qn2YH7C
F0921BDvZjvu9lnZg8UPq4B7IYJhDhVS78AqjS9ljshclzYxoct5SLcslY+bA+HrtOlw6ZRTBBUr
i0+PW3487zUkwTO8kaC1DDCYtdq5soEeqWTzGtftGPy+q8V+fuIjhXdW2DNKCqo8D0mElqSnx2HS
7OSEFyavIohuy2mvs0AEODhAhrnOy6CzREutgYS56HvtKJvsh0FhumWY4R1Fr3LWcXXFgzeip24v
QMa8EpIVu+mBiSfXNcPl45N3QtsbvOPYLRPi1qngtuZguesZEnbi6d4lp2N1wSWWAdPQ8YpptcmX
PEOw0bo4+uL32TPCE00+uc0zZPqyPOBB1QM7xH7cC8ICNR8+TuZ5K4vZg9ZQq+aZ/nPotWGNiBwz
jO7/mswuGL143GawpYcBtb30DdgprdaUR6+g6009ws05sar2xJe4PDqPs36k4XFQ01weH2f75VE2
SvqtwCaw0iaMv0So7B/nRVziXXk8Tnd6TyA4WR7+ODx+/eOWPggL6A0xYY+7v//O7+Pjn1Ya6RtF
vxBKHk/h8SgIDzzdx83f96XrbODNYkL893MbH0/+8ePfz8Se8lfbnN3fT+nPA+NwwcCN1mtlqoQ9
9/LfzTR739ojl+mIiESQat3xcQt/zt/vPn7wOPePxyHlyAMC0T8/zj8OkIfAM/z5VXg07KAZ49vj
1Jzk81YW1Y+2KymVPdx5hY+t7HH3z2FOKaRBmPFuP26ypvdHyydv1yPjpTLYi8cN0Sr+0IRECTZn
pWvWBQ2ls6lnuw3IvQC8XMAdrEdMKvoyCxzTycIo0H2MqdHh8DfsNc7Dn1yIyIJjcSaHLz4IrAP4
HXvx1E1GGxBcPV4cj0q8ZshdFDRnIDEaO6vGqDAgsDKz4Z1oUZ2g34LxKZFcKRjKnmlvov/wKF1u
OEFH6uxPhfuNHVu8kSzkCPFnd90WAv+OxdrjZPl7O3ZXaZt3BCvIPsck34Rx+FrRsV9pzqwF+ux+
990nG55aNTY/wjHKj+EE0w6QE9V/2H3OU0q6Xg6rVDkAdavkEMvZ2RHm8KnsEBeBbNhTWj3NkwgS
X02rNgpJuqV5IozunMuc8MFen9Y+aj/h4FLOLAx0A0Ng6IAbqUq5Vm4h1wSb/Eg+Daq5J1ZormCg
sH+KnkQ1Pplp9dFZJG4WGlbqKXlXysBd3FF4eCDhVEsQ7dxQVaRMEUYUFhR2NIvosdARA54IDV6T
mtpC+vXOhai/jf2NFJznMIM2ISMYCDQj/SdXVT9ws8fwmppfddS/aB1cpF7HaZ6U4ylK47ciDbRC
uryziyyxtzamjOW2aHqYJqV/iiTahIS9kVEO2r43350yNPax+gwDoXmODLYzOMHP2pL6aEyHSVWo
kYR+9n1QXZmfJuukr5KN3hTlpk8Sg8vzNa1/VVaEyZESODBsLPyZXeXrOTGIU9KVu/Mj2eJJ1ldL
fNjaaBsu9jKjrWUAwdJktG/D+R2NY3Z1ydo5WmQMFWpM0JGp4S4QngFqedXyuj25Vj8y6+jZ7VhN
dcmTem+DrzlMGTSMogBJVqYnm9YHcEDFGDD0xu1s5VZQuWm4b836jepWbZjhVLvINdUNDKjes+Ur
NcbygE6idTm6cqMYbyJIb5goFi4FYUXtTgsMOyHdAX6QvFDQTLuEMdEqZS57gh2DjslnZ8LeAKnB
yZHOZ2V64F+mFU50JC6AlPtCO8wI6uFmlEQSOmV9Lgl4Z2xcsw/OaNmG6LtnOomoouJvbupwhZ8F
1HcQk+eO/lCLz2sF0hIHlx2hTh+8r6NRgwT4kVWgGnCtpaGEi2ybhAXTYWhHLdnjBrrqBuoPZS+u
sjge1+mkisCxW2I6czKR48z6PuS6Wrf46Ndxwn4fe2dEWbEGDvwq4IIFxHPZm7SicIorNqkyKjFy
NnmgaXlL9wMekluBGpunctpB5HmyzVxuY36JT5/r0EPUAro58KnJve1Ugm8lvfqam4yFMx17bOTg
DiaQAR6x/rZowABosBnh1aGuo6Ofzx8lo2StSr5pVf3RD6N17I1ZW7GTd3ZQrd6cYq6DyPYLvkb8
e3LFzK2G6TVOwmAsbbABXVKRFOG7l0f+by6SZtWUj7Q5ZtL0/c7onIhbRrDNpdMKA0uO015W1bxL
u4TgenP4lSTVdGcFRAij+n4lG6ImkyxtgmlQGdzGwjkQXQ6W1DNOBbV75DTVCQR6QVfP/GJpCzER
X8uhAh3OFkjz95MKT01PbGzkp/GnbhS/QvtS1dc2ZY4DXQ7edGilT3Nl+Bd8s+tittmbSTBDj2/R
IJrh0IzGzY0kRZyvCmaU7s4RE7JMNsqXZjkM6zS2aM2VSxw50Ped1sgzbN0MTPNyMFkbO+F/EK/H
BoshxBZaDqM/3Kz8MsBN56pEpgIaB16Ns3UZAdIcxFuLU7s/tQjnTxSU48b0mF8UUSgBDYA14Fvv
8Rq3rbmzZXTwySAj0rpAj6CVpEpGw7YkZcuZSi2QSXPowh4YVPlmGakBCqBOGJPH5uZLC+QxyBFh
0doKMQlDq4uqJRvMZLXWppTGEPwCS+/fpnKODy6uyENXrLXQb7dcV8wtZ7ckeNbbuocU6rV+stbd
Lj8lIqtWwAUgMEbtz6FQP019XCcZm51ST6hjx9Jgnzi9V6aAskniWTY59EI9qJRafUblvFPsYJ8M
E24JtQz4Jz6RZo/HmWvQ18SMrCCFDT536SUOGWpEQwHRTtoaHzeMHkVf7SO6XgHKKzm9tCGrbB53
Npb76BvNRvzysY92B2qiNs7EVDq+PJWQ+KS5KzuTNarnm+nzOwXL463h5ZviG9vUIah7PVrhhkpB
NBqQ9NLPtLwxH/lBX4obLn8fZS2EO9eE5uDWw3WIcMrpiCy2Q7HUWF4OpwDOiqv141PcnoCKrMmq
9G4ZO8Ao1+RdivpnkkF48y0FsTNrv2ZNmmBkN+Og6lUAmKresk+ONiSfuFs51WAGMuNCHGMJQwis
ZQVS3WWYvs1ZtMkLsOZgkOqo4tHcTnTq1zbq5xsRgdtWqGdjjtDPwRblEsvugXhnYzt9w9JRPCsG
SJs0K4GflyUBy7S8ggoilvK64DyiEScyO/s1QOdYC8OxVnwnGPDk4kee++bOGiRrLL2uvSHncNu5
A0FnLSittp0ONmnjp1a6a9XV4UEr5hlV1PhDQ095arrUP4+gY4McTSVqLHMx+sLqw6zaXWkF6Ocs
b9ZGH6ZPgBqaUziZN8OvRm+l9VX6dNeTcV5ljFf3kQ1pj9VWJ+fRGc09zi35JMJnJUXxqSZNIU8j
8wmNQvkJbXwWeCU8O6P/JvuwfrHTtL+McfKNr1vz0nk923obgJEffpgqLb4mvWpOeg1znjSU4ivK
OPLjHRNEg6rGQ5zTY2jcKBjGwfjQkvzk1XAl/XGjGtv9WkwwMREB0iWBpi8mCIGg7ST2ho6agFYS
5vF0b8LwBbE2zDfBy7yyU4D/eckWcuIXQZTIg6mJv9ujOuSpp+41kWlXZqbXbqyLlyTv97SgDORo
+Udnd2otegmPrtA/su6WIuI/N8MPGhLtJSNploka0sq49KH+99ba7oW5TZPxoBskT0xSx76h9eoE
UWs1oIDZFYh6mG2x7Zwa8ml9NTAkoXgpoxCKfO2wtLNNsfngHnXzZ+L1W3tSCz6HpHArCSlww+67
KaqrYxKzbBu0C8OiGw92Ox+GFLxJglkpm+ZAIyP2SaX2zpqEc2Bou1fd8GxbdnedUgAFJKbAba4g
ikYFV9fQdsnwhQ4rdN0n8Js97FB+lSY0SZPmJapKfw9a4ofb6eLgp+IyLowhAXoKhLDc6VOvjjnz
ppVoY4p4zzoXY/SOtY6GqAtvPktnZ5uXwy6HDnjo4qQMopw8+LkH7uVGFhfccILL0I3WHjutSyjP
ijlKelOsurBL7XtCMieO7sJdFXVqBWZJR0RjBIbQZNo6iSXW+tD2+1nm4QEpD/kHubnJvRxZFSvF
QGKeoFW1sSu9PsjMnlZOOH2JG4OsMRwLq8JEyhyPhR+UHkiQsU3qT0ZebFuHlnKFugWIcJGCTvcT
UoUL1q2FPGBCit64DN6wuR9YkUgInh0CAyQgd9IQVzqy6tb23w0rVAcl6Ay3wl51E3zuaEiBoFBl
r2srYbfgcRnVC0vbmlZ/MTJtAgsNfWKpP08z5SxyV3Bao518N2mxHizP/w7lVQH92xpxGj9FI2aR
vPfYJzk6FJ8FUC5qqjsqWrmHE74TY1Oeh+mIcJrCLwXS7sa2JKk82SHCRHHujAcc3Lg/W1iPQ0kK
yJA9pWnjXmXjrBGfjJ/1Fu6m1F6NkamMK+/p1ISBJsafE3vFc0lU99JcO3tpCEwCOc6ONybcS+s1
rOxwqyWh9t0ZfoVu6bwa6c96KsKtb48TRAPlHWQ5M4eLQi7q5EUDEUnWhlV+LsqxvYRdZjyr4QVa
OAYIZAmXOCVvuuhYSWjl7zIEJ/ci7mkP5YlzgUBte9RykYdq2iuilp1t291DdjAfUO7cq5ZMdLBt
xKsOkNnE0/j81rQXlB3KlVvMuImWQ2tFXSDdefH6t/7V1++Mvc7FpO8jWWV7Oc8v5NOkZ0YU07ME
D67NBI6oJfSlsa2vTTt798eBtt2enPD3uhIM7/ScWE9JrhJ7d8xA0fQCRnwEkGWpZ0vpx9iMvw+0
ielaKyY0Mao0F1s4+Z5hQV2gyQ1qIF5WUd4rkRlrze0HWsM9M/Y5F+sKwhqA4sE7sGOo6cqFEqre
pgc9jXZxa5Xgw10HKHMfF+lZxO22y7z5BKlSbhNTFysiZVmloYdDpGDc3NjxzpjC4Z6hGxkYUjbp
6J3xjo5H8CKgBevhPWmGhpnRbG2buhyPNgUrYRntRsUNttoiMjZ9bAK292grGqcsj+pPpZ3wKq0F
pqXzwnSbRBkH0q5DGEk2+/cwxkGvhRHA//IpIx1lHzNgoAMKK17UXxm+s4pYZRKMaVpsnKSbbmAr
ujXzkTQw8xDaPMkM63hiGGTYZCQk4Gjj2tuNRnJEbyBPj4Mmh4XNwAtTV0lxL8AYOghvXhTf+GOq
WsDwva6OU+J9K8PoXcO8+ZQLQCxUTQfEVODuQgF6FKbTds6KArwQSJ1KgpHzGyc6FF00rmXRQOOb
+2Zv18AfQ4fO3QSofaXFy4yftGzbDro0hIID0HXbJN7XuZ0veU/a6ywGeRrdpGYoUn7FGNvxkfCT
bawZPyZLZ/875cOxoybepYbXbFKnuJtzD2GXFJVbGFYE2xnmZiqEHZSsQrtyyPSNctIV6qH4lVQM
CLtdDhlDQ8AXeilboXRwVzUdiZsdvfnmBzgX8epXA7o+J4cbiT90BPH6jb56vQ75iA2Wc6Cwdli9
MfwNsWiQDAgZxMXwUhBPfanYUtjEDPVO58DuCf0DFhi6A7usU8kej/1LGYOFCmFNkb43sPfoPJjg
WbegVBqkKz6R6f1JL9x3rzcRbzahvTHt6cVyCuvQdyB89RaxAvgOSIwl7+gDJOShE+gRvCG16ewV
VMWIce38y7FQ4RLpR+h9VFdc46ZmV2ndmvkEwnfMIKD/6iBMAWLOkIHzgaoo6zJEOYjw6GvNJu9+
2KygAZWbLDHemnDbGiY7fY2xX1f7u7wGgBn61b4mTQehQdyva3SmuzycobbW9WasEb1n9WYgwdf3
6h2gLesD2CL+kVVGp98OE/FEcII6wt3ZV3q+zXIaVyZUnsIJ+4sstG9jMf6EL5PQt4z6dTlPI0gR
yziQuHibletfai2TZ6MC04GaCroKdkm6qEZQCjOBYBYvX10wtGMhAwHOsTLZprjHpitY7wkekFBI
udS7kMj9tAYdzFZhGrbVUI77TuCQd0ITySUtGfYS6OvqYd1VTHOLKvVWWRp/bXqyYmZ6/BSp6Hnq
iVJu9K65nKdjDZopCydSJuzAMEBFzVpbbtyS5pdp+90eupu55FSIXSjDgmlI3h0rm7TlQeo7TzTt
CqP0sB0YsuVZ9caYzNlNkaCtpWGtWeLZIjMWq8TRT4WdlatR9OFzQ3OJSHnoJ7gXTpoiNGMsu2dw
klAGSIYmHEKzPnXlG4yg/IgMVhErBN6miWsbFCJ1vUZjTXWJ2E/Ye9dagmvBphWO5zaljd6wcyzc
11jz4Y8Udblr9HjcNAvhvQhHN2A1hPAVjfgaQIAh8xA3VRpH7Hf5iqnqwF4WkbjEJAXYZwY+H7fi
bKHKORRD8eS7pOmVCyhYtlJeXZc9p9ONZxbheTWGmX/LE/ogCb21JG3shbvywg4KtGcpEMvE7UF4
Zrqx8PIz/ISN10l/N+sFcgoIMk3lbrSikdfenV8MJmVLR8o9GmZebKy+AsrpLXkx9UT57ywsoNB4
abIZbAqGeWtyMkw3w1s/mEQ9pZW2bgXtPQIKQj/emg3bt6gyfsR5lzPlKH+1FO078qFC4l3e4YjF
ZyR2XuDa6a+B0FoEMlG+T7Hc2x4sNxMXYWB54Q/TLG9h+ujb0sieTOZk4IXEuedTDS3OORhlDH3S
Z/5SEGu5jrpaA9ybspHFWrieo9JinS3emfNSZBVsX8I55bqtaBZ5BNvYST1eRPedHsY6ZSPy6g6H
qZPuMTM6QEQ2fGbpAcut46LZYuA/+rN4ky4JdAlZuscRVhlCfmNrJqo/NETGU6CzlLCPvJfhh+HK
6q5b9oQawpPbsk7TnQMMjOv5CNaIdcOn2qh9bCMRUB9Ekv6BiKFvXS6TU9RN95pUl0g29TnHWQAW
tGJCOFMPey0yrMEWvMbsB5KcZtCUWT9DgxaNlXW8y4MN23dQK8ceCZdUvjjanvYjx0is42kNaDly
PVATmGXBf88CMoZ/pOk2RWjJTcTI8eZP8V64SLro0EYbqwnFzmXYksXOMSIoZjVMRnXwNCffpbT9
AmV9A33pnQiI8DGwDgm40WtFk0VorDiaBgTNhilBuPwajA9f5Fy+Cjccjhj7ql09k/9RMX4aLWD3
lmhqVCQ1677V+QDxOOSD/aumt0bvL2kCmhfJgZnMU+jV1jmW4gd7Sv1nLq27TWrjlUAeLyCU/eKq
IeX6qowtLSFFeBD1D44z3uCWsBbpO3v6Lclr6lfXeejHVU4TLK2X8VgXvUASHtgw5SnQouLQZG1+
jPRIHsrRvovSJYsQGjgB8A3jvTWXjDgC44fO42fHdq2X3muYSzbng8h2Ywa+sfC1kX2AgLlMcFjf
vplVm73UtIR2jMtQeCjRXItevrCpmg6jTvzvXOZfSvZIU9yRoOTLjmkumRRuRplWxy0r0mCtQSwn
68nDYN+EE5wmMz5KnasogTTUho2NwbzNKAVmXBhGlB7BQntnJHPBImTflmDQ7y3BJmttrPWAtPTv
LsK1te5EGMdHvAdYt/p1XnX7xqzEaZwiewV+GIIf7bcMLAKNhsEIpKCmmSv94s8G10GXPJOIWcyU
aemK1ph7gci4ayufUgd/Oe9x+HzNw9whCbU3txZ5dquWnI5TFZchCbHkiIyWf8zZSx8UCRZ4xwmF
cc38GoPh3Y9RwPOgLtfS56lyS/Q2U3z1sQzGKf4Jk3TBXcGccmFVtYe5tiiVCYipwGnaukWyhTHX
h67shsDD4rXx9HCFHUTR0nS+5nxXngoDQrzZxocSBdWtqLVrMUkCQp2svfpRBPqgjiHW8r2MSX06
2kWF2GQMASGghYuza9xZ/brN7eSchTVvj1piccqc1arU0/Vj4fcU1aSr1SCeO9M8cO24wsJLdmBN
nyoiiYVJ03e21CbXUnXizXT5CHUs5HUNSDnrL3TlieNqpPMpdBhOxJJ82ZI9SjggPlIZkyGVGD/K
tC6fErfdqqqxvpHHka+xAvGU8HdAOS3EF13tO/Xe1Z310gi9ewJU+lK26Keoh0m1FxEk0Tx+J4dR
vVdkzjg2pN9Zooe1NUphopDPaqH/teaYXTzT2s3+WH/jMliiQTTTbUZy0bEXku54P7nXOENTEkZV
sR4VwQlGkx80RulhYr60wA/jYuZDpFOdT5UgRhauMJLFQlw7yfWDqB37pupZrWNABBWtvFuzHCa9
yHHLyvHJGgeT/oBufZ5Rja/i4Qs+OX+pccFqkLEy1WLct2P9QWhHA+3TbRyKfgRFC2908I3oKnUd
Cn31XIZUvrRu3JNNn3MDKR7AgIjTtamX8VaLepekvNY+NK1MMAHgbZtr9v0kOYmUTS06uAqGQkdR
Zw4aPt4o+27Yxg13srbDthkHpkTkxnL/nZAAmx15RRxgRd5Nl8gMSG/m4KCK272F1+lTVswfNZ/v
xFPli+X3Yt9QR68yvsuzrvTbMLL8pG6GZpXsk7VIsupCFi/CFsvrGa3O4amQNVOWOTljaCRPwzhH
kuF21YkCAYl/7/KIKEinkoDw+NThGGpPnhPqF2WV7dVs84PeVJ8ErOcF4egfPCnZ0HT22nTZcRl+
JD6Pk/9Ms787KnDCFhaB1VRF4Sc0wl+swRtAOjfZqXHCHOAqX/iKOMuNS5QTQ7cwJc60ovlnYtAd
Y7M4M6OlxqrVvvCNKejTzrwTZ7SYgu1N0+fOeXSi9trr+sVgzdiQu2Nu8+UqouW0bonuRnmHtmlg
gEV6YkVfsO+eI63S7358bJ0dZqv8Z0Z7au2MevvUqqeqy/NzjrmAwjMzviJMxMBtSNJkGDO8Ui+q
4RICcfsm0q5i+sNF0aD9w+7QZboUReTiRf1bOaZIF53aOhZG+52KgJQsyTXBT8RWxw7ukjR06tCT
866wOJG0Ej8No3ipPPZ6lhHTIVkOHgMqkBv9PeX6/YQN4m6QGerACDlaKQDyFDDuSU2+u+4a/EYt
iS+UrAOfWg5RR70N7XvY532/UyozDo1vp88hwjhHb7Yu6yJZOWo+OTQw9pMTDbRkiuOgYQusfRF9
gatZ0i9swzPveomDsaEBbWXl9zxkIwKsI7kXZW/CYbX6L8y2kend6ew5VnYzCwR3RXesPbf+AuKW
6hm6gFR7DdvQxYr0zyEDzY9KNFwCXfvJ6en0KYjyXH89cWUqdM8GNkNeF07QFuFYV31xrQjvYv9E
iV5ltX7R6fUD3+s/dQiUeV3L5DVuaO80Hn6xYZKBZUyCitZYwzkNVKHqS53lxAWhymQO5bMIp3b4
JAvnzYucahc76pOpRTcZI7glGnrchU5L0RbyZ6SV3+3J807M6SsmwUNKnyQP92UO+EeBBL4PuEsG
fAdfHUnjk1DZu4HbkEGJ6az4TuLyCMlq6wOnNZ1fPT4FJ9xmxNhcH4eUYOarFVn6BRrTJtpozIO+
5lYjT07OB97ISv1rJxVU1SL2TmJA3tcDPNzlmioudULKUG3b/WeCSyqavdkXxFTpjvYhJdUcuYe6
jYyVP/j1j4kR0ZQY+jlOQR/Unm8fTTH3FHIO+s6WUb0oxE8PqdDnlhYOuwG7WbuuJ9FUDOPzNDnV
SevC95F20HNCmEVQlwgV/Ee/qkRjWtaxYHZD+8qRbXH2pg+XSL9xIwTKTqAyxhrCXb9rusV1kKSw
quchXicmYa4koYjPDaDI33cdWPOII+YpkLnq93qFLDwvx+IwDRNmgSL6PvUi+ZzXz37tV1+UGUbP
gxjQXKTp3R9i7Qb4gJTQ8IWuznRuhR8jz/Pde0Z0wxcowMwiyOA5kqa19vF9vsT5fO5826Wdkk0v
WUWnDZPZSeaIMChzxGlwsURFvmy+ziEjLMwF9RFvptpJSc/BR80GWKD3g6ynhLYRYZeLvHy2CSxp
C2i3yZCXV3vCB1kKJrkTUvOtAiwYMN1FUWm31ZV4iw9aDd6uMXUUDOYgDuzI+Uqw2ViNBQP+cNJY
ZtjprvVunIPeXzjNhj1dHDb867oaFPs7zdj7htXd1EzJSzCn+WVi9kDSXv/ME/uYpPQ3M/KQbZ/F
A+Rjxv+yy8Izsu9uy1STASsA7FuGotgDo6368KQiNrxF23/wdtIgjFpCQJNegNPNlkuxIZ6odK0n
ysoey499KjR73HZjlW2t18kuspcm0uQL+7dopWt5vLNr9kcD4e3BMHfz1R5plHWT+9oLvf+MxJYS
1y2mO6Md4wqMc9Nnbgq1uraZQE7fSSM1Lo+DpgyGPXgg6V9wjjHZXja+2nnJfOK9yo+o9Yzn0D4m
fZ/d6zYUp7AYWdMMyhrHFS+z8anzNfPV+Jm3/dUjMORLrJnRDaLI6+j45C3ZboW/LR5uvWyHW+HN
ZxywIShf212yY+gbBCVBy8w3jIgxcakH7RKWshANTnpGkEEq2m5t14n51Fv5W+qjvRzTWryik4oR
2X3qFBVJ6hhRUAklL3Fb3lxLaTcKBkRAsaLHM6fyZETasa1554GmvDqz0e8t5YJQdNU3KgvjgHFM
nGjZkYowGgVxY3hmSC0ttz46UBonmeWMlKqxuzWjsCFrB4gzqcBfYrria4bdb7llxp/n/snpYpLB
Q3vYzm3/rurueaoNbzNa1XCBVHFUlbCBx0WfgVbrp54cxZU9afOG64S3G0xL/TZc/n+i6f+FaMo4
Am/pf/3v//l/AJrS26/k26/q70TT3//mL6CpoZv/Iqne831bOAZ2Q+zEfyFNDd3/F+g/8k4ZjSwe
Xv4S49Mu/m//YRn/wnruLBn3OkZXZgD/8V9a2Mr8SDj/WhioLEouxl+mQP7/C9KUp4Ft9W9gAjCg
nuf6uFo9iJQEAP2D26AXcQ0NZdZOuYRLgxIQElmbN0f737d+n6tHQOTphC4QKfZy+/Go/+VnY0gZ
LSdgZ3/7+fL7HncfB9SMKPfpbZFk4T91Gc7tbTvkdxDPXVDmKHjpTsFmYQjPBilixPY4SchaeXwc
EAHw498PkmWazevH6cejACb99ag/534/8s/9x60/B/qX4Mv74ZvqY1zv//4z//irg5WSz/Tnx49b
/3jM72fWaq6OynNMNn8eAyfnVWcbyc64O9QuFqc2LOWxnAd51C0HK8KAK4Gm5HL2cXCd9n+6n1X2
Xz+ZY+Q5mh0dHv/68eBcGcXRQEfCv/7zwD+/7M8jfz98+bN/+wP/ux//41xUVl7QZs4lRl7SO4x1
//ymxy2BvMrVGydARQYBW2QEjzxuPg7pcvLPXRNP9Ly2+uivk1xzHLDkkJgfL9mfd/Efb+rjbvl4
/72IGduE5H/VORg3gOB59REPNAxqywMDwwRnS1gUn9THh5SmGy0Mo9Z/P/Bx7vFPfv+7x0fatDUR
0He8Pj6n0+Pc48fEa58aEROjtfyRfHCQgCcMVv72bx83EX2zlXYHnCs87veXY3lGj7u/f+lyl+34
aGjXwZKIfBPT4cu03HwcksGgx5G/EQBMT/GhLWZr1PGd4PCQFD/uwrYgDkFDlJcYGIrdClfX/nGz
mzrsKcRlkUdA7URcyirzBF+q5dC3Y7+iOpUbI+yTveuRrvk/2Duv5caRLlu/ynkB/AFvbknQU46q
klS6QZTpgrcJ//TzZaqn1NExEyfO/bkoBEBSLBoQmbn3Wt+St6d/HqHnoAwqSv6dOdfnqHEBm7OI
RxL159jqagr3bvWN5gg4cbmBUvn3nlXozdmQG3UH1dLXFf3PDjRaAw0q2zaYJI6zI39Mkaaz9dNk
pA7rHWGhlh/689jrpR5dKrY/dq30aUbnvRHLTHRKXXBvkkXlmZozu75RVmeimsaTUz66cYD+2tHv
1Bur1oD/Qu36zkDQS1GWE4VOUhgq0zNLIlfjrZdl7hE+ZqDvPl8+8iQvNKVsxJXnLv2l+tyPnLDq
UG1QEvx9mJftnS8Sf+8EZFz1HuppstdlvhUxKc25LKELEtL9pD6FbOAcUHvqf9MHOF3IG+Dpd/N5
CdIZzXAVbxJ827t58lDT2cM8nSHssOs4fQ7EqpIcLdM7+/TLEBUDTQbdie7z43UZyM75gDhDa5PV
qXpR6juxmc4MJMMc1U3qG/r8riKYqSP+CRzIlKyL8qURFQIndVjI17zINkMXYe6F0L8p0yg+xfLs
izznJSAuYj/ZIB/aejys2iDO6j61ZyPFo8FTHPnGwd4jlj2rPYpUo+RpAsRvEw3NnjX88vupo/+Y
AJO3co0iaid31XG1Zs9wq5o92l+ZqQKrb6N2I8mkV3s+PhlZ1L8WkvZuSN59TkOYD0bR5eUm7nC7
uNJU4ATxm64lAncFG7X3eeivQbNDjftb3TQM8Td/xMOf1AOnhKd54uwXiDqteL0bjLw/q5uSmCIj
ZNEj3tPXxi643v95s35lS3jon+MZDRj9Ra0JP9/hx9tEIsBZR5P03PTYOvXyGue8wc93qQ7V+20k
pB+bHL4PafkvjGULDgAlh3znvny7Hv453qraqhvqFoQoBeYjurL6PMy0Gwczy3f/OF/V2YEDLUAX
D8/OEnLA//gFy59xMGgHoniNw+dNNqkObcIvz+w0rsAWQ/znJl5JS/JwJUNe5L+s/Xbat/r4mIH/
Y2JAWIEth211mKkEA3XsGESOUHPIdoGaECjPh9roPgliMiR+TxgeQUyjRYy22aNElue8O9PVwLpQ
b7NyxOQpBRLqtqha3r0a1aU5OJj05cYtcswEtW7QREcSZK0ODFdanucZoelZ7Xl+zEla5R2+f+/Z
mAgZ9SraNXW7inNTlvR3GPfEmY65OI8zJr1An8tdjPKan5HKeZAn+Mex3fYR7gHU0QkaDbfp+Kmp
r7+TX6TarIvPje2Cq8+kYkSfl9okFb6xOZPZzNUFXyc1w4w0+zplxOPjUye32vs87DsyXGschDvf
SMn4W42z2sSx8erAdyTRmB+7Li+dauORmoNx/79vU4fkFOEZUrvqMeruz0N1m5VJ/MviXtSRzQid
b9TjPnbVrf94no9dH+y623Pdc5cRCbBorzR4xJniZXc2BQ4+XTzVpjuGw4BZxjZwSo0a1b3aCXSk
cmUemg3nWSGnkihBmBgZFVcNW974savu56LyEJVEhhOI524qOZ5McpDplN9J7aob1aaRd6s9jVkz
g4Z0NX3+jTocn6zBQc0in0TdpW5Vh4srx6zcZLXZ0H5kaiKPU/kkn8+URBkmCDIWyYaWPzx1d63m
M2o3UbNP+TeZ3FOHufJHfR6rB34eftxdqnmzeqT6o0L9Yj6fUz3+8/Dj7n/9b9nn3zgUgg/90Hy8
AvV3/3iVHw/8eA4PuRM6Pez9Xc6g/xHqKCYGPXUcsRYNgfOJjbpNbVQE5OehCoNUD1Z7n3+rDoe1
Tc6FA32CgdWOPQZWtQtwccXmIP8jzZbDrdr9uPXzeT7/K0ZE7L6FLBLIZ1L/n/qT/+nB/3jGz7v/
9RLVH//j+eWzqtvmlCsFIZsqV8WQP1u1Wf/s/evQWspgywDvYCbkwaYc21o52/jcUDLqdpGz/FI3
6RhwELPKqdnnQ/51qO74X2+r6yQP0wFnjnocrTie8F/P9fG//I/3D8j2ti2Bbn+/YnlV+nztak+o
i5Ta/bhHPka9NVIguHz96+Hq0IEMdxrbY0AW1XGC0PqZTKM+PDDUfOXUo8q9lrvPTVMJwgmHkTqK
nOSV43iXxCWSdzlLQ1jA2KemfOr4c/NxY1cZEbSGFvLnvx5kyb/8eEr1JOpY/fnHjepYJ499Z6Cg
nHxaiMBvqfxNOvbgqQvOfQGSXNecftd25Bf6YIp2ttNZK2I9DymipTlMbuWwN9vrBCFDhB6eoyOO
piwcjE5yQPkt2XIuOai55Kpm2knC+6fng0PK0OsdlU77HKy6fVZ7SVs6H3s2RN8DS/2jCt5RuTyB
mlUhoQb8Z5kd9cs41bfaBREVFAA1xZtT1v5JhbVnk8rxO5YbdaOrQZ4ZTWGDUDVuZhJ0+0KPZ2KA
E/+sz/1ygCLlnGe5IVStOaUoKFF69edMrlrUXgl6IoMpcCDZRD/3ckM1dz2LzjJ2ce38sDFzn1Xo
0udG3eYyQ6BbTOTuBH6G/PIWSZSwNAaKNSEWE/uQ0WYEOvo+Pjw5HPtyJFYbsTrjqa5fSWvibalP
wpHzKvXBqD21UXcUDUZ0eAaVtElO54+NWSRHVKX7SF0bCaDkyrzK8sMkr88fu+pWvaLXZWe0TKdk
PAeuEbDWSHm/cbcc//1gQ16t1Z+pe9SeQ50YN+aZChHCqz+b8s/ev25LW6PewE+Hm1G1qNaCZURm
bFNKR6a1Vbd93qH2ZvlRBbgWUFgym1ffr9r73IDY+fs7V7epw96QRZ/P44+9dXhKVtop+cdqQT6h
ukOdMOrv0ti7711g0qscLQc5ujI3xH3851BTQ2SiFntC3t8acuD9fCidQRuWKYKbfzyosNJDmpLC
SpAp+XZ1JI4gEsez7wHeCgghYXJkILDKXfSwLDASBI5eHY5WM1zVZmjJ3qEUf/T0WTAoGEw61GYo
qUNtbNsPR31oPi7gHxlZn9ewEl020WNDuhkqn2A/SwaC1RNmcZZohtx8Hg7kwJebz2O1px6jHq0O
m0gvjqoE+f+Ltf+XYq1JhZXy6v9erb2X1dX/s/3e1UVaff9nzfbvP/27aOs5/wHB6Xo2ySLg+cEL
/yna+vZ/LBNhuA4C0gVvalEv/btoS2VW4t2p5vo6gQKmy1/9d9HW+g8PNeD4WgHuVmrB/y9FW8sw
JWzwH1Vbm96RaVFRI8LJJ3TLk7DCf9B2vXwmfaoQ2TEFxQuJsvnq+Et0oMKIyM2kYQ158CnOSLgt
keEgeTdCq9GtWzWwcELHMCCXaaAPVu6NKTNcc2FW+3TVpGMBnPG02s4j0lw/bkYKWvGeNnz2XGsd
/PR0QhcwNM2r1d0F8LXzVF/fI6jiIVCn9t7sK2AYKzyvOBPLpk8N7wkmUrBFX1A+e/kANd2lf2ZE
1s038V30pmFenDoN6IP3w95AmxCaSevsmxkHCBhv1FwB/gMftEqO3fNi02A5rnNUHkZjmd5AnYWR
SOdvKemPWis9dDi7D1np1q/Lgiq4TbzxZBXUJMt4QB/hsvbSluZu6Nf+qyihFdZN74SN37B01I3k
axUXYekUh6JcywtL3/tlfVqixD6NfvsdPCQxkXl+MNoZh3zq+NfMXZNDN2j7aULTTvnQstLXoIHD
4LlJ2K7leA3K6+jny4UY9jDiw3rR+y4sGhQ7WbB+ofVr7TRn7ELXtf/SJh9VDf+dLlYR5hR4KMZI
D/0YVrCmjxRmbwOKwp1nPk8ecpSYVI4KC9Res0V90OprJobghdjeJ6zw1WM8zG/RVE57hsZxt5QZ
BrgO/2FwyCcaZ2Kixx4YFS2r0UC6M96qbjRQwaHhdEv6hAFvwXSvms8sHL3Orq+J9+w7vTwugAjP
wpOJP3aXvUSkudopmkDN75INWDKpxv7F76g9QkexjxhI9Yc0iHD619YXRABRt0MUBbFCPPhmKWdi
EdTzZiT91zHnAyt6hLt8OXtgnweb2NO9G+gdKd4oJuMsxwJcgo/SsnY49nmdbLTGSeCSaL9rof9o
NH05LnFrPenaGb6udTLMKrg6A2T1mSelU4wapEdkd7ZMLud+2hYMEkAeNajih971q63SfVgNllXs
tXhxrOK9s/ScRCo23tpfohw1PTKohjZjwXmfbPVAWEyoKGx4wW0tPPPOT2fzzrKcMiSHh2m3nT3n
WJBSzqyzHy1+OGXL2bdxCqZINd3Wd59m4pxx4EJOdkULKqDssHo1VUFGRxrt4lYQryy1UlmM/6HU
UA1ro87XXw6oe1OPUHGS0vt6gSVnauHIR7710rXFIy6/U5BpGcKBg0mUA7Y+HFTe0OyMBvHsl2mu
hsvcJT8suhGnrl1Jk3bhRflZAb0H9Ali3MPq4XFa1tsEa6xlSvvoAfDbloZ8+wv4LiBbHUmu7Rr2
tt8fenmyNjCXwroCICcMQi+WMfcv6ZS/6ondPQa1+ezG+TmNLOvOjH36v9goiikJhUDKPboxIQQ1
QcCdqLZoq507fjuvDtBxrlyYXI1ifVpnczkBWObkBvRSRU2yh7eX7DA2FaEzRO4By2wTZlmCu0gf
1w1TeD+MSCM46TaXCWTDZHwXs3mPRau9y3DnZV31btstjVq/zsg6x1X/FS/GrrfT4a4m0WJDH98/
BUNGmc/qIcKkS+gE60s1Vw0NZEi8Rq2zSJ3Hs74GbzD1AbFXeNQzp/xmkO9Ru7jNW1+rv6HE2Cy6
tx9aq7mLy766d4N5vjWpUZKC1iRXb1ldpDVJv8Vi7hEC5KAY1srhoYdq8GTn+oPZ9tWDP3lP60qU
RVevBPbG7njfynh3v/V+gOPYtbVzipvsJZ7idUcZzd+BZRqz7LQISUUz8vQ0ep4IRekFO2TQzLWA
YUlGVXbMGu2Hk9XTcxaZD3Xh7O3EGu5c3QVNXXT4eDBZXN3OeqqW4VVfuPIbf+leYj40nP27RE/1
e4EEalPJNVOM9PAQBytcQKJRw3S0o7MUy9mt9z1Oo+AF9Ex0b3cGa3VrYiIXTcch06SzE/WAW2po
Y3Qn2EsjQMlM7nFN/Po9cyb7QcJzF91CbecOXzEgCzOyIV94OB2MDLR4P5B+EQx7TTdxG4k6uTow
oijNrumxzO0FXHb+VqTGc5zO2sXHCEgJNf/SLT/xqzygyvG/Zpr2VnrDpWk8UhVyNznn5oRFIpHR
UA4fLewURtoVeb+ZlOcYHV6+Tsv7qlfvCysacrPLZD8glDjFDvYZwLdiW6d9egSvhu8lCrqnQDtZ
tvUrrpPghQxm5wh97TH1i0bmfyfP2ZKjxFvS24ym71B1/Ksy7Y7CbFjOVgTGKRgvtjCTY9pWbxG4
ZHqMJZ2MPBm3o09QKp51hIRRgyiqy8j+TUzWOk79ZSgGECeCNCTXqIMH3xqPuuFB+uw8VBSjAxak
begyaZJzsrrTzsOic4qBIoV+YhtwMqr4ftIC+y6vXUIhCAwbXfPrZNTzGX7240paMm0410ELs7fj
adq7NcYbDA6Y/OmV4/iJcWuS5R1OrfnbXJbv5ZAbL4sBeLEKXvBf3ZgYfV+rpNq2C7ksdi6+xmMg
M6P1QVzXlhyb3P+e2Mt0rrXprRFnzaBI7LYYZxT5wLSNy8dA4i3ZKfF9RsXMw/bbdvqxE4yJw0At
vyh7I8xxAOwSW+AIKQrik83v9IUcFHK6cSrwlFzN3Er3WctIndgA5WxRkeDZIzLrjKT+QrAw6Uog
O3aDSUBKWWMPhgJcXzrTyk41Zj28MMtZjwqfFh7gymj66RY3JRhF0Jwdemnj63DQ3zDyAeQaEYlh
8xtlrQHRIa1c6yEebP3W9/ezaOKLjeOuW+r61OTEuw+1doE4uqLHJ/3PEY14EkF0CbgAXevIGrZJ
XiIM74R7HavkDHeq32YNgkCKbX+1a8usQCNlbJieMBauuyYW8y3Wkf0JzfnSGVhZe1ffVga8Kr8n
JIgS+7XM3gtLrxAQLr863al38AlZsuHpSFKf2LgV83IvuobXA3n2sKAl3GDKiQ58z5uR8IJ3LG6o
yMEfNlPsb12MqPdpwbkPJ7k6Jsus7/mmLcCX33xIaVwa6wFLXa/Fp2mFIiE5ByMo6ofRHZg8ZtMV
eJBxjEgZ2IjOoajst4hzRjO5uk7919DNEZwhAuAS2XW37eokJmnE17TXCY/VxW6fe0+rn7ODmkbk
GKu3q3HLysrY68Q1Y94dqrex3eFhiGfyIwwn/+llTDtsU4RkKXt3ZFSlYRM33SGhqLnxgm+Vc9MS
e3qwI/u7YycDZN+j7rdiqxuZeCL0YjP3vXfxYTG1LH6utN57u6guxbj8thwrufZR7G2qeGVQ8FJr
C8EYHgXl8UtvNBBXEG9WBn3vvsv6R0JNoWGB4o+z4ZE5a4mxlhqO62Fmsm3cP4lFkjzdrmUD4xR3
s+e+lCZMEy1f9WNZY/FBZozLadT7S46XZJSheTZwtSPWh682YbIHy4y+eFqXHvtWhwWYTQ8Jczey
29ZT1Qz4gXt+8z2vyDW1LzS4SeTo3ry24RnCZszah8audlY8PQUmWJCcsuKQ1Uc9t6MQBbJ+dswz
OGzjvkWrhcdwQGtCewd/5zjfSrt5SUAd5oPTnPyxZOxs1ltOsIGeJstdnYIYiecZYX+1RbdonMRs
W0B9g13gEjdnaUzCu6lGpS9yfZ8U1a+qYsiNNAsHAfIytB94F5MeW03vjwOjnYs4b8Er52sWsJOE
ED7hr3Sd5Igi8vG17DL7pCZDvN5NA/1hN/bNs0gHnJfRYD4ADtxGQMmvkKQxThaATzqzeYYYH9PX
T3G4JcUTLMnsjvvPhevTMqL7vdVyvI+ps3Y7Y4JXUNlLu1WTMqyc81WqHvhIIFM3YCou+lS+Z3WP
iU2riivEmfY0VjrWP8x0V2eq8J9Adgm8BZ+JC1aKMBrrOGDy3bhjjnGKVA6oL85zZ2F2desl2JFN
DEV3iXYIY+vpZgWLcQ+pbaPuTBGe87KazVo2y6GKtB3usPIWB0Qu1VyOE1fvT3Uc1DgymmHTMtne
g8RZmWK0BbPKgEwJJr5Dypxa66ytDzbmOJecla1mp4fEMo8UjO6qgARlnlmEhj7u/AVIcz28jyYz
LId1wMZ19F1mz789v/FDQdgelL78J9E1/CCtZtx4TcNPJSeFpLJdRKXCWmECkjiILaALGe4l0RRb
UTCezBhcbypAk9eNka2buk2io6WZnAKJ2YZFnL1luR/vIiFDe+VlgK9uJ4qXzG3XB7GaDnB5vzv1
LZDxJM5YQaEKdzsDko8Zk0tXVV+MpnqDkgM4fgyOMRPG0Jy51hMymlzseX4udXc81L3u42gls8Rm
utLPLFj0ovFwMqVfVgxGAGy6eu94MB2HgMhX77lxxbA1G8rGuFVKBnC3YzYddQdPw25eZMtrkLXG
fdR7MJ1EBMFSnpZQsjbGZI3nMs/vmqV5TZPA5fSrcP1WVnrBHPVNlCNMPaT1F3TMLiDjGaf5GvGF
pvnbEPhgWgI3DfNhFfvRd+8cUwMpONX8UKLa2xduholxzi+Vabcno3V+GT5i3DnCYFLHyDOrVHmM
4FpmLVFhAMlyvqRQLbhTf8m3EZDuZYErNI3G75r5y27MkmyHBezn4jR83UWA+dbGOM/iE+e/zZuD
0n0c3DS46hM/tbREOz6h5t13radLUUW2yXP8sHVSgg0B4gXMxz8K0VRH0GIk2JJGcswbk4md4d7l
RlrfabZ1dj1mK+BC9L2BoikBdPszteAkoNoHAxmbBzym3dE9BIaID0nOcN9z3d5HdvsdH89PWCI9
605S6GYcxFjJyPWsgrs20k4NbJ1jN2dWOHjWfDPM2eU7XKbL0tCbp9ZBbjBSgYpAjrs5Gt9ZufKA
YgTD6fevvje6p8Z0+seufiQu4MAo3j9EjEcHdCA+Nlk+F4pWh8Gi8Q1ZZZ1IbeldfouoTMi4w4GB
znYOyIJfId2iH5/bGYhpwyIsW3CwmZrxxY1dC2TAWhxSr2kxAEEzgyd3S6LuZDkmoZ0FZsWxp0vs
+nkYkPCDz+F+rk37ak5ecUqrSCBxJ52SKbrw0fiskt7E4FdLMUcZYbTX7IKCLhpubCrkmug4oCl9
h32ZRC8JwVyD3uT7GB9baFjMdupKshLX6xqUhzRv4MvhtT8MQQG9r4j1HdLkZtsv0NRcC8CFIYfA
uTP1axRkX90Oi29jMM4tRAMu3eNS9sulJBhiBRjwxV02pbB6QlYCB8HbDCKs8h/7Wb81hSbrOS/5
zKRLd333NMRgUX0czbsgMYqQVKb2Var+DbwaDJfrAVc9FiqBmyHtzPHoscwsq2Q6aYAsjFIYj7X/
LpEIoP7qxwZJsSH6YFevJdBFhoOTAYuwG+yLvVbaEQDbtC1NdybNiCKVZ2twf/GBLsYdrKDkLs2n
t6LXxEvrrxQMqh+9pqXPdpG+RdlYXuIoeVcjVgYcIhKVtzOMttrXq/Z1lDGyhts9JznXF6uz7uhz
wyse+vHARc48cVlhyv5kxT3JHMAaIF1TFg94b93SN5hYDmU6mg9YwhBfiSg+1Jzk/X7SkbWQDHsk
x8r4siI1YSGCTUfjpGasxvHEu501C9xkZaeQcKb+YCEHOqXLwZuZ78WTQXclgjVgx0zn2syk1mTE
v93VWx6LAnOppYnbzBTQXG6lMzTfMgwafp9RO7LyeO/PBbUpu744VfY7szv9ziEZxSmTdmNT4j1l
Bg2IYIbu1AtcrUCkg8HHoghLEsCWINiFcE7tJADuX9LZIvQmD/p9PLfeXQWLCoPY8FwHE6+f7vFp
LLsjwfDVYUyCiCJihll4wSOLtdY8NAUyHYJJ4VHOtv1jGDEk2KfGmcSbIQJcSVQ1wQ2sD3Y5J8ci
i5jiCy/0oUPgxPnlzz25ou2y7QT4gUQPviUanxZYqAbfMqWAmNHtUZTGTV/zFAQwqxlmNtNj++7b
a72fLFIgOqSAQOTrKzxL55YkSZgJ/TUZe+s91t4iCTZOLeccGG50ck0vvmR+AbQrmMiKsE8UcruD
nfn6sQA6DAeOMDayOCnGlPqTlskGV+qN91LgmBUT1VzLz5+roaWJAxZQOM28GyPO2VoWa61J3Jy0
o5jpo77JKjTza2ZC+MIlvfX06kXkT7O7SP6oSxZeMp1HzaseCDqjGjl9SePce7CnU0wN/RowLpvG
FB0dQVCBcBeWNgpE7GqADsqZiFXfj6g3DlSxKo//JCuAgEc0deMpn7coT7Qj4G7gcMMS76s8AuQ5
ToBTehHvnQZ+lapYjCtI+BKG4UFLEclR0O93Y6yV+7br8n0DVfTg8VNfa2rlXpk8wo241Rar8cK1
74d5GF/Qv6wnxme0of7PEarLc54ZASFkVAhmahO+/Ti5JEYYhhbIknO2FxI8CPJtq/lR+5wgX9KY
3N1Ncf4qsEyeuVzCq6DO8ER9ZFtLO8i04uHBcI6LO5ZJPot1rPIp1GgQnBdD8n4toPJpWx78yfxm
UjXfZIO7G4o+fXWhD/t599I6P8dxxY2+trJbpv92gYRSsqT84cfMnJM5OHkytaFu2nvXnZjYiqp4
yub62V1778Dsaz4Vi33PVAcVoZ4nxyBBfk02pbhGBabeojapuLamexo1E4HEgMUXTRa14I6e4Jh1
Rw1bmO9VzI8YKzKTXoSoxA/ocC7UBAJrxsUgv8Eq975Wffc1c5OsMMFSFGiMOKBINC7JpurEzsC6
C1BMJMAXJxf4Zht70yGjgamUXSN2yAFOj8goG+fFTVvJpJZMaDIY5rP+a0arIMp8OSqRVp86zzol
lH0fRe9aO2s7G0VkNtCuZXKPErGj4qrxoA8O+IB5sSQvqmsn/NfYSJmBWCgpEQR7wsYeC1FqK4RW
H52h3bk9wxfM6YQ4HjSYaRYw83eBxsbMqmcpQM2ChbJRuptlV3KI4+k8Q7v3+dio3XaoubrkkWVF
iGNKO1ilfa9LwayeufcCazVE9/YJyi0L3gLNn1bG9U69znx0V96vwxobpMRWt/j8g/qrN9R3mY3F
b27dsBj9+ciUmotrbdKVT6EhxLqVbH8qXaNSNCJEmg7lAsZcyufUJma6ntceNNdWUdBzQVjHDtML
caRj/lp3xa+mBj6bCeLFlAxaaqMtp/jt1cO6g8UiWBb7HnWaijTHHi57vniHaW5/QvxhFMVZrOXX
rAu+rdGb0g2Di7aPNbkwjhRyKulmnCPaiJPFDJXKTtdguFICG0KlRVQbSr79JqD/Emqy2247dX7A
nHhVIr8FyPuuTqYfvdRHxGb+7DEP2jLdE5sFFL4x2fXJ1v1tXEGKL+KRFaFh8E1X+a1aEFG5aeWE
IPY3OMlRDCf1Hh1Ld17L8koQjXVgqmuhSjyT156zyNrMsJh3KRLPvVYFP+K2gMa7HvrG+0KAzl+R
DkK5HonRWGlkMEq6nCsnJXQ1rBjjc6K/RLo3njH7glQal3cnoUjZYEubwJ7Dj30Us4+lqZHJP6ZB
4abUzouOfjyKZ/Ik0Led2+qrbq12iAMYUqtrD2cf9zdsyj2Kjjsl1XTtrNzbIrrUE9l8RtasB+oT
nDxx/ILH2fxar72xSXLv6HAROBGnMuxhBEkt8vI1APwUqh7JKuruQr4G/9f91UgX/V7zh/ybD1Ah
05h9OJ7Qzo3hfEm02dzrmmed9Wp5MScku3raw4zzHZs2RnzItYlrNk65t8U1E1aP9P4jlJ/YkDdU
rBYd1ggsz2lF5G8nAXlrZRPvDJiWu6GOrU1LnV6qJCa5WXCDgdPVbx/npQlFfKHOSE6N+xUVzl23
eF/K4JfTY+ZNbtqSRFB+2+9eYExULoJhU1UuuT26g3Ut/z3rS2iTuxu6knqj4Rgin8g/URbWcMP0
+ATwiNDXsa0jYBLzrPHHiYlU3BZ8x65kvDIYYzyvmRRxUqJlwHS+dwfW7T+ZpgSuhZRWGGGq2dep
sG9UHLdK2a3ZwXffbN4JoOLHW13GnAmw+zyLxzWe32lHcynwYFNQbnjTquZV/CRQsjTcYadFV11k
kukhF9Xm104XzwTfn7WJsswy3hqf3DVzDhOGhC1oGs7uIdQNgKVtGXzNO/JMNP9rwkPPxBbuJivL
P8TpRCRNx2nVtuV8H7etdaK7MRAvZfIRu5VNkW6gIzQw412pkLXtIamoaNNkRliaio1/nXqWg62B
FclZ6ic/n42tSSeJ+GKzDEIWrJh08n2ykn0z5UlO9T2+5WYrOakYGjEp3+NCN1eG8CV9jik/MX2J
bZy2mJ6taQ0Ta6R1vAbw43B5oTWrwJO6MAyH+ZeSMldHYHUhei1KBlrFu0/isFms8tSt9jHpnOAA
Ly803H46WgvB3ElsH5VuW6mk9QzOcdvMVNFM7ehp1jaGPe9mQXUcJ8btpm2lYD74VUrlvBmvzJlL
E22cR+mL+sBWczMWlUFwl7reGxPiOMR086Ak4EPjI/ibHQOuXqwflG+kiJZvdCZYYmRYrpwl5reB
V50giCHeCdBJzJQm9GZNW2Jl0K9jZAM8Kg1qeIN+iK0aYQ8RDwSox/vZQ7ntzvMrdt9xb/mkVMk/
i2JB8EXLtyO0J2YIAxXm6EHn+vPpf8GSLE0xWbXLHP+x1ZPLbELMMyMgtUoeLaziGboRl9jIYkJc
J0Y42vGOax0ZXqvJuhAZUE2HWr7aNuJzT8grYjZaPqBaILs5YtJXD/G9TpZqFMRnbLAPhHLlBzfn
h57Xy3d/anZxSh+trzoWzRkvWr5ytTcV38cUCrwnAHPMtfZGA7Pe6hWhXCBpCgwYxaZpBFxoJr4N
0xnKs0R1mJU4wPmEPokZtfRujFfTruvbW1CD12RRup4dfaAJYCDWXkvvLpiNmZz68dX0yu9D7EIn
xkG81Qqmv6Vp2qyQrR9Kcu7sAuIst/BwNPAAQagxPcUEZvj4MsbqJHF7NubpA2J2ossYM7ic15s1
yqnHB3mHQdWG19yAfi58H1s9vNmwCIj1yYsFYzEJUFJn/bu1nZPtUMecV+ugxm0KWAPQ6++WTk4k
6LtEnim+FV3i2D22hn0T6HAOnvCibdPnK9UyugjeuDwMosDbn+1n3aU52bgH2yLAb8xiTu/uPu/n
i0VF6GITlblYnX2DW9LSkYi4FLvzlW+yRwgwfYlHvMBdC4eSOajvdODuAxeWUlr9xjpANQHdYKAD
O/XW4tXnl9QOzcLUcbmb7ObYv+b6YJ5WsXjbasKV78ZjtbP1v8RElO1cp7B9AP/AqKCYN0XRc8cS
ECeR6B6oiHYRwk4h/GOEcH0TFM18hl50KIqWq6AszJFWGe/xXGfAjEHtPXGdiCgrUsZw6GxjojAa
gysjNu4TEQbg7HJ7k/VkN1C8LR/rUked6WqHDkrPwQF8dIyN1NtSsbO3pqbth9LRT7ov9lUsKBeU
/jfw6vlJN5jEeMvDSEvk0qU+1QQUN0M6PfQxIgAp3OyG71FW/dD5islvWJatYwwiRL9BTNrYvleu
+a6R0WT1zkVvLG2jZz8qAwkLqEfUAghdT7PEu7FgF7AxXd4dmmptvNVk3LDiMRglZcjJuLdRke4Y
H6swgD/FYOCNJLRbL8FkL0dj+KUbwK8NMzpZDVoYQhKqwHAeAaAWYe/lnSTwQ4Btsy8eDVtiIIdj
TtgU2vu/ojpCc2vHJ4e15LZzCXII6t9dHRVvQUV5RZQnuEH5e3BogyLeZswgjxPp7PvVcv4KUOfv
MiG8DQH3VO+jS5qAb3DX2d+OKYhJYdQ73kC8110KZGTcbSgug8X1yLDuA5Ac9qzDGrTdF04CnOAU
hBK4SayPEAaQ8UNMlMtIVz5AG4iPZn/TR6Q7WldtSStggmeTiEjVWY+/W0xYZTvlJ2AmIgQ4AAdI
CHm8HIoefvoYDZQadWC6GiQ4zvtT4LgTHSKky9EyxVSanjvExSckWAtUPhsWSzY+xp7YA27Fgmr8
onzvPPqDV7KUuutX8iYIL9IOU0q5bhD/xd55bDlubdn2V+6oPjTOOfCN6pAEbTDI8KaDkZmRCe89
vr4mQtKQlFel+16/GqIYGbQI4Ji915qLonuaXiQbbDMjSqQJgh0DVLx3cPmv2Uq/Zt2hTMWHX6OL
hJAW7yLXRZMkinK3ZEj7FIYYrVilIFxO57NDrLzv2r1nz9NpHBdHBqE4Wl038CtRbekGsjFlwOSp
/XxjOtg2W9Nu90q3v/fn2Rsj6n91Btx9Mgy5LqyYZjnBFZ6ggQYf0nhX9aNu6/WhG9AoRGMMkM+G
sqih/vBEY2UrSZGrgOVmJfkd4goIdyBHaCgjYcicfWJoTEeJR/GRHZQJd4OuDNv4jqZjOw30Gwfa
XblxGsWyW0OhU0D5tNOAsKji1R6tTWZ17opR0K4gMrOmDtl1wGOHpBJ5mkGzqUmyr+5A5qtYPphZ
ugBRpgl/i09QdFNViKbVh0M9GOM+hIbcI2j0MS0reZoK6KyVxv6uJ/ig0lgkM83ZSGaQgwF4J6Eh
jutukwfVPbs8JmkBfYpEEU8a0yaNuulA9qzATiM9YvlWwEDRMs8wVikUbPSo/2rX5sMMxmRNmX9T
lvHBv1iOnlE0pW1E3XGdEu4lICU6xlgfi0Z51iSSfdvlLkoZtY39ge6hWa5SQ2+2Y8KxC+RwT5QH
Cl3OjjIxjzRG03Xll7vY0OTOl/nBHEW5RmdJ1oMNAjRo5Ddav/raKm1908QZcQhqvIqFKjvef/qu
FqsYGpNoazjzO/C4noyqqqXoNb5axTlwG6DBpfE1JQMBoJQttoRLBAAI+zfEP9nSoyNXPnVPNIK1
HQg4z+Ep29QZ7+t87FjpjciQllcZsOBvK+LEKgOVU1ukNqWgQ6xr5Z2V5dc4bd0j/RuLRJHpRwEf
bK/n1hm7P3yOjnbEkDQbXYVMvEkBJTuAwT9UK99vjX2HPC9Le2CRjlzpRl+tcs7WsiqHjdAKGs30
LTYBTPmaQsqqHHCMacFbre7yNp+fymw3c0YZA0vrQSm5jeKCmEKbucjMBLVeexBwg90bdGOkSJX1
6C2UVPISXvN06gAUwuEX40OQxWzuTRUujG26u9lyNmCzDqNUrU0fpR3cO0+I+LGz5ItD+wirKvUV
ZKKOLEKuuacUHeIWiQbbdM4PRGR6c6cTxUCmwXgeEB6uqtSKtq6SC6vqJXQLf9O19vbXjDUDQ3pm
hvulit82FsKYLtDXMev/Ga7yjA2ZIOahYHwIExJt+mtVphffHhsgpZw2jlH7iPsqbVtl0TGrh/C2
Lqe3+HbsjG/YZ2kIlPlT2ULsFr37HpFCuQ1dgtnCdEIGJ5cyZHZKZ7YWOUh2TLVFCmOUzRv699gr
q1NLKz5SzMsurTDW89Gzb1oxCw8CI9KAOqcwW7JKlysRx9Yy9gGCiRYfYyW6vj2V1pNj2+1BLA4X
+9Nxudz8+qPNxsmaDKIgI0wlxEomFDmwe2cZVmRCc/Pj582nH+CPH/8f/i3D/bxq2XjObmpsQofC
rb949/pY2GsBsInhopNbp3YeBFvCpPDhd9Wwj+tkOMZxOxw/7+ER/u3e549/92+fD/njGX/3EMMY
2SxEZrdpsOox0lRqFTd1eCFC0/ECORM/UEApw+c2bzRigJJwjr08rJ+MwfgIiAG8QFAaPN9K7JVR
OafcCamOLMhscv0QC/AoTK3uqgW/xVoJDVF5dFRPQXCi7dq1VAuHPr7hzNsxxKrtuMBgAPOMl0Gr
8BLj7MzB/qxQlNKppMxh0qpdGR2QT34P2rHbomNZdzOIwtp/f5cJmStG+oMxc1wXgmGuaybTs6p2
Zxrkoyj5JYihTk9+E2zw8oH7iRklIc4P7Akpvstj4as3h6Hj4FubfNTfS+Vfp8C3dzZb+KWJrXXD
V1Va8uRHQCFbmqCYcjcpbCUOzwV8lE7NUEf82KMoUhZm0GVFafnac5f9EI2bPQzyrZXTd4qr4WYW
/lMA04mi+rQDdoMTLwG9143oauZaGVBUd0nZGVt/YGc/jMXHPMVn1i5Mg6J5Rg9NXRoMkDc5KUBa
Rkx2RKtQ2okXye4+89dOr92jItI3fKmnobZ2mIThaEtRr5WKvjUUKBY+CMnHbp/BgHIecw0ecDsM
E3EVUbtmv3zR5+zN6YaHkRSFlTAjVjwZcOsCotvaIKDWCTsdqPpsHiF9g7lZHEVG4TymmuxY87Kj
g8HcLuUiMsHHydmOcHnhq2nHyrW7td9ZA43hj8rkwm2XxNtPo1BBAtphAoBKFqXd1ieCLBS96hWD
ZkfgHhPNJsoSYmcLN/fCMbvD2PJA/kpDe131m7q355UmR5u0PPDjzgSKtjEJcopptyQR5dTBJSiQ
UZBPRy09yyYs6IQJuK46OEtI4eQWMN+zz6iaCXgPYNWyxwgc1Ggl3IJjIYNMnQx7fmGjCNDIxRMF
QWtf+vWxLBM036Pcf35/WV90y6aEMopbuuVHNU/kbZvZi50kV3PUr/GA7i18NnxUQI4oBbIECssU
pe+7mPWOovz0+UKueaNbfCdtoOQMYHjbUjPow9rao9uYwKhSi3VtENT15PiYldQuG91hX4V9v+8J
ttRNMdG0UnTVi1MSmQxnt3EeH0GM8b49Nf0J8oZtrTXTP9oVseoz62E0ruz+Exikfv9Wh+wFDZuM
MGfo11PJ8i1NxlUcnR1TvrSjma911//SlMSNxdauTYmUy9PXcQH+RWOxtwf/TSc1ji523D30YDXE
LOBchhm7Glpmhm4geQZi33T+q6w6sbX1mOJ+NL0lZTnR8ace1UOi8PyY6AZHhOKhMKvvUM93dZjE
9x1ChhVMk3U8pLshIdc6D+lsdXP6bEPVOWsp63W2D55NR4rWtBNfsiTeCw2qFOD48Iwd3T2MeSR2
LhaocjBuitElfy2q6TjWLiUhiPxWE14k5KqD+cVSaXKTz19y9EVTZd+PlHICOo4loo5tM4V36bKL
GuwCiPqMbsGh80DfMd7QUHt0UuocaReTtLd0HYrS/RrjPkDN1eUeASvTUS0lhtakVA9qpVkF+dyQ
i0haqcLhFSRUtwQr0rXPOoN82OY2DCz6VmX8EpelDr+O5FbcFNWReE9msWwKZkY/xfgnrWwdB+iA
O4uuwzR6KeaVNaRkgltjMg0Emhl6OzB2FryFvtikPm/cEnP2oKgblFF9zmXf7ySdCEdHFJRWhzyd
46PfKkEbobzrpXlol4bG5w2Zg0wAQiOk1fGfx2S0VvgOyhWcgc7T+/EjE4W9dlykzlU3n1gyFcky
gyTtxlDBY56xUMQ5Max6CtZHa3EfGssN3nVKhC2dxU8fmlTR81zy2KyBfR1bqjspkCpzVn8oYOQU
V3kOCgA2VsuYZgn1w3VgswyR8UyM2Cri1Ni7lU7PE7CYg77prSzp4JUIzaCbvtRLB7twYN2LIflA
LhUeeqcUFxLJwo3dGUeMmtozesVs9qMrImOiHDUCjoSdGNuhsRpmzZE+gIiLdenk3YZyXHiatR8T
9Xp2EsbJaiLr4ra0tPNZ1t8JQCdczuyDtTFIZhX9dehoFAuBGMscnOiSGNUN9fN0hyIjZ13WnaFU
Hmo3L+4BfXwdG/0hMMKZNLbi5NrD+D3To7N7HUi5fqszetozsat0cErUyU5MvGpQPKtwWsezOWz7
mAr+hGVgDmmiuqqMyIJ23/TBrD+m5sUOi3Wai2vQGha7pcHckJ7xw7cRo8ZFoK3i2ok9v1fsDXME
WzpelI0Mg5Cat/89mQ101EBQwgkZYABp4DzZSERrObsP9iIBd4vaeZeER5TNtRXmPbEQ3YaAsuTQ
OM7WyaonalQ0rgBs7qDPb1HGfTHjqzFG4WNeS8rokbmJaOpzZTCy2VX8RaV1cDJ91JQEIHTbJcnm
YAaISpKieCjQyGHwa9AXN4LtbHU/IBs1XL3/5rTAWB36vSSalMQZEQFk5vfW1LU3PglF1SSxl0aE
SfYhwq6pKgMcMBJTFH9HK7TLQ+BQg1XTd1dPb/Ig3hXJYPxQVXhwyBHas3mHajhwoODUmpfOkfLA
UNjtDBQWD3i+2OfiafpuBsTVauV+ZoVLDujcnYLQxDHTyWttItUea9qKtmXdqK7YTcVQnftQn6+d
1ZEfqkJKwJTbzo4l7lrk0siXm/wcVAnd1Zhial9D6mBIkm+NmiPiJSDWfEbRfd5k7AmPycsQtuU5
T+ISWG5keU5JdfXXHynk75rWmNY6a5UJq/TVacPXcMLjlTl0eLpS3ccOwRS626OnqkjySLVqsYm4
MM/Ddu1rps14NyaeObb1OvGt9tDazattz8lNYC7HHNQ46nFp3FSJ9mR2xJJQB8i9NgQeby1TJLFF
M2KZFbmdVm+gljZpB8PQ0fjzoHJsygSRa4qROTT92x49gE46SBROydV5GCxio2eTYDKn6BBIuGNK
tK/EJY4cE/MGS2JlUEsqMc0UDMZ7LctBJfkkRf7J53j91Rn4L8x71yLK2+a//8sU/24YNPEzKmyD
ysY8+BPmrQt9MjPbKN5bqsHEMzfq3LfiGKnWveNwbTtqU8fE0PN2Rd3Gs4wJ8jCo3NWcY0phKYWY
PZ2iFEVL/Nw3DgvcLFUkIEbaHvlKlq0dK8MVXeq/WaH0NFRr8KrpJiibvTVG8XFiCY9iILXgursN
3o9OkgaFDh8inKCQIEgVbtG2qNJ/S3N9IKKwig+q0y+lPwfnP26cLG/2adA9Qq6mr2WwTupRwInJ
tohv6Rri/oS872xQ9/98GI2faHk0ugxHl8v/bEfnUBp/9V0OIYaIWREh3w72R9kH8q2r4x5ANwEc
mG4sKhx99Dq/llOD5sdO9Q1lfP0etSMJC2laHMBP6vf0X5uLTeYdmgUMLAacrohi9wMXLmaczn4U
hMQcEqLh0ZcE1zGJrQ3HvvHgf39LZd0cEQeHd0B7EiQX4TvBMWiKxjl7lkTWbEg2oXBqhIChrMa/
tWV3cMapOiEJvbYKn57REJNI35n1WSOfHYP++T8fJx3b7c/+VFd3WAIqC5usbS/+1T/5U3O984sQ
XcC+U/5mzLPes8jaKQfg81asJpaSZrxGcdSeeoGUNey3MefAbtC76EB5+NbPXQi5dChsQKv7TwNb
bLak+QSm62X0G9cfJgDai+NV4zw9ZWN0O4ps3PgJWkbNz960OO4ftME4oeH55+/G+/7tl7P4ghZy
YfL9fvpyEy7WvJ+RvVtpekBeSvl0OxR69B6WDRbIoMALb/CHoHtlbElOGVelFmlfnUoydxUsguu0
3BuxmXq5Q7OV/mm/wjIlnmqXICa7zih1c1qtmrlAvELHFpCunf7pXmKGt7bSCZfrYhIiVdJ+6xki
LTHlL1br11tnh/hnPOLKhd1akPMSBMJ+88vskBl04/JRPIs2foP6Gz2xuul25Mk7e8Pu1H2KEHyF
Fgkh5kDm5RxoL1R9rAesEljz48jwavYcJC26khwiHcl2ah0IwOLKkScVXmsHcmwVSOeBSQ+iDx2C
oUrDm9K1wls2swwIPl7KOh4JPK/yl76Bad/T7PKN9r3oJtJfLKSgyrxvyf37nthmtZJmazyU1PJ3
ZTYSZc6GeqNJjKQEDBSsknrrtRqLCyGO5neGVqD4g3+yrBFDbUTkc9s5wWPsGzCgpWndYrPDcaFl
e0yXEfMENchwy7xdb2cNi8qwbeayecP2hnC8OXDt4t8d3PZGxbhcDPIQ9aEuX3PbcoGwTE9osUh5
Ds2MjJ562pktUsw+VjbKqhZOHsuM0C/k2z+fhfq/j0SmbZMpr7sKhKj8+QqjwRNpOp7cvYtIZC+Q
LuuUNs92/5L2irABEBVGUFsexUR1SiUwrDBKgj0Senb8zkDM49JzjIT6mpnUeQ16dztb0CcXE3CS
bJoIKsXeoRqcAt2iqp9buFdtk62ziRpkUzueXhDE0/rhG8I2RBtUR9dGNp9FyyNTZzD3Gb3K//C1
l3nq1+nt8MG0xsiLmgLXm6Ubti6F/Glg0cxKmztlh/uZTAjyWtVFTVGwtlItug3M7pTlKtvnQf5Y
KBeZPByHR3Y0F23o2GDWTXdtDDyWvQ2XezKDs0b8xVKs1JHJ4Fkue9TfQdajHFyEkPP4ReL+W+mA
r/sgjp+4iMqNS08sqZtbSw+PqjD3lKOTbTr69KdtKNSpyhb+4K6h/7WZaWf9h0PAF/6bY2AZpmvh
96D6KOEM/HlwtXtR4giuwn2vyv4ypYFz7mo4+Jl6tey2vZsDKzxWQfTNNtBuGFH5MkTAmW1ikCxb
UJDL3PItTS5tLx/SKUHFnCn9MSMXklRk6ClMIiezqvsXN3rzkSlc+6H/Wo1C7FU14XPTDPGsA0dE
kbLET8T4Vabi0hK/gMnsaIYFiSk03i5zVL9oQUt0uJ/Ex0aruwfXPvoEtz12VIQ2VTaW+64rrmkp
hgtBDOPNGEzvjmh6ZKbZtinJqIxM67mZYvPSKsO4MF5CZY/ExlKS07SN2nv0Q/oNrIFbVcHlb4MM
e8ignTtcRcQPGaYXDXN5aWjVbNpJnalagVBL4kOTsuXvBYms5lTN96Up752uLE5dVd/reuvcjAii
7jM2g6U7ozhGL7mj13rSCoIoZJtHO6czcVPMzq6b3VMrKloFg4gY8sDwyy7ZgTcR67ANDG/QEKRi
UwxK8itKu3RulNloiJaQv4xIy7bUPz7shT+JmzpZYQHL10OX+tc0kxcqDkT89IRqlw5KYpiMxAay
ffcEeUqb0bER30mNnG6V5FcRdXskp8j3Ivbl/kyxG6wSRLZwiE9oupuVpVE0N0PH92QlicBtE4aC
ZxZXrP9SKnpaiPG5+WrKksrXPCHlmvs3YevNbg4RoeCMZO0H+wQJEiSFPmbfsCS4Vam6ots8SyRb
lyGjOGrgMHUQ5qwqtl3XOu1cD6ax7o0TBZdokgmtdUj9mY3aYorEIz7z4i4NRxJjLJ4Z+hZr9dl5
Rim20m32fShMrZusm2jwlL729M8jCwjlf7+sbGUblnQMaVjgkf56WYVSozBEIMyObuq4XkyEl9T2
/TWKbrWaZuOjZxN9T4aUv5lkk3qlbYCTC+V7n9sL8JvCnRbDlShcd7ySuhIeOpdpLQvdR9OFB1aD
LNj29iD3um69tLlYjyRyns3ChFQOvHvXVn2zIu2ovXV9be2aTsEG7zqGSXhd2n13LEjxVkhle1GO
6tenOe8IFe+cviWVqO15XkA5ZbTzlFlITwDSI37ozaHbDFilz6aR0TYvpKQzXHyhbU6l2inOHUGA
qPs5H6MlBEGlbbXWYedsw6EmFkRi3c6m9iUblH0dksjTcZstPr1tFh4zOJ/f7Kk5RC7qW6ldlfpK
+aLfa+QSIqPeziwibm1WuMwkw7AHHoL+xCK4mwHZG3reJVBQiQQIqr1uBdc2j5HcsAWjNTcRzAHe
6NMHb9on3aKsl/rlvM+o2JCfOrjP2GjPyVRBpzDu8hnoAgtv/RiaLnbA1q722OcJmw1c3QOsnq3m
ighsohx2M8KkG3SYa6mVLDYwetUpypgBa9LJygOxRca+iNoWJQTiavQu5mOM84bKl5Nteh8tZpwU
8951kuo2Qg8yg63wjAAzHirJOIizb26CMMCNFcG6vjopG6/i5xn7f5if/4D5caXOivt/p/zgRmrr
6Fv7r+LHv+Czd9nX6C+sn1+f/zvqB5y6cC38aA5WH0cqJtvf+Oy2/YuUtuPaguuRHZ/4g8+uO0DY
DZyAKKscBznjn1A/zi+OAKHGLy2TAga/+p0e/9s+vfnp5z/v25e3/+t6RwhTgA4ylQFAXl+++Z/n
eqpACUk0o0BszcxRci7/MOcTsu6taBA7UL4UZGnFDiQL+d1sMJ/1Dx1xdmL+wHAHp5duGURS2sD7
YbgO5V5El7Z6lQZtsej6p8P824f/y4d1/u7Tgq3HdcThISPwpyG0MC2rdJyATzuKo2T9v4hnr8Jm
R+Cjt3XLmwZLaUBN2rSpdYh7G0RmOd9OTr+vtParygAjGGo/ZwJrD8EVqX+O4I4PunVAEbIaBsKD
Ab10REi7YB6+s0QgvZMJwb/wMhVDcMKIHeTldXk51Jhrytifj0jqYWtUxbflMX3irNoy3ixvB1F0
P1AoEGh+l7dqqXmU+o3Td5//tDxkecmqlLvlExDzu11eajChPZIXLspvBu//+4eqjHyzfKblA35+
YEi3haBziABneUzEywUVIrTB2vgljy0QRrHPV5FaL/cr7jcDGVv04BXq1CZgqnTEZXlMmFlebe6q
kKfyawPdGVKeVbU8NODfYkWZMMfcdDGSkbIJmcg9/9WdtzzbiNw9o+w7QJnUW14jwoVCzCYgZoxG
PBd9H/ajXcWnoid3Xl5Oxaeub/aG3m+XRyQRBAAeXbTYL5e3HVrxQ5FMEyQdoTIXszkZBfTFZp/g
X/R5j8/PxZtXMFp+/6rL+zUa8Yuu3LUAKPN+v/zKIMts+f+IDvxrQ9wdyznv8wvwOga1aV+LkHPV
q+W7L2++fAdDQ+GbJ9ikeS8Oob/c53dNgSavwGH1KPhoBB0/G0i2VB1C6EiXIHFEr5kO9xiZagD7
xeJ+X1xj9eiTwgNjh2iXI6SilQXDcflxeXAjiSZH8TcJsniYNKoUdRg4kQ57adflp+XfffQcfY+3
a36PeI/ldTGCU/jMWEagX+QlFPfdFtd+h3iMT8VKdv37Ux3VrisSTRIyE6MIGQb3l9+xOVn1Xmnw
zXg1+lDtKpLtg0j7bcbTl0+wPG1AH+y+SV0j783f99W07YGtr+K++JLF5A9Z+tqwiLCr6IOUNwqe
LuaMzRei3TARJvej5j+6AYSVVC/fkybzUmmt3Inkqyx9Hkpm7cjEbO6YrIPtE7rJc1UDWiAKt40T
/JDq3EH/2+QOaioCfocWkoJynMckfyW6LF6RR44/NHaQ3YnhW24Emyxk34qwBI2YDK+p1D04m5xn
NHCG9g4G5lLBQlA4cwRBXGTUff5vDs3Z9Uz/YQ5ld7Rsnf/3SfQcNbDr6ugvkLxfn/TbzOmQXuKa
rmGzPrP+NG265i+2DSPAcmymh98DTcQvlpTsVsEv4qhlkfoHG8/6RQBYEjYPEI7OTPz/NWGqn8tz
wqXcyGxtAuNDCmiKnyahWloAwaqAzXmLDsoI7kqZtzsimIojNWncA0lqIqn1qXnx0+eNhTyoRgS1
F1NSHnr58SnX+bxxINDN68+7onZKBob5NomyjU8LbBW1WExjsEOt8MM14eykP88m8o7su9WQ0Bzl
9RkW6Srq3WEL5pdgcq5mnh7f+GOwCUZFLngnYVRD+SJLr7oh1hBaxlAihoUqBSWPdINufuiX7RLm
z1PXocS0ErrKAPRNeFB4iWSxqRraQo0l2Yu5uHdrYiAvSeJZg32sand+EeMxhyiOJia9oQ16wGb/
tSmRfAaFj0t61ejRkoxGg9Saq4wo+URfK2diNpHKwixKv1aZwMN8n2UuhlwEBSyq9/Qqa7SoCKYt
zGXIJzVEOrDRoCX47TZ1k3LVByPEFP8yBuEXSSLiioI5XcVSfNfVo9sQKxhPOTphbUq8xkLmSFSO
huOoS4iDrAIvjbM9sQRPJUk1FJvM2nMUUqbiRKchwaIX/7Bi+z6pMOu2SbBgpBKv1e1rGgZXp5wO
rYzHDUreY5BUxdqompNUXQ+2yIPVEV6CNPIiT9iF2pBEf6ryqNxY0+CfBx8qREhMEwQMAGeaLVd5
S9fGTZpLrVlw3ACmsZLgE9szxyPxk8d5yR+O8MgcI0Jes+I+lt38pUGPVA3fRzfyD5mPrhTHBxuy
OoUHx9IAm92DOcCvdypahHlj4Otf7H0BKS+JW4zejGJoYQj72wzp5irShvEQaulxHu8QJmMFLjEG
J7bx6GY1uQqtdjB6h15aqR04NCe7KiSZ3/r3fma12PnwjAZ46sgytGvU8zFNRKsTKeuCb1enKS50
SEBbt7OXcD/EwL5hUz8uxWea83QYiinyklpCGQNDVsQqfHQ028unvGHORnlbpWLZjrbaRSgOZpIg
bBD929iZ04aYFxxHzrjKpZV7KIOAZpFzSd9pFWgpSKNqDAGr5x9RejeFEByCRJCtPhhAijTzqafo
vBkUItN4yNaFLoJNP7YHjTmw1fX6nsBcnT9aRdWF68xBV3/ITHO6LxF3do7xkfoyeyeWu8Fd0Bkk
K0/QH2WfEPc4Y+lwHoM5f5N5Jzc+0+8+jIAmNcU9E1S0LYxm7+o5KxYNoS19D1rn0y4Oo2xrholO
HQO2wcBfDwfaqhV9uHFDvP7apLbYYk+YRibU1uVtAdWyrSg2tjR5digf+5oCUnDVYTugNKUd1JGl
3aNPbnOWZBVGvV3L8r201biuimkblqRH5uib18MSXs0qhDxl2Dy6eyAjNjkrGV0UJDbPWEeRPpCa
+wSpad6ZVA1xCe/JhgweqCW4Z/a4uGCcN7t3Ds2AS0xq9k2RGbhmOZGzDH4Y+IivwtU20Yzk28Jf
u76JAPWsI+6TCCHAl0VP0bAgCvBybYOsufPxNbQou4OAuHh9LlrcMT2Sg05Ld4iSODfM69RjZO+b
5lXrw5fYSFgaGcXkzU1VHGpE2wWvUZrF1xqltRRWup1TZ/E4ETKfW91ijfuC8Bjc59rPcEwaPlgj
Irl/hHh/Orf88BPYcQqvE4K8UMGYwnxe08del9McbhTmTgT0hsXq+HO1iHuNUrXBcnLTlk4NcG84
t1q0N+fY3hqpPM2zdUFiUO4Kqyy9pGu+UksptpR6vkeV8dpVcX1QOaX1SJUXUi8j5NBztQmVKHd0
Cwq0SPEmZ2ijj2cdwhhY6ATVbDImshqpaJDO3LA8L3pWm+FZD/TT0Ac6M9F4U0R4qqt8QLlIFrgi
w7NJI3WtlVfr/j6mZr8r24BGNM50VQbTbYWPZH62R4P+dyOk58zOx4CTp1BMEehtb8KhulZ2UO3j
Iv2o+uhbDN7x5PchdjYt77fh9GK3ieMh/MLN4IzcgedtmPOXOqLwIms2bY203B2ITRyjCiZUHaXD
PhHDj2ksCk8mxnlo3GkbteSlx2O17nNaK/lYV5gZExLZH6qiMD/s4Rm71Ctuj+RhiFxCrU1mTRBV
KG/F8L11s/4uj3uyAy0MPi7UhVx3TwB1MPlI8R7VN4OTnOPcR3Q+bkb8KTUguk2HS0TCmG3LFKW6
H7gbm5ICvRqOUtv33zLzJciCAGFsvi+ahlElu51cpe9wUVBLdaluN3edXqce3SP2di50TArT88r9
Kp2ZmF0cQwEV290U6Q+kuRPkG4YMzBVK+XIEk4fo1xiDhsuPjh/dwHdtmmZ808pau+7gb0WPAJDy
s+6F1vhkhfNrZJSEskTRRiKEIbmney8cpRPf0b61luNg8Q6sVSvJl2xTPP+yQMk2ksGZWgDU5Bys
ZUg5YKIysnZl9KrbbN1MS/swHcq7iSkaD3/PvMEk3aOMq6hZYU9bDYEfndEueubQH5ys1a8FcP0F
5IeJCTJ+l1vNBipeQlAJVoCkQXBloNy1qfquktK0dhmLjbRKmCmoNOyYay8mcQ1OSUx6ilD6KBTJ
0t2CbwzY/JN7VlFkbPZVDYMLXDiwmkI8o/p+1SPBFNLknkDUvRoRJJIxq3/DkryxavNWa0r23irZ
5aWE5WAxnuOAPdiddg+7CyYCkdpsP0UNScaIGu0b4bK6QdndFTHN0z44z00LNgYI1NweEa5OHhw6
Rp1pfk1KLl5DLdylIMbkmTevzDomiZI1vWuHycw2KZnXS4VgEcV2umQDKJzgUgQR+g+2pnaTH7Ua
s7ko5DFv0wEHcg73yCoP9di8+zOdNKzAEDtM+T1qWWf4c76PtSremXawrXSiTqfGESiHshmBf7GQ
PnPwoYaUV3QRVCjN9GmUGYVaO5GYKYR/W5Pd6bWuQ37VImdJ0DFuMtYK6/AV1uErn3JaA75irJZa
8NyY9eTZ7o4IDayAOH6sGpNkaeOxQ58fH7m8kLULCixmMR9ECofJZLaGA5oxgjn6jZH5YASSiFmw
DBY+FwzkclDJXVGq46cjTFgkr2Zym80yYB1qWQSFkpIrzX3T63LP7uI2diN1EiOd28E0PmrHLfYW
Lj0o/fSwzEfOT+UVg6DsbIkEIUMGpyZz1pDeIC36kjNDbzeVClocHRC/4mqv91hEXXTFq6yrFsaZ
+h4kOgQBab3jZKBBUkOBh29xqIJxExAIu4pRGGCQolRhFOFm1AKCv2PoeBHHc8JmijecoTO1sXGL
5qKXxvuoOFcioz4BFIo3WWK+507aeqjL+scW1egGdVS5+/yx6nO8RDFXY1sJZhDXvcYdi9PJRLzI
xbHpYigjcVo8iHqpocPlvRnEMn6nLlQRo+x3tlUv4rzivtLNVauSdJvQN3/OAtrpVgmepsK5xnIk
PglIH3HLgt00Q9Jgq01V3dHeITE1t8Otmcw66tSZjUFF0lFuXyV7DERRNUV8/uRZzMidlREGQ5v4
3iqzzmgML3o2v5SgpJmENQNswSZQm8ppij00EFCflqmt7RhepN8tRRYy6olJ/zrGs79OwxiCz0iu
b+qiZpYtsrGxvLhhj1PZzSxK+TTPO5QMeOfPVqSgo1U3wWhVXtLoO9Ip2X/Y/ZY9R/MypxDFkmwR
T0csCgRqOqimngxx/SJegXBYWDdDMo9YJ/+HvfNqblvLsvAvwhRyeEUgCIoURclWekHJsoWcM379
fIC7r3t6eqZ63qfqFi+DRYIEcHDO3mt9C+wMQfAWVj3ZlB9neXgjxj6QY+MNCCZQ4oxI5KGieFFh
6kgnhtFZgqiCxv4w1ojnlSRmSy+tsGb3IhDSHDqqA8WVw6zrvDVC2LEspxYsJmBnm4XDa2uqqd/J
XFZlGEgMjZ9JW6i3XCru2gISCvOlQOm3wgptMkgR9TE6xThh/Y1PppHJeZG4sKP/TRHNq+GTkI4/
EUU1BzKje/z5j2PU9s+xRicsiX9SL8Pj1LTzeV3Tu1ygn0ArQp1xUgxv0PXGK0sZcbWSi0G2QTVu
5q8kJPy6HU2nWV9H9trHkgIvmLPyK/LgxF/Y54sD73zwLSh1dW9wTscm6USjLNPOXhMEAIdh8jiU
tMCAP2VDSImCVk+OePojjx2u22Jkfsq6wDRLkClX6YyMNLG+I/lKj1rtogJBUI/Q2ZUXjqPVejRi
wokjIbFRJnMdMKAbqNLiq2b3KGwSVuIpVIpVmlelFT4Pofwpp1vAl8SpjeOdGS5auhWlT8QaeKsR
38/LfI6i5Nr2cv6t1xMG6M38VktCe1LmEVgiFlPIXJrXliJzZX4XR+bsxjJRY7XOpcrPiMhDcnWt
9elpSODxsNyPUMSO5zCblWNXcFldqv46T+ubUhcPM9zg8wavoOe6td46FVpNuU2swFOHlIA1rskE
gJHvFnfLTR4VAjnE/LkwWhXfV42oVtYPrQYeqIRNP481Wk1Vm9GcRpOn6/ILRpfMi8MJa29OH9eS
PhGo0tUzii8YYoe4RSMvjeNVZrHNLDMTUObIXTCG4zcLNt1dqxLDGmdc42fFcCPmBedSnpiMFfhs
FSVkalmhqKu7X7Uu6GBLek/LjacEfY+D+y33MhNq71JTAbDKurk0KQayqX1GRJB4FuPAAT8nWZni
KF0oALc9duWRPq+D+MWZc0P1LFW0yWZ7afU2cVYBRRq8mqe415k7jgaJe5hdVgNgbiowxTIE6uJs
G7tt/NUl0vdujtSAgCwFda0YqgmTOZYwdAWoHZNCPjKY1Nag+YOcPaqLeifTlDxMCUVLahC9Q0h3
bEtzWcFlh++CtgrNBrS/pJIa6JkLVz6aurpWfper5Ncq83aFQtNxUDj55/wHM98PWUaj1of9OZo4
tsuKs03EUmurba3SaeXtmX/DkiJYjMkb3BJOB4OvUAJ9g84gvujUB+I6YnK/1A6CiqtgfgN5rnlp
aFKVloYHzNYyNjJBPjFOgQXfH6+ESJ/2e/tNDYxtgHxh6h22WOHWtFWKBiWWTvtNozX047eb/SGD
t+SI8oSbetNn1ttNnE84/PsWfpmupz7WV41Zm/Wgh1kY7J/WbZuw39TI1U5QAP9shNhDndVyGXrs
ltczbjf7vX/1sJtahKxCFxjbBoqY1E+d8VGJpUSKIQ/2p2d5nr1sbH+JrVS6TEFYem/xdPsW7/eU
MbnmTPMPA4aj4verAp5QDvsIQRY/GlAq+fePhKNDdaSN/qQOqXnS+wGxrqUYKT6Qh75Xqc8gHXEX
QeyPgMa9HV2wZ/ft93aEwm+cAbtp/xc9EwDyKnF3uzjPaLu1JPJQM+lPSkd3aBQrAEDw2ah9pxMg
ou3v5rljAcpuUkMLfjTcnWpL5VknwoD2m7nPSAT68+S4mWxw/VaE1QwPQostLxTB8ez3IIFOv+/t
z5XM1o+lmjp7imGvS1ggtptcGNtDZibfZn0rtxnSY9QQCkb1rwIEM0l2PYyJK89tffpzs+d9Mskm
ZMzqAXaLUWejSk8CCduk1QsZMN4NbbNzYQzm6BzQNQiJVmjYQ0iZmXgNvx8KGbmJ1oDEYw8oJXJj
AoOuLoGkv+3kKVGC7dzEyXmHUcEL/huRyqwgPFMHHSEzmavmVH25zYC3FB8LfOWpwYfM8Yz+M8Mw
JqUAG/BoZLOWd7T0AYQI6EGcaQKI0W0xU39u8g3BQ+d9BuZc3vbn+fz0ZIGoJ/d2S/tRuhPxCN2p
LkWQntIEz2eRaj+qDJhSGbS8Ot7wL+CN/tzsabyd2iu4XrZXHpTtHQiwp020vWGzbcWw5CJz6O1x
K+DBLXOjdcIWALjGcZeqVmELhEJHBsOkMW20IZZJZQnlx4zm6hD3z9aEDQ8pBWO6pL6Pc4OlLpuo
i6ww7hqqs0aqBFMmXMKxQ+dvYHyHEIvyuMePDKbZmSrg0aSzvZlGdYvi1h/FUaNDJT01ivWyFCUm
S9LTsK37VUPgxIK/UZWa/hL3qujAAPiZCk94aAmeRbfi6Jr5jEwO95WaHwZm67YVT3i3lp8FSGDf
5DwuRqp0qZzf5wIwdzQT4nEqx8xFv20eU0hirm6eBLlIPbB+z5E5w08AokW87KEf4HV2RYROr82f
qtpU0N71X0zphmDQmJUK2XOCG8XWU8ZL0R/zBT/IpqbHt+HMdAYImgzHg2UawzWteFtTMCsaUtVF
mckoKZopO5DhoNu4Q20Rc+Q8KD97RDTYullPQF1gy4U3VeS4qIiS5qzCcRbOoTtOYJ50S/8Q8ueu
MFZMIroA5oMFl0zMDKA04VBNRtBZqXYy01ZC1t7qF6Nsgywdn61yvIxttZyaiuWZyjez865BfAgC
qxOU7w1KlmpgslxMwkullN8Eely+iT+ZdDQsUAJRDIBiQqwDXvU2WkWPAgpoLjiP9iXRgBNSu6e2
IciBIaFBV7iqGgAZvaqc5SCanrH1tt+oZNFdnPzMwvdn5dO27Mxvc6Qh3SvTg2ZwfWuQKHkoxF9H
zWS611CA6vUPGjb5D30c3koDSpJkxD/61Ujo1ENnJJeUlBFCZWwQTz/4wV/kPPXM3Digk8J+pVR+
NMo/x2J8SiYoVhBwoih8WENjceeBuieUD79HLpRTlrBnnAF+i10fyjUWUNobzGQqCyWOfi2nYyjO
eKfHUPQVBEVk2oFPbKM29vM5+qVkOq5DJuT0Frbq2nhbUYceJRnMcjOwshNrw5aq/EwuW+MqnfWd
FcJs406r6E1SbuneqRW8T1Ak3EibK2eiwkgrhEtJnFQPC402qhydeETp7shL/H1sS9nugCiABN1y
BMr4rsAn87jKGxLYnC5Mwd9WxQRPUy+orIgm7HVMQ3M1EQCTIZuVkRW0RDRYHF2aep8uxWBHmvam
4kY7lsNjVeBgmJX5GW2feojG/h3mJhE3kB5Y23OYIVWmcpEy8amEQxyXb6TDJqzDNbeKEJunvUjZ
hhVjZ6ZQdpsEXfmak4+3NaGKEMQqWxqiLDtIhF7bkhZfOLnsrZWRG0PvIQ6H614YgaLkNeG6yBUM
koAe1Ye6SDaoDVJCSlsxtRiFQBTzIzIrqLk4z1mea1fQyOTFpNBtSbYIFl2I7hoQHqopkCQONgKG
VhslMQiMXLpBl3rV0+ydwjaoMKg39lQHtSlFd4ytXllhVl/4sm2vewLIGTvWa8mNa7zYXHsRuCU4
t8GBwJHC9dj+FAT+H8bEBI6zQJJJ3ridqECmzoVPlG+rjW72q506lH2z9FyhCj3EsgW3Xy2+6dMU
01UbqRTgIPAM1dIxqALHX6D0cV3sGbOoJVsUujFfFfV1Fuy8XE51rH+fsl5+EI8dnuCKIy+sG43E
wY42tqB/lF31vZxzNzP63s0aRK2R2RwbjZi+MtNGN1nK47AysMtQxD1IUcDvuZwmGFvNAVcE8Qln
WdHuGbAwHyYsbmRl4LMpTbK4vI/zZ6J8cZC2zbMMnfgkbFINKwJaJyXr8zSaFVEiMpW1VQtaWb+H
9UmJVj7UKNWPuZSckYU8Z3gvnd5UZV+Ksf8IUeEvS3IhhYEoD6afal57Rrz8iIRu3SKEMjsf9W9M
PF/EWBEoY82+YdEhrOIWA08/krEeXZKkRaFqvQwh8HRo0sgP5uk5DmuqycZJnBQWIzUSEGMxniZV
8kCK+aq8KHZKP4YFn1azVK4+oDW8NHQO8LngLjLGj6SaZNa10mM3ryXVEcEumrCF/RFNZ9Te167I
f1EMVEcdGyARjaNKXYy+ZYEoJEyCP7m5+6t7su2enZtGeHrJwQEIxyxlvyH4p2YCdCrMIqYsRqjJ
Ecbh/bR0NiHejwVpgX6kOYA7T/nYDr5eMTPYb0Jxs5RuD0F/h4iApSQ8dKHkgrg1UV8ktUxrZRDG
uyVUI9+kMWFKazAkYoS0d7OehiQe0P6EJULLL1Kr9WSo3XzMw+wCidoILKu+QlwhnSuVTAmAFdHx
da4GmYgrW0ZKfcKs3TC81rKbV8xfuUh2zFCYxOoGsgwyCoL9+WbNcXZPLYt689ZQvvfWgfZkkj2C
VdYPolJYJ+RxTKxHZ+7JPoaSS6WwgP1q0coKDJOJEKKiiIuqNnmlUJU2jgUkvWJe3Cmrmd+t0lDc
EfNCRYTlVbRscZKT3lu4RCDeWDq9GVxpKfJJpp36drPf22+IaWdJtd8tB+CXQDFjEWp8QmFozogO
zVPpVz2o9WkxObcJ2KpZWSEgoVr2MxLTFue63py0ak/g5iFLvdrWhf4IRp36x7aPjBAayO97I3BS
NW3PzWxAlpGxEa5tmrkAPjbpKQAVi8Wfk2wfhcGH2nmEMZCfI42mm1gkAFVVvTimIQbFhWngnxul
ZKrYyQml3P3u/soCgjeUWS9kWVzcoRSHqE+MaBnXb9nGBoG22azIYdqLUE7G4R+e6/XuMkpryonK
yg+iLsw9GUHtdsTvMJH9Hv3oPiBsbkp1RLH1rJyKEfONndnChiPZ82X3G2lbIqyrCoE6Bk9hKQW1
mW0V8U8Jwlo6o2edqtrtpi65k0fBT0vq1EnaQsSlnncSOiIfugjxVEstT5kN0gcaWBscdONJBXsP
xoKkKAALrIu2GyMZLMA5xn2xLev6xPxVLVRJuawHBq35AZNF0TGFKxOOHZJ0oOKiPmLZsqnuNk0H
DbuNZbjF6Q416bqSvoDN3OOG/7qxTEI2Qa15cxkTFc3vWnhrInypIweOkAIh32+sv+4pjQWLyeAY
1Xqgusia7jMl/LtaBA5vnun10V3i1RCRq4vysddVZ9zWiHtgq6UprGeAKzr7joi2oPt8z43tWkN3
iaNBs8gkjSY+U/K6ghRltqV21yjSXU8LiAJlMRO0ppGcGqUr9VSrPsbkXhCrWEMTHhYAQ1tialGH
j6FllYf9c35zZSZtG/K6LoT2oUy33lxp5xgDc/WwovCr9mzsqB5NGWfWvhASNMMbs+oV8RXg7e3Q
EBNM+6plgGH6Cy3TbK/uD9USkoxi4aXd3Pjgiks3VESC2fe8U2VTi1hxg2deHViBdCudoZjGkzlS
FFaGH7q8PKZr2h3kbRVqaMDw8iyCNrw/nqORmmeb8FuM1XBn5E0S1JQVdgnOXM4xbrttE6vt+Gw7
OMR0D9x90+MGpmveBvuWVjnFYUeR+4vRsQvHnYcq7KHZuUtz1jpEfEglLkoQ42PZ3nLZg7X3u/uN
mCW/P5tW1d/ibWVS+/4Whrs/OY4KGDx1vQlD9h5Hiq9PMea7ceEwk7ejiyNEwpG+Csdw3gaX7blW
JaHDoAsBfnrLeTYGbDf775AK3euqSqabzvBRthfjc4kY52TkQIH7joywKVN+n5v7Jo5LM0AYaujT
bcvytjB/hEv1HXMsBZ1miXx9K6Vsj8Il+YnSb2OzgScKaR+Ctw07wg9GygPbZu0nzf5wv1m3F4D2
Du5oUXPftxzvRnNQFPlsddp9pOaoS9i7qaFte2WJnVo5ZMkmnJ+GgISz7KQrnPLkkzhU0F+5gmHh
J1QSUFh7E3IQD/WTMpjK0cqGe4moIhypoV2ypnFnai020OrLmIgPzCAoRjJyYU6AXD2S45A00WIr
OuXrRoo5B4mDxl9v44j6rKlr2pVVPJq1/AqB403PzfumliyXFaXqWzWaSEPTznm6rn6dplzOxf6k
4f3pjPpNGxT6HZCVBE2FTGKgyoHRL6Jkfo8seXWGUUYZWSdQHYEsJVQWR4hyfpOo34flDlzjpSJp
Hv715CbycA855L3qcgZb9TJMsM6MrPqkHN89jtQqR7hT7YzPKA/FY898zATi4zArBIQs9K5hAo1s
c/1Cmf7BJEzKNm6SERJArGKxn/XkOufMjJO6Lz1zUT1FZmHMJJWJSj8FdVt9ckaivRaYlMlJCO1B
xIzapQSAmx3yB7oF6FYbTbcnpQyWshl+VOKDBivhk/iOhdbE1uKpmKOOReTiPnqOVOFqUbjwUinL
An3qvySLeT1UmNvcdNiDiCNAAsxIQdF5OKYpcSFli7NXN/0dUGW1cro6+91sjuSgWQJkCIxrSy9d
yXEUDlZcWoB04IH/v9bz39F6Yrw1/1etZ4Cc6uO/5iH/7W/+LvVU/4M8BAU7A64GUUVw8JdJwjRR
gYqGCnvC1LTfL/1d8yn9h6HhnhANA9yqriLs/CsP2UAjKooWimM8FDL9rv+L5lOx1M13/4+2UGKX
CarBx6Epsm7K/w1vAO4zWeNZCABurCp2Zh0Wl5AmxZU1JD1JS6Q5ORj3XTonnp7O6OGXzfgnFbdc
TUG+z6pPsNpEcEZCzaKnZ4fQ0i+GLeWj/cD2iiYxk3/oBtggtZRurS6rJ7J6Phojjg8sH0ntIev0
roIsTJeF6kjKkoSpQSyeO4GY0i00F+9BF/Tzaz9o2VnMGHwGhSXAxHTJlAmdYiXDgEPKklJUZysv
Y6Q443lcrAyUO5fA3CSfxNJlV5BLFPhN+mORMWsJKjz2bmbg3IJ06n4AyAjcymL4MpIRZwASP2dY
NviNYjqhPAAsjTGxacZ7JcwxwlRAhHWb3zWCavNPGp/FlC9EIfywUaouEuqRFmsV4fI/NV17Ix/G
MQqm+Nlaf40vFlgShsr8bqhSE5ABKFOZEBULzLGPyoSqtdCgjI9UfuIZhiUYn+PUMnO3JsULNepD
Fb50cfyIB+tXNsZI3oxzkWc+nfSrGLE8aVCTrerUPGv4GzYcFlEU8SWU5v5eTYdzO1BVSZL4oWix
eMuV+gP4QX+NVcpDRqY3xyoSn4SnIpaiQ9Kx9FagG7Zbsd5E97uQCozhbhZvDbGg/dWS5ehlmlk5
FxOFWKQ0nzCqjNOkY3Jo+tim3rDeE7XrAx5/ZDGD7aJQ9WtDUhuUB2OUUkSP+eR1ILcfurw3gqIX
Hgk1wy9fZT/1RstxjQ4tDj/CG1Jw9CQnFY8VHTk7lqQV2SGd2rQJsZkayq0zE5g4eiq6Y51/hpWV
n1IDLV6JTkaaJtntaJ4dE1P4TpCSZ5XEr8Zxjh5vLBBgLREwd52NLhsUr8/kf+iBnC+PvQJ9knp8
F4SG1LmyXp9ZBECH5yJBmt3AhFpzZW2LmhKn6B40r+WxlB+2wOSnKavql4o8vI6lEZMLt86hX5I4
AK0uQoqIAgZNR4z/luWza9KfA7g9HVHUUWuonrDXM2GcoymQO0KrcwPhqKjpR9QBBMplZXNASCdS
s0HuJQynuKD4nMbrva69M2mav1H+sS3q6vYaEfmbUhwgI4NupSz4XTQ1XlE1V8NUWa+WtWkPBdht
2TDOUpUdtC7fzIb55E7oic+J2H0kq/4C3Q/cMrVFwxre5XS8potC+nlCiSzr60fBjJgtNDdjSs37
LEUnl6Z5Zmsj1NvR+JVFSRpMxeiG60gNBeO6S1bMDyGPDxnMLuJtik8hy+4plhCIN7dHmf3tyfDe
bUFgEqNRUCQXIgHIkWX1iAFbEhwFDhZWWXWlB4UwWRt0CpJiTGhFhfG5Ymk+YZTtAUavTf+agvdI
BxMxcIfC2lw/y9xU3WTQLxHcbACEdX2Yov42aMOvjMAPmuI9TWviig1NAL1goOXoMcbkuqE+NheK
zWe1R706lgOgTiVCsnqW5e4eSAv42eUeqyrgwwy0KImVmRGSOFStmWfUm/5Ko4yFUO449ulFgI6K
m7SOvXwcThKFZVq8leBg/jJIFD1jxl0ApM3HNKIbL0T65KZlc4tLFtzkgRZUg6naawo0Rob2xEIb
3sPcHSXlkerumxYOIY3j4o46ek6K94Gc2BdBpV+rbX18lvils2bqTbAoUPTKEr1mtAGo3jLn60vG
CL36Bq7xNZ5mzQM/VkM3HE0foeJH1Mj3Y4KElZXRswmyChWTJtBUL4/tlPySqmq6sfCKIUCb34pR
CA8qebhPFBYJAyomCtbRQ7gOj3NC7TECH+xJLQs+0MC2hNrUzSg7Q5KjF2J+wfYOWdAMgEwRkWjJ
L7Ofe5+kbriwWuNRYdP8VB1e14Iy1qq/WnV6qUSCaGbxEeP5T9UEup2McNGNySQ+h0teAkkKENtV
ErsDvXz07/UcObKAft80qXXHgx+tIv0RWXFr8Z7lfH0dJON7GUsbx5l8nLWOqWc0b6WoJneAdM9K
ZgkHXK8fc5PW/irFv1D3EjdpfKFA1IPcCkoIpy5GS1JD4K2ifr/BEatQoFwVAscf1ZAxVM5Cb5gH
6ghDuhzbtaQO1CWVn0zaFZuzhjWQlpaY5+SOtCZdVWr8EfrveTaeognltSCKVyAntjITqZ7lZGkK
gwBDRlybM9KcDwQY6YnQt2dgB9O9VW951+CfiZeqHwHFUGxBSQEfKwOmKRIvGWmXtilvkxzrtP1Q
+iEghtrfooLoxPoXUWriuc1YLFPgIPJJHz50RA2nhe6JWcgpQX00+kNW0742DDl1YSRGfdgRC6IQ
1BRa1Z0iTj9Wqrhi2gjPit56g2r9GOExeH2Dm8pI5fqgkfKJyKB8EDT9JEVcbxNr/ZmNw490GVRo
EixTmr5c7hiUMBgrXMeLGFCq9rSkJOEJoUgG4cClYliRbC19g/WNKY5Q6KOnKaT2wme1Z+B9rlyu
35o6E7yhzynrcy0UFgT/csVaI5K+xbUlO9bCcIaYNb20LB1SNCLB3Ba0JVNAbnWG4GVNe3DN0tfW
WPbNmt5XLx6jgeLGIikkLZH6loHqvG+O1grhLiPU1SlrndmXIhp+OnAhBXwdO4DOr6VQro60vHYt
6RybQoQ2f3bBzQptOxbvFgMgHJpqkIcj2au0AQNjlD/ChhUiKEzjEqEBJAMF3LRmZJYjqv1PiYbO
uSmmxNVywqw0vkn6rSJsgMTS9udMbBHytuq7rjbvPSDBY9ZxGYngjqCoRIzR509J3youo6EpTWTT
CsVLjNL7wJp4C46vD/HIKnIWZ8bsGtiiLKw/kg56nZSW9y1GWK7uhB1LUADlXpJRZifM3/Djtc8Y
YkPBr8xCxz8Uc5GvJZVCv1naQB5IMwqJpq/WT4ANsi0z07NzyiCpjLmlJjQMuwfUgTpr/Bo0N3VY
6U0Y+o5JXMvAlkVA5XKWxwtCNyuhwNnjuQsJAwaFjKR2y2AdyJgi+fqQV4ppc4lgpa4lE/ExMiOt
iKlUYA5SremzqTTiNS0usWA9JRm+EiXpkeNKi6c2uJDW7q5ISRLsl2R013UkdZxKrrU8rwz0s0Zb
zqom2i/UXiQpckohlQ9oV4SDWTELJCQh6FuiA/vwEldFfZ+p4nu8V2GY5cOjJ7YiVfVkuduSy/1Z
EE+ZUT7J9BcPc7mV/JSWkp+xUMwAkQPntEa5u7WtfxaCVJ2oAwGVHsJviRp/S8IZ7czYjuQubcoD
k8wjUlhjqm577Xe70bZS8EHYK/d/PckcWwoygCCTVeTkj1CqajIGU/429SLKHrZQJQr+MHXOPXPC
ab2/XCJ8P2iDeG22yjRXkea03/tXD//Vc/MoG46VJYa9/y18L5JDKFw7/+O77P8uBOhBvtg85Ftq
GAG226fvN1pWUGL687hnDg81Oifp888r/3B3/5f7e0a6As7JxK30568FgbZLFFWyI5pMpn6/77/7
LaUoZuVVT7rDKfAOu0Hy/nza72+wv1VWYwErFDLg/7xcbc380MhMp1OpqFoAYpu+Uo7afii0ClDt
/YVqOwL2e12OOjYKuZz9eaFtGW6gN2l2DiXXkfqtGSytHFLkoQDz2vUz+w1BGXcVk3l/F81sQ90/
C2ksBfR1VGakLZQpCI8hP8pb6X7PvgJfgVY1RtDZGXK+4oNp4kNe5N/lbYfGBUdovxVxrWIuThga
i9/3/uk5VTWPCDYH9MXMW+7khuAF1YJPtOTMALV6cfqt3qJv546sZXQMxJbVb4zdhM/AX5Qkgy1X
EdT/7XP+3CBJLk7VJP3jcxUa7txYNcD9BZr2DSkO/0UAG50R8rpRxv96fhxn67BU8nlPVBsMmu1C
wWfuf2TF+mMsldXB0lRkFlHU4GTcX1GAFyvySADCtsH1VsXd7/3TQxk10GFFfyyv553Zs21B3gGi
Ehp6OXvk2n7P5JT9/TCuIbSahHm4erc0p3Yj1e6RQfvD389x3Lkg5/0seFgO6wmeov2QkopX9CdB
PbyIlu3n1Oa7+LH1cPqfqdddXjBP2lGwHOgou5o/Ll5nHKfBgaz/sJ5epoPfe3Q47Hnx6GwtcMiR
Ka9B+OSP2ak4k7Hlkx7jabfcHg5n3aY77o7Ez9r+eupc3W69t+3DzgzO4KUfstZ9SU3nPDtZ8FIa
7ospHPTr8skTg8sH5nb4pFHmqH5KhSdkT5zYfnF+CZ/6nPIBORd45XCMnJKAWfCNbZN8pgA3n/fm
2P7q3NLG6XVCLOT2FGoxrBHHgZryqVgRPvBb4Eni202vSXNRQWcRm1L43fpQaZ/8PEsmIkciiOQ1
Zx79Pi/X0gLpkvTHGClj5/Whh0eN8DmCp6lwWsu1WR90Iwgjb8ZXINPJqe757PCS97g7mamDpTiw
S6SQ8C9s7Oc8O47Y3b9K06FmAUBSQsEtUX18YTuy82D6bIY6wKWmD24TTMBFIUgnvhYueUqQ5HMQ
xs0dHlpkK60BuLoZ0UFi94WnXuPSF6c7lOhFhQcPW5CjWxd8gMMncns0h1SBZP0I1if0eFbDgz65
IYYGPEo9MCM89N0pyQ9GSaNu/7D5niBJ9kJF6f7A+AFygE+H7wsPMgn0yF2o6BDVfV25rl2QTltJ
wGFhY5wnyw+BSITBk+aU+WRem8A0r4CfuGIBJn9QX4iQ9hnv5Bu9Oa0hhcNdMTM/L4R9PytXcoZJ
kHeQb6iPJc4/Z7zEJ4FvelJNe/rGChO962T+ED/F4ajxW5t+/EN8wDDKDzb+amKnfOfXKZbnkGgM
HE7yfR5/DB7aiG+oEzJn+XHsvokHb2ZkPVcBrche8KziV125shAUjvKIkOdHWVzSCclE9iy1hzYi
qrm5iI+DTXK0i/HqK/xksqhtUHHnvr7E8l1/X37P67MQfKmcOA1c6GDObwBkjUNVBBojRh06Bkpi
lqDx7DZh7xVEATLF0fKT8jV/ESpZ2oTDfnAIoPc+iEaAh9NNPTjg98VPyvPts5QGZg/nAdOfx0GR
Puv1zSIlLau/SYUfNbeufOPPewAWiCsmV712GE5bl72+wcUKb57fhdytiVNqbXbZ4LysJ/HT58Xh
lVrJO9D/EbUdixVirz0OpHw9ll8W7SVn7R6lmjDZK5+NqcikKPjF7q9LtCrbIUcJUa0vHFzErMW0
MznQ2LPmU7le4me+HG/JCRGzY43usV880rk4prDtLsKBA39dL5AIbayQvGnZHuCSkWzDYLDIXzhm
IB5+cCR3mBIRaArnOLpwUKJ5VxAik1MiwWBu2Zg7szvl+69UZqfM/N7U36z6E5Fc3DgQy72mDao2
QDdtUNhqD7xlkp6F9kcXcvWhJWc+KS0EivPI5H7MO1y9vjRt4U4fSviA3JOssKBobhCaEPa/N+Ub
jRak8g9yfTGfUPw2RD9uWc9TDn19epFKWg5pMLIWjyWft4irny+IeatnXBgR0rrW5dyjFojhkHMy
O5goroNBcUZH/SRlZQHNEgzrg/VuXtnDcnvkdx2dj8Qxr719TwKj5i+fnME6QqqtZMiCCBPtEQm/
cSys66R6H8pN8WsbFRRDeXZeC0ZP7rE7DH88jd42djPGvnEo8Rm+dBo+GVcJbWY/80friewxHnhs
yrl8ps600OV0TPRDZARbH4RZyE/Cr5ZC3TunSpfYy6d4gFdrd+1RBSNY3S8H9Um/Gpd4H5pAcyoU
DApPOXEQsiXzaXklAOGe34C6G1UMf8V/CjOTIIzrckAcA9ucYtKZHVfaNNkdY/jOJqj8Y81wRq/n
4DXnw3LI4XB8MvowlM6ca4ObERERhEfMk/525YDPMXqJg2ey8MpnBsvBZXGP+Zb1GfY8voPhm8lZ
v5oZV1KOeuG72vvll/AOkJI8Afr9m/Teka+6BBTVI70KHju+4vT9TX0SLr/m0BM/+ekGl60A+8mZ
xOm4vX36QiWFYVdLgjXkzEfS4TJU7x+vkK6M7/xs1M6H8e7x6wvfjVtvT6+mbb0bNy5/7EeD3rkd
f0yf3PGxnrTbVYTca6RxaG65DnNhF9nR25UQIjlB6SdizmP2FMeGUj7UROSZVyCHXMzW28oe5dBi
W0ubNOUzC3sOBxzm7A6Fn4upJM0wvrIjfn5w5HG5MBy4o6fmzPXLvLKXrBtn/cqVuDsg6Tgbt4L3
43rgvxjvLMPONW8cA3/NXQYFrKhX4SJ8l07sJP57SZ9n53Mjoz6h12Us4Vpw4RfnLt+fr8XBzyUU
NQXnqXZXe7RjS1u6cXkhu0irnvNn+YndWJ25PIdPxgWqDT4Qxij0QwxZ/FbGhaufduMsK868bfoR
l3cy+8+RI09AK8Z6z+dSZpJxyUZPFscMBwtrUv6SoZI6KyQ3u3t944+ZoxQc0lZxx1AZBeV6pLHJ
NZAB8plhUDpx5tEvOfPNGANeubhrl7ctlPydbxMlRDdtvyzeN68TDnyU8f7WdueEC+o7N1Q8F0Km
3QiKpFsEJMAYt81PzWnEfinJWjrEH2gpOq6TAZJGl1GSg5WeDxtA/gpKytZVboz//NW8HaQ66fah
l3+xWVz8+QiW4kTBoIkKH7pPTmtiW9gr5RpwyV4QnGJrZFy9jJ4ArtjthTN/uejH2XzajlKCFCVf
5kA/K6IfNgFF45nJArj+h/yLWrzJbC96hPO4+ss6P1E/iCm8Dt+5bvaMqc07Untb06YHfoLqnDyk
+DgnPJtOEYx2FnnlXTgEW02fo763SDNgT9oIxxGI2stwER4NioHHmZ9Yk0611Z0pfozUSuKu49+1
wwFx3F0eEw6qsIQHsnigqUWbu+4eWoSA+n+ydx7brWPZlv2X6iMHzIFrVAeGnpS3HQxJV4L3Hl9f
E4yMdyOj6r2qrPZrhEKUrkgJBA722XutuR4rxgeZajHjdfXzh/XAJt2pdIelYVoXORUtnzuSymo+
3c71K7GrKLTi95E3XqYb4IaS5qQSqiDdTbtuj2HktB58vB5riQaV/uElw1RabyibKp/bqjUc1QdV
ORn5DUuUSVti/JoOykwHY20CVMhxkzdupyNPM8bJSl3C6HmKptoP8OCfq/JZPxv2oeJNZCBC6liw
KYqLPfliWE8DIIdVs/aG3aewVYCLXKIG//0tlbk8btXyHHG6UhGLo/BkXNcs/lSuvD/3IXhGX0Ob
lX9b7PWfubWaT+SUcZLGoa9xnYYeox9qmvUEOyHt48UfvjhnuZ1TZ3Pu5rvJ9sZbnF/tG+xgtLGd
DtNgm0GJfZ2JW9sHmP4QtaKW30wC2/EawBtZl46Hd5N1UcgSGJ3B9kjv3W63LHJdcy89Nc2GM618
Zb3iDECrqtPTnja9fc4phyChVGcRe7afbssR//h1WZndhQaYumcoyA6DamVy5V9WvNVkX5Ifx+HI
L8yOg3NrG5Vey36H2yu1G7IKhzyfxKXvSJHOHYPZvnLJ8EFzplCnUAgjBGpc7TzNOxWw06n9mtof
sI+GdMd0r9A5mJ1+UB+V99rjojS3cHWhKEbNEXiJRWnMgiwOmkCtQJc9k6fbmo50R2ie+WmDmWpF
9FarJDd+rH4BtjKx/ZAlB717Trf8YMgWdRPn90tz5FBY+/y9KgkuwHnpJY0fEcrUuSDYECOmN/Ed
wRju5OucXDsKW5Ayw7EjrDCPT6SZSdq5feu43PMtN1Kq1u7e2DGyyAy3l1xCpC6gsb+45Eqc8Nys
TBKUeG48VaSDd4wZKORsr0ARjXDMsWENsGnidHGBgdVf3Q+3KfNI0BB0LOnMYsKbG4ltl57xdYXQ
9BU3P49nmo8MO9s7Gfdc/s5wl9QV4gudKtrINBApXXLEidgtwE4afgTc2MfRDZKNqpCYbwchPU68
hkEtaSq38lstracQ7gDezaH/ZdmRAyNvi2Y8R8THFzBLyW7RP49MuvVDIr2mnDYE32tnqT7ylZmd
93MJOvYyF+jKYLJRmjrx9DrpkOI6l7Ck3m/tb8NgFXrrSdEgArA8EIXSMj1KgAkgJmXfdtdFN+A7
GKjzpxho14tdSPVseGbpG/Imda3He9uFPnq5FiYquzYnfLcvXDjmva1v8+/wab7lhmcvTOiOQj4m
dHZhW0C3HmgEcNfN8Zf2xSnRKEO2kjv/CmnS3/fCQzjKbdApXqR+gxsneAx2bLonoqUijVBKIzvI
iVkz/x8Z9tzp9y2NYeEl9TZHFMno02nrd5P1p34fAAF0ITunyKO8l1rHblz9Prgjwkj7lWlu/hy8
C4klA9+q5SQP4Zn+rn5v9wQ3f+IgQTBfgUhjGPmgLI42eCxjyntwsu+7mnCTVeiHmBr9DMTXd95m
MewBDqunAFX8w4S4xuFUMB2eifc6QxFmnvTu0jBob47zcBfrt+H4uGSvYsDcOW+j6E3jF6Cji3DK
yQWxeAaig5MCiP0m+1o0r78r3sZ32IAYf7kDs0oeYdN58Wkm5cyxD+2Ju7JauEPnNJ/8P7rJbtSn
7pZBTEu+XI6/0jGGG3u4IHsgT10gYWS9SHzpnKte3Pk1nTaEBx+sGO3oJMTcjw5EJqQLK/7J1U/V
3tjOB47diN4+eF8200k/RaxuPhZMhZVw8ArKgw9rew53yyNcCyIQEQv5IUdk2CMKDY131AuY4P3Y
POwSAPgz+z13iT5aybqVTa6pai/c8t3eKBvWTG7mfv0cwhY5G080WXyV1rB8FqSxs1Rx1r50wyZQ
NkB/FBp3zFHtDWwCJPF0OzYKNUoAq95psnOMJn6THkMKevtGOh7nfM8Yw7jD/7ANn9R+Vydeuk3B
qdCYu2E1FW/peTrqsqPt8tTXdpqX39swi6JTxHLmKdhlj/qN4tHxZlVI+WeQYMi2JTQWSgOnj9u8
FvuC4Y8XvNVbuaYDsC0haB2qrTj1e4Wu7O1DcAFGdjJvJFoKjnlT+vhh0Y09xOTc+RFVqHrKfya2
dzc1/JTH2AcgOLrh8mq8he/9E/QW4rQSr34iyYHV58yblSwnGT0CnEJoiOfqRbnXIUKe5/RSqscS
aEz7wBvduharh0MoVIFyF5ouBvFdU6LEoNjalmek6euaiN+bNf9SdQ5GJr99TV5YReU3JmThFsd3
p+2hdifNsRToMHCW+339XsWPRuxxFSv3tbglq0AhMlfsLeWHqotcVWoEudnjYy6ouvMc428D/OWN
rRPVIRWCBG+K2qxE9NFMrsRIeP1/qXcc8Yyr+WT5xQH3du62+8ZtUtbMYzQ5GX0Vfpdwnxsa23ln
MVyYUqfx1USCQE1rveSneJvrFmSMedu8oFEoQwCm7kC0iV9JR4ZZ7KoY6TBqsxAGOdgI+jthefNZ
hUXAYAa9LBbiwodoVfQ7sJSNucXEyWDwiXKTHfr8mqoeDCRKfRwZ9u2i3NHql/fFumdHSeITBMg+
jfs/3QzpPG8+OAtUhyXOzLeMbebkHSRs5hL8fYl24y9Gf+yaQLmYzE2c8AmcpHgw/e7FNg5ILJz4
uTc3YbET59IJ3tbVO3zqGA052mZ6TX/il/6TJOiS9runfOl0Tzx7hy4xINds3svtKZ3f258Maq2G
YoJ13D5L/Dm1y3XxA7iGNQ51ARXHiWQlxuIMoNT2RDtApY0S+bWT7RkzoQ+ifYACiAqBVR5FRyV5
yWv1EEGc3o5MMHbWniL/YakPrZvfIztWkk1QfZR3mM3g9RvpEf0TzSH7EgH2d5Ril72Abm1H18J+
YDrBr4RMnnSfW/2p1XQNe5JHkNZ0iN96T6JTBA6WAuJ5ULa96uloou8lZExsn+36rXqmpfrVJXdU
WtIWdhbuiRB/eHlQWlrCFWOmBduGlx7IIwjgSQ/78aK8WG+95GzrLdv7E5ckHIqH7sV4w9vgMBLf
lPhKuCvp0y5MbtMe9ZpOAIPTf3ME2AX+5Be1/NZ1jqk4afcT9cQTXnp1OKcfKvveEBOHwxCb2Fiu
wQByPH5Dxssv1Wf1WX7ZZ/3QsLOnr3GDXAC1gFY/ZFzQPZHzzuRTqnwn9tofGeNb+6IdV639TqeP
sdVvpuoupL9w6Miq/wlO3Wf8VL1U/lqV3QSPhbYLu5sQ34qGQR5wUPBdt4KrZV0MuCVl8aZQnywA
pt94Gsmc3IVHWgOmj3lR8gWLm0MFwAK8i7fDZ+csDvYXn2eNGLodp123m9AiuOtx3LGShHeUt2f7
gmfqsdqUl9R8XWijbWThLcXgIN54uLcv4TvzqogQR/lNfqDH9vzBAMhYV9vn6IUSKuFd5mVNOIpP
1m1mb8j4g1LLsj+8mBe99OiL32is5Klj0/x0kg1ei3YLu/1l+qXS+H3X7sungHAfx3whAOCRM/Eb
e+0AVKxOnkV4MO8fhcTf9kVc35PimJcAdQMB85f0IF167sicCtD+PagN9XZwetiR7zmSRYdoRmIe
fFV+XY6GaxwozuhupOpdNwY7oDad/WiW0qmTwttwnaeE+cTe//rpqK2zoGamhpRN1O5jqUGvxFw1
rnOfuZdMBF7D6kFlAnT9ml3Hxwodz/bqNLkapJBI0JBRG1qSyTISd7kOt67fubqmfj+EfY7uQX7s
5CJ3u3U6d/1Xv/9pdzVizZDYUFvWrAPrM/3++VRtFJyrJJL86dm5GneuFp7r1wJMAEzoLP0DhCht
c7bDZh/9Ye+5/tO//eRv38/1s+sHYsfLTZa2D8BDEf+RvsCgdhfUTIuuH8J6fY3rpzoDe+J61m9Z
ZkqiNgmPxbadouPvfz6s1qLrE//+GgBdDEu/H1//TZ418Y5bDRllf77U9eu/H/7xWZQjZf/bd1JB
imrdcmv6/Q1LW/MXr49LHFL4NysCutfn/svL//GLrc4s3OhcVm1IAck1nVf24KOMovm19nDjAkxw
ZdPQq3MyCslY0mEHMdmXt6pWnyH60YZL6F0t2qOSQlbRxodWsXd9xfYv1cReGjrdWy16DSD/ruPW
bkTWfRwSeJR251ao77bZbYF8fvWdTBtNstHVai+RhstFY2RhS7hhI0H/Z5ZE6vYqEBXZTmD+JtZ2
yBWFjvEgNsOg7OQGWUEamPZO05HJRulLNiaTa7SwleYGDZ78WF21PukAekVMT5qtsAqWyQOogGMe
UJ6t7MRh9hJlpyY24RvUlnV6m+SvMGQ2gi7HyOYNL/ReaidKRcjK0Zg1G7vB/hzFN1Gbb4RisnZp
4e3yIVviYPbYbLHcHETePFWx9CEby12hp5sg/BwHJPFawb6ZBcdWb5ZmpXqlkJ6kUgep1uNO6WEd
GgtNncB8n5CLupNV3CI1C4lPq4iXSVFHsgNg+spdRLffwhCxXiVo6JTjIJ2j7DIG5vfcAZNNK6Ll
O+sshyYMMySsar9sp/RLUQ7hmH3hEsRkW+CbbKMW/Wr/ExXWJ2Pk4tjL2rAt5SXaRnG8qaQdVmoa
fTrb6Q4QXdAVLyZGTqVTDk09Qz4w9nnOnGUJTlOs3rfNcDvPuDLGBnUUzrWUiVBTIMrqNnmXus0I
Ky5nuQ8aVI1Cfert7WA9GtDknBLmV68vW8WwiGN+Ujr9ncP02SL6U0iRUdTkU1BtZZMN6UAJfcKM
gVGzgHDMtNX9l/SfbSgHDBsE1R73+AaRC0cMR/+pM0ESSY0eHaMF5mOnANRGOuvYtQZBZroD3CC+
lpRxUaDf5938mlcNfVC7p5uqZeiMim8YFpi1euk4tqU3CdwQaW1up5w2mN6zpxLrnJrCMkmkeR/V
ya8SLrhqklmaj0+Vxd2VwMLKKYZ22g9pcprQA3mtPnkk4gD0l2GCxq38tgBSBG1mSd6gsZ/M1eep
V8p9my/vqbGwpKgKWpm28ZABSB7awDf2+kyfYP9lKC/jJtnYmvjmTPIVpXsOiAHuyO8KmEqTlaS6
izw9TdNwHCDeNkaNcnf1dCgyGZnhgxlhJVNw+dQ27Q9tBKL13OQ0dDJ7UDFotH6ldipAY/GEXwfG
q65+1F+yZv/UaT7s05LDNdUDN9n5qOpKsBlrntyeZ25eQ3DENzo4Uj0tfqSTCyBdFhkKoi6CC+LX
o51038poq17A5iGrjCfU5ETDq6hv5xpy30AuboF8AW9qJTERW3K79qVGZmoxl7/wqPhzoPU3qVxa
brpgiu5vlDql/mhmeyPC4AcXXHIa+1ddYZmrYSHrmWH4isZ0O5oVCzW6DZ80/4FD4Hb2yF0cL2wT
tBQZxMoXw49olwfUzjE6BraFQRBPblKCVANThkNR5s0agU+g6GVizbAjs+rUr56BgUE60JdLJUnP
EdcmR1d/jQ272iiS/FbH8t4KZ2aVRgxAHp/8qLwMEfIvtenAT0nsmONIx5wwa7SHcFeR5LzXWuOs
k7QGPY2wmFm+kHRPpTqGt+X30EA+7Zjz6Awg84MWLbJXi9h0IxNIoBq4vUFsEKYjem26upaETFzw
hWEOBji5MP3UJdqekIHDXZNBEkQueRtl9btetU8gSC8c88vSqLuagnaCOOUkkvwSWjS9UvsxACua
46iSquo2BufvSAU3hsZcZAdI64+YHrRyEk6oGZgjyuhWFVqKNDijIw8xOiH5CzY+jltJhwKjGrKj
ixR27JB9SaUVIa7ufoRBe6smGDgU6We6Ek47Lfq0miUhgEabjlijDiTsehl4UadKBWJEpHBm99D2
8U8Xq/Ot0nH2Ewu1CdYcd6TVXIHkxmxya8A5RXiyn7T1azpVowvO50a71eiESBUKlvxbz1XV/WUI
xgV19JZ1n5A7udRlAF3lLBeuArsRoT4W4zspaC4hhqgL6upVVUpDXSlndjZBswtGzPBBlz9LUf+p
q1rlmeo66lp7daLxhjzL4LgUJDvM41NsLC3VqX2D7FMFsIbFjrlnBU1tVH0pw706meZWJuiHzFQJ
kA8d86qjCWKh7QVScYvbuPGQ4oJdCUY44PYMyNDaN2WQusBCoB7a+ovcyFTscsFZ23c0Qpr0UV7U
r3KI/LKFxAP8K6RZC5F3k5EU6JoYXTGHrfmoCZ30jt1nREfMxxCO3ijIhn0hAPqMratpB6k/mVrA
uElmzBCSRcG6ixs31YNzSMvRzhF9mtr8ZWd0p+SWllGe06IdaOin1iXvy8CLht7mt2VOUhDJS6Wj
0Givivu+raFsCplo1pYWgKUeZJJCUV1OkxcHkmM0CjwdxGF+21dfSmrs/ttS9v9iKTNNGwvYf54e
AKe8+P7qYiq6vwYI/PFjfybvYA+z8AYZpkqwjQpI/j9MZab2DxNTmCwT60Uxha3rd5CA+g+EcIpm
EgCIaUNbnWBtiVr4f/4PIf8DMxlIIo0KVVEtW/l3TGXXtIJ/9ZSZ2hquqJJbCeBVVv8WvcMCCQCo
jAeWQnkXYV13ewD9LKcMalGtA7XoXjvpJ220e/LuaQuSROcX/UQ3NKG7ASFUOLFE2u5gsfEuBVNg
69EarPRAPk1wHGo6b9lpsFablmRcYgzLjhzvM9CxcJ4G20X3zfwgtHk4wN7HY7MtZovGlhHQLFme
ABOv+VzLhTvqXWVL7Og186Od0ifyGUBRcmOSw/EsJKo+81b29WDsPBDRaILMibxdfskmz08j8itN
+WCJAJ1QkkM+PQUW2Fg1Fnf2fA/f6bGBLyMtxeMa9BY1Bk6c5LMfbVL1ovPYUAJ2bOXk5pIqy8Dy
g+Gh7w0GikPzig3okfzL+yGo39qs2eK9R1bfoaIIzGfuEre9mf4MDb+8oVevWRn/lGGnOVPJYQZp
dAfw9Ag196QWHKc05HcOzeZVUArE0UbLVWZ9rZ+MxQWvMIl4YmvB1Rns5DUbgm2ojMTWLC21WPFL
qxN8bNY+ljlsQUs/RONHYDXQjUexF3Y59lpKKc2gI5cCcTcM3lWREhNKIktE30qu+R2yoUJ1lWQ7
GdBjyNo/RYblVzJNqMl4D8zuC2QHANBhAdCUSBi28yN5bWgxA+7YxvVMkVo2Scu7YqBYAie4SSPM
XNhh90ZNLTBgWCE7GNGBpu7WJwajhURgfbeJnf4lqpdw5jhUmUZXfbJe4Msib00mizSHDOYZuIt6
Ynu8Utrpj6VVoe/1kRYbm6JWQKYlWP3SF+DeNIpFsKItuiASDdhlPKUtVTZ2IMuzy+Kn1RbbzxIw
2XF4iU1OHf7bdhaejN5sge6X5kvTMT0jmvWL9D8FMZW9BqURaByeQwRAbUaVFjGMamWcgFHOtk50
FsQhc76VBuVLbViWwZ2qbeApGUOpsK9kj1Sa2jYgEKMzWk0qjWnGO3s6jNbKmWj5XUfdhHZp7pHh
u9eLBQgCw8xo8JdawZ0g/1TmIHug2O/ygWumke3HegpfAHAQ38H7q3CAZP1uiBumV0p4h7ci3kCN
R1SRt7jvCv7MahMmgpouqMhTyr6mAaVdVSCBL9R7u1t1Y/fy2FOj2Cb9ONLkLHblfWZ/I1eLGEZW
7JzQNG0zIf8YAWXPoq4XXp3uiTnEFq/r0EvTn8mmWMXTaqE8Ll/0cRchhwpEypUgvygA/ThHJ2dQ
JKKdm5MYOUXMoURdRqCIExarEW4MXxWyibyupC8i10xkmrZ5hfvBOHOfh/R4BxJScV0FSHBkQp7y
U6BxOsTao2k3cCoxVYbKclgoq+oQpmDuqjXHuue3AOL3IxokY+NGLPFjvEwbJVVuLWIDXcvkomkG
oEyomZ0U7V4t8PhHOTW/ZqZ+FvF9w0o+NYVhIWsjo/06eC2aaN71vIWmMB9pLknktPQ+3ymcipk/
MypahxlYE18riOglSABBxJj59prdnvK6hlmTRNRPW/iqJ4vVMzWYy43VbVGxAuXkk28wfyCYSvNP
iYUMR069zysWlsLMbRcmMEBL3a/CWnZUGtuVHAFkzZR7YARE+4V1vyNlugJeMjK6aMD82up6zfYV
g4vYvEwJi2XZNB9qaWOByVIXGZtHCAsR1DVw5rQKtqWQ0NcBR+pC7TaNFgTJmuoDCIhdO0LRxnKU
rhuzedRO8bgOSvqyJcmlj8Awik2TxIyQ5fSscSDwQ1jnMDjKMUwyO9YeJNExJ5AEMFyiwIj39eQk
/dHKPCAoA9n1EOmXUeIdHITOhC1EAzMUBcOn2XqSe31XWuihUOeg08wb6lega46c961nmyXLWz6i
CAp7nxCSYgsISLhTivhNKXCh0ldAYWXfKpq6EdqNlPNWSEFxUqvgK8W3ECoKRqEq+QXV4kEbebdS
/XXsUFUvZrpsyqqxt/VMJzqV+Ztb/XHg5uuSpsullxEOJWFdIf23va4lYavezQ2Ds9Du7s0sgprd
/5r66Yn4SsTeHSMqjdhIM/11Pcsne9el2DoSqEmdsR3FGHE20P2q1rhgLd5Y+chyWwggIRr72OsN
S494SxaJX7SU2sAdSKVmhqENCLzjT22A9jV3HzA6fiKRb5OlfytrTgNFyX7JEtdirnXMb9Sc5r9K
2uwg9sQuQDuxJXZXwMnrxK6PUwvPEBdfzWo/I9+RwphBCUSuZTTP4yi7QQLJVw4Gsh7QkvQxTHIY
lyAA5W/Z6J6thZFvlM13i5Yj/yzqt7hfTKcKuRlJSspSPkFHNw2u5WVoCIQWGdB8m7+rsKgvkvxD
HtOXpiKWj/ZPjN3dYnRTyfK3LiKMbMH0DiiMfZzISFMOP4TAPztUJ318i7oS5kaDvCRQ6sVpJor2
0WCxsVNjb/f8NHCzYqO0DPIJ4/BWxpqUhSxSoYJQqmLxGU3psR2gkTdWqKFUU+8G/M91PyG8WhdI
A1+4M7TciWUNYVqGEGVVPEC+cYKBP2LsFdbkCKf0vJpUlYtm8r6SM7PJzUwjto7bIRcPfG8qjmyt
vpKYEHMMYUPMgiiFEuS77nVKl/Qwlb1wC4byjS7uaG57sSJHxN1wp4y0s96Va/1G2SDp1YM08rdE
9lkjN4PVLZO9qJaLE93gsJSiy1q64P8GMNNKDqFUl3mRX69njq2VJWcAmA1pPkQFiGWaNigoucVt
BNktWOcB0zZSezMOwUtMxlEm9NoJL7appZxImNT1yey8KQpuVfixXpeYvP80uRIFLy0JfERuFN/W
qNSHWDeqTS0HH2AFdH9gzxb1WPdNp6xNZJuUSqlEmWXgfiaCziw7IteIcNnQC7vnkBc7lTiFY6dO
//xQY387NuNAssQMt7RBWDINQMCUdmt1lbKjAn+LaoO7RIixpc2vxfF4aBpb8ccye0G740VSuz7b
vR6ZH9ikko1VVQzXgwbxX9jy4Y/HcrsgkxoIeVHpJB5Ijr5JEjF59FQerBUsVs1QtJQibw+lueks
9oZxrzDXWXGw+KvgYK5EqOvD64d+/UawmUN2rYb4vEJ7TQnymYFPyCXYCX5LrEbHNLduhDHrGLRx
fdlWYztNohiuhCLOVhtrI8FwtEZ1B13Rn1pxUaAHbOXYYLiWBpEnBMYwImBpY+YqYwGxkmGvkNiC
4wi9JHvSSeJCobV+o0455bq4kai8wYAtnRIyf/Hjeljfz5BGWRos+5j+i9U36TEqLnDayMNQUVQa
sxKeTKM7VZB4XLoyNUV7GyIEyU5SqQLGjJByWCseyBZroIiYUL0g0iiKh0D/NqYiwHAP87S1h6+y
bIZTZAI2X0haNi5VrTH7yyzUPUpIEMl7ZYXGQYM+GodDts+wiaEB54SxWrpm3RBICuAYPk1NlRLH
yH6ujwC6McrtGbCBJHu4YoATpZkO188y09EJSD6asDOOSUnO2KSabwUx7l7NyQpp2ng1ZYO4AVXR
DiNRSgeDxmIOq//PxyqgGN8ocPaR4A2bajJJe7h+KlLhzmZK7QjRnT5vpR6ApyLCySL7mGNqBkzF
iCuerGVbIlSvYeMfGySFh3D1jq2PVMLRmUKHoF+RmFQernPpeP3Qrt/+4+FYPRP/E2yMsjN9Niqx
U+bdeOzsTvHVcR2kmsZwzGWaSLiOJi8t4vFkBJHpaKpOy7kJL/ki60cgJkC+8sL447NANKYnOvSS
169d/0lfByRgLQdi7IR//Yq2/pBRoP4wm2py+1Y+K5p+DsZk+K74ZatJbt7SJiCtTZcNpgGAkga7
H45jPRrnWZJOyUIVDkHjIe5a6dLl+rEY0RfU2gj0gwHEo9QWUDtKg6Tj9aG+RBctjxAZjNRm1Sir
DG4T5dQutGDGAUs35BT4oISPeB0ZU+/VEm7NyUzvUh0GZpNOb3lv5s9VbxNwVlAgpAU9SZn2ldZz
tCPTePxLf+H/kD2rrLvxfyHA0AswALEauLoNcnnpJvw1KDezJXURZdPvOnBxWzWgyxf9xFigPa2w
HvuGqkaT2ZYMM2FMMXev/5/XF4qFg8kiDV3+W7fAnoU6213V71pzetKX+tKYFJNsBCH5/6LYV1tk
cL0RYaBbtv/1a6+Bhv/bn058IsgZhTBj628vTfEviXhBMgIiAXUEG8a2tx+nDARtKJB8CnknRwBJ
r6/63/HT/7foTNVa+1H/efPr8v3ZfLTpv2ROs3tbf+ifrS8iMjWFCgrro24w5li/9c/QaUUWNLhM
3aC6g+5irSSjP3lKGkGZNMpkoEkrTUnjW//R+vp3Wl2KavKCfz2FGFPqMpAmDVyTBnh47ar9y9UD
VFaeg2g4FYPoJkYNMFXPxSoMCIjAOlw/+/3h3/9amPAsthWjl/2vn6YREWTtkGhSRHBajpBnff2y
NpDTXX9yEIQtDmYsZmTFDTzrYAVbZyvimjb6FqcyyBbg19H4XFqlivlgBG64ArItRXnLIWbzXJWT
rBDtApo2IYCmuUkqNIfio+8lgNsQmPWY1EuDnEgZ6deiDXhI7OoxsKLXasV2N/C7WbWfOiY+eQvY
W18R380K+x5X7HcA/zuDA27BA89WMLi9IsK7FRZeAW9VtQZ4cwC0oiplsCB0quU5XAeGzzRDP8aR
BVOsGPKem1LFGPOgy2wRUljl+Qotz1d8ec89fe61XwpAk3wcnILXIb9CTTfswJmgh+hioHO76QpG
DywQ6fIKS+9i5jHGArZkJoczUcD8tBtzBawnK2q9q4pnNQl3raH3eyENP6OIoGOPxUOKB5mbPMj2
YIW3o5eLVph7pWXPIW+Ub1qHdMW9lyv4fVoR8MoOHW6lS0Rp0Z8rVlC8DTG+WNHxxfwrWFHywwqV
FytefoEzDwPx2Q7XDbph1f7QPBYQ6UkalZmyyN15jpn5UWLeNlEdbfsOYyr0zAay/ZAoD4tR6hsh
qm1r5ndLZb0NZQ2mdcXiFyFbOjBRtFOv0Hzo+RMUfQuavrZi9TVb+xrievbHifMghr2frBD+YMRV
kRnP0IrBRaygfrEi+/sV3h9B8U96lEMmCNhCuQQNoK+MHlwiyKJKK3shj4mdRIgGjNAJ2f4YDOwT
RRWpGwiNTlN1VC0yM5ah8BL9QzKjdpPJeeUxIKRgSGsyyDHpg13sHCVllt5nKe9eWd1UuW2QspxI
nNIRWldD3IARNUjyBJep5WttpMESHulrjlbph0b5XJQm2RagWDf9MIzkxpENmpO2XGOIhXHgqot+
PzEKhclRumoWwQHTwahqU3Oo6ian3wL5eu6R9jKOqd3ckBNfVqNLHi54eDJpR7WC31d0kUdz+TNr
8s+o7r1SMBMehHmfdNm3LEuzG+kAaSuDGmpmdiU+CpPRttmy3R3U+WSP+h788a9kwBumdXdi0NiI
JYzdEQrdKSjl1TB7T6OUTu/0uWTDGx6QZqenC+O+rviwKjQKbSfQ8GtPVhUgoht5ryQ8837SHSX7
c1Kqh3V9dcAloilvBK204mzXI9KyHgpzoDKoHoUMpymojl0Q/xhpfs/y6C92mGyhuxFLBJpCYs/k
jhEusdEXvfaoFtVjkxboyWVcL6tR/o8PJjqyXLzE+dx7CbGNSWPcgdKwvSTAY6m3bMaV3pIPhgpZ
W4ppZAx0LYB9K4Z8XOj5grsX7Fm5JsyEplgD8YVG0TnR0scu778Sri4hLRsWAE1X7iUG8RrJ74gT
BDg3X1viF31haLp07UJXk1yYGVIbDILGi3H2q/1G1+j1kKc6UyXCJ2VFWcJBnLV8ukxxwKmh1ru+
Fm7YYclgW09fCPs7fT82+OnTzLSXjnylecwRz6FpfQLMHE+NjhkqJU85aE0nMaz7MrayDSw39Ce1
6ev9gmRGu6GURxw/GMhtU2v2JZ1IKbEQmRQPY3ET1MjjO+hENTYSNXkT9gDvVkNHSJ4iPSp2+d1M
X11Uo5NbALYJ9GUH8l3l+o7wghG1llkgFxHvVTC5bX8mAS+hq+lBz6yw9TKTjMgiFZgFlMZkTkjy
lzr2AyHren7RmvhegVdUz9D/2Zcxyl6kz15YMWQkhaaxQA8AEzr2gPrHXmXZt0XgBYMUHrIS63lH
AY2lZXIUacagQTAlOa0mCjZ5oy5R52m9wNdIqu96aU0LLKxMN2Y/TX6pOZ4gXRyaBXaWYhR4Tkvp
ux6HVxYkvkrmvN0rpxJ3bFWON9wMTk1oAaGOWHQjkd3ZMuF0IQjBZC5px/zEKiLFIm++I+D1TheM
3Cq7nxmc26FNo8eka6vdQPxrqYTLpjO6n2TqkEZb9JMtU5xiBjOFjkLWjNEOSzFyJZKmWduyyZcC
62dZJydFhHQqHcJ922FbyAmWk5BFKTYa1T7Tb+R1xMXgLnfnKcJwJZTPcVLvm3k+dSGw2GiYi9MQ
bCAK46VQs2elEyQCpaiSuoJcqSTG8xEUT7RfJCego+bqCT3hxVBppzFvMhDlz0AFOhyErUVjOhhh
SOtEPXSTSebJtx0XrZeuLhgaNa6M1wtYTukX1vTWjSk+vUaDKBS4oue5Q7P/qez/xd55LNetZOn6
VTruHBXwZtCT7bkNrUhJnCAoiYK3Cf/0/WXuU6KObt2K7rjTVoQQCUNgA0ikWes3BYhaGyItZrbn
RSQPc/HimxFuS/m9Zy/N2tPzaJvN7k8nx/XTBymAAAUqcHHLY3K8R065b/qMRm/U8VqR1t6GGZ2z
sdHOQx+fdKSlmPjFAcxfZgiVuefgZOU2zXzyu8exZpSBbvkGdJ5HtCsA6s33tGp6ZGeSarhF0lFs
asN4bwZgqbYJQc6tvxSNQwophYc+wJoa9WbfMaSD0dDIuDIcGSHmjSgGlP2SBKkQD/eeFqQPAEx/
bWhIagl4eX4jhrVLw0ZI75QQ7dolGdBIJ4EjEQdrKxvuGUcSIppiSGYlZGWL5ngrEmT+/OkN1ftp
5VfC2w3W+B4d0WNBP61EGrJatK8ge5L9JLz+xFgBX9PcrunsAzywgSBtGjBW6zxrvhm5HOL53SHE
b/us6cWJFMfd3JlQC5Cl3/SRvvVcjcxEYUODDKBT4h9zsCb8CzqI5oKXhUO3gKdr1xt9TknIWTH9
t0PMMvWb976nwbCsyt94iYfCsFbPq2I24ttGepAPDYho29LSfecV1aWLoRoYhNDJbFKB0N4HIVa8
e7OVAYED4N4d9DH5UfImmwVwjT0X4403E+8Y8wB00BTO5xEKys53IiA6mslnpJnbuZmh0y70rHXk
gSGDwCSR2MG4EKWcMQTE4xG42FgCDrYJijgIVWrCgkHSxN2udY12P6TxY1m32dnRanNXEYyCSNBf
qAOMQfKbhgzatolCqmc5/PBE9mNJ9W+i9Z7CeALUYcOYyPr+tQEht517gkE4tHeIpJvx1nHmZ40Y
28EtC/wRQ+tTsGAvWVUY5dbg38Lhhz0FW62L0XfoF0GaiUWL6CF92Lh1k+pUWv13s4ucu4BQWoGS
9N6ttU9F4dcPKKgloXPjN3A90BQvd1HgX5oqqYBn0pEvUT1soC3pvO4IaL437ZDBBFKNBQsQnwS+
xoy0Nnotd04JkdPxXPLhY4zpIs5yu2jRhk8o592Rp7nN8IM/gPiqDnqOyyRURixU8VyKybvg8Zbc
phUC7guyzWvlUeZqBYm0Gg5qXDX9OosZ2VhuDMuixAzLQKzmrKfRsBuy5l0PsuYkUqs5qVJvjneW
oxso1eHqVBFCWU0e0Okxdqx1VI2ftRnK3ZjNZ9vpndvY48PG9PEwI/R2g/AolEI/L/epPgCIn9Pb
qcgsbBbksN0LwLRYDOXMCqAwCq0XXOSmTTrUzm50sJK05/BAR3FuhdedJLTrIMLlYU6H8DCBm12N
unckrkw8BmcBAnreI+lsPP5Qbb0J00Z/KSALpiRQJwNzwsyM4q2ZetvZaFbDrFunXkrCNSH28jQk
wBPPolr0+wkdEcuY4zNGRF87pONXuh0CT5+qT41Y/FNRN09OgAaZXnrYjz8K3V/uF31Jts1SNDu/
LNBDIN+8TwhFAyIPvd0IAuHYu9oTqahkHTKz2JUDCnC5bnzuzO3AyI28YzHejmZZ4RR0jkJC9YvP
4FR5rBV/d1/7Y5uf5d+TiBGHsler/YFuMepDmJofRmzIS0KmoT0j5TvBWgrHI664EN0+1ocCfXjX
lPMHUwePXcyAi8vo59VpTJmMqUVVRGC/LOTvo8Z6SzqrR23NRitQCRgFQSGLWIocr+sd4pM1kn1K
sQjINUllm772kACdb6WokdqhFonVbLQh6g9AReLhREPuHJwUKsNUEOrOpT9CYYcgxFURwKcPc118
jqUfAck2RKR+LUbpoKBWiRg+NLbT7noR6oBeEDR0pWa8Ooda6DTsTEC8/cem6wVaeGjGEGubSTpR
qLOFmmQQqOLHxsBODgSv5/0g9a9A/BTEO9GXXatiG0RQ7Y1zoYTBlbwU3lJ8GKqoFKiaLEHDItbu
lPYVEw8Nay4xufuJ+ME1qN+HBY9LW5iiDnCoVegdtzXmG4B+u2MVOhDfCKrjtcajVwtNPjD3nDVO
bJKiYcQY6sFOaU0Fv1SnpsJajG2iYT01RUelE2YFCQMzKWVV686w4A3ifSGhhCC7lPAnYVIfq7pf
qsPsL2sgcPrVYo98MLYCZc4Lpp9ojibEfwwWoT9ZmgXkrmqPXeO0R1Wy2wwJH8SzemNsj0IuVClv
OxiS5vR1kIeG+qbrivjqSqcqXyL96BJfOo8MU4kiJdK1a1XbUNUkZaNunJfU4pFXkzklAbVNTEnC
kFWNAO5UH0Yk+2PyIzBg4uaoFo50DMCuuDmOqMHgYFzu1aYFsDFJZIs5cPnsaAOyRZb04fBlDTJk
Sa2Wdt1uJ6vHoZwsXjB3ADCkfFsqa2aKdfg/i3J9lppeWVAYKyWrBseBuiC05i+ZNbVRrS7gLleY
7QXluS+YhivFMn3pz0ziQpicUtKMKQPOqsWXGO1XOAvyDtQNqXuZHvvKyI4NftC8E2UWYiL5eNTl
IsUgYe+SaFF2kSqt1CZBjsqMndKUkO2yRwMACMmbYyo9d5TBTsaHskH30CDXTV1XC77pv0qzK6m+
H+tqNwlfNgZDNqKfxRz5199hiq0vW7Xe9WYBBVTu+vjrRVjFjdDfp1q6VDRSrvBatBtc3ukrGJvI
jSkw41XRgov47chBYHIxyYUqqQOHiX6Y6A2iDjpVwkz7be3gcKPWEIZvj6oUWO2Xpic1otZazGON
rR6R3h+X2kE8s0w2aYU4m/XLhseRpT9WXaPcBy6tyugzScVj6Z+ntyyhbTIbFK56tuqxfvgZqW2j
fOiq9K8OQZzYOQwlLbojv0VltYHneojsQdS6B4+AJ9Nsu7hD1jGj78NEWY8i6qByMvCcnpqpis1s
XhIvdXfBdF/NznDjS4W8UDVOgaxevioSxm02S0Of0FUPmnqbyq3lt+Ii2zwsHA9eEg/7QDWSdOE0
lVVQ2tDO07UyGLHcAXQZMGu6vvr48fPVaiJ9SVRJLeK6+bqMvbU1ZXukvE6uticf6+GIz5bfo5Qt
NQMbuVAl8nHbaTCTA2HiFl6YZGn/2umIdgJKA6prjGZmeDOxP9mq8AHF7UEVJ82qMMyB7Z/LjGoh
s6CpLKnVKWqZgRYyV9vlb/FoDDeDzNSqBbK6Lm2TXB8N7dZE2OSPSihXlS+UqpMO8bedMdr3v9Vv
VewSQqHZ6GJ5LSt5bcXZPjeM02/HqZqtd8at4WiQWD8+E3XMxzUao0YMoUCuSW1LsCJjBj1JRyIb
IRD1A9WfCLeGmjqR21z5+gicT8QIHSqXsUR+5Ir/9seq2oHBkfe/GZn3/w4a2bR0y/n3GZnh7cff
8zHXP/krH2MYJF0syyWHZnu2qwekP/6Zj5Gw338mYMAe62QYsZ+gV9JJ0PxKwFgOuxwyf2RSyPU4
hvs/Ssg4tvdHQsY1PM/D8SoAg+ya5IP+npDBjnUayra2LjHE2nRonS1TxxQJsQo+bAzrO8F9c51C
b6/R6+uB64J7cs5tM8KGN9vnsCLiDTmIKZMW7svObLeQ8GutrQjwYEjUtfACK7MVoIemNwOrwZgB
9LbvQXWO9rJadAziBtw0896Ajjx5z20Rzpg6MCIMjPIe/KyzN/xjm0XiMhAqNitsRZcWonG5JKm9
0tG2tGL/0KbdE45QDSFB+5NvRQYhEcyKjVaPEN8ZmPKaw43eIe9rSHoB0xnx0kXtJ8fqX9pcrz5b
wbizyuk28EMB3GhEu2kYySUTFj76dnMXQ2xZzU6bb53I+O5pAUJoYRlig+MZp9C0j7neF/eaDwba
QGArMHv/1LsNOgNp/gDhcNVl6EGVpv65l4kgYzkFTn6owqj+io0jYZv5ghJ6DHq2MRDAGOGNwgFK
WgQbJ315yEZE6Jn+UyUE0xlieeNiPAbRMK7UX7gR7BiSg8va9OkG6UsQ8omlg4YgkdRNbr5u02Fg
inPvLEm976pCbHFWHxMUEHKm84gchKL+2fcw7yodbU+idRB8y90CNnIX2D9cJuhr4WNcHlvuacyC
ECw5EnenZRbO3ahL+bbszm66ftWU80SgZPzpifEr8unNQUOXM0oTjxgOylf95G2IzTDNSOEeJ2Uu
0F+zd04GPcRhgr72QPCtnGogpAUNL2cAua70zkPebleKbGuCBT4OfZHiaBGBSetwWE4XC7lTzbiv
2xEw49xiFtsGFzef9ZXmZdY2jwJnPQzH8D5KteSSZ0O7kc8GCWrtE0mSGiQ7Rr8SbzAOfAf+jHR9
VRLC9cw8v68b/RQ6VXf2nnwTDZhIwL9z+59OO4SXxqi+lUxu9wIa1w7GJ17AfozVdg1vyQZwE/nQ
qcssPC16UOEzRmZGi+zVMAzWrYXd1lhE7clillUto/U5q/1dEnmHpHWyE8OEVe4F1illtLguQ6wa
DBv1JjuJngN3BDLaWFTbDmH2sNDp1yYBXBXzqNCYhkvLWxzxvoNvabZwfrMJFTwLVDmsQ3dEGASq
H5ol5XDwXXIS0Ded7TzAQM+z8jM+eOLsY8wEufSThbPN16Yvn/KofCbJgpbMkDuHIJnEZplO0zBG
p9bQ6ps5bplYYwMFemNcXlwsOldO1GpvmpVcjFGMyC4FMP0M2hA/HA6Gpt1ktqXftgnB9HDRCHIm
xWdTRsMKE3YpTnTSWS519jnGq7d+4Z9j2yyQb8VMgSyRhY4HUZivem5cOt3v35u+RrhPD88L46Yd
AWTgVEYYn4TOM5hNNKd0rasuiQZGGdLAV9OBKBE1yURiDgCDIzKI2j7hCzz+YPhrU34XBpk4uF4S
3iS1nQOWJUnUl4O/jloxbJxOQ/tWCBMKUdVvGzeWLMMSrYEBRXDdcIx9C/h/kxYjDLkwfOmgqX/q
UU2uGt9dMyCy0bZx/WOlM2QCuXbPfXazxZMwyUEkg7kgA1WcY2L310WeppfSCZGjsfnceOWaC3bR
GDucZazpnfG684RhiL0pUmL09Tyc+nJiWNqh1K27r8QggWZGxYm2n6i3jbWpZgTaRmHg1MKSaLg+
FkhjfKyrUslYEZ6oxM1d988zE1u1rvZ/rF6PVBu9NuBMatdvRbVrIh+xE5Nxr06hDlHb/zhjz1Dm
aGWoOryZPuPO3mAeHCxKT7sGvX4tahXFWK6rkjpILT7+JvOoEYhEc4wvEuS4P3Z9/M3HNvXXaoeX
Q7UJsQwHC5b3C9zqX5dVV/ztF2jqd6kDrpdTZ/mteD1WXeVatIIUAgoa4B8//rrjY12d488r/bb+
x32qq09IEawnr0UH/O8PRV0aPvUTxuvl7s9LXW/w49b/OPWfh6vdv92duvS//GXXv/zt9Op3kOvr
CLH++oU1GY4NJjrkr02NJ63Orxa22wimU388ebVLbVSlOrBv6txpURefvkYOwhYf+7QJ9ZssHGT2
Gt0QLO3BGpuhc0krnJOqKALrHhNNbxAgUQr/Svo/rXPB+FsZAqitH7s65hx7N9SQA0MN/mO7KjnS
N0Cd4WPv9SwCW0hkVj/OSKJ2ldZMd6aGOO+ob1M5FU4GH9ifKmpSeOG6PifoIMRl4m9+21iGmaRI
f74eonaovwshH+8mfbwLsySgHZBqEoAfKqxT5oWmP4YD4Qcn5SjAhBgPAWk9oEwIrN4C2tDl6cYs
jliy3CY4WGEGy/euPtFaNQW1eQtr2+SLrE5tsNBdZbwzxsDljQ9FRIjh3RPvtOQ2vMr5NdfglsLM
IXm9yMUs57Zq4ZL2/perH8epP+NtYPsBJaf2vP4wTTW4dyQE7RrIuT59K+MAeegWi2bE24il29b4
NSzcp4p0EbAHEjX1Lzl4FddTq83UrW23Kw8zpjoMca5gVz3QQLx6qViHU98TpUQ7RC2ELPmVtHko
iiE62BWocek0G3hY0OqypFbrbgEe7lc3MHTjk1qMFe4h0UxvXsG2IZHY+uVJ5C5SsPKVqhimWnhA
2U1UFw6DDHOqsKZa9HjK1gY2yHVVw0AOQiuR2PZ7IPHJabYWyB7a1BB08TduHqL1N0m29VLe2Mpr
tdQcKDcuHLwBFhMZ5LRFEcCwjp4n4NFGWgvSByMwFTdMW7NgBI28gTs0qGO6l5YRCd0ZryqdHgsD
Y6W4jnMoJxnsYADQISkIN7xB4dKZF+MYaDFSv/bJs0GKeIbP0E8F32QMVJVGl5w36bGDChfjL4xM
qYGPUcm85VhIT9FG1/4qBS6TbeYEF9hxw1G9A2p202EJ05C3zEmkqOfvyZcwdr5x0+SPKiaoy9Ca
pwKFIUJ2kJfGfSp/wywD0pmyFlWxabWeLyVDA4Z5Kuhnyui1Qz6iOBDDXVAssqLfLBU+rA6iOfZn
fN9w79ZKY+eBzPvLjsCBUYljgjmTtSaxaUsRHWVF8GGq8Mc26M75Bv4W8oOyNYQwg1hbtBOMAmWQ
n7CoChn+tu56cbJlfpYAEZeNi4qmX29H3qgKnatbDiTdCGtt2PWyYqnbUxWuUN7B1/cg9/jhjQ2O
+0aFyzsZBFSlj4Xa1mUkGEff+qIin9c4uvymNRWk8mW8Sm3E1wKYTofep7ppVYVU6WOhnoFapTdh
uJraB+XKoCLfUUN/qxYfq3Oufx2jKCeJqd93mDstyDoRlbkWLbKGqwGq5voj8J3KaLhaqDj4xyoZ
zV1hRbgIywi3Cnp/LGYtZrgjo+GRiXMh1eLoj9aEePdovnc6spilNG5WizgW9XYKeV+iacIDLIs9
RIGfdZKhri6jNer5faQk1LaP1S4vj0LKFAHOcPe945L9w7NNWzCMnUntnogN46FTp/UGAglB/ciB
MzHT56kbsvmknQqzvVGHW1EKJoErIzJzhPRRKcglYN7EbCGVGgC6eeeH6ACag4dOI9hiNI9JGGex
ju25lZ5xnPs0jmgZRKLOQRBCJrnGwzMfE/FQNug+Jgbqfq5fAQZ5QzmQAV8E9u5NFJ16uIhtNGNM
LCsCcBUEA+L8k8ItXd+0hDF9VAaPqPjRfiqnEvHBELjiJOdGdv42GZV1DKR9NcRP5wQ1bac1iL6o
GK9SIYqCMTnmSKpGQUDUsPEPCZybIe5fenjLGDHnCFnnWO41QwxZ2TScM6HNab/EY3rq7LLfe6J+
aDKtxW3N0/jOcw2VC7vaYH/cb1od0hA5AaKIXlVivGhmB4w8D0YtbqwUJea+BLKltKaUMpWtRK3U
uhFipxeAKNsE5J9AhMLcAuWNXr3PMBotK7p92atCYmem2mPfRSqiNIfbvEBa0xMBtrxYZvht+wmJ
G4tp7/p6drDocq6GM566Dhl+zC30c4G8LgRmFL+Qnje6jpGOi9Ok0FFpkr27GPGYiXHI2yWdca4x
zFsAcbBN7V3SeILZ2X2Ke9qaBb5uGObhLu0ivIvtb4sN28gUkYExE9afnG4qMyS1moFMjEAZvoBD
gHdmiljnIrbqh5GdEOBOzHMVVHctcYGtDvd4pf0EMV6d4mb4Yohoxtuo24bRaALYlMrTcIevcmOy
uSw1TcbH9XcbWSFi2gPuB/B3wiY5tL8lQlRKREXnw8DooOf0Lvo6ODVOiG7EkFtKotbbssWc4noA
X+9N5r55A5LVXQpKbcChbOgS7HBQQrneG54vHmCM0V81Lv2IkIuhIMuE6WW+yWGcrublczW3L5HW
LUy2FwNXSuQ1PTd76WCwbOcsxBHUS+ZL2pWwBWoYsh29g3o6xTwzJLITbEoWDWaY0kpjslkcVclX
iOaPjYHco4n5VGh6vFfbTflxqdLHQh3mfvytWldnzZIy3gPpgbsibXnk6a7HqSLcgwxBd/fnb9uK
dLxJSgRUSud7BoMT9eocqnfVRRt8NzWEhtKnssiWCzZs2ePchsshHR/TNgAcaKK4CP6HEJo276zQ
gluvT7C+gm/RWLws9Wxulxz3s34a3BXEWsTnlsYl2g0DvS/3hY91k5Xb2zbGqqktYSvh2Y6JXDud
yBi238MJ0OFYB6/QUn00UogphUPjrW0BIZxAaovqdAare1i0R7Bu3410P/mW/SosX0dddwzvvDhq
MXqFdlRmyfzmtcl5wcL02ST2dSDE1O+MwRleM+2k9o8WvquuMeZHAALhU2P0z+60TG92LPB/gfx8
S+pX3JaiR8iWkMsbAM7H0gz1c5TjvlqDQ73plhEwqtwpkH2d+uxNBLgG9Itb36SRVz630opUnpWn
RlVPHPsSJODwHOLCK7Wj87WvcWoXT2PdmkdkjrJtMdc9YtmM6yskHpMpWL42BqixsnT6QyOC5WWs
4xt1E3M3ohogEutci8a4Z/Yj8duypXFbmvkZC5FQb8MHb0mMU495ONE1fu1CTGEJ3OxLobXL3kNl
CteqPv7ihAQc5c/tZ5xU4tQ1T6MHmtbJQDJen04EKApisXU/RLNxLrHJvJ5y9uwDZhzmy1yCbqrm
ily46MavMIOufxlXfkraHZEX4XjZEwDrV3VGPcdssIjC6c6cC+uyuN1ITpzfYMTVrZ/rzTORQbSt
8BTcGRp0UwdzQPmC7YbqlLTCvRlGvf+UZMujOuFYgxwcHL+7jefava0QBLq+QMcvn03YLUwLM/wa
+z47Gk46XV+gDpkvNsfXxfU7svhWeDB1z3lezPyszrrEnoE6AVWsD93wTlU79SztRv9ONNp8tPU5
QYsd3Jr6+SU+dp3pVS9J5SL3g9z63NT2DVjw4CGNCLAGs1V+L3v7aKex+RnWWbNjohwdo7SdHqIJ
UQl1BJiKG8fV0i9aYqc7rFSaY02D9CA0B86OXlTfJUM3dJL5S5+UwTa2QOvEMjpqVO4hsKho6jyg
ipGMz+OvjLbMLa6Q/tEIQnE/dz6hTXkeJ6lQx9CGrzm5+K3mOQXjhzK+b1sIuuqIqKg2kT6EX0Xg
4XJRF+OJiYFxR5i4wAeS+2mlvXQ1d6/RbPK6Q5OO3i+aOx2k4/UcLtS/onP816XxEBmvjfRcVsSh
8xg2vrpKjx7usCziDe0Ia5Pm6O4VwPlvHbjS16tMtAFB6r/llT9tSvKJZ+HG9a0nWud6imA4uMLK
z+oAvYar7nVtcuk6DyeGtg+vR3l4pqaz923o3YI+3ROXzO8WqiC2zCPpv+/5Xz+oMmLU3EbUzuyx
uuRca5O1o/GNuKa666nR0fLVoPmG2Gnj8IBmSWPZ+bdCO6lbMpbaWpcko2/ROdHPfRjriFTl5ttg
f1YHiBnDEJSV8Kw05vpsi8LddFGn31Y9r2cYCFNrdfuDlA6hyLHTH70orunbFnFA2254XHzUFgfD
bX4IqBM4RNhvjYXqe45o5W1D/TyV/MbtkCbaC4bDj9ezBfFT7VfOS6jl2pZsVnbyDM2+pTIBIY/9
8M3nZalDMwsacdEnzaNT2cOhysL8AG/ZeaxcEhrqkLKa0FE22zfbG9MNrpPtLcjy8ZQ5gizzUDef
9by5V4fy9XzqoUe8EFqBqMAncWwWP74bq8Bm5FOKb1aMnIq8Y4tJ7crtsAYwEA08MHjS9otrpU9e
REi6ZJT/o6BW6sGgvaaalFnZ5JqIgMpN9qmL/GmbFHxe9oLSi3w8rum/DHqbvNiia3ZTNBlHMynb
u0loOjjtWo6MPqsjlz60V/1gICcOsfwwzl227QZEDvumfxo9wMPqsDnKt5UdzK9aWovN0HfOBYRL
fMYfkxxZ6MVflj5DWEe+vTr4og+99ezF2rCDbd+hhINDreFp4xrNuPy7MVzUA2qYya2iZWkfBjFm
N6T9Z2TdIucJqRjmhPJkIaxqn3TVawjvaOObwXjxTK06h7ZRbp1EdF+MAuk3eSiRurckRqK2K+A/
eSGOGgZ4wxu3DPwHd0EkIK4t+3tftKABWu1r1iMfOXaVOAPljm8BiSXgZhExK/yHuS+c75OW0ykG
nnZnFboJ7cOOd2E19J/bcb6oc8Wd/lNLI9T2h9wDXN9Ph36h60YoAvEIeY4hCQ7THBpfAmdBicWN
EetdyuiuEJVOFJHfoxZqtY8C7dbXqUzk4oet+jP59+oIKzr+L1vxv5MbNxDDJYP9/2YrXt7QCfhd
pOuvv/grNe66/wgskNwodJHetpzfUuOe8Q/sPX3DN0hU45ZpkQ7/Z6bc+wcpcs/0vUA3fQsFlV+Z
chsWo+MhqOXpkFVtM/D+R5lymQf/O/eVDBtIIDvwSZQb7h/Exc5LyRhN5Kl71EqBZsKnX5ndBviK
+Z2E6Wv/SbvBlyZdOTdjtPrtQd1fr/IfJcnhKik78Z//x+AG/7i4b7hAbowA3iS5oj8uXpUOxEQ9
AK434ViN1gaY2/G2qHZuh1bAikif774b4//vZcE+/E7W7O3QGQCeLYf2S99AYbkDzrMFEkAUIRQn
p97Bf//3d/p/M4z/fqN/oBEyN2hDf+CKHfaKywOK+5gkRaTdEeJPX/79tWxYrn8+V9/A993zTIZj
tmGYfzxXQSAabDXErgiV62PsYtqE0MzUIQ8Fmbu5JLBWtsD2kdMK0KAAgZ9egmIEH8r4BlRDdvGK
csE2PfR31FykAxmFYitRVziaFM7G8BGkt4SOcKunfw69wSCJZ+h4KCMjkto/BmxwJl48UsdeeSij
DOdBq8BOivlSmDX43aQE7bXG3DD7utgMLVbJIjB3mERJFhfDY/5thH6DdIp+YzOOJH4uRamm1TTh
V9Uu6DlZbnEL8BxCOO6bCNJ8zgJBMClBtJi4IsYE3tPk5eHTBcGKCX2M5ICGsb4NPbx9IiYrRizQ
4oCJPE/UPOstnulFqnJ+dnR3PZbIUtm5IyfE3hqs1sUbIfY5zrGM+5vR7L5bGCCYIS4mQWm9O0V/
SermFV/WZyQxUfUQF80ZP8/m6KHuwpNdUsNbCxcFYqNd96OGbaPAT35xBiQvv/WJQJNptuDKDpBI
/X58nqR8Ul23rzp6VyvmWesywaSLcB2+m3BO3IlhHrHlBnXi0ny3NP5uBKiLBmiycU1OZUYZPB6U
qIxyecCse1+P+bxt+zHc8tgO5FG+lBrRpKzYdh0GRz3WRgXSmmVigFarki0e769eJLlD6OP283u2
TM+xa21AxUD2mp7nMUEHKqz3Q4k2V+Yt75ZVPEf1D6I+b0hL5pvZ95tVkAqNgSDGX2mBIEL9GkJ7
1TxsHErf3pFoeXbq4l0fIQZ2eP/I8xTW9KzPzt1c3btNICk1No6DxKdrB7ORjnyCGz9GDs1V3U4o
1UvWTVVtbewPloRwhFfgHIipPWEilxRBbmEQUwieml+bm9HVfwqTe7yZSHPgZGG/a55v7pE2XdsF
s8tMuw/NEZX5NPkpMu6gEIx6Yq07ZxZAaODL+G3k7ZeUKCxKrIIRKOwxjdHVts9wrM04mqDmO7M4
4oWQbEIT/WWQmfBfkB1rfH5IYyPPtpTon+pDJDNi5iUPvEODsPAaFawMTmf5EBjto71QTUDhnas0
iJizgUO1dMB0uRbfdLkUOcH9fGyoPw28bSSOMJSYddQ7YdvGjDepMvzB0OzViwYEhCYwY9jAv+dc
SGR3tPFkE1ej2e5rzWaY0XR4/Y2XqEY5SooIyupbmlBwwqYixOAOm8nPH0jzwCMno7/qbP8R9Ywc
t1HuDomTGuhJhriuA4KYWdmNrDfTXH7KoBvMJoLLVt69Go0brQUDl6qqnbUtmRlagDPnYOpcAHNC
JvbvuYZK+RzrcCWKnZQg90wvven1hUkKVvND1t4n5WTsRS8uft09a2XrrNKex6dqni45yD4axG5U
v5om95EnDRJUacgcGeCOI7+4CmH6NRKwWEsHg05sjlA0AEgTb1LE0nuTOV0EhoxJEF8nw81Vq+nv
hdE9mWN6m8GFW2y+VEMuLAdypehp423cxcCwPA8ez1g47avHeHrjBf1DO7vRKg3mvQ+pGsX2eF4P
L+HQSg1vcCNFV+BpCoVrTfu5NqJ8wW65uJHVya+ApswmjVnUAYSqk+fcemkb097pPtBep3AfHOKe
qcsHGWfOaq7ml66G2xnqfOLoIsvRNVpW8n1mOjxWA3vaorv0DtGnHhDMqgi5KUKTustF0sh+R+0E
LM/MG8l9Gv8Jk2AzfPRrHgWSKM/2Yr63+UhbHASY4eFYbaFFxQ/rJjZCO3xI7OShHcZ935bPmpmR
vUxg6AXMUuTfT0u3c7zqM1Sn52aYn9sAsXwtvEPNpl5LmRr8j6bnvoh2kZc89Quq1Y6sjKP9blb8
zn6UbUxbvLaJg77ydoiwdApa671K52fToTbSlt3ok/Uwwuo09OIB5eufweJhlUk015Tfsc0bXSYe
l9Bg/gNyWek+vEEH/W1sC+e9raHhsIhLr/Mo8P+u1316FjGPdZKN+yRFCDy/4rHG0crJ4MhFo4tL
FP0P3hFwvnKc/OA+tyuzNd8TT6PtTJNPeXc39Ptm6V7m7EB4cKL2c2sR0WR0t+YbEbSv8pHMDV2M
aaODEvE1FVmOhcSwqBs0NOA/DRYOqsI7dffaiPRYEoXYBwtBfGrebNCPJiANPdF9pUeOIDbH2zbl
hQfhjH2oKB48W2AnVL/GVvSlzfCLSjx7T0AiO8904z2C1wbB031AbmMjpez7Nv+2GG69TmWr5oQ6
FG5INqiFywT50mH1OybbcBxR7hyzBx/1v0NVAwXratjQoyce0hlKbhVgD+G37t6QsMsaOUAjbmFX
jMVDW/JRmNN4b1dohIXi0pQO0szQJ3PZ88UdMKUUcjtk7a1TxU/00SdeISikoSLOj/ydPz7XiBzt
bAd8UQYAYt1Nwc8OjkWBxNEmLsCUocUH05VbwGC+2sROvdUWjFM0vtijj+Do2u3m5wCdtNRN9C2t
rLava6y4fMDMm2RGJEucWjzComKre9kdCFFm2W6zbPzJ/9I2Hplo0KkraL1m4w3bwgBb5M3YxnSR
yLc6YtgbOtUfwlm2NbY3yFNDiummc8b/qkNifw67Q20O5ucRPpDv4BIJzFEL0/40pl1/Sl04vI2z
G0p0mRYNCLjdg35PEhvHauer61GVmwrRR30yX0djPIqKIHdcC3QXlx4Lw2ZbjVGApcL0EC+xRhtr
v00hXPcMINx6gJayzvNSmZ4tm7j0eZy5W+xQdvg0LDi8mKRhSQrl37Qq6+mRF/oKkudS6l+n0W5N
tNPRf6ggN08ohpP64xcNY3eDOKiFa8XowhN+6N3wmz1DqYHV/0pilbGONvM0yCcjvF5FSFDAxfJX
NHyP2oDwdtChEWE6SGphNlFqE+IbDOC4lXpTMNVmIr34Bw2hT3Np7qzRBYGwZGQvaHyGyZSU/nRb
Q9xwBv2ABnKxcw3I7GUCrABZIoZlMG8hVMK9XpzkMPjj98WrSxKr0GAHWNxEUdfzf/F0HsuNI0sU
/SJEwJstYelJibIbhNRqwXuPr38HPRFvMRNt1RRZqKrMvPfcfnyYPXE1piw4nA4Vi0g0saabB1QK
+CfVCeBB98NuNx31cT5Fm+Wph1e8M6fhkUoE1CRa+FWhcNz99yISPIDjogXqcpWF9WTNyadUWIkD
DYCRGH15ng8Sm2I0tbaSWLINUtbb8PG4GHs76etAV2YxWOs+ty0RwciMXVpO+9avKELh76qPRUme
lNiAFs54ErsVjaG2x2miWKCvpIrrTz0qrT+TmalCBSwTBeSmGKRNSHB5Cs0K4Chc4e8QGg4NJdjB
NcFV6/wzGjxUYSzV5yTN92zAXAowhXpmT1xKHNVi0G9zgpwBIw69Px2PplvVP0nBgojH+I8qw1Jc
VoP0akwaOwJPHfrOuFgX4nZn+ora/LOKo+TOZQ5eIq7Yt6GlJ9uW2wgWGAGFF/9vRbFRJIaZ8LyE
Z5rMqWPNXmgwUkM2kEfLSZpqtNYDI1jmJ2XAOwHXSscZFUsks6ZRmJxmgSQh7SfK+bA7nZBKrSzP
IDJyQBWstI4UhrnCyL0woXOVJPnO+jEnACyhAkkx4lo6Ce/0b+AHEuiimlm4C0s0l4x+Wg9BGCe9
1CmOIIsvCTbpIZLhvFJ92VbeGH42aV/obsCgVvuVWeCtSBa2Adr3GhP8kCPcSzud29XU/84tB/E0
Z99URSO5pCUg1kblLly0vqCgLa7riBMdky/LOHV6BatqBOSFjuSrBpfC7qXcdGAfJLZUXYwkE2wl
BuybhBuGOs6earEnyncMHwRUxL4lNSQBA/EGxtWASN1k14RaWDGpamYxpk6lKfC9s+8YxxNn234w
kNgMuUz0hKpewMv8DBSsttHklt9qEPBMyq1WNWCPyr+lClyy1bja1hVhZw2em52OxNif9WavI121
/yGQxWx4y/XxyagNZKGVwfsSxvvIJF8ml8OezDLmOYY0ubGRXoRo0zHDQiGAgcJ2SV/AY8aeIE/T
njvqRStz4sX1zk5MCDWSPOJD5mrRS54gArKZ54z8xRIuUFij6087vMKrwpLWUbBQKXj6knR+ZISe
0s4jzh3zvc8kRD+q8JzUxpNcM/fLhKLzc2XVd5MReSqjnzFC0Qo1mkvsUnd+mAbWqCXkR4fP4Tkv
NXIzswpdY5iRozYeIDqC76k0JO6oTDamZ1rhtgdLUu752bexbtQYQfcma1RdOK+NEy/MGebRV9Q3
i8nz15xbUFuWfs/NiujXWQ+xnseE2FokdrDiTlyEC3+cea6tiRz3NaIip2UQD/iu0ZWVdqaYpteL
8kOT1atgzt9qmy8OGHk+3+iSTta0L8n6C3N98ot6/jY1zWJT5DmTOiRPU1hSu5tdDCSPlnHeT26V
pmSWqpG1B21LRafipeh1MkpoQgNE3x63tJ0CNCHOCoJ6JxNMsVWbLE8rS3F3tt5kaII/TttKAxHt
SBo0x0Z2+be9CULGrpUs7ATslsT2gkJJBOXAKHa/Ctz148ZcPD6quGLQq0tBaQKe0Q16Dx39BpIc
hBGriJAado/nNbDM7FhN9bnPCd229AVCHne+pN6AIWvroMao51mEbK18lFLtttKYMUfPvzHDf06A
ipM/LY4OlVvNrtaaL9jG1AX02TNJRQUWngZ07as5+wLzXXokxV1cm7/ZsuxVjmAbcUiNeVfc3PSs
X/qFjHLKD6BXMXZtab9U9b0iOamOYG5wzyb+Bp//uIBAwLoLQJrV1+lko8Zj51yZgTGubtsfkLaE
udY5vYIS76CRNN6aGWj1Nwh/VT2hCEYX3EN7lqvsO1VAi4glwaSLWiMSlrPnEnROkK1LEIbuaJpb
VLginULDPLbIzEbtlXSNktGERitcInPPpAWWLKxP6JtuUUItEvCbDwlQ83r4W3T101jEz0YZvpb0
yW09byjZ41LfRTmbqiEcFZFw4yJW232iVW91r8lOXuqVF5quTD9q10ywPSwUVngo12O9Kni4eQW8
u0RoK/cuUc+KDl6kFavUT2vJG3JlRj3Iq8l1M1A19WSt2krOZnoWkJU6KR8bt1rlVgs5rxK5z06d
yaQlastXqVAcIyu8Im9exJL+ycyEJpxhtGfdCPWrLm7karAz001yF8hlu36EEzlwsSc6hU0wrAVX
b8ZbDyiK7hCb+CDqrzqXJE8qBbtoofwa6DyODPT3yU0QzTFY4n7eFelAErreOKlvMCm0y5q3C+UK
dyQD9ny+mhFc0tSnONp45lJ4yMMZckfo5EVWBnqFeY7u80u9JJa31XeZ1rSwNN5kOhi2nsZ2XLK9
panph+KCrC/mO2hqiL08jjFChFOecv1BIIGyX37KJ7jiZS8imcBJhY+fIEEo1eM8kK2eEEu7gatj
TcV7LZX2tBFUloQtbANHA5OGnx+T9pph65j7mYlZgmQ4oyUYLMUyeYtUzYGgtLal8LMqr5W3ITVO
Q0Pywiq0pa+qa3WsstnV0xWYgFgL+1FLmasIxR4ixV1pFOVYcgkKt60+g+GwsSuEOe145gB3x0YI
6mWh86tEUWE3QqQFioj9Y1mV77hDmtTVV9mIDUcJW4tx63LMUcx5soFJodas81Ss7X6Y8v0oy1fC
c7TjvMqOGjWTXxecrsUi2u0Y03Bqjmw4FPbbWa0PkCsmyrQ0pmqyLA5srYu56hLQRjsN78+0Nm/V
Chl7IELBjNnZ55USXmoJs4ejyU3OCG+wkh1QrWQmizxINcP5NqeTOa/LdZ6mtzAFyKfLDGPzJSbO
Hox9ZSjwu6d/+2L6Mm4v3pLoFOs4ProWve8Ujj3mjSJ3W5VWa6O9hdXKwHIO7VZvf+pC+EAKbTpd
Nucw7zkVcs1yp+0NlLV2L3VcK6TK9GqLCONsUZ0JKr1fGilOHfZeKQ41D2Lqq6l16NBU3tMy6zpX
MzOChFonnXGdLegBteIeC3QNO4sTc5orbiyZk9Jp450pvUk3eHwyCFFLVlJQwq9WIYrbcbp4y8h8
W93WVz8gIhZVwOhSQTzzxMrJBaGjfPujExIA9U2GmUf/Nkf5FuHdytqI0uiD7BuoGKjPltmf23Zf
FZJ46JkAEh1CJPoi5b/Q9UbQJikQMLR6djj0vdtJrHkW9xazafxoQ0NTMOeVtYJ6zhXhOhL4o8/z
qSylwl5nObuptfBdgtGOMgIlxfrLakUIzWj6Ao4i6RB96sKvvNaWb+RswNE/93AVW76WItEGrRjg
H6MEkv18WeKz1BYBmB/ECQl/hm7vPVHKk6BSQKBg0uzGyn5IAiIdxWpSv3yp1tktjBpsu0agZ8MI
l2Ribmwo73bzAHRWkYhSAQl40iwoRVQ/BM/CotKQM+5w9AsPA7eQA8SW8EIxjl0Mb5yMbQEwUKcT
xHSeDSia6NJi6Nm+skiMS2eCR5kb3l45+zNNAH+tpbgjYCFEKyXnuWbkC6gKtgK7Sf6dCBZaipJI
9m4luG7QrJ1sbE3Ald54NTXXSTZJyZ1gyjHNfZl6wkLxL2UQ1zklpGG7W5Mb3Er6dRJoQPfiPgeK
VYzFQ/jRQtxrK7mBRb4a9hJr92ZJvL5Wpu1D87Qx9pq6Jpy0+Wq0PWTBiB4pJXmnhd96mHhhal64
XGElbN3V2qAYCfFKkW6+KbNy1HOgPsay7kr0iHiZdlvkUoFUH1YfvOqq/cpaLNupxXZKbxTbuAtk
+seSaSknUn7Rs9jWsoiLe9otbvU06ydFXwiwk2fB7TXy00sk3rD+Q6/Wu1NUY4sxB4jEGLBls0OJ
tBUZMZQnUYvvURnvtbaS6AwAKhQz5S3MEBU0zRd+LIY2g3DnhvpV49BchuUtjcwTc4J7J7HZTQK0
cKSNK3KGOVugZdVVoCd8a+1cfdEYfEtm5bEK6mNC75X001lg5kjEpYWSdxP1suK/On19VoXyQ235
BfSoR6sbRGdhgk0DrHYZzT/liO7RbBq7bNUEd5mlnj7We98gu6wT61SwFnaVUv1RBHHLS2E/IwAj
sZdXoi4/oc3xtqgYY3rOOzkDsWVU7OTgLOwGJT0uTMP+d+60CTVwbqAGWdCMIGVWm7SjjplA2czx
eYu0kShrc+ZDTpGjS9VUhB2q9YwcGvEmRaDA7lKGjYid3cz8tubOrTFm0WEU2mMvJ067X3gkbSsM
AaGKIPMnszDsmlD6ezU2gWHMn3JKKnqiXDv6S24Ktdau9flGIQn5WgvKkBRA7P3nDE7QeemMt1XT
30V9BJoHH86O4wp8YnmJe+ySarzFVaRU7mI0cOnEXqNnHDOxTvDNvyIvj+giqMQo92LqxULy3WbL
fOk0tv1ESBiFwIcHv4kob2k6pzcw5YdW9SyNyiZ3o6O3RHPqlPpS72UZFqYe9tZ9Knyx+DuN1ndp
KjeBnCHiH5uPeWS36AloJKZSaGf+vZRshdxaGCVHoJy5GBFOIOZEeSeseiVd6ClvhW2vBFqIiFni
scoVrKvQSM285yNM2SCB3x3MjNQIC3obOWrGY5Sip7YZaKCOcP6XGoQLv9M0tIgkUNtHTbh3JUYQ
oTFuxI5Up4mJw10X96MCrmmSEq9rRf2gzQlBQM2GWss7gmwUT6gIn6iY1e3EVn/RmkklZOBGWyDx
W+Rux4K7C/STXdPUctAW2dNojM1FN4d91RPUtJLE5quSn5qrcM4q5REv8w8ic2ZDNP2PXPbao0Ys
sDCDYitxkZNVsSVIr5wmXcWhG/FByKHOTsV7ZqIHogHYPlrtpRCSaK+oWhQIbw15llJPq6A1MeXS
v2q2e+q/szAS+AKp/ESqGKfBrF8ijSPbHLKLItAALmiqurl2JscjdAQN6a5QGw9NRcXazkSAaJbl
JWHHbHRmjCjy4f3b6FEsEH86hfdeI0qyiZPvf0uXQGlKfDHHeJs12w00pu03CWTKq1yEFOskFrhx
pbJ3imy8JGtEvkzXMw4MUUrV4yfEn4s5Ih7/95xTr/wqLZ872aVtsvmEGxzcwLTMkC9rdRt/rq4U
JwSU9m81bCFb1vYaq+261WQr5EVaF7DQuBHRR2zSqnKqsmImttAIJXBErzfRkKYGcwLa3Ko5zeJN
rJQqqzdIpm4nkiYf5NT6sibGpEmoujXpKkGacQNIDdiUokSObKWkpROq9DvIy7oP6rNCY/FgVFiV
qtxl++ldUhG3SEpKNcRm+LYslsbA6LudKNmF33ScyIPFxuGU5erohsEzqBQr9xNepEy9QX6FEPSE
mlkN5RO1FzdHEWnaLP4mUi25VmwZh9E4SL3+s3axdVC6COWtrCpObPTz5d+Phm6UHBaqxEB/Tjwr
THJnMAnTJRbWTkSOiB7LfaCSGgfkjDOkBhznCEv9ovVZtpeywJjv2CtoPoC/B6GA/ZooQVxGJrt1
JL3JSXhkXpkfpBGVZhrTppBJr7vWohLtCdqN8C8RRJhGVD2cj0ErzDcoESBvrCK59mL+N1c5ZWa9
xYzG9VEP5fy9SRWf5CkfkfRHlcXzfdUWSklCNenMAKhLf0rRYEwqm0xtJMVRh/BTGwW4k7x8uy6I
BI3A6k45t0bjXMbOug7WDopMerGAfAIaREQYJc0bDna6URRTAvEIXQfSKn2H1xbxTA7pUWup7erI
cpKMopVD+1RpdBbkhgCxoakT36j0PxMDeE3OeWZr8AGaGUFtTvMPo2pu03agrdpVqVuRAw+mcayk
o8sYDHptsvwO/XhMSeJkBU63kToCTmT3UZaNT+v/J6yTs9CXxKIqYATkGCJoYTHXSKKV6jAK36Je
ED6N0TOAP1IBPapmHEDmdX8t5vKO0NHqpN9b90YLrJFWi5qOXJAZrTpqmuhIDbVPOZHXg4gRkhdF
uV/SOpeS5lSXMUOkYuz2TZ1dwNDJfimD89My4iYUBlhSOH4B0igf84ZGQuft09d6KZe62k8JjFdu
rPasZASnW8w/E0U8hB1YUxpjFyNb0kBTosXndrN1wefxhNQwdocJyrMavsiUZzXxS4QjxQ9JbUOH
g8/kGriQEMR/VVtemI4fQh3zx2SkFrmAJkA/VER1IX3l/UAHL88lf2I1OjmL1wuzaHUrDBF+ITD8
VMvspGTLr8xAxBnwIiJ7tDJfzcr3MmbYaRGcwealzl48e2OoT0e5sfb4OkJf13puR7Lsz6nA4kOZ
y5yoypnYItRNhUFEbZKkLJpNOyG5mmrQKF3K6bkWYcrq0Jv3XGyIGWPWh6C0eTJUYmcabFGVdZsA
fIKMmynCTT0oBQU9aDpeM/BYh3otTJuOq1uuWBES6qGo0UxPyo1rTWAQZYeFieTf/ypO8YMilbDY
UBr8/4eyyAKToFwSMFiruteU3eW/v8r8kN/692ebvl2V939fIREfaYjBCrEClQVWuV6FJNjyOdKP
58umRZ94Shq+iFGt7dfy/MDs2V7zSSEeuYwUn8qmsMNRtlCgrNbd4gmwFdCQJP/VViAhihdA5M1p
dLViaApP+lqh0+/QPy8Gi6WUv8ve+Jvdl0iQ9kkPPB328LXukNHG1nrje0gOYj2wrje6BdLbWhyt
qyjXNS6kyF0iObmXCdNj5PwZApi/OJ/QW4sqwJU0Y77Pv/cscaAjGH4OCWjPcusExHpfkmYE2r7+
wN/U00mYPtJCsgukr2eiOABNm2qBOiDB12kp56jFuLXkfIZKsr7M9TR4zPXxxgxJdiyK2Sd3LHKK
uqB4KbQRUCcA+aSeg7qi1pO5MhVp6ZHDe2yTMONmnT2h4m09IateZhlhxpYBsKL7Ym/GnycVw1tf
haDZ6uclExjTyv2N5Nl+N+mYrMFfHOlJlejNxtHt81E7CLLAFiNl6l5B92dr4rxVWPhsyQEmSe2X
1iKXdC1/s6rCKRJYF1oI66w4tNFAp7TZVVJ6xCKzQdCQ54FjSJ5KpbqMk0EwGp1DV4o668AUf9+I
TJcnGVgOvmkG9hGEiIKRuwgiHPbELraQgk3JZHpklHaXYeUGhVX+oohy4a+r1W5tNMvvGKvRfdCG
F1Q6KYX34oH7qPc0AImSFxEgb6Rgk3QjYfm7lGb2hqACs7F0GONo3pcd2g9EvqO9gVvsRaOXV479
6OpQbEgxY7FvAcZNXjTHoYsZfdVZ5JI0KAPK4/nP6voHn7Xh1bH5VNegc9KaKS65wjc13WRIpMSl
R3XWvLxo9cMiI5knG/JXTieQ05tLe6NirNVvqmiv2rT8GWI8jGQvnEiwODJ7c2gM0YyU4KPQWXpD
lhe7OIMeLGLtoi6EZvUtfLw+XtVn/WaCjr4PiUjZjb66EFHkK+JaOl0V6g6uHWNfFkQwGUXh5ky3
Di16VB6V0TiHlrrhXXOaZhTkQdsX5hH2UbKPO8E6jGNoEefWxYdJ49tg+Rf7yNKVYyVWHTWIJZ/w
9q3+jAXknIYwXMBKa5cqZMKexueuIYccPZTstnIq3gwpLKGXKGWwMu1B4dJusYpd9CTRh3Q0SRuf
6MAOziRowhP8YqwyXOdBdszPvcpovRX65NGoRPMJbSM+wEkvdqQaxQuSHTLPjIoLML4z22JQvpdC
CiqVJwwgaNi+TpQx5HZm7avVtqxwLalfo5C76SwO5WvfMESqIQa9SqaZ0SlgLiy2NXlpU5e+dtsX
lZc2fqUXimhOyqLXcGG+1HNJfZlLRAR5apkvbEw05LvaeEFeVdkS4LVbmFluslTgAkzkUWaLIvHf
T9N4lbFoEFIxJ+8Doem7emK2HloCo8VGuMWppu0x7k+XMFLHS98nAFnLWjkNMXPM7df7BuMgKG3g
O7mhnTupP7apEUiDbr72mfnST+giy/U7nyf06Nk2XiDOzi3M6CNdew2mUcv4OOoMR59ViXcpnb1q
SlqsPgW99ZEPAtW75KB1+8O8cvESkupoU+uqS7oTbStRIs2VewmNEVhDWV98Cct6EkWpuqV6Ovlr
fZmId/DzJjNuK69YSPVTGaUHK8WhXmhsx0yAoVkCmnkqYHJ51LZBmLXGEYdxyEHERFCtUUqopbYJ
doSeeMmWBrjgtkmsowswxrOmjkxPptA8INpRnLIdnvoIa2tbrT6Gd6Y1WnZrkyQY2ik9kENFAuHK
Jj+OzJNnJT+FlTnZ/XoIG0N3aexzs+M6xSHQf5ZihacvVTtMZu2PGaY03LKLvO3aUV4DDC6G1hnK
gvoIK00CdQLklYHIAjkomzubSDl2J1IeeHvjhqmf7q8b8BshGFA7EGV0bhXLRUVJIERF9p2VjyKr
ylxPiqbr55TLJkWTBQF9GY64QzAf0wK+4os/Mfk6dm27EmdiVl5tJvKeDWEOWH545YorGJ4GEeuW
X5DQPDeWiL8L+1E1yHPR8lgLBl2npp9LR1y4h+AnonJIGSyq6UunS80tWma4kjTF2LZXX6maBXon
2tHkdV3H9SmijXAyGrQtpSKG5y6eQBW3sT0QpHRAEmeXlaIy+8/ZSiIg6ENjOMtMT4BvciWmtV9v
xirJdOrOpihll87UvWUa1FNORIFbGqSeqKMO4z4BIZxvQNtI2Ooy+cpUEKGqorzhIfm75O0LwFGD
lbVc9Zph+axJyllY2XHjDv9Px64V5JFG07KiVzu06QmTK00BvEzYbSFKM3802I4tUcd8Cl/ZXfSY
mJdlfKtm5iOLaC12MpQt8x08FUB/FV82rr06VOSSMrAZalAhQjyK7PrDaUZetjcXKGWpWZFqPUmX
aCUeZmC9MVrPbAWD3oOyTkJtpB/b2SL/bcZmLrVj59ektTKO3dDmWX7QDKF1sdKcyQf5gCyL7J2W
sb8MzW2ZC46GVlIDztB3WaYMihVza/4ErdFeLBmDjtrlqVc2Zu6HmdK4Voi4qtejw2BCt2vq9t5h
qyZVHhJ+QZzHTihjxVnnmVksxk1uNguLcTwZRu9Nc46Xp9NxtFI48k7u2kIX/LhZAyMvItoFKAhG
zUeTqt8FnejfZtByMirVwctl46wZyHHzctTdTKSObkR8SpUQXdZCrgk/o7wQlKVwC12lrROS74cK
34ARhm58TNNXGAX5IQPnoYuyfrQI7VtSrQ/UNL1p1UKXJI90W2nUYW8kgPkpWXPpGFUDqLaR+WC9
Hf7/fu3f/8btd8N147Zo7UKzuiCrp9ANJWj1Log0QzwiYzMFm9BPTw2bYq/Mi3hMtt/49yO5ZMxf
WtrWEQewYp7N1lPvY+9rMmx1B6UCbIEN57Yz7+P7hNz9gQ1/nzjSrXw3P8c/1kliXBi/SYIn0Ph1
uVapr5QL6r1hIajudDeXc/gFl7Cf7l3jW2gJBex33DBsmA2xtZM+YKTXPkEgAZk/rv6HX7hWzzp/
FRm9RL1R7YpX+Z50l/XDIGo3IwjV1m4leYy0r1+MU+KtZ0H0hOCVnOMqpcm9W69EW1sPRoTiN2FK
l1SxlefsWzc8gAArGaL+7DSZU/7Uj4xGW3M26usYO/o9elWLoGu+x/rMhtAxYuQcYZRZHqXOXYB3
yGQKeDk5bWeU0UVEuDINO8cy/YTEvzb30lOY+0hh5KfmuxJ3Q1DkZ9N4CMIfvnXEeZ7ykvU20p4N
ffvT7BGW9Iwiv3qAQhcyCOrWhkvqN9mjeObWrZb7BVAuckX2jjsekmFfvqavwidSAlpJ2B7cyh9I
gn1Vv3P5KIsE8thr/Lc/Ky8WkBcnD4YC7XEQMUzcEZp6Qt+WQyv6HL8KAmHusWPe+OYWW/0z+9Nb
PR/G9/gxvEpeq9hIbc8CPel1tzxzqiEh8qk4JRe5yHhRjV1N2iQqjB1QucpBTSI8UmE3p7uZIODe
CfvLegUZl54IsYjRUOJImHa5Zk8k8BzW5ynA/lJ5oGKF1GW6dTRiclN2y6E8Fa/SVXuUWIL1+yAH
xN6HZxXYyW4cgC141rN4JxV6IareT4W9yLpunPfhgDdgpTec2sKpOJpnGscUko90n8/bCoioOJYg
emNgN3rl3/bcfAj3+ZCj0PeL/eqqxxeEk258xljYvCU4WomisaU/HVfer9ah93eRfqAFIER2GmwO
15Yz7hM7xBsbcKHsq9qVEn9SfZQYPYfqxdoTDcbUzNgvsCSVffpiAkunkp0PBk1mHlVneDReeaEO
R0uw2CAu49d801U7fCIbexDO4UnepYfoeX4R/PSi+cke0GZ508DKR04YOW/SXb6Fe+6mRPyWb32/
y/62x8JmGwTjsfVWvUjl3Nl1H51TvbfHkDbg2+CpjvCU7LZsg37XB3HsoSaJL/NXfmjPxq32v6BP
dCfFr11UuY1jOvNb9okh5Nm4o3Gp3tVdRS86ctUM3qEbmzaZML+AGRBPdM0OEeJFVG59IB1p+kyf
bGXKN3O+TVCPAtyn+50jyyNCEjXjfgzKZ+tby+zms3oRbEYmta8++qM5IXcIpO/uk3wKBq3ESJyb
PYRLVKCWPdvme7M3n4mpnv7oO3Js/OFaPG+OHqS4604Msud8CoQHvaKU0JA32kHiQ/XkP917+hUy
pnINX7uvxq59q8kzeaZOXH/Bc/d5UJzEZ+Vu3eN0TxsshHHpCBfeIYr1lNymXfctqE7vc90o3S1U
5RAfqqv+PnnGZ3hqj5FfBvVvBzHVTr8B3i/4voujwfSEL76rMZhCb6wC5nQwVp7ye06vywOekL/Q
t38XFTu7pqpDXAMIS6y+bECYZ1AD/Ubimbh5grS2qc8POs5lwQBzmZDWKOTH7toHnoWGs4ZFIyMH
29UW0jwHaBTJIKGy553f1a8xWWJ4jezuDxXr7OLxRZ3IMBYwmdsF0i1GfeyngEeOwylp+bBZTBDW
tqNp0z7szGt9FwksqRzIAWVyFCbf0GwE0MjrdLc7hC9qTboJ0TFPCCLn9SY8k/q9PKUv6LkFWsE7
vKid6krnJcB4pwbMTHubXfdPdDHPdeqMjuj2J+F5vlmn9SowROXGcLZOEZmmfyfTTk/QT+gAMxF9
cCJK3N3etYdxMz6iZ46ED2Ov/AinLuD5SynqaRhAeienOWhf2wNioASlqC1eLRczgx1/6L/REZl4
xPB1J39INPoJzmOpMiMNpIsV7RKfQa4FtAqdAgEdPMyOZbnmc0t+wK8YucIh/RT5SJ+kvXRthq/0
VLwRsUrXDjZIMu16m6oNmUzl8JOqv+ZsZVsOB/shqSTqHq5StC8WL/21+lfyCExHA/PUq+eZ17LZ
RpxIc3iyVNS1zvABwb0Gm0XpvMOpLe6FMyNYVNaLoyCWYQASrPe49EV5V7rEr0527BpIs+/KspO9
/tU6S6JfHzFBasau8eeT7ls8JtJVeMfrHHB1l2/J3wisnmP+iONeZ0+9ERWKdmFwjMJHJ8wlSP1T
Bv2RGWfBt9i8jOTBTLZMRO4RmS8B1Jfyw8IEbUunhuhrw2YMKHzR50eOG/5oFyCc8i0joiNc0bPs
+m8i/Pi1WCRRgW3BEe76czTe9fmwHnOn8zs7wgDkN2coAd/lm/xY3kHYmN+0fuKDeSwvBYSmj/i1
XtzuD4+cFO36o/ItPPHuetKBRGbeMGO68kYQzJR0TvLI4sCCygANlCQWxmg9bU0+JZ7pnfImJgfd
dOe9lp2ICAokf0Wk8d4HPcpdIlTjnf4TgpCanc4mh41QBeM8/vZiENL7kukF+eVrh2DQHl+Ej5V3
enQnirGreUwU5k3w+54IWSuPYWBR+++aUxyo36p1H64IEyuoAHA1/4R7snWtxBueUi0QJq97ISsO
/yKcNiSqBW/eEYPi4soJ4+cAvggxBrGPG0M+Gb8wbokf07SdcWYmr91JLVOE54X7RmJrr+2dMBTI
t2guXRgC8w3GEpIalLUGyuQdkeA8mKVf+2ZAYFK7Xllh3a2o91LpxKLNwAr5w3DMe8fEigSI7Ik/
bwi7ErfB6C5P83g0Mm/TVgLHwTNZ7PQYSDPRRgdq9kS/c1NIqxddhc7gdOaDQlIYzlzY6r/tU289
92kQcg39TIu9dGeDQv4kJy80Bcun7ppcSzyVh6lxo+fhLWv8jMGLxh6Fccgx9iYXl/qPaNgABKNX
7Tor+FQ8qmKUAXoQVZcmO9Cc4zqHCim5RF/mp3xmk8j/pvfx06B3F4yu8lmdmn18GI79h/pU5/7C
RBhN6bNSxTvc7Hig4jUg1Kh2GyOwPvuC7HM2xyMUp6W8AnHCAhjbZniN1mdi2D7rGOfGjtIPOlGk
/Y00F7tH+Yu3q1D/4i1b3vEuYsPK9R0qOYSDm+C73vWecW3lnXigTfog/2Y4ds9MO8M3AdbOef2t
TtAR31PTDgPzEXH9OpSveFBtpQciuMvPW7oCHxbWEd1ueFj5lFhs90ayWxQodv7CPY5cxCjeVbRG
zzN9vTdeJ+ZQzAMcX4cMXTf4qicmbmH9po134VY845SZ1R3XcabXKVLRb8SexOqxkDFGHAnVokcZ
HsU3dCvPELbmg6DsNGbtFzPoEEzTV1xt7a6d0dGnr4sXckf9H2nn1dy2tvb3r5LZ18EJOhYy7zkX
rGARJUpUsW4wsiWj945Pnx+0TxKb5iumzOztsS1LIIC1nvWUf/nOwpe2bbwlb4Xws6Bhnr4GxaL8
aPbVYjLG5HgCVQcg/yklVG9dh7xlkRyjnVYujBUqeSuxCW7EPocLJsiC59aNf0vm4L2yZ+Jdi/cK
FBh9XSOJ/mCO2zxcTXzbCAT7srRPeEGCplOMrXGwklm/o69On0J3XBh8+SpiR6jz/IHxr/eqELDI
qMIFxJJ0F4l1/OQqizF7/ya95v2rnB3beFG80HX2pI2LCSknCBAFgNSkZ3156vViLe6bHMEs0voa
02lyH3lmv/MyOFUj0ngKmo06k26SU/+IDE/7aluLcqv7M7rs74MxM04QWphOKmj63JWM/FYobTi8
RvfeBVLUcd7tfBI/dUUjWKiO/8gGzUCOr/RtcvTWgGwF8XOLh/s+e2vRndjFJ++QU0LZ5EoNgJ0P
GgH3+nfmMxSiJKwC9fKFvQex7M0iwOLb4C6952Mrd/KrfNRONDO4LOwoaoRvcH1aEMnhXN5lC14u
Vlyv9O4oFOKPyt0BIJmm7CfvnWicSFsQVfVBPEPY/R7+LB1EO8UmX+o/3L2ArOlS85EjzzCsvYfL
SF8v33fbpJpjTbvE9D1khkU95CBSxD5CUmzJGcV6aV5oFXBeNy+0Pupijn8dRcPCu9XvMcpdyT/k
YZV7s4qtehcRDwF+8sjrN0SG9R/lT06tDsXDEa2lRbfxsRpbuj/cXfWMql0ImHej7qWFtU2gufkL
fEwbsZFXxTckxNOeHcrD/gmEXkKKZwsPxAIrsXD7lbG2j+WxfgTM+SwGZMPRm552OmVZtBr2/htZ
dfiT6IfJnhks4u8DDT5v9tHmoCxXpE3gsznl6+fm6Gv7+N14YXXeB2/uOnEQqu6Dhb2zDgr8wndm
C4AukI7yaWAuLQ0o/Ex/lfayg9WfhnXMLFgQ/c0do5OFf8Oy6qtluKm2PhT4O+VhCjYTSIwaztoo
d/lUxAomDGv6ed5heFReXgoUQusFbR+GtpNAlj8rXlExUef9Sj+wcHhJ/lHd+R/QX8U9ssDBz/DU
/uAQkB6UVfotPQ3JOuOcOLrrfmM9EKPYFNY7U7e9th+2yLxb3yKkG+L5+MAPw4zRWzTjBll+mrd4
z/joXM7dD5DjlOtgb8MPnRKDzEgHOTnzb6BXyfdEeWx2oVvchHBgTtkhewOObu+n/qbE1Gfp3nsP
Pvtp5j7HH6zh9oUUesBWei4fg1vCkUrIgXKGiNm8eq6ejW/VM+HRv5d3EAnuilX3TO2q36R7tEN3
m+iI8eALMo0rDCNxVCB4EiyNb+TWj+1r5zCNec4fAahJiwEc6bYllV4NLxTsbjCr9tjQYA9TrWRG
fgz7nuwtq+l7eSwk2jLzCFAYRisn8TL0O3vRHtwfXf8cVispWRvyOtOpLWeg+h0LU7s5pd/E8KGI
w29Amcnfpg3UH4pul/90V4bqjGhnkgE0K7lwvDX/MFsbu+GQ3xIFwRza24EPW67Le2Pbr3kC8h5b
YAaCj3CM/VlEPyh96g24QJuAg5Lh1mFKn+ESfk9Jy/xlv5TfC7GOqiUB/FkikE/AhVnuWDf5W/UC
nUKl8FSO0mOAjpNRt2ylRl9bgKA7O3a30iS7+Pm7qDdbGKi5vahGOVxYJVsa8D6Eplcvcnl5WoSK
IlM3JdjBlfXlaBd8/j1KffMkqguWih3tKgXDnLDkHIfzhKxwCGEKb8oXKdYwuq4N7tuskK2VjZTf
eiLawjhk4hfCLgnIvUApgxDtmjsMr4t1jN3fws9bqM4Dm6GbfgmB3cwbJhtwvEcNGFy115WedKnP
/v1LL5AU03NzHaFCuO27lBGlTkIZl6g42x/2R1bZ7d6WGtHMgHPRhAWfsExyiUrl8xdzfIyxDl4z
XKCJCcA4X6J1Rfrgi2dAlpju5CTm4B6hINJ41uGeguSgRYt5smyEJym68+hYdLknAA0oUJ/LQ6er
72okIz0aUsyZ4uhyv4hDMv4rEryaC2oufMCauQ27u/CGDy13b1BmVklhvQby2AvacRVbRYZ/zIto
dNUBr4xnHo4XNGSPVtVE6xGqBZ0ZBmdujh7T86CDXp1+H4i+AC1SvUtheLLj/KHsq3ts2yJipD7P
+vitM3NaqMPzkEsapqWyQ2d9pQzWXTR4Ti6pB43C027d+1TRHyyX4shSjVlkDlQspeaosXt0Ge4s
u1o85c1orCIPNJDbj4/dqN7yOkhgMt2lT5S/Cwk1Y6udtEP7H0I1pK3t+jD6fMfVyn2FcP+mgWVF
nInjTWmRulq908mDfyglSCeQMYa1WzTrVkZHLdCnKWZl3YjY7ndtSpJptzQDi4R2kDTqa9tWf+BY
oC2FarkzNB77hae48Eefx8b4qXcAHyWXXRc18cqISRcaudlCYD+EhU81rIi/nYJ+9P/d+8guKdcg
AfS7cg3aUUjdYWUDO5OLngm6mH2spq0kSqfT0YfAcQpmK+eF6gabKqlnSYKQtB5ucyR5kagYHv/6
3wpDFy7/p77LdHVb0WRhMiHSz/RdrN7oayOzSkeOup9ury/kyqN1gGLiTJoASm5p0u2S4Up/fV0F
2aE/bltRNcsWBsMtXZ0+2I+3+yD1Jnmf/yrj1tSrvVIyaUncWQlTrDSxKunuBhMu/CiDpk/KG2h4
N6YNnpNxMpVtpm3Qwvtbj+o/fwPTPf4mXMQbUFRkY5H2tvlEZ29AiQx5AB5aOmjRtouwkJCFkD4Q
VAQVeevfejnzyUkQhuWLC63bPhpuMc5tMmFEGq8shzOzIV3wWVQFLKomdEO1zz+LEbgKKmMBs/Ii
hVAVcsBPsgLxkL/5cNFcSehX3oR2aQGqUDwsKCayqZtnbyJiYjfm2BFhLEu7z+qSR0szwEmSaTVj
DXiTx28p9WueuwjGpOsKJmrRk9oDB4BlEm+12A2BGCNlC5V2Fqnk+rrBN6E9B+0WxlVZPqGwusoH
kKlopIE6aRiBI6EPIe4NcNgyEPXx6/V16Z2iA2xBkRWT6tXZuh48PedU8ipHJByEJvIwM7Pormye
z0V6vnI0lb1jyOhvWZb6+yJGbbkealstJ5uVE9o0xzaxkPSk+V2zY3JasFaXHse8RY7B5jed2PSh
cQP/o4e+Hh9NnxUVV/ldh66c2PPu17nQP+x60izJX+OivEFsGgkds1jLlXsnN/7PrEzK1dcPS/1D
PYtVp6mmocq2UGxFn5bIL5vRNvQe+WuNcsAmNfWsDLUCE4wTo5Yh4Z2OZZA4iaVtetSe5KmtLFao
Az95WNUs/AiFEbP/8Gz1Q0TlYzVpLmgeagVj5925iSiv7JGLsUPTGdxxeFmq+fn1Xz6uVtlmZgV8
XFbWHDcLgIXM+8dJdkpJ2seIkfrE6X/tDQyB6F16AODoycxiDC6vfZZLu0cjcMs6iHqAoWdLwANY
okhiKJ3IYHpiFdGwmNRGBp+eUKEWa89gP9UtI3aPMQaOyO9fv7uL21ezDVWX0XkzWYhn7w6+yd9r
sAdQtCgVlSZzGwASHR5FE4YzVcM9Ydp58LIiBEGml9OqD6GgrzTJyfTQ5KCx9x/uJIgyAvaf16Hy
UVsRDVfvJo9ztHtiqmy7ht4/nPCr/I5OxA4aJQ3TsN1OKkv1JEP19Y0pl5+sMC1OY1UXf8QlMKgs
ILl0qmxnNLTYTQ1WIKi1VY/UTB2CJR4VexPTOA9Rfvn66pfORVbYpHgmI7innZ0Jeu/qjZ5wJgyT
To9Ea6Ibmaa2XbhWPOsxNFIaJF195Z4vRS1dRjFJR98HJbszObmoxy5piLvSGXveJYCbV1Nkr1/f
2bVrnN1ZYNQqPFEWLCA/tFjLtS6SK8H34ppkMyiazb5gyH2+JhGP7Uq1ZlMUykrrGAEMRBG7Z4EZ
WXrsP2WC9GBpFM0NfJkjpCaG8eCHYzRl3WIXlO1NK8MPFaqy6IaYKZVFx8Af/Ncg91Z1BQK41VjJ
jTQ8+jln8zAJRnnWfR643yfBMeGC0vj6wSnTVv492muybAgN3WvZBrJ/dqboRt5oKI9TvAFOn9Uc
43gpJ0sVENQ8TNhmVhU/wu5m5IDcjScVTE1wA6eMShdffxT70iexhE2yaqiKdR50CtOSxZBrhVOk
PyWPYbuv0r+2aoU57nDsy9rdaQhW+Nru6+v+mZ2AmhQA6yxTqJr4fEK/BF7bU+qxjOLCGUcfyzf2
ZMXDnmd5Cx+NoFtiG/31FacVf/bMuT9h4AWpGJp+nh3bVRCMwyBgh+kC/QiQ2aSyL3kZPv0/XEdX
ZYUXTDT/NIH85c5MajjNLq3MEfRuRlddS9gUBIV7JdcU2qX7+eU6Z8mWpMUmNjtcB0mKWrL1BZhv
qnxzJvXAApRMZ654HwfZJqvCnridf9PDjVWEJ26fXkPbtCsJjwTacMlSA4+laL68CsmEZqOf8InT
QfA1lA86EGyFjsBN49Ez0u0e+n0uY5qsAm/pDRlEL+o+jS0AVbjeg5fAA1NdyvxQ2xhF5a3GdpUl
frLvML6fKa2VzW1PBwCf1Us8fH/AM5c2HQUlnMkOeCSz/Lz50QoZeEHkexTE8MUQFHnrrAXlKaM2
r6/Bq4lvigVSAtnHHHJTVy+yDTAk5QSPcSs8/1uXmDLAVdR1jF4/ern/EzdAnBtcJtiWgRtEMirW
qjSMF3mlhuMdRXOxdumwZjYD8NaEbhNGgAdE7z8F43jygtuvV4py4WAiobQMggEOvJpxni3F8Shp
lGmZEyYIAqh+99DG6VHr1AfcFL/TjUBDeoiO0Hme7SS8q2xfR6Spg+q/zwJjO6T6A+T1F0Mploqf
P45S/KqYGh5rWl3Oslhdj4NPY6cwF4HsPZWtmfJy3WYOKXHdu/J7icu3aUVHaG1MqXT/KWsZnUoI
gmr297jrHozaPox184AH46xq3ZUeTt4oiX0oC3+pQyOsdb4hjIO51uO53sHlDI+Jqu/hkhzVun2Y
3FDK93BIN5qmvA84hboSgv06jQ6tVN+aVFnnPaPHgMfuukyxcAGh1bQsyhFwBZyF+fQ5Vb2LFpXV
PPim8v75fa25r7LqCPp2UbUoVKjA+erY3vbowRuMBZtSfqvC1nGR49cV/QVbhA08i20cpDejr955
hn7rRWhD+OWjNGY3sF3Q3PH9R7+LvpV+Pu5rH00e15Pu67S60Rvr3TZMuvmifM6gI95FrQ13K72D
GpfdU4OyplwIV1dWyIWDQrVRS6X5ZIDKtKYw+kswcRNUS9VyAB2NDFnmlcO2Rrl0btr0IZPSWAWJ
/R4AYAeSUQJnkXntUdUzBHW1zrnyWabj/CyAaqqFTa5uo+Vhn5codFnatsuTzEEOBHg6DuVSMBHV
kqUAL9eYSoshD5LQUt699Vb9Q8nkh6oEWeP7Ql9mbc40UUjepqv7K4eY8mfVoVGhyaapKgJVzPPY
juFNK/mNmToelAH6XbkAKsvgBXC5t3P7EkOyEXVCS42dykJny5e6TdPI7pVDbRJHPn9E6Ntynglh
8P95rVgPkejcoUFeVjyiCJCs4f8l0vJTNwRSx6wP+2GXxoATtWxTTmoa9cQ511sbWHEcwmg0fyDm
H0MnoC3f36H3N95krgT8CWKJqkdz1QY565b1YjSlO62NuZegVlGcQ1tLz8aV25gzKBvxlcPzUqSi
PtKQZDDobaiTgfKvC7GK6hwTzjRFobU51KrN6L18Q4Nq1sblqejSU9wMQH+0EbGY7O3rlfdnBq1P
p6liIQlt2YZxlmdGbQ67SQmhowjGTfCVMNIaTnTrVoFZ7Ds1uR+xgbmWo/35Lsnakbu2LBIjTTbP
7jivsqzx2gbX4AjIJ1jCPKreRrNB9CO8NVxw0ikcuf4tCa0jKOr3r+/5MwX8fbfpssZtq4qumKZx
nph5QZynelzEzmjUOrPFltVhqkDv5Dmt1dswNo8t5ADG2wYzaQlpi47uRNHqs14Wz2WjnZrpyyKI
bocKLn/eCzom2dsw3GvNDTJ+mPhA0bfKa2/rzzDBB6foIGk3DD7+FNJ+CVmFQd/aRITemUj3vgYb
eBTvISR8JCiPXz+kSwtDo+ln8pjIhIyzS/lAhTGOtSMnitA1sGB4eNY6MZobC5w3lDEqytq+Us79
mTBzeyima4icT8HmPO3Sc4Q1saUCCcSPt/O3bFBOSDIs5Fx5/HzkkZssddW6sh7/TF91mZJck6dk
nQufbQKjoolRu1bkSE2zHeLW0fXoNjDl/dePVLn0TA2ZdpcmUBZUz9u4pF19EPCzHS81jmZLDZ+x
0Wi4cVRm3wocPCJdXYWysRJoC+gVUbbUYFo1wyYAFIhIlYEO3Gg9S+61lXUhCPEMFJn8XaiySUX4
+9LqJbVPwxDabwkPaAz8B83oiQHuvg7qXdN+U9wQkE+IRpRybakZfxYsXJvQZxmIhHHSnF2bA6S2
UTmKHBufxZkO0Y8OCFoLspUR17NuU6PpNoOgiVwDSiQpnoXcAajixLv1IcFjHO7illcHN5+Ct0KB
CCjY1JoC97hPIhRrOAm8YMa2p2GmqCUWcoARtbxJV26V3sc6JPJ+UpD5FB2rcx0CPWwSeGLxxGg7
fWoZSIVYGh3iRZ//HEE8G+0kRJ8gkdNqRQ6u617rytiWLZIMYyZPpHhv5QutmKN9jCRH8J2+Hsi3
HnE/KWsdhLjsuaoUbwg8r/KpDLiy4KZNeh7oqJSm1owibP18wY0hGq4+FkE4gUqvbghezjeW5rBN
StBoBYIortFsM+x3ZpCm3mHnLLW8uvv6Q1zcXFgOML6wVeuPajTRC5IHL4sdOJ1AqrhtOVJOwqqv
FG0X+o2sItuk7iWom/T6fl/BsN20NC/S2Ok0hk5gE0WDZAdxuiraLSnUCc0D8OC8m1ozjn6j7ku3
3XdivPZBLp1uJomlUAXNT57+7x9kDGVoxEizOkqF7kXDL4u+xAz7LUqGF2OiclZV/L0sjMNEhE/E
9//7B85T0DnQdSHL5x05toHZRj7RDKO29+l5l+DLktK9EqzVP4tkmmBERuYMtO/V813bV1GqjBkR
w4wYMdjo/M/iPAadZR2jQUHlgZgVarUTtKY962pWOcrzWNINK7VERTyC8EDl4Iw2Ke80vgt0+zlB
M0d1MRvogQdWCgCn62H4UrTBnUFXGDtcaMsIsxRI+LURyM5mK3X1VsrzNx7lPFXV/SBfjfoXn5Oq
oXWH7IX4Y3IT85Ask+6XM/S3ktIgiRzlbw1tUyQhBciaOPjexN91hF86CbmqjowUX+MgBQDz9cKw
ph1wHg54UQx5dUXDnOTsnLMbFYEnr4gcSMawdBD6Fwg/oEBZoFoZgP2CJJXV1Z1PNkFKcLRFtZbF
N0vopwRsTfbRe1BXgqR1KtKlkAMSqWkfKwd+aW0FZHtv3Bi2ezPU6kn0NDNyFoOs5W96HT3ZWv2Q
5Nmb3cv7yRhpVoGc1MtvpTCWhSeBriVfolVNC9I+jUpxr6HWlNvBJDz8EWQM232RaMtMNfdwjO9b
DQmYHBNRv9GQt5BXTPgXroVbZGY+pwFlLsteBnHay8haqnuf5TCLjACtndfP31tmsvx8ynlBR8XP
vofytVNVv/juLTqsxD+4feepfYlZFy2FhJOtKLcpYksiws2XIedi2hBl14EP8gfHUJqSAua7yZMO
beUUlulb6JU/cKXfjLJ+kgKyzLojYBdl8YAWx92olx1pKSadpf8j/K7YSI40PqAEc7iD4eVkaJFF
k86UhQ0WPSzzvWVxidyo5q0G7nGKxZrFl2QU8JGXymHrtDAJMu++rphnWdKVY+BSgqHIOmUkBG97
KuN+j4qx1fRhgICII9XKTOnTe693t3K4VLziMSuHNzkHq+PGRzsbrtQ46oUjSCEYTkkzw1rtPN9X
FXa1Dn3bGV3lHbm2F8T+nyzFXxZ2+hDmr42iOZozfJgTscwAuOO/yJm1z1ztTbT1Q1ogqCdypn75
1KnCyAkAheqmK/o9UKrs+sEv483Xe/VSdKWnpZjk++Rjf5TdLWqrfellmdOFINowIC8a+jtJ91BG
6WbMo63cWSvNh6EFSnNI+XDgSGad3DzENegIy4c649/G1vgj7PWXRMjvI1pwoXhUkuEtquQrNdXF
16sojCWZxVDTnZ++umSHQSmqzIFOdyjMDpft6smr850sB0ePZCuN++UQYi0ujKu+QhcSa649dZ5x
urWJ1b+vLUJeV1d6wdrCPGWuspqVXt+za9ZGtjCk8AFm/dYf5fc8lt/pU69QbFunnXsw1OYBav4s
qgUwZsSnNTm9+fpNXmigsPKmckYjB6NyO4u6iVvqCM7zJsc6e0FubDWMxktoEC4935pRn+7llN6S
ZxgH07O3eu89XfkEF+oq3oyMzaFJgSXO08Dc0oM6SekuFUP7ML2fzrQdr0LEvH7R7fZBlqOnLDH3
fSQOAXwycB5ZqL2E1fheW95RSvWXFJF9SYc1aylXdueF41jRQNXYms6Z9Md0vkXfMh3pQ4OEbqir
sw/DKE5xxQIKvOIomvTaMPjSYtGw2VINRQVSch6IWBluplZj6tAdWJUeaHj0TGYory5y038I/YG/
7K9s5+kdn528zOtlQ9OYQOuqPUWoXwr3fOz6UnZpXsFYfh7BMfZww636xsvSa41v69Lb/vVaZ+vN
lsIo1PWpUWajj1UFLgRTBaUuKhwleCv6DAE2AaxR19a+XBzGPLMg4YidwLaZ5biAsn6aFH0T3Vp5
zPPKfNjImf6MUH3CJB93EuSW4hHX3SZAhkfeVFJ+ghLrI6Gv1TRrUZHYWbu8KU+fysdANBPGj2jz
5R96qjiDRl5otMiuhOOm8jG2T61lmrW3Q/DuqdbSrlKQdNZWwMGm5aL2mVNnw1ou7F1etgc7QfRF
GtblWB2krjhFCPg0ElRTCKBxe5O0w0ZrYKkVzc8wrE9txaf00kOfomCSuOODETMpUW0sjTJI2vPA
QsIm7sdZ/l1s/IjyDB9DNF9c+QUrm29RZTolkmXSoA1zhLTtHq9xTHI0FGlWBXy0T4VLm1tZ6aAk
YePpWxNMkBV6xSrpQUrLyVsONIvOYoUPVr0bvSFGCzXlHDELnHwyViDyAmtdG1VEkbxgyw6GCcqo
ZR16HcDNukObDqGobsBUNm+i+yYhSdRsHWGQWI75EZPqPrBEtBKMg99b/hplISDjdLBnmDC8uAU4
69DW1im2QELKj8jowdFh1Y8iPSJ1vtBy8jFL7jdVylFooBoXwRdu8Q6yow8bepAVVCfhip0hyo82
yI5emR6lqgZL4YJ50qG0Zz8qoTyrMbzFNMqewn6DluHMMpG7ZXDwbCGO5OaQvBEptn3HN/hZkXsj
Y2rVIByg+caqljAfHze9WRztwdoJc4BEyoec4gAi6WvwrWstQvfQ9fdd0LxklofxaTOsvw6XF/eP
YlkKwUEDtjIV1b/sVbOoinowCUhq5S5Kk4jsd3eTG7EAJaQP5rIZbdyTr+WKl5IU+h9Ur4ApwCqd
XdbwBzRUvAEWGeMfRbYPaZTQz0+vRKKLx5FBhqkxsWWMaJ9dRwcchHi9neLlaTtN18CJQgk+ga1L
NwWfYEDrgX+0S/UmwBanUK5nCpciPoeqZfKM6cKeF452nhRJ3hlMFOBwxAWI0wb8eyeZe/76AFCA
ok/MXG+8J/gvcSCPFkgi7uUSgWRB87HBkKeuy7tIxVJLmDs3UZlgGYgluxjRdChnzhIlZQtWruPF
6Xvm1feN723RFd/ZQ4uYAm5TrVHCUEjp5nsYhXgQiJOuWQyZedIaZOAiwmUzTDPCWJqrJWql/jAx
neThTUtHJx0x3PGtuWJbh8SXAfK/q1UEMKeFgI+v18zSgvsiP5YiA8OuQxqQ6/FtepsZymDwv/po
IULziVIqSkxEGwbks8Jjid4Syr1kIq+u1AFcmCZ2PnFDQ0dvoXgBjZo2vBEkqXgVhMgp0IWqEqte
qGHr0WVAxlFBQjh2gzWWH7gQAFCv4/wDIhXCpDLa3H2LLD/AiM7TsTSo9VPed8VqAPNv5bWHvIMN
Q1tBh4LZo9Wa20qGRBmX3qzp4di24dMY5ahvJBNIHM5n4HKBSVbw6z146bw0NUp0G7wbS3Xao7/s
wUCujCSN2hT1Q2ZM6mNixruhk9eRgl3N/9elzku0NkdvOEPy0fEtlBRT9IVTeuzIJM67WrpyWxez
ZJO6ClwKcDTKud/vSy7UPCv0kvuKnMrHTc9Ll36fraa8PVSGb4qHvRhMduSGr9zmpayHLg0tKVIt
6rCzFNksgRWkMeGlZ+yLAnqSQHmp64Pl2zsl5/3y568f7OUrGnTyJ2PTP7oNiFODbkHH0CnDEgJY
eUJV5k1xh+csLj9qzhBUnZZfX/IzdJznWRM+ll4naGXrHPwzVjmq/jgoOGEf+3Mdk8MWjCNkSxuj
UbmcjbX5UKHNhBdcFz8IcSoiVBzLgRyh7KZRXwbHvD5KHFQVZFd4pklNRhqMayyuk5khZahO4Dxi
JcYuAvRGo8uFFDduzNwy5yM+8p6b13NLsN86WGl4DdDb3rXo6C7YK7sgQF+K4W01V9yHMoYYV6MJ
l9iakyXqY28Xd6mUDjOXTiyA5oVf+6gJ21K0UPFPoDfbwTqe2OdFhWgSAEBMwrI51Wc6R8f/WyhQ
nTAQx/v6qV5ctaxZjVEQo2kwqL+v2q538Urz7cTpivwjHp5s1EYid9wgX3dQ9SU+3yF8x/FaI/PS
AkIPiEYmDV39j8qgaqXBz1UzcVCo/ghHXp+NH/oQ12/JhMHoy/yI7s/p65u9dPozeQLxLk+/fGbX
v0Qe2S4jAMkoH0YcIRlyNXMbnNZ09JeZsQ2FchtnxWnKT76+7qWI98t1z+vncNTjNjPkBGJzvxYx
aywU1aFTlecyaw9fX8u+0KHGhRiXbzyHgWyex7y6Exh6YMrkaGl43/dttwiArXt0Y9UyrrFxyX8a
mLkxfRrXg+zDZRdoZtA3VHjRrltZM6NyNO89zlA/Ms3+NvS0I1qVfeIicKrFgPwk5d0z4WJVOmJ5
rvEtBCO5VFVgeT22exUag36IcI4xPtYNkiZj9EBsRLsX5amVn27IaaFFwzapYGvj3Pb8SS4xRShj
+wTtzj5EGWykQqLeUJC/nlF50TDOyPWl9ITNRgUlhL6zq6y91sDjrq5w08MYEijVMjW6b+2od5jA
UfYotbEG7nXASxwl5w7xSzxNOIJrNCaiuaeiIRxp/VGP/e2UNxel9izIiPuKtYGlwtLz+2fdG7HB
qk9h1hywe8iXViTt+shYdsjPBpL/UxrLYWn49RaP2fpglD5uUZBfcei9csRc2jT2ZEDN4IHdeg7q
jOO8AneZ01fPqa4y7blFjqKW9WcjN3YMfJ9rLMquRHr10uK1wWTAhrAYFZ+vJ+pLD99CAoQZWwcV
wXtgt666UKp5gRJuMLlDKdMIrgpsx3RDLA0T99AHYeh4YfJQNow1c5Wxb4Jrhxr+TN38Bbw95lbt
OElLRDu0eNFLaBBURzZrGbdQgBUDNYiv98UFpoAOxwKch0q4oVd5NkLypCEGUxmjeeQmK/BTMNxl
Ot59qRz0hLvCfyufBZD6pAH99UjyMduzbYDZQ0aH3IOIKNn1um2IwnX6gKse+C2oTmtcC2Diot+O
pUf81Gor19QQj89RvKwlDChiebKGlvF9DVrf+fqmPvtLZ2ci2b6hTMmUoP0zrZhfIpptDiKpVS12
ejVcFjTVkVITpzrDyqJU+5Viu/kiS5AOT1Tl5KOvQA2fQu/18Aap02gdRJQBqFYKX1yJQ5eAGIC2
GR1NWYL1R2PW640xd1uCbS78fRPEb1JcHP0MYrShQ0Su8Tgp0fGujP6E+OOt39c3BqOvWetSedaV
9dStEj/9qCNeFCr1wNySjwG3AqvjRzSp2GFaA9pHl35eeabyhQgKNgKoAAA3BjvnSAw5dD2TtlEC
PrvESCmC79cMhA1X3uL8DEaEp9uPWbDp/K3dIT2QhdF4Y8toN3T+uzwU6i0DNKbbMYpBmjv5czYF
qDdlePNGtssQf8cfMl12aX2LOiq6Jzgr2jk9jtRktxhBKy1CdFXx7WSzDaiOGyK4J1ghUJlmlhNH
to7bbkotJbRtpuKQo/n0hafJF7op/hYBNUT6YhoUbTvpmrof8BTvn6tC88Ea2tJSLnKQp5J2L4zg
OQWGNNMaXZl1ObmSkMQ+sn9YHSHYDJt3z5AXrkE2k7YOQLZFYb6iWPrhud6299B+8kJj4WnZcTpP
WusRG8zXKSmsY+25KsuT0jTvKrM+5ubPbaAqTP/5wZpcn3xy/q5rN3ZeMyD3d6jWtwsv6H7euLJ2
sDkNPD2M1nQLoaSXBZYptnXEDpnyEUVAQmyL5ldeO2M86Y4O8muaDT+urIVLSwFAmiYDWqGoPZ+q
DQwT4qrWEqcPsxhZSG2GvO994lX9mnqO5xPYx1aXMPGc4hc8myhRriBLLiQtEAQFOHNjOtHPG7zY
XRdFMiVodsbr6+L8ybSQGG7tgmcDnNSxh2I5wiOdBWgtX9vFF6I/rRJmOrRxyRDPu+8pM/amS4LU
iRpMJPM0dPQMDTMLofuFVkCvyiAj7YXxYLAHVonrIx5aOW6e4fvs12KtpuHBbQp1ow2TBWBrI0KI
L5dsbNqmd29Qy1xgmHQKBMah5BZrshpywrL8+xT7b79RDKt//Qd//pHlGK96fn32x3/dYMuWVdnP
+j+mb/tf/+z3b/rXKUv478t/sv7IDm/JR3X+j377sVz9359u8Va//faHZQquZjg2H+Vw/1E1cf35
ESCrTv/y//SL/+Xj86echvzjn3+9vfMKUCOG9vyj/uvfX9q8Q+PUSXN/WfPTFf795ekW/vkXSQ89
/b9/1i/f8PFW1f/8S7Llf7DsLcKgrk1UmO7j7782/2HqsL4YXdEEoYpn1aRZWfv//EvX/mEANBIT
Dgp0xOdyrbLm80vyP2hJ2AZgTAG8f/qu/3njd3+faX+/sf+EtWvZU0H9y+HHzAPoN0eMRhWhcsJo
vx9+2F3jwGYFAo3T6Lln8liXQGAq0KGEWwxx3PAJI5xgL6RqX2FAtvNzAyHBQWUSrQW41Q2obObZ
Db6L7T4Xrz5a0BttEVZR8BggZNLk8c+B8tEZBvu9t16xp1F2Oi4zDbBZx/of1J3HcuRI1mZfZV4A
PdBiGwgtqJJMtYElM5nQgMMBd4inn4Oo6s7u/jczyzErg0WwqsggAwG43/vdc8rcfgXZjNM0dC7C
lNeci9CDGt8SaZYnShxyD0/21SacxvyWuBr9dJ7F2JzzNF8Rx6zd4BxH53IMP7kiXGI5BA66z4Od
yvCayoDRX81GFYz13lH0vRD4DftUOjuD5XEsrCA/NWVAZKnyv2RcLx9bG8hZ5VQ7UaTLA/dlSDgg
0BPhOs9d438EfhXF8E8/GEGqdov0rnkEd9kN+7cOq+8+qHoW2wnVArd1jIvrzhQRh28j0qGHnB6K
Hm38RSPm0saa3kpQzMJxb7ar6ncn8i/w5EEOLYy/JI15stRwCp2qi4MagwdtmeKQzCEEDW3uU4YZ
NtKDX9SBo6uMZAWcYarcNblbYLUC7KFp2jmzl1+kCNAwjzaMNzEvF1k6R7c6zaAxps7qD5N3jDK8
1k6e7aJSIIvN5nffqIh7gLXFSYKx1ZmQC2h6rBNU6Ek2313Zv812zn09cQ89ehPcB94v5n1V3GMQ
Rb5C7XC0ZwTkGgrYPJb+qS2f6J7bpI2ccWdRv6ytDvvIrvBnmwUrvokqD0AAshECK8akVbhj6pCK
q+v+dpzm4iTjcGkMeS0mI7om0NL9zyWp9MMSTbeKu2K8VNm7O3Z6K20TkG5pn4cUcrjX1vvGy6dj
3n4YvLxYpaBWyqk2DmahvjXByBZvgcRKMwFGf+KdbNu6jJ3ZnPoAtnjhAPIgLEb22evX7K8Xax38
alqP67hrU75Mk1+Wn49Hh9xOXKYYd0vM7tvByodYGMGz12D80ONagEg9aw8WG85yNmHQGW4MB7SX
JIGX2mKDro325AVpdFlsfzfPm7Btky/t/CjSPn32i6ND+h88Q3vGoWMcOog+ngi/eoazXGbQ4tqw
kxN42WcptXPTmEauhfXblVN1ywyF+bWhzilJSG77hm1F4KKVs0bQYoALVrsjfS2hTgLD5hb89hfl
CwpFpU/YO6AFarY/jYnOCziCb+m89jfCatna0snOPVk9IowPpg3T0ADLh0cESOw4f3PCGubRYI0x
iPPHkcYZH22AgIyYFZl5ovlOj8P91FRuc6sps+PO9kfac/7eFy6LublZoUtDsLfSBMx5qeJh7r0j
Fe39FFTvja/dQ4V2Nc7HKj1ERfl1qBgUCvQDK2gVz9/zCqtjz/hIBLdejly4rJnF4dKZGzvML16f
GBtCLozNN9+t1XI9FimBytrZ1rbNHoZpj8pefrtw28KyvqS53qloQvLmmR+hn5781vBQE4kEAU/H
Oqf+yesOt0wEnJgsm9d6lMTtC9QqaFsiFCCCRixareqzw5AjoneoF/XGrsfrCgqDGQoze6u5aBM9
GRD6VhA9qmFFxvZijl9kS1FuYVG89fypfDBe0g7uFy2zk03AzO1HsMue/1Nn2RJXlCR2Ce2avafw
g8+lsk/90C7xUJF+8YsnKgiYVyq0D+4IiHLAoVlj9B59IzwW7qPPtp1ZJKiZuk3hkaJH24EV3kcd
svOh/ioYpQOW5jHSVOTNxqR+7nbLtbeJylctbQBj/uWlfrnFRw8GIE33tct01+wzFTpx/rgTv2U3
0HHoCe7WH6Cpq0PZyOUElB+0FZrXvJ2vqCLGrcqbn+2EOoks8kPJ1ORmsAZja2qGdxJFLIWX3GrA
sa5sI9j/BKGxXom9Mj4WCun7fMo6aHmm3DrjRxmQDqKMD6gODcVn7rn7YcqfFolj3BwsxnHn+Vpg
SgHZUr+7vvFmMLSxjopbqYdAMl0plIb+0k1qB6MaaUGBVFRa9GojAEZVn36CUv/S6cbbLxNgYMf1
yp1WnbOfMg24awo+zYnZ74l0A6chY/1Y0qD9PKOfOqsC/V5vBxNzo77Y9MKCDtK79YMZDAg0bOER
f+5Z3QcNFGVGguDHM5emuquV9Jw+bMs3SxHMT6VVt5zsMO/zgrkiVhk0jijkh24Ogn6VY0zCc7Z2
VKHO6QxGL6POPmQ2kOlFHNtcnYw5rbdM3C/brtdgsjIUrAhLhrOGbehrb3lwfNFttV/bWwGvJk9G
7gnhJPaRUb2Fc1jFDO28mSYx7jDtYUtquC1I5PRWkQHf+LaB1YFxuJ1cLCZrdVs9uO3MxRdh+ujL
W67EtfZTF24b7fXU7q9+z8fEm9ricayGg586NOkBathGv6VpUF5It6VQDo86IcXlk6fa0c9jMq22
u5Wdc3DFhE9DgKQPLQY6itHnjrxQz2qz59wEltVjgi+NrrsEA3uGDgrnlKtiF8ogOtDVPxgVgM4I
asymK8Rw8uDbVcjb4ylyOREQTG8yO7xBAbeP8pORC+OYOQ6s4jwlOYBThDt8R01NaEbpad9LhSMB
4WvFtMEVLAf84wLAgito7/cC2aIxXWsPMhPSkpMqWzLKo6T64Db1Y5+zDIhKD53bIU0r41OYZ+kJ
pWSAVo1Uta+W6qr6+TB3abqluW8C7+4CLkBWfb4bVMKKKsCn4e5OQtyWLoGFH71i/5Cms7elKd3D
syeOKV3RnZUMf9kDvkVtn9Iy6873r94fuf3cnQNbxTTKm13V608T5vpzqKBodG0wcpYZ/pmKtY1w
sMA3wWl29oXzvSgJjBWNBm9AUUtyETuag3n0TDWf74elUqsyKCIhPPa71NM/jWWll7A2aM9mvb7b
FfEFNxct+tJFHROsyP5kCYynaRUHeTSxFC2bS4EW8zD0IUDVzh2YViwD7gOlB2rAALRtUuHaWcPw
PrAG36Rli3J4fZFTM6IjZggibpPcPZMSzYjDl3D3+jeA8Psk7c1zasi3pBzAhSigTGzCxBnd9rVo
53TdkolzKsKrjW9gX0DBOc+56s73R7RP/350f3o/1C5LLuyOR2WN8nw/9P96NNuOcQKjLHWSX7Jw
as9t9OIkZnHpkqQ8aa4njQot3I54wZvCT3dr5XwzsH7dW654ur/ckYHlQ1amR39JgCFSGvnr4IwD
PLs/z31SWLs08b9M89JQng2bsxa0jY/J+rGfGHLfSPYy3FulPhHMJMltdPyHWvK1+8MePVJcmnQM
7+ebaX2xtAWK2ar5VtoyYBKvDyuU9gjIOuwo69tahk7DX1HBGf3reP+C5bZPi0+1rbGnb2nnt6wz
Odwf/Tk4US7OFO/as2vWW98GLrUs0EXtQIuzo11x9tbD/amcyw9TQHf+86VSgLR0I8U6q2nEX38W
7/5nuf+tetu7eujd9vZrI1FoZJ50z9g1fGB3yO8UYdTL/dCvj/rwd0cffZON4BRL0xWbMmWP0jak
7icNlZrFDsyeQONp/OeBJst4Nqug3ZfR8lYbAtNolhnnalzPuZzPZwd7eDEUYPT1EOpA7ky//6jM
ZTTjBQP8IesDBuaYRwbB9fch/POocVWFpYvu1GQM34Ys6M73Q4CR0NqFfocURXPtU7CGRYuyqOj4
Tf1cPSSS2YHJXRSE6F6+RMEIiHj9l3r9sDsdIPCB0A+OlQXvhqqwjpptzYJ8vXr46yVCrj/t/sia
Q6Sc9+d6SCF6jen+/qbc34v7G6VLp977TfCpdwpQ/UzZdOfOj9aEon+4n6X/df72I8B4wdw5wrB/
nthBxC5LRydbdc0S30/kiasG4XKMYEfJgiC8/0G4j//73ytaYSSrWjwDmE6Y6F+/5f2Ruyri/nyN
yza8WpkBZtZboSXgAtP51Va0OrMJLmgwWM8WO2LSmfXWI+K/EU5EfmJxv/VpGoc2kohhKPbzDNS8
QeBToG3CdQj0JQqHD5N3Jex7CqIjyMqy5AIbptGGnnXOfTxytnIeytufwxRJi6BCfum9eRO5ldr5
S1RuZHtkamiK7dx70Rlj8yq6dUb3YKfJk0TsEhsZN3pXndPCyjeG7Z/c3n1ph/YTWSzumOAFXXJY
Qcni3arL/RIBgdW3oml+WoH12UwtmHIGHEFsb19q83ORAWOsQvE11c1XWGXMtQNd438tHmTGLErr
TmsI3Wu7AtlGfc3TEQikSQDc11jNe3aeTKdyae/7vQoIO5mLV8IeVkeGXVn6BPq1ELa4pBKYijPC
yq2yt86ag+26UDVdwKNmmUOjNLm/puZwUmFAs8WxY2sGF16Hr4VTmzGFiEv4blAn2M11fZxVOL6s
ctBxDvW5d91bJX9O9nO4gPatMBxn2Ce7urxm3vTOhqSOc8N4MFRaArqCmcts1DYJw45KBPBRPwlS
ag7IRUP5qUi9x6Z6msPyVzIjyxAzrS5ZpT96xWLFmM0pNlVJNXAK4ynQR68QLyE68nWrR6Y6Jh2F
TLEdnsqAdl02gcR10ZInY40tpVOs+vTNnD4T9AfUn/q3mUXGsLqfWELCipT0zAFwBkK8hQCELQfi
uFmwrgrLnFY8ROeJufryR+/p197H2cEfYck6JlBGgFhMF9GVL8+IVF66aoDSPzs7IZefpc2eWheY
G4qxf3YJvRS+z3ReFeE4q/LPanK2k7bf5iRpgUhBUK29Dykh8SqnA4xH0HfuFcBocNrtfnGny4D2
mg/87z5HWxrRB9yKHirX5F27otr1OEhalbmx1eVEBz3QfcLsX2phgEM+QlSABjzk74tdvgCDcmLi
pLcKciDxgOYaJBONXcbZ6/lSImopNYQB7U4/G2U9ZLV8W2TwqbQiyKwqIdxE5KRdvJPplO1GdOFT
RYOrMauHcY0asCY9SJ+wXVsDoiZetGLvUqAGB1SRuwTa334iEbWdaWFRKVGbuuXeFuTL1uBtSMcn
OhwsHDF8HC29UK/RaEdy0r2Oi+KB0fwgduroKZ/6r8ucnAMPOEnS91/RpyabsS9PgHD6uA5DRbwi
JWw0lRr2dZcfmsX4Jpsy2uL85lZwUmx6grYP9knos7nt9A/TVlz8DLVjLACm2cLlgIg/MaZqeFJ9
CCQazGtJGCpb9U1GlV/8xnrtQ/xxYTdWyEvrbWFDyXWklvz4gNQVZTlZ6xF9XD9vwyE9zh7w2N4d
pliOJvFKbcWqaH5XnZfH2hdfEbPhEmUKvbXgNc0RKC4a+oIl1mbBWLSpqqiKlYgCBtG77ejCyynz
l7lEGaxqvIupJvQ4USOiwM/oHJiJAGlpMXZwa+30mpkNQfLRLJ5Ihs5xJB3Qb8ELYsUqbrWttwFd
KbcC1UC76Dcri3TnKN0Rx38K7HRt2X+ee3SJg79cLTe/thHxXhijvwnRdrhgKEhI58fkSfOwSPNb
kxeQnxf3oojix1D4SJNlqJqdX24lAyjpwNxD5O9lKeLJRcbnhDcPvOnEkOeGPI4N5qLbRAXfm0CS
QXy0ecvz+alvqMZCd8GbPbjWmQXsZ+4akNITCoFzc+3Tka1aMF5bZb5ExfLO4ERzox9Sx8yq+A9D
5T2akZdzcUZKkWOslQO9qFIjEoBxRpXB2SRJSCSYMQS2IfgZkOtti4CAXe0hrvDE156K9ZXLGmgw
3k0vlb8pe5AGn8TWcUuBNDz51HENOjdR9zur0Is5IEoBIH5kVFEAyv4OC1yfRnMNzYp5U7d6zjNd
bku9zpLX5nWQ6pFpzF/cYpAjFXpfsw708+Gr0uEHt3QN6WPVh3vu2arNU1H8Kj1/hmmlxqs/cm8s
WJMp14ntPkTXPeyLnrBgxS2ND1Lv74xynYhiThevK2EZbaRnSOdtGD1ZWuUMQnCVYVVLTNscbS6D
dNG7xXgPlISKPocAoAi+2TJ/kaVXP/jNqDd+TcZSKWiA/CSco08VG+t4CIXYGu7obLW7kwqMwhRb
rvtdTgyKe1qNh7b2jubyIUM+8jXGz6gFqusQtYhDXhp9OdiZ1M/jsVdn1PTfWrNrYsQAUQfTQo/N
o7P083PiJYAJa9zrzpSauyVn0N51Hl21gADvAn5he42bW9Ve2/5LX4iABltZHDvvSEtsBHcUvmeR
dzPYhW19t8Y55L425YLGHbc4xVIuaKnST4l2YiVxBuTIlGxwwHOq3RtB0F/5gvGuGOer65DnMmbo
4dm5rCtJ/qO65FwlYsMncGpVZEWXNv0Cqb4eevdCwTtOCQ27nvWScupXILaqYO8F48/SKV9bdeub
0MOC1ZNuVRmMcmWzZ4pI59ULFTi6s004HPLEyJ9mfZisxTxTJgMKYUawrBmk3ubSf85z+ymrZ8VM
8peS+vamX/cW9wPpTeiNTXK0GvFK8P513AI9hH812FS8KA4JlbY7asH5oZDY0dCPiir9je1UXJLR
NQ9BYpP0VBg8u3ECzVDduM3FZaaihxxgC2l4pqf0ez5cErsD0M+SaBMIuPGJ47xJyAqBAEgNou4H
irJ2Qy8CUFulvy3W9M66icmv6jtAUxxWFWxd9BqOZt0i82en4vX0wfhrytwTlcqrUUM5qQME3on7
w8OlC6pF+GyUmY5je4Ui9kO5wUvbNZpYAHoJp3gXtvu+UPHYigHD4OSy1VScdWFo3Oxck75omfqb
MLDFvCdchsumRq7M6t0A82ExNr1ZJyTH2Qo3lExf6LAWsezqnccM4gDRLvHbEUdj0e2XZS0ljfVn
adntTgU98PLBwRNSw9n31GWeGow4vvvIyFmHqRHXQ1sjNerzVjwOVbk3S7zQ7AaGTaArViiyxElA
eKk0a/DfQdbvc+9HozVOP/NnJ1CTRbyPtcjsvfJRAQgz+jGKZlcgmsZkSdUJUJs5wqteC+bKmhH6
PYwLRYtIElSpArSaxqzizHL68zAzQ7ARqRjO9+dmlw6Umth1fa56f6D+sdYR6rxQ5/vzP4dcZFwu
AFDHRhMgorLEIbNILbcU/rfz+h0Mkx+Q3/dsIedblheoZflBzdQ80xOZ9ix4+Anrl/4c9DguMQMo
RQy5CKrv5NEt1q5UTAveiqX+FlLKwM0eqXMIjIIfrKDjDE1rxQ3J6LjIUQcFbZlSEUjT8QwPZjwD
fB/ZY+bXxUqbw/3rpv+tsF3QCrU/nhkmHanksBBcZg+aXdrK89T1ioYbnZH708BH32y0BJ8pljGg
uxY5GKCpxVGwnEm7vDjR7uqhFS/jFggWm/D1QOXm3w/VYObbxV6sDSFT9u/rTh6i0Is1VKzU8urV
G22596ZkPN8PnWhwvuiSX8s3jsm6cWasZaS0xeH+6M/XWnN8wg9K2yxAKoROXJ/TZNbnyLciQCbr
8z9fbCTeKq+yjmYx8tYuw06WvjgaHpujZRIZd3dSNlvpFYpAwzCcq7VS1DUhef2uKCi1FZ69U3S3
EICKo28E/Vl0S3++P3LXp/dH63/R2eFwBHvkbvvBlZshewqdoDh7g8Lb6agiPJu2xa/oSzdmwWaf
a9+2z2J9pIsuPaHOjDXjJeekHGEee+RT9oEsH+9fK+CQne+PGO1CDQJugNaP+oDeC1zdgz8eGpl1
Bglsncru/f7k/mV3aIZTyTs2mI15vh/kvx7911MWvP2uFEwG3F+f0U4OpywJN35hU7XOX4f7l+dh
SE5T+6wwwBOP8bPyIKriwXIznlbri72/4pJFQkycxIqZkuLlzYt19tfD/en94Hd4JjqsUYI7cV3x
NgXNXz//317E+kfyQfPVaLV4Hfd/M3Mi5AlLZohb3i4JX91OPkZ6FrHKRMqea9N25pc6ZbOyBB0O
lgyHXcFkmDeD4jZX0BdzII4ULibHyGJNT0nb0FSz+2S4WraHYDcsfpRT9c4aKK4cIoWzXeNpa/MP
z2ve2oGzpJwbxqqtDr+fCQ5gxvK1lPy5UOteWOazlzBoHuq8r3cWhYq9Q9h/YEczTI13KDXfThKO
+21uJ/abhyUBymHL9ELRV/KVk8ytt9bSH2TGqILrsN+kBXD1GTc1nVLOXB2c0wHpQaDNT4ZBFKfz
Zf5XZPDvWMZ/ZA7+lQb579AIWRD++e+kx3/kR/7vciX/H4VGiFSYBAn/9z/TGf8jNPKFGMj/+pzL
NG/y/0iP/P1//p0eCYJ/BLa3TsaCNl+ZxsRE/k6QhPY/mP1wLXoKLlFlwDB/EiTmP8DIMtNNPttn
qnXlpf2dIHGCf1hR6Jsmk2WmS5Qz+n9JkDAT+j+mlQikWGuwNbBIyjj/Pb6bzu5YARnLTviri31o
tx+1ZrjOHvPHPhjkZXQIU1SiRb2q1I8BCetpNq7laKkHvZ8z14e/qJFHpciKFsrVTYmcya2NTU8x
UPjBj7xIHtVkNrvWn9DwpSlD/Z1IDhWjqIzpJLfcv5Bq8Nlin20iUrFMI+Irtiypiixfxh8+zNPd
sop41XIMleDuk7KWNTWLqbbs9uSg6fujgO26k6SafnKZGScNZwwbupg/ghR+pBuOAB2QDFkJQP60
Wq7jgmYqYHudZt1jrRdjY7Fpq1gOZSWkh8q2TlFGf7dJmpvBpxzBMBU+y/6kGATdOiUMTNPVtwov
7NNEA3lXA/Tf0WMDdDwU6FDnkiXBIKLdBNMzZh66PrioddGmGOYOpj+lOHv6VCoal17Op3nKMGt1
XAPUDznT/2aoeX4sIm6nmGjTLdzfmZv4DlnBTY4Tgpk8oEmCpZrrDBbOlHrONu1Ypncq3zM/WOyz
jC6+Dao2W+bp1dHhSx3iuWyr9jR5dGdtr79Rut9Yx1rYr2LQ49XMMMMh85mH/rMPk9FzIUyM/r4j
pu5Lbrqy27b5lwUHWR7Nu84k9yeiR7YIN62iNzOAhdEkGy1wIJaO3A+0hqiUhETdojeHxDA3x4B5
1f77WLAj9hpKp0O91lEt92HIJUkMf+j3BDdR1k5WnFvNuOH2diwHDGDpQOTA4a7Pjf0SmvpGzORr
3vblFUA5FmFQ6PvMwcfTmXqT05ikhS0G2muudSj0wj6XVgT1FH84oMfet5qiYt3betdygm8GD+GM
2WGyJ6rbfUWxKIfmMgSB5IRLsYSG5rAV1jLGnV3H7WwzgFZjewinn0Odvpp2LfYW6zhWV+XNJv9P
WtZ5EZZ9LRPv2a6YOodJGnfjdzetaJdaxddOZPJR0hmc2IixBaHFXiqmD9gI7lQt+53RR/tcWqzJ
mFC5UtXjPpln+xH2ZQnonr8kARyNstUdowO67RnRrZ/tUodklUqTXa0UM6tVfeJeWOxUhtjUC/iY
TeyxWMLgckiuiTSete11WwaYHjNnvNEXOFg96UZmqDG90IGu6iBEd5p9Ih1jxjNMm3jo8WOK4GEg
OX4Lcr3XwzC+Za+Ug15y+RLWtoGbBlysKZZfBfP5m6a1f8FOfUgSZvAb0uAWcxIHhQMlpq+jNvMi
x10bDhnq4aek8ocjISgalUvPjiQJjhkD0Hn5FTRthxODiqbY6sDOd46FwkuyUSERifrtC8Gsj9nQ
wSHTHqiG6aQsae8DbtStF877Bf3JNpv0ExOD1Va1XhPr0B42UhE5HtXRqqK1uZs+E/bbR2by3OvH
hIF6pGEZ36F6CIgNcQHwqVNQuqYhgDtdLx4Kj9apqW4wEpHl5tHsf0SgEGKr/zFNqt4GaFLm1Pxh
LusblCIsAzWxDxJ1CHTGpazo06Ox1uaozPxUtsn4Yu0SjCFK0aFruFYj2zvTSV6mLkresro6d9Wn
Ouva3ZA3P2aqqVvSsem5b3x+mTb7EMLcWdHoPOYjrqTKCR7xUbOfyMbPQeTQPXY/Jz7VKuQfIMWR
qZUZ3meI1UxAEqIntx6HEYvAKMUcU2XkCkcxXOvQ+/CL37nhf2ZRzcz5HLEhLe2PUeE4rk1WSj6p
J8MzXwM82Myr/kwJfzw4Xgumt8KbqesWMpJvbaPgPWx8xufnlf/rcMFa6bFFSDtHcGUCS3KYsFvQ
hHLTZ/8AslfeBmMm95cL3l10AIfEm7f+QDNGGxin3M68kgvZNKVzmShBXoj7xzJz32phIofIaHj2
xWleqvycoBUJwdzuHGOgtWsZbAEtIDuInyDcqRv4zLfOPPYhTjs9HiYh8AwWTbrV3CUTpj+e61Vh
6QoaCaIez72HtcPydiSYt71B2Vzb0y4d16BDOSENLHGXkybdhnNDCR4iaxWlxWEB1uNHtAnq31E1
4PUD0xkwIwByeTpZx2lh3igsGZ41H9wKdoE9cXkZBLhc16azMqBOz00KvGYqD8Q46jiJcJPlVXrp
vMR8qlREcd3h3Mk/cy+Aq1ya5QGPkPWgM+ekJbe1se6eCL2FT63lomZjhMgNmq+TTRrdzwz2i0Qs
FeWIbSWH9pr74oYWxPGNR3dg+iNjBipwFXdIbV4Aln/Ke4M8vsY3ZCiTQzXWJzZQ+Il61uUB3Xn1
iTX5m+dGr8iaqLWXX7K2Camzjl8YWK/P1oReS8AEbINugiyHrjk1lu3oRKcuF8tR9yeuq8z0Guy9
l+4xHDP9XIYXgSnW6VaJ/EgasV2QWTGT0e3lEu1nHT0vjkHFTQEqYi/yS83UNvOpC/d81L4LOb4o
UhGnPuX8jzqGRQQnJmuO8Zgn1JOW2Tln9sYmgLPj/H30Rm/btvARVEPRsR0FNjDxwfCz2kOg+OjU
7Md+R1DKIqcj2d1T4hgtmrLhuWffwH4u+1ZPzqtUaFa161JDMzZgXJnZjiK1yxKafqoNY5M6aTIP
117WdexwO8qlwSCBWZJX8vUt0F9zgjLJQpit7pAT1Ox+aI0+mjJkstxOv3dBQHnFgtZmagr57YKR
rKWGNdf294wx6nFZ9YHMXkT99IWBMLGzu/rVKoMvnpr2fOPYPzM0lhwdsQKFhsY++tGAhzTlDaXk
r/dT/sMzlvGrNNOfbWY1aDnKAzKDi9+NPR8g/mKmQZEeKuabRspMWtm/Apaz91E6goYM6E6nnv25
rlh3+X71oxiwDVcDrdaOwTeva/3YMPRLPQ+fK1gKiKkyZPVUiYKlO81pNFzTqcLzGui3LmIHS5Ee
GepolDcoL3yXYBG3diKISPvIFu9m0jkPDrV5j4oHAYipOC8zsU2oALnFEFkpvB9C53JnyeU5J3Oc
e/AYl/TrLCKuiN13XxqvZTG4WydLko1L8gIpj9Ef5yC79W7Zb7Jqea5yT8G0LbznJLR+M41Mqg2d
GcuH8CRZPtFNCYqTIE9VhXjgiIiW64kq7WIf8D6fWK1U19CiTt9wrcvHRO7rvkt3Qz8KOhD0z/JS
z/tunji/5C0lKrVfgndIwYSdmJA4jFTOS0ydBuRGbQuym7b53qf2d5eJP5gm+WPFXfRi1eDf6wVp
qPHYmFyiGxQThP6al6TrHq2gbzeeKl6K5YEy9nPilvVu8HOWlBVt4CaCK2kt6L0Fe8iA5F7bu89z
I+2tScxs7kxnL3vzpZ108zCw9gkyluhRyH1sRB3o2evFvXC7w7LuGtSLZ44W09vyOXC8K1Ndt6Rc
MI/rSR0rg87QSGVm4xrYyiJEa1smO40jVyS1W/pFfgPF+IUlL2u7XqvY0WvBTPRPqpkxu1tGFLtt
dhKuA1NlGMJNowt1sypNDdgxQj7d/L2DANot/08aAcInLv02BTTE+YXo9IQTas+150g+JwdvT+Zz
ctLTsEzjNilsakzGb64xBWtyVX/39Cmg7AHr77MkJGgUAYtU137QKX0Il995g7uO0LSQp1k7TIpE
AaR9TyYbmm6bgOTRRhhLuO/pWzB2F6AIT8yFhbXqvndi8jYNdE+AX2g+HSPNdn7dubFOxs9uHhyW
oLnNAeMwLaKjryS5f2rY9AlI+sc1+q4cBs8Kd53Dr70ntFPuFRcGlWlAjnUaEn/3rVO6/ivOvzZx
+5M/5u+9oy9myDla8gHYZpX9nlVUrj1+FK6ofTZ2X2Zv/rC7kk4FuU9WrDiDJ/va31zDO6CSupG4
4zX1PZHngohOb4RAWbL3tITuxkrkO0yYE1gU7ntPssjPvRI/2EWBkp0/j4bcmwaNWNu+1FX3fYBs
eEgbqwPPF73UwCAYDQBCSnTPRKa+pJWOlxdfRC/ehPI3JCofyZ30JI5UrKQy/ZEYiplWUlZgklK2
N4E73uyyorBjqW2EPpbsxxrioYCa5RviHQco91sfYI6fZO+R9TaRjl3YvelJfKO7FVt+9OYGE136
XTQhmJ2jn6w+vwWaawjR49gQaFJvkVtuJQ2zglsLJTL2Bs3TMnD5C5KnJbUvTYYaz9A7YYzga/on
N0op+lfBi1cs2ypberZKaxypgEfJhCjYN/bU+rx+q6Kqn4U7kOV0aLDhAKoT+ke2MT16fnalivtU
LPbXhgxJMWJL0BSqE67QRrKrvBYVQ/rQekjnrAnJG9cFmswDpyNZoim1n2lDfXY6TGmuVXHT9t5L
zURDe1uM0MQIXr6Ch7wVQj7OsPXshB6//00Jqqdle01xZwa9sRXS3S1C5NevMm+KPejs16wxj6rg
qmydmI8g001meZLu964Vr2b/f9g7j+a2tbVL/5Wunu9bwEYe9IQgGEVSooJlTVAKNnLO+PX9gD7f
tc+p7u9Wz3vCki2KAWGH913rWfIUVP65SzwpBItChGxj8mY4OAT7yvjoMueO9a+kZ0PjTNW7z5H4
loklTkJIWEmgalKNTAUsBOiYVyztTBz9KBy9rAk/HWN8SJfGnk/8LOaae4KNAAX1T/ScXOxm2e3U
5FHuGk62yWo8FmzeafMJWT3GRZDAJ6T4NpIqLe3BLUV2GAv8CsAOQg1AL15km84meXH+t4EZaTnm
YrCfUH9vnSDExH2Cif9uKdsoJy7J701zVRjWep6ce9zgLwEJsGWDttuPkZ7mLmWQZ5YVL1QvUpZR
7J5h/N4nZr8JFuW23uvG4xXEV43DQgUN22K/7LLkPhlFtNcG1lNUXE4iUcBaGoAvi7nZtz2DBgaB
fpjZR8FoILFKrFPF3AfY1GKzKdko4+vV7H7L3I+sSGtPhAZcxo4KABMXAK4yO5mDeIwKuREhLTDh
6/c5NhG091z4RdqOXjL5x5w+15xYjLtO5tVF9aMw+QCU7114TCisrfTSVBZZFX2/o9C/Cs1hJqa0
abkkHHQxYj6nsb9KhL+THQBkwI7vNcu6CNKWn5IkoKj2nRaUWypXLOMQFSNS7TbW2bRPNeQh1qqS
zXx4Yu34YfVkxQ/7pmYZFw/MFvQ+qPlW5hmqB/QytmgotSJM5sVHGfX2PkPMC5QZC4QK4S50mvsy
qFDKieKbacbH0SqxZDbKRy2G6UmJLpUNOtHxAcf4rfGkB/aJqe++12Lcooq1tSbxZPbigqbjRTaU
YIqGapVSOhugfhfLSJkXi/lNTSo0Olqob1qig/2i23FdgpdVUBdkAGyGPDlFig3VLlCPiS8JeS5D
dNhReEDDtel9eldFNVBu4roz1KbbApx402D19U35qfekm461ucbXaewhfHqx1EDEg34qfHR9xKKk
s4URVhZnUi3bpzxK9r4Te2FYt8eUiufaUMJDMG+VIbRXcHAJ4GxopplJsE618pirvrOllM2+XR2+
srgpXUJMs1U4E6dVMmxA9bO9LBnutKFH5G3JozTYchQjmDpEeE7mE/XXvqm2jFctC5uBvvSgi2lv
qGXhBkZ7nEIKbG3nvwbIN6saWTcSy03uNM16rjV1p9bDuSAglv0oxcloJp+pMn9mMELdzqKXiBvu
1Vz81cXwmKaCnnZdd6uoiBnFHXYlQ2ppR6eezY0sxUNHSuaaZydeKNn4ZYa1HTW43mTWsLubjR1z
qoVcTlIQ6Bt2CSzOnJjJdrDadJ8YBoxcE/1kWtPHtDxdJ56hbShvZOrUX8fuq9AGLAMNEa+k0lCt
0k5Vp9t7NVCGtaOjl5Md64JsvGtLCpWwEM5DXN9bY7FVKcWuBgSpXiU2iVp9okPvuYPjr3k0LTdh
Q+eyEv20fONHhkp0M6SYZlDTxce+VB5rp9kpAjSV3gX3rRI8aJE4+zZB4b6D0Y72BUu8Af9dN3Zo
2BRE1wGSnFT/jBonhvXUw8oNTrPq0/Osl1tUy9YIimhyojqEQSX2uXzy59ybe4sXTol2ntIz0A2L
fMn2IS0IHRAFxYFJvOUC/WBm0bPqLY3dmAlHSBEnn5QV8jk2kWJWLvTlFeymZGtkWM2sbe23L0UT
UI8NTK90Yjj6C0pNao2bZ1RG8wDbGunhQ+18CUU+mzMVKTMmECUz+nlLQZXk92zn4xhYiWjJ3K7H
nP5KtC2DGFGBmlUe+cBeO3Y2Cg7HneW+8u9S5FZtXX1C8Zeez6W8bJkenHSSB2t5CJpS0stMjY2p
NvcaDs1dFKuI1ZeeYGFahyFs/vqpDmqiageYCo4vxIEbhR0he521YVP7vD1kYWoeMGSbBznROF3d
/rN1IpTRGrd6w5h56IKow3Evm/1NiB6giaMgQ0xoldHAXFrXlGYk9Gq09jfBvRYEIUFii65iyvHI
rbQAmzJVGDYbsbrTp2jaUk6uDuXc74D9TlttUVXf1L23n4aWRY097VNax0VqhvsO9hHCvthrkhqp
BY4g+nG8e6gizy11f23mhZOuqcnbvywAtw9z+wSUxAtO+003xAe8/cQqFJMH1obG4CT2WUXms2P5
GOJn25UhdR/K0PKQLz3V20OYs22ls/JNW3TpIyKqQ5gVZMLffrRIAUWo3kTI0yM/O0Qt80+OJpy8
40XyrhvHns78ljuvPLRRSBe8hBSoRh1yxZyvcXvouGu8QSrvv/9LGvaBVW6J0LOjpPb7F+WETOD3
P+MpU9dTy9D++xdDQQNDq1jM4fDcUwFstmwlUbr8+wGZGoLn27+jqCXkSMK3drgL7MYhoFd2Ymt1
4pA3QbtuA4hxdlY9WqmfnYqA9XAvmE0HCthV5h8zC3MqFqJVqvSzp3aqigkLtxxiADftMhvV4B4W
DsuHrnELIrpWsUPOIvFk+C2D6CHLmfgHGp7X1K/PUckaKWYuXY1ylsynQ3Rn4b5dZTNFXlMmcCF7
88csBXjHvN+zJzDuuikCeGhnXklVSoyPMqhaUrWQFySEJwW6/TRwG65VQVVxirLnKW6GrU4f1uKi
PMa69hlJJpbRoAKRTPGT6qflnSgTCvRW6DFGH2BSLZMAsQiGhH1V+N29njrNUZnhDxZTvSkRfM92
5TPfaPGupTTkllZwmPHxugxzhTujWaIMg6Q3S5RdrkyECfg9QRbZszI20oOzWaBxAA7wwD5RcxHZ
WfsUJ5s5kBPMIKnRD9qKuOOhYBEngw/2vul9KdRoY/qpQ9PG7XKdXm5eflWyuDTKOcB0VGE3q7Vp
SwTRg5kZLzcsXFJrPzJhPtZsqtOqPKbplIIUAG4BuBb5WnwCQPKcVOhXDWOVJfbe1MFusybDCtOP
T81kHeLkqZc59RZtuPidfnXqcj848VmJpnVZFS8U49nv59PIVjJ/nnRGXLSzaLf6N4Ld7pe3LW2V
VkmGytQslTWSF1y0qNWo4NOIm2BxKl7mE4ImlOzR0K1vuqCD01OUTUPlNe8YWRHvfZFw/dryDY2Y
wkiLl0HrZPM9nKhhF/KxbtFBRsTRBaqFxr/5tnw7V6fccEpME1jZ3L5bfXDvCBbnhbGkb5UHiPoY
q89xYLNz0xGhG0+lz/pn5vYA3J/jc1eeq3bc9nJmlxh1X83Qsrxin0sFnLlS7ksFjkXTPsl4xGgL
1YHxzN5LxLiRrD3GRmb5KqtXQ5T9SHQAg1bVF2uAZnFU1G4Y4EpjV0HSeT0jBpyeSul8mrgNjw3h
xie1G3I3gWVyEZM5rJyhYt3XGuzuw5qKw9boKNPbwjJcLbH7XRVG5n1OFbMwsB0o9DJSQsO8rG47
Fz5ju8qXEEoOHY0i7Z3IV6/XxNs5K9ilSp8mhNUZr8Ic1ogEHuHyb+lS4lSnBRf3kP98Sc3bVyn4
+tWpNjWSADkfdRHlmzqsnZUomhP+jm/9koYW5do6L7TvfVGjUMR7nFc1RoF++kzqqVyBXg+QLmzb
gfRZ3a+fTD2hgABLNFO1S5CX5WYYqnpDvSZZRbFxp1Ks2xFAiOavjT+m3KYX0jxEZvPTSiiEzuR0
TlnRUxcUgwukLHUTGhEKZ3GNUhITo/Y2lzanx7HdSnfuZqe6+sgZhwyLY+NTcy3QqJctrkGdH5Zf
gaarVknSALJUVoWtv5gRN6kf9dyOxUttqRfYmcPGSPrBq3WxTasXNlmOS7/fdoNUN119qOM9MYVu
k7ClzDLjiY76IqOj+OsMkPln0n0tq/I0CMWrqOlZOkfRuvqudHO1NjKfWTXilNj1ER/xN0VgbI+y
dE0ZIQ7nb01f7aU+XFo12EStyTtLGyv6YuEcDHXXm+FTHBoV1vN6WabSvLOFjmcQ3G+LUYjjuqzd
2W05cjvB3qUB2rF9x//Yv4pQC9CNM5kfE0u9q2vzrWIJ1hhLPKKTYBK0r5VjftgWnRsum1zrfshi
figrVNSFN+mUAUefa3H5RWzgCckr/3W54Otw9jooYUIP9pouDmNTUJzo9Afyj9diit/Rau5ISt7w
0eZ1Z1KLcwblfvKpxLBYkGsyup/DoqwxKYtrlqR3Zf8hAr9egabfz4ayn6qYaGdA1itdpXlo2J6G
bm3GWebJ0kaXbCGR18QuMaczdaoH0zLvtbR9II4ATZi5LlLtcnvfqU1JB0+SkN1euiFm8xo2SrGS
qBLIsCCeUom4Ok3LX7FAYkWUTJtOT5+tkCDHLA0a1ATTjwWAVdgwIEZqKqvRoMhmyMqLu2tjcS8B
Ty5cu85PTu5fTTVZIx2qt5n+7lDHXZmG8UkeN6RjurZ19RxX8bapQ7A/4oyZ6BCFjIqjc29TTdKw
cXDrhoxguvbepNNBTPA3bPunnX4oBb4PemdPOdqHBrWaklsqsmi67rWyY3BdjA1UWEdlNw/1G2Vc
Not2zDay3eYMtCKv3uMguyKmuNSO4aZItndt76frHhmqxxoE4X1wUBz9yYCtVhYcs4wvwNpyHxHE
jEDTepsC1AwTlfcSKUVJG2YlKJ+yJsdg3h9iw/RoB77jhsm8Li2f43489NFVMdpPJWCNIxO3HRpQ
Of0dEy18gf6iMBmgId3UyBbLgjKxOlOXtEs1A9RLt70WbOMnemJlLLe1guV1KuTJjiJvUvTXalaW
7pV/LPx2naNO6KwJ/C1SrJVi4I4uv8dd/404OgX7VHSBF1Wu2jh6AFv7ZdtUkDCTvNpp5TVt81FN
+ltW5S95yrKgi54rs/+uWyBw+3x8YK2Rb9g/WkwA0UgwUvIetqR00J1AwUujIa8/DM6nb4+SmwHB
FvxZOyVLxp4eUXG1D3FBSMi4lkpVufT6tEvqq6nLTJOv2bctendxKLR1ZHFGy25E6DdEXAlGjbsq
Kl8p6K8RJgG8rVr6kmry3lYoAnwmCtpi2sZsq5MCKpzJU9GRE6CZ7wf6tzL43ghzA5/rmLesfHSb
mRIJyZHK670hyMqwwj2BCu9Dn+gc6id7Ut8pmqWuOvRb9PVUm7P8c7m//YIogqZFgz1mJWy1FmOe
bj7pirXvw57RZ2GCDNp0Z1h02uwakKEprYmhtAOM3BqXpkvYgErxWVS8iiFecLuulAYPFD62emXU
+jekATs9NxdvpDrtQ0rGt+W+1X7JBaPUBgIbgFCXqfmSLxlZfcWQic1VTdpPofMpGqF+NLjnZzGs
Afhx+eSeGaMclzUKcytAMsnf7cShUqPnRObdJigSwKb2vZLE0bGjU6LBggGEQEemoEFa+E9OZL4q
IX2BwB9PhBC9tEp/NBsbxXfVHH1CTXiX8sdUweeQcn7I43lrRWQDNVlyLNgOUVWgFdLa1crSYlRN
1rsGmwcvs7G2xhjIWhN7ZjLu8kz1dDr8EFUDEzUz0lS6B8MW2wbJeNGwrxoI6LFKf9KKvlVyvkCZ
KsihxezoyOSBJRAahcl6RXizqyEjuCy3INwraBMLjR53h4NMySsv7c4TxVXgBiNDhvlGBCdsnIJx
hZOrb3IRXqsqICjWLzAtxRuzAKUdNq9yjlVvwMO2FgiTGofIMtsKsOflK45+d3ACdLV0bwAOzV80
g45lw66iaIyz6vfWVrPHZy4FoATVvTSGYY/s50FY8fOgpDl1a6baKGcigyTgxeNQrJGHVWsWa1iQ
cr45Q9Q+RzvkT9R9miblVuFeIbM2YZFnCQRTptNthjivdmWwx0GM24gNoVJptOcH2qVqqw/UCcx7
Z0IYUhjRKaVutaXnrGx7NbkapfZRBkm8sLqc5FyzyX7o1Pk4hoG2p2XW4sBdBW3GyoYJK1uyfYzA
nvfQR4dVqRiruYzRSlHNK7uMdWSorGpnfG4pCw0yv7bFcFfh7HDp4b+0DeY9zXh1yk+zhWgklmQD
RUZX7CHXXKNMV9OznDAKXf3kwS6CI96AkyUoixVU780uHTZkAv+s55mWUjSYDMvw/wvZ7w2j+ykd
9KapP231WHnWxVuamD8UdPRDLuHy5ChntP6mHp89J5BYQRTNiwb4t3P6ohtc1jm2DEGxLQbIl9lp
vhFmaG465LZD0557dVTW+gSBMcS344dq5FGPBhiSVKQpagpj4pQTBc4cwlljbRPvm25a+oGhO6WE
XRfO1hx1+B+5tbXHF8oz1AgRWG/stv/IJW2ZrPQfh9F6VeX4QjniucsBoKCFqbciM8k/6KhFT19q
TUU2Ba3i13RtgtSM3KzzsWQJUmWUbpvY3bBSh8BYM4dymabNfWwSRBgWAHOspN+0ubGvHGr1AQrg
OWXX1mWvQ4r8ye/emtDZEGZCX770KxZUw4mG+Gka6RzgKzAf6M1aWv7DzHvbhZeyWIvGeD2w/Qyg
QEJIudiRjeZsxkU3MWVj3pcXI9BZaFHqNLRN2ERbEFMJmZvqxzARDpKk6joL4h1zX7At1OfO0TPA
liz2kjTLN5oIAfFk97EBGz3X+gcnl4+gjRq8fY5jw/7xKWG33au55BPU2Sk1wAMsiIAZydLKsVIA
YEsiqdKxzZU4lHNJxMMc7JIIQ7MDZBU4wo5dn6DuB1U6PtWjZxYZtrZuQezg3NRrKKbKPK7bkPiM
/GdFegAwkwBgSGR+6BN4yCSLTa+P1GuoY+IF4rEgRMzX7sMuZLhDtk4zG5MqQH1wQSnlHqxBMi83
oc+WNhmebaM6hdKMttjtV+2cT2ujeo78pto62fwIgyQ5kNUVseBLsb7IUl93I76SOu2kh0pmK1vA
UyGZKFo7uPS3HufAB6oZXIyayrrqR++mLaN9L/tLI3A21iNMj5Q0XDJyx2k968bWyXvrimHONQkG
iwUErJDyCnLK3O2KunOjUUeuSA6gnIgZA6C6M8ROln33kIDfX0GwR6HX08MNSk9Txq+b+vj/C7X/
A90PIxi0yP+7Ttt9T6Of3Lt/F2n/+qu/NNrs0v6larZqkfOHoJGixL812ijw/kXqouJQLVR1aVho
wv+L8if/RUeJvC2V3qBNiBXovf/SaMt/AfWH7wcxGKOH7aj/Txrtf9AvFT4WklsTGbimaLrU/xGu
085aUaK9Hs85GihKV8qmbIl/6pVy3BJN3z9jws/3nR7Z6yoy7LVYutxqG5W467rH3keakSnpZ5AV
d/3ohBtfy8+RGQLhX2NxyS+Z4oiDr4PZEtBVMNb2e0A4u8YpnwfWxZc8JtnPaW1z88eJ+Mta8D/y
LrunZtA2/+t/Gv+EFy7HW3GkBYtY0QnuW8ijf5B79XwqEyfswHxJLdtSh3Jlq3/Oem3swjbI7wrk
GGs1o3SRAzxjLG3su3oY1XMZ6j/acC6PzthfCrMcT1KFaAIhsN0sIIbTomNShrq7tyJM5g4R8Dt1
pI9e2356Ylz+6pMh2uHUuBZWpyJUpHxDBaL36LX2x8jOwRIp+c+2CIdjzciwmvTWY9M00BfN46PW
DfExadmGjlZjbacpCTxwNT7ou+Ge4r29brBcPnejYzPCoqQLwbYRX55Ptng051Lb5TqNzyCoo/9w
TM1/yPmXi0Vnhwsr1YFVzUrvH8c0skLbdKb2HCBq2vRdGG2cXu+8oLWCpx4CmMFu7SBmtkm0eHCZ
l/Eb65AvWw+abeRUkvpXCdE8US5932lEE7WdB6FNgkra1mNtPMZmmlxVtv4caPnMHEPAgG+8oj/v
D31KYasv+/wYjAoOYXtGtBPPK7Yqw1NSEMMQmvEj2QU59sqErLk0LFFeyKw466MablEtIv6Exkr5
yU4vveGvlY4MgXWlWgEWnEF90iyOpTPf26GJtZt5vLeyYd0aZXhC2HuZWHZaZZS40TS3u1Aa1ySy
5x2A1exFtufKgLGFo+Hx5or7/dA7EWTKKf7LP/M35uqf1/gtyeNPQOcS10brlKucgHlTk8s98Mc1
TqM3GESZNuccxcTCCbSp43LoYrGrQ+ozsS+jI0slEwyHHm2TOvRMP8dRFh7bqo4PMjfOXavTs29z
YlLEFrWtU1XKy39/L+I1+RtH1FoCgZBDOnR4l4flsvrjYxoKbVqi0nPof8gq48Q45RSeIboP0RrR
gfMf3u6fJHJleT+IpYql25jziM39+/sRVDzNVR0W5zU7tJDc0B8V9ZaVENJAd4cXABpK7kXa7DxW
3FArhVhiFvPFEcQ0lmZduVpXvCLBS6sp2V4ZwAJXqN/YPKZtJF6KkIIuKt2SyEWcJw3lilPBknJT
SlATjeKb/yEF7zZW/XmeOXpSkYbUNbjqy2zy9y9kEYgTBnkWncG1vlmopY9WyMU/2mrNcMVWGYYe
KE7L6D30+uIOSlx6rOduyRmtrkhOUBYrNC5U/kibGA2bUr2/PSS68wOqj7XXIm7BSSUuaFDm4DjO
rA6bsN7IrmZkV/l2FtbMzUDccexXw6GyKRSSZqoCGdLUgxKBgGlqKwVCx4IY5diitqCyE4YHYj7C
sxqz/kJqZHcE57gBYRQMAWWzCcqBNjAy5pPADk5RVPFAx48H1So1VzTdz7ZRwrOoldb1mVABKEXq
nW37Kv2tZN4FZsr2oaALgDYp/w9wZmOhu//juBPdIVWNpCediWSZPP+4cHH0G2Rn+eI00UskSmel
CmN4sI36dQgFA28fS3cA6bYGwP2VqHb8Q6P7JmOYwNQ9VLdOdPMSiljZJ4Poty2Mm2s8iXEVLc/t
aVMjG/7quuSsJ9p+lGb8Fi+VqcyewgsQi+m+SjO4PEbKSJSb+ruuQk9xyqte2Qaa6cbxpn62KO1M
9zFCcTQwc4dBiv0I6rVHlvr6ZpKVvgtnG8UaxFIsqkq1yfVR37H79QT9EwRxUeXpZp6eET2Ah6+/
96jKL2xW6xfdeqgl4l2biKgTmKH/fmAA8blcun87xCQXMiKYDmsdnVnlH4xh8oTZn1LfOrWUsCnE
perRsYkSVZpRqSgJqtt0Nm1C7fnF7WG0fYQNYnlOLQTOx99/o/rik15I/cd//fEUw4oR9N1e/Per
9Q2r8N6ayvWv17392kcLJNw/njmbQrh5ZKPKNalD3P5cDDXicwnB5faBfj/711vePmCYKf6GuJ2X
X/+HbZdP8PvNyYfjZPhWRwxg2K7/j9/p97P/el31CxXlREmJA3L7i9tPv9/+9s9fn+n246837crs
EqtrtaYYarS2ciz+fUB9vbbFryN/+83tYbod/tuPOrdsUp1D5vgtbLbZ85vgDjfRMVKlszPWWKS6
U68y9PXOqHmxKP1N23edO7COfYEB+XNOAd9N7fMkhp99oatgCrU7sh1+KmNLyNAUPbVJ+A4MbKY3
PH6UlJbWVFMJe7bsxB3HI6Dh8tnvrHPcsHtNGxOob51/kxHLVRpYp7xTPIxMwZbKzZEJH20a2ttN
nAtPIxF7FfrkkJSY0XGas0xAzHSWciggfD7QCCanBNx9RBWgHUhNGXwwNXOLgCWxiAwjEWkjfTqX
tjI+DkgcvK7nNSKbWrwS/2B1tgDXZmQ20UHPAXMO0vzW2PJsRl9V3J/7xIpPAJ73nLZ2kbfCE5GX
LqCEnMSDtVKwP7iZ2U5rOuzbjNuA8rIdbaVGC0EDyUkSDJ3k/k1P3+ysJpJ1oiWEbMw1tEbfVjpF
/FindFw4pKXYJB1kpo1gEEQjHJk7PIwm0SGhA+dLfZ1HGmC2dkg06wwhJjyKFvZfWkyebTjwfqiG
EoAi7wwKcvx38pqgPQobHPRqOn7FRvkoFw9aYcorEcsnhwLxUvm8zotCqkTQVzm4GuEKiNx/8h2Y
t8FIKKQyeHnXf1rjSGYdqRitCuJlLCrtoulvSVu6flFq23YqhRtikbCb2h2RZG9tpLPHQmFkVOm0
TNEezIiozGMdmuaBGfsI5xVKVAh1azH2GAmM0J6AyTkeP6MqvSJFAFhhM0rS5tiV1rjBi0PTxyKO
BOk6hlK7HhDR3WVd0aHZNvYU39DTzi7e3HanxgbTe1jdVca0Nafe33eY9xnViXCKWvoS6hjLlWxw
DMwdfW6ZMRQn1rNapXjDl2boYmFKxxp5fNN5FlnmHHw6/jV8zNoSlJ0GCByzHH+C0T6k44tuxF9m
0W2Kse49Q4+vOSwFeF/WoVAAFBUDlpIKhGos+w/NCu9SYcBQia4t8/yqT9Q7ItgeewXxJGqrSAdq
rC5+FT3d+aDV4fy8jDDyLkOpA5SgDl42/X2Ns5viSv88K8Uj4lJJxcGED1KXZ0HEr4dcDb8jgMkT
3OlNX+nBwfFVr4/zJ60vyTiPgnVDj418P71Yt7gbV0A76DwDO3PjOf2adZResmwHZKMudbLALXOq
0ZXan7usBaY4KHfBUuqpRbpVJpNgYaXeYN1YqXaIRiKxg8OgTps8tj7A8lwYsNKD3SQvUycSdnbl
RFlEO0z+BD8nUQ4ZJUZXtyiMRmbwoMPX4daidui/Z/BeKYMmXAejvWG33h6UqaTpGUzn/smK04s2
hJ7CgEgCWU7hcKaehslk8IwxPneNLqn36eBIjeap6tkPqrN6JywAzCNxHqsxL3cz68uV6RTPLLY2
cew8DwR4bPK0uFOVJgPIVX3nGkIZkNs2PHAIcEZGWks1zJDEKuO7oEdE569PvLJMAD4VFGqzDm3A
CPfNLGrPSjN1VXT6o2SFiu0jz3c9lVxXigqLoWP/GJoK8Y7R5GsBL53t0IeR4ihdjnRkmLOn2+JF
RBqjnxl86y19y1ZsdMsZQAekANo5J4xLg9sHFmbMMUXAGbJRmuALGDnjJCG8a3TU8UNqR14vp+a+
UciYqPV9h6yeE6DVW9NctDJLMItPl3sz9+CX2rhwuzZ5S8g4WXEgG9MEadx+C8GUjQnpHrWlg5Ed
k3rtdO15Mu6LSsg98Wl0PEoTr988quvQfGhnSZd2YtOIt/eIQqAj895yJwX1x4hjequr+JerShx7
3HU2iv4SvVZrPEZKuqUBQ1x9nQSULoFqyTp7zP2UFWirdzhvw52f+iAAjbfO6e9ocSerJNeeDGkD
huMMz224t0EjupNPY5u+yqOsQOyO7UhydqGOm1575wbrIY7T8WHgdKe6kaDpqm3IqnpOEDOVg64C
vA62GR3j0VFy8p4I2qlj/llb5UuVKFf0kPN3tMwrI0H/kjuLqk8zX+tqPMOZ98ps3nY+OCXLggCM
JsPtwHJDooCHA3iO1lsktmPcQOEU40QJxc49JXL2gwYQvtO0R1WkIQUc+tKlBBMxFS0CSQQGlSog
fIvK2kDVO7Z+aWwpTNxbMaLZft4VBQrn3v/R5ckPFT45QLtxZ8zoz1V1fFVyUt9UKvCrCMo+UU+w
w+KRTlAb4AweOuB+HVheI/9m1iWDNBf5qjf6tYmgpUF8sEcV3zj1hgEmKjX9k3wwkiF89RXdLkp1
RR8w1zvinDeF4t6ecXu4/TOZ8+CimOF49I25h4zPny1/r3JgPu2A9+7nWUDH6MYd3E5rGyAxfYpa
5eftNZphWlyG3beK+XSjw5g8oAIUl0mQDgjN1PjMca9mafthxkkE+kUNz2NbNHdpp/lrLPjie5/V
3u21rDlD4Mkc/oA5otizFcOHnA3FMcaOsJqt9J2+Sv0lM/VokjjyKnSiimwpijvKLsOJPulIwRuX
D4Tmze2pHHqEOBR6F+UyeslmSPYhnZiHGuLu6tergdmcmvRTWmha8MEqFwUC1sEORb+BX6Y9+6VD
DADvS8v8BPs6fEVhR5qjEpAH3LXGKUiYMkrdmd6wt3iDalZEcqCGnLqqe2TJcxzZNXuT3zs7uLzq
gwKwEOcTT6OHD7ZT/5gasYSk5rg0glE9GA0IfnIjoxdL2i+3Zxqzfo6BJn/rAnv0ImvUj5logjMp
XgKqtgp17Y2odUx4Rv1lB1GNYV+LH526Fls5TRJOqike9Eqqq9t30WkZQ51pPsaCxCYUm+GlswoH
FIyP8VGpW3bw9tPtAMEYu2e6qr5BEtY87oPhWCVVTYjHEK8LhdyrAvLp7aklJFsCOgrjWiZ+ukPY
1O9grlbXVGs5s8tBdFjtEunlv1POd1zaF/qZXLnkKIB/e5VdGC++Ez7enhp0wXWIl7JBpdheXdJO
y7ju6PdlAKTNTn9v0er9OpA2tpx8zvur6s8NFJmw3KlDq1z9AiPZ7dXg7rplZzurLuA1jIa+G4iq
8q5RKhAH0zi5oZIVn4P+TcypfAd+r6wrVFZ3cBla+m1sqm9PyMWx1nRysiICKIXAqN8LEZ4x1QF2
nLT80ynYXw7qR2aCJNf1oTjB8tCIjFCJuFreYjFxc8HRPI/Xqd3OJ9+0mtPQmdm6iifM17gsbh+l
hpPZtZZzsknXOallR4uvILnaQs1/5/e727NY8hluy3udi1Fod7cnKE5sv0/ievs8JgYINyfn7ZyQ
inHnNIDph5lIyx6b368PFJLOVRSOT7tZpau6SHdy5LdveDR/PYM6BCxTpKsXBk/820tHsS2m9q0Z
m1/f2nAG5E+Rql7geA7H1rFKL2TE+47E99fXpt9PGp2Wh/eBbWTHbBmals39dzMqeCoHZm45Pf+b
vTNZblzZsuyvlL05ngFwtIOcsCdIiqKofgKTQnHR947262sBcStvVpqVldW8Jm4kFUSwg8P9nL3X
1l2/eUwC4XhTquponNLwIx/b3fJefEgRs7oTtbYSsTeo4CNHOTInMxrfEUgQLc9xpGICQbCt5GaO
dQVz16A3binxexfkWFv4jsKBUkIY18Ot0cEVjs5U7WjC628sD7zlXySBxHDAKXGbqtI46plKljmW
11a3i9dCA982TMMXXUMXt8UYYewu9CezUn9hcB2+OHnQzPuWf3VQY13UkJKGPT8BBRM9Pdt8SXVo
R8QRzV1Zvf/UmtPyRBhHA8aJNvG4npO9qtIts5z8Zfkj2puQAmppPfRIzB+IGIAdNx+VgKunvlfb
55jYiaNZpca2ICfly+pZ3FjBlxxqggXVsDi6qVq96BT4lpcP1KNfU9YSlxzRxFXDHbtaDth1w6c0
7eTeNkLQwnPIY5n/I1xwbCJl/1GOBasTLAKHfsAkPNnGYXmJhRgDQBujdo5lJB5NwrD+HNFKwD7i
JnJuUWzpp25krl4OafnuRgdF+O6gwt+TQoNvxbWSdzUyNsshIbCAPJ0iNu1q7d/kCCLAtdikKUis
H8tck6jGK+2xbCJxniQZ9ct7hyV2pMwzvRa5yf5Mm1Gkgzt9lCpL+3acHmlzoGkx/ISYpFr3otjI
7q2jfPx5VYSYrvyo6K9qZBoXR6EvsPyhCacHSOP5SzdZ5VG6+Hn0oUXoo66WV9tOCHpQsZvHMC0w
3mJBOUd68fTn02naHI4O/pA4822cUE3456i11r7gJfbvttan3iBSiBvzF5gqJ50L/acTVLgHBFRF
dSisF6eGmDr/XdHIllh+Ym3Q+9flZ4cz1fjU472qh7+gRRBjoiWD5xpIZQXXduk7Nmp2VBmIVMtj
HVufQKrKQybo5RZhwNKEfvXeMgr7UiaWuUN8ODETdlxV2ydXNYtjbAu5QgzSeRoEl16lT1+7LZpp
t3OusZyeRlkbl8JttqpTuvucHSyXmG9rTLAgRgZYzX5O+ml6Y+MO1rih/fJpOyXtGS2C+tU7xQv0
0GMU98Mq8ysB0N051OQLckJK+2ILdtWB0eprF4WjNundXUmNT8oYhzR2zFe4x8Fa1zGstZbUd+FM
E2rMckDuXgOZk0l18isb2uQ8BBkmJpt60vyl5d5/cSEsroS200/1UIX7xZOw/JP/7lZY7v8z/GNu
GFojxAs7nZanLQdY/tnUzQz/5eY/DzKNowqxTWPVGjFy3MVRkGAqBGBgrzuF3Btsp+OFY8E1JkVq
2yXI4Gycu1HEDihU5IQCUr5G4XtGh4sFMRrW2oLM38yOiWoekpaIwqjsWPPnEP0INQFRKCM+XFXZ
mFAMUXfW7S61vmypjkfF1aRX1ClePwPWSNemLReBgcSO7mobiLCWf9CNiSQ0CUlRNg/LreSkUpw6
iEG/JxBrsa9CfFR/F4rCGwpnj8syjC4gCxMaKt0YuAO93IZtNm6jqnuPmqA42UDY8ayuGrtBEGRW
18wWZ/sfFwaGya2e9GiXEhzalsKGIa66l+XNUR0tvYz0XbVk5uiLyZPGdyI5qsJOZUc624vWYadr
GvmsxuGAfJgnyL7ms9JUdVrHUjtHGoTm5bHlr3nDEt0S5SZsx2SDK2cd2kj/8tzesFCAJynWy/cW
iphQzZJdXAGKCE1HrAR8aXuWY89NwsOiUeCn+hCO9O7BwLeetWwtwb9sFz+K40CxXFwoRcCFt8jV
bu1DzQZEGJJOJBrzz+/jz9FNCCB/HCmwUtw15EoUIIY84qA9NLQMD5PW5tuAqYoWC/S/ia71hijf
YhNHKbyFyVbWVofbtpP1rTXydq+GNFLJ2xj2emOfLWUEJRAlKHDpQtMQKeEgAgV6jYxoZxcV6qDA
dT02i4Y0I+CUcU1Eh1p7wLMoQnYRMkJn0FbxTLwsy4L5N9bHrQYSylMG/1ffND+x7QNxaOuE9pog
EQ27Tl1Y13SqAugq/Ws3n5zgZzNvyb5YbtV0zijxK32+k6HR4S6xpkNei9cpcq2Ln54tp7UfFbxa
ZH6hgM/j0jm2PPXS9B3mx8Y1dnWlsE+PTWMb2/jssSS2e99G49RaYBN8RGB6l+CH0CBpi05rH5Ro
io/B1L1Ks51OMhbpKW+M8mlC3raJRtDwplUIskiUdA38x1zThIQNXvjC61pNeP4A+GqEExYh3D7b
XBrW7qiIPWqC/Oq05i6vKBDjYibjGqS0Oj4HRu8/JgUGT5GmBf6HdHpScqqM/D/EcbTUbBNCrT1t
pMMRmwi70l7TDmWWYnEz3MsoS3u3hDagZMRH1lZFum9EckIwXqAHZgB58ug2KvanQodugRhviRT5
Z0gUDRxpATBNtZVfASmERBfJNQsw31OKFiYZKVtIIyuNgoitVuAWFU55u/s0nUTbjQO4YKETY9OY
bMGdGCs2G51txcqf8xrceB8mfEC6Vu9Bpp4ziUfvn6Gw0AhMtT6slKz49rG8AK3Ceh1azp/Xj9St
4CKRilVbdqB3Z4DrMlByar3IfnWBVaCYKqUnZXyNcox/qQ4DdnmIzJO/b3VujA7DNl+X+I90wAsJ
dB6XWDQP+ijIp7WH94Dcrj3VmsdMi4j/NgIoPK0fUw5uwjT78zuHL18zGyq4FzxC5NYymNQjlOjx
ZOITTeLCRUXosziyuYxWM1V2GZa7BF7b6awB6zyV8rlV9MWxn9/JMmRCIT4IoiqXkND3pnkogy7d
Zth4VpoaCnwoxUPRqc9L4AnQms5bBmdOQlluLZkoyy0ORnrqTPyEndJ7ktA6b7llzCzYf+4ut9TS
3qAYKw/BHBGzDEsmTFJlL4EBI2WxEi5DNjsLl4yUfx5zcInj9w6MNcYIEkEEMSDA7iGzODYCRGG9
tAFmZX8SAJNZ7HmJzlQS4nVamxnQIcWwh+OEfNrWyvKESRkZIGQMoIKQ6telw9yuqz1laFqg+m7q
i1ejmyjUGOrNl1gqMsKpTj2Q5ZUcmS+CuQerSLykaT03SrkiLoPFan1VqBE5afNH0mYQA6GPUaWc
4cLL20lqziGf7bqqQF1yWmg7yZfamvHJ7MB3jFp/aOe4nmXaaufI+YKaIY0Q/5HyWrui64E3J+wH
zzSMwUPo4tMN6HMUza4KXzcLjgk4FbZITNpA3uRaz1US65b7LpLKwG/To46GdqNSVVsbmVhnlVt6
bU2CifC5Fodgc2VLAPcKu1qOYq99XnJdMDpBf58zXJZb/+2xwOKH6MqKjiu/i1YW7rZEbTADkGNg
Y3W4TgqyHugVQkLRnAIfm+OQKBAMeztTJd1dNmN6YTwn+YyAHGLnOkDfb9nmftGDyTZwbUwK0+Re
Zb7fH/tKOWPK1y4tdGNKwAGPC8KT7Ck5C1Q8nl/BSSJg7tPN9EtEi/U5M+vh5HQCjMQ9NN3hKW8m
9yFHY0BwIwYHl4YgwLWJq5GLMSwgiZOEsPHaV4T8WVJByu9YADiQ7OAp0PGnoUoIqcVif9TMYp9B
6nvM+iRzWL1nchNmASVlYEAwJQDXaXZ/06nwbgenUsmO7vubbZpsozRoTKE17vRJyR8z8M2jZYlH
34Ewr7u0bmow6TbFl3fQozhDq3m2jkn0wdqUnDV0YrApRbGz9DQ522WAKyd0dIwfgfucdvFPrfqQ
KeZ71OJZAhZMKmnsJusGcP8bUTgkvdvaZ2so1ha8KeoLPYveBqPC9sHjdomBatBD7WiJpH6ts3pf
FLH55PbFRz0G+sZNBDWlSloHfUQAo0/49FSzfjPo8x9LFJSbFj7kW6FNJmTcnKbQ/FcnIfjMTOeI
MTffNRnc0lWqhcpRLbg2291Yv9mW77Gcd78rAxmpJaZtkhXJXlVlSClnF2X98CQfEiturssgmjJC
PDG4xxg8G+XKQvuSSo14AGtX0M6JhDELj8ZMx8eWdjt7j9dKKs6rIFHikPewF9KK8MAi1B+D+RZ5
MBnUrTkRzgDRQqs+gfZljLcQ5wokcWsEnUiCAtovyUfdwGdP4xFGPqZsrZxIB5mYgdJ2rI9qaOJ3
ztPfWd2q+EnK8tXtEnobUUOxzZgUtPCIzhzHALyYjLAjuFZ+d8HdTbpDUAr1dXAirxkwO5EfVj3b
+pAe84GYDxRc1JPVhwadKy8CrnKsWQMauWZC9jfIS5gSIWElqb9KY/jlhLc0t7rK2hN0Tf+3SGS2
bYiSYAXZtMe+rsrXmgYHrH2iK6cY0dcgHiw3Ryqr6884muSzhdHYjkEojTI+oqxtrjnvwrLH7CBh
XZ2XMz2yiBDGfGgDDJUjz+Fb41KXP6VYcC5Cry/LPc1GtKeoFZ0bG2aVmIXr/hReD8pARIA9pPt6
KrLv3qXO5ndx8NClw0c1YGiiLUrt2xQ2uG1Tv5nzMHXT2Yypo2dEDbFjsZn/Kn5kbkyECtonUhN0
pp+6Jl7Wt8abMKcSewvdNl8gMS8Qi+QjDW3dZ+3pd7kgI4ldQjiAJICX9u00LCWwBtDXbj/QXVnE
KjSm54NUfHZdyhZW5XwGcymBUmV5pkGEVwJ2/q5MTLJN63H85aTWlpSJ6cN1OxRRBPVuMIG0m5JU
051ijPIus4oZFEPIryEg+7e0rd9KXA3JTun6YM/yDENsCbZOUOBCAEmCpxNmXt+q7q3FPIgM/E1z
A/FSmWpEA5ELgR5CSAAg8ffd5a90OGmSmiwVi8av7tbA5DyMxrshmmlf+QGSlfluVQ/vcAVR3On9
X42pTpAGA/zHbnolbRj5W+yywDWoAJtWllypWmZrzH30SqORugnlXdX65Wa075F4QBP1aQTQJRkP
gerYT5MGWKqO8Z0ZYuqf872JeP4vFYtAQTP5Lc/J7kK8k13TgFVS5OKYyAhK32djEtNsqHdoE+MX
Ixo+1ASfIueH86U3zq0C2fG7x6VIVDJhpFNxoPiDX7MBT2GW5H4imKFEahJnlYxB44ERt6BZ9MEW
plawV2x874GtaOR4dP01SrWPNArwgUyNvBiTvdGsuHzF72VnsfEC6Ke/Z5zzuTDkNVKCfK2Mjnbk
R2TwbTjFlvDsbNM2rQT2YJmnspP3okqftUpghBHTZ6oXoQBmx76mkdFTozTapm6BoQVT2b3xnPek
NkgEqjgxalrF68om7XWU1LdGlyCFwDCct6nA8mY066QR1rugw5/lx6FStavAtJ4GobqrDB8UoRoe
BKWkA2WmaG1avXHIu1ydr6/AnST89RBWJGSOtLnSFWbDCPlybSR4dopct+/1aLgrRPKWlyaCnp5Z
2J5M2uBI9Wjai9S8xIkafoRBnKymVPkOoRnvunhg7xoQUzkyI/9qhh9j6OnB9qK8CIXApbzutIcm
bl8HBRCmQxzLGZv9Z11r9T3FkOv5c33Tcmrzy/kYijLYN9LUnntNT0+uzLQn0pUAuERNyso3Fy/T
ZH/FpbZRwkICIbT07eTrwVHTrXyNvxKb5kRhzsGqduxM4azi2mV3Jh2ybnHfr3QcjWekMtQVosLe
0/0qLkYL2NA0lEuMSHtLv7h8KknM2kHs0td/f4NSTzci0J+trBk2jps0X00U71AjK3uzD9OjU8yf
iiruVRKJo5qk+O99+ria1mxEZw5P4TQoD9je98s90wJUwTWlIXxFIgGZyE6iubUx7Uj8JFPxU5ua
QYCv4WyDJhrYRthfPZJYvGcsxdZ2HlYPUtLIqKrppRkQXmhOZHy43UsexiMZPc6IoLJRLkI1stNI
gBtSIvXUAHr4e6iLva20v+lkPPaxj7BQESwtomk4KaQAp6EWv0T4WJFF4UEL89i9kmjsXjkrYZhI
rWhWaLZ+E4mhruMQTyptqvgOvriuwaTUI8CUQFXujQj4FTYNFVLCIR+KPLnk5DhwvcvD9eTD7U3a
dNrpYaWvls10k7WkuKT6se8b955q2Lu7KHpsyWteDZbbPDBF2YXzkPZsq8r5HaJ/Ui4VbLas6rdx
/5JBf7hQvHAeGgkQR6k687UOw30G4xdrtFYeaRqXMMiJg8Atr1ykWbkeh3tJ1P4tYlP1qg94mP0+
3w4+XtS58/gVhVW+MeLe2o7NyAoto4HAu0kvRkkkgqS+4AGUknuzJDlZp+6aRvqtJ558l1AeI1It
VvetYwYrs7ewgVuNB6yjeSU8youCLFxn82nSNTku56gabslofqtlZs1b+P6GxD47GSzt17NfC3px
s5ddPb9z/yUQA+oidKy//HlFqQwHCwHstoiMdeHchKhsqKZd9+1wYbFaN9xSL0qRB2kkMHdz/57o
MfjU7Yvix9DWiohLnU9FiQghHPUWCC3cnmezEXfDpstiRcp01WfgR48I+wB+0d+l9D5o4TdfWU8T
qK2zv6jR0FXT7OzcO6yWsAM9VQ5x96kRFwfT6fp1LpiwJ8tMT0ZWjKtWBPZRUdMCDKmGr7JvkYth
BZ3wxg/iYIBMLu0ifTNzlRIL9fpcJlzzgYF9q1wssCNn99KOr5jtcbd1lnuNdCH3pR12p7GIglOm
BXCJC/qpeksvC49wVlQBzdsshQmm7UGzcA2LgnczsHtesI/qW9kUWtlcolhsUxXHCZTQLn/UY5LO
eQn0nzS2QrxtXpR4CSSghyQPbiUZ3lteerqlgKU9ZVWsPnEC19CaJZ1RA3DGaNTnRSqe5WG9VSKS
lyyMZswroQ/4SwXhJiSyqFavT/iG61MZcZUv6vEYIMDfs+LACO/Oeek5adIJfzmB069P7JUfFAtN
FnkpL0OdXqqkFUfWJvkmN3TKfHEoTiyzuLqB8JBV/Di0ZnVSE+VCpkry4CSp5ApnhGDCuSonqRqe
E2xnBkFSJy3yj5qaKYTaTtoKTmhySamGvdUJPcq8fZXAEMhmfpCOSB+UatKO0gwfl4eyRENOm+lr
AofHh1JPngMIPs8d6d/IS903GK7WLareuoG806B8iqOCArBFPnY3FM22NJKtU1AnwYYnw4ITppw2
najzfaCw1MnMvU674hPUcb+KC/PTtNrqKQZfhI83s77VSluLIgjuyWjruPWx0QTRJ5pId1eZVn6Q
gRzeJLqkOMeGCco7PSqK0dwTYP8p7Y+D4wbNTPzD2qtnokLtkt/5NChKAR4/oYRZBeO3hA6eqeJz
CDS8y4PvHwD2Dl4UJeexY50Dj8MmIbOovySyYrjAORI7OGptOEwYP/gk4rEd3jCeEAGLnoIGkz28
zXl7kjbQE2FrGx2H6409RL7p89rF2mfVB5MCxlw7CC7LEBGBuDFzrYMFLte1Ie3nZUgo7Y76wkMZ
3voMMVQVQ7WOBMCuADKB2iuq54dteml8LsfQ4ME0AiY8pDJUvcTvdRjnTflJpeqRoJV3Bccce/GO
pRVTQdyyfXVaJ33IP/WR6S6GbYWcyil2De0cBCmpgmyrS/dj5sZ8s2PyLCcaNS47ga5SVlyltAcf
MCMVe7CYIsqeFTeBdEm1Ng6QbpOR9dtNlNGL2qZfO2VdnnASslGBt3ZzekMcJaI9EnW1y9iwzSxS
u2JtosS4gyeT3yT7tqFPb61lyAv+vnNgDfD52gKRWUbDWUHUAn+Z30FZZZ5K4dttONGSTnhGErG6
duhRUcR0n5xGrt00+GyE7b62hU1qMcsRNKKF/zoNZr57ZZOf425J8ysCky3g+/4c7jUVJ3YQVsmL
GUabTlP7Cw5wuoFZo13rwLCPlZO/a3WoXdGx4PmPqqNorfzFzjVSqipspfhWtxEWTYoVcfQ9EKsZ
73tH95+rfuyfdUgsJHH80MKSF8UMmhs74Iz+nutvBh9mYUYeJmafuLrYPY1XtekF2qyWFoQq7XXe
2NEBLEUNE0emByndmgUGg9UAe5ZiIOtdzc5mUscH1kDaaRgGymcFACO7B+ATSgk+xsi+XB1sbqUj
SKmDeykAwnQEqX+AwKGBY5u/BW12C4syC1GTVbzp7klyigkTL7QLZSr1ktFquSDHk15fK2eJ6T2n
LAWcFWFtJcPoVAT+m6QmfKCDR7mP7Ts158eoxsZUiezZl3p7gxO8MrOcLj3r0EyFjNMqDno7hZ5x
q6mI2+iaHk0HQAaVSvGqOiLaRaNC+T8x9VfdQi4wgM+495lGqd5pyN8DMFIi0yHAcGL7Slw8TW1j
R12PtDX/3Gidc8/s8hJC0aBoZcIYpUg21uMhMpnpoDD5rN7UQOx0qjrXoQPbAb/izWoK47o8FEKY
2+ZFVx7MsqBmyFUzjVSiIfAerKEqUtVEZnkedfOXQUlrXbTKW1ZNg+e3Vf8YGcHwqJmghlwsgHRu
WkREdJNj00H3P6jpKzu+B6xK1aaOWmx2rkqIKcLLA913QeUjsM6xXl3B6d2koweXHrvWk6SegaNR
ebFbuZsa09hhTYsxMwv7YrXRCYFz+WSZnEy5gu1fMUxKW1AKyNfNSIYdjYOjhe4eb6O+UdLiBZc6
J9+UPVY4U7aG4TLHOtqLFUXVIQgSFgxagZZhLA90xRAj1hEWXX8CFwhe988QubXrJfmUQQ7My68M
1NZpGZQGW3OEL5CSi5tukGNTRiiqO2J/7Wa3BWT1aIag4DUHxc0+FAEEIBmQ7MaNfMDQqsF9zAO4
p0oxUCDZlbWRdFU3mnYKezX50EivXo+j1m2XhCzJasVLgIej4lRIGLRawqqyOD/Qi9bghZMhSWin
fo1qka5x+8lDp1A2HHtCP5pxIFqESioGnhweHWTOnRZV99aynRMlbecEezbeNPFUbUl2zObIKrD+
kJXvTfxszPNuoEXOvsv6+hlpCBv5RuprRTY/mYXMxBgJmC77gfQ3wOXssJrsgErdc8tZBZN/NX4W
XMZuEYOO7bWPODF99UV07UzzRnqVVLpyVLTgaZwU+2EoWut5lJzvUOG1P/vqLhynNR1patRo4GT9
CcFo+hgs9qCmT0rEcheByJnUGTTilAhWapGHHvEvxrUEEYG8dDLWuVm+i0aKx77/6YkrepyaACtD
gRqopQR7YS+5SzSC9FhzglUk9WNDQOoByLP/FhsDWLleVY961D5yotHJ11WAxy16Uav27b02/1Th
FoEPIju9JzJp63dzAzvyjdOwDMMDVR9y2WmtFqsQOc8Bva1nJbr6kPWR3NR9/prpPXTd3BEfVjUd
sklYt4qsL0RSx6IQ1o8RBOiK23h46u3qzOrAPfQRNIW4SOIX2oHuQzTLyR1Re2bN2tohbOop912U
2tT0EhF6xFmHNeBcG8zxGcNQuwfvRo9fz3+iKmDLEzWAdXtjxe+iO2oUVDy77VaC7KkndNNgrZPQ
OCx3EXuRt4s193FytPMATPJcdDWRmQ7nilDUC2rmYkullCxpUhcvhdqpl7TXmdFjLomaCJr70H5k
ClQL3W6ae8ESWQn0j9xS1ZfI4qMIlPzvW8tjSufUqykTe1sqyCcxXd1F6l4oo3QfZBolu3LsEDZp
9TofahduYMGUoaFBwoza0kIMxk8Ko3fR18M9qpqeMnqCAcBCsNz2WX01GzDGcUrUz9R05gs4HGTl
hSXfeUs0xggD/mql81IHwS3iVN+H5kR9UZWP7YT9hDYL23bpW/B6wsH5nl2yemyj0A6D9JiqaJ7U
HPEO1Tj/mRx2xMyh5dlhOjwIFbNZGDWzc6BIj5hsa09XNd9LdqkwelDepGE6gG2/pBmjjS+t946Y
7F0hrZ/epvKrEYpyKXQEWFWqKk+UkEEig9H/QLj4FtCcPOUTh+jZjR8tiTyhcJXgxvyJ3D7Bxpci
N6JGSasgrYbwvgzKWGC/mVzb0/us2kwkM2z60o7OyxC1NDiqUHwtFdwQnaUGkmJTtqDCmCKPVfAo
x4mkJgWWakz9lX5652x9izazUJRtQacNebWGCxIjI2p2LdujxJrxLhlN3U529LNmJJBmUNiWttyr
MdnWoQE83qL3BU5BreDA0carQpctEJ3Jg/ONB829SQpc6yZ1sj3tAIIMm0KsCfsRJ00QxUcVrDJ6
fbU44/4/ceH/QlzQDFvDAvh/Ri4cf77C4l//4zerSTkef/7jX38/4z9xC9q/VWyy9IZwRluWgd+w
/93I//iXomn2v3VBXhOTi+XYgA7+F2zB/TeCaJYODiQGw9Vnm3VD1kr4H/8ytH+7Li00VWeVMnve
xf8LbMHWdLL1/je743wIldflOkiMcfL+Nwd9ovlVC7PKetDGuDskILz7MAqOLWxTrvJROjc6557n
MpSR7HZWED6Bqmm8VIvAgi43lwH0s71q4sYhScasvWWYZr3CMA/L3WKIe7JL03DHRImQqVYqbxlo
qNR/Qlj/y2NKnu1h453yhHYLUWEpOa3zsNzCBMqDOGMwa+HwXWsDEqMyhvDCpoubfkVsWd/ZZF0X
bxOWolWo1Nm2Cur0ZJsOKurw0TdcAIKyehjcPtq7swKCHhOWObvkMKyrSkxdQb+TTnYJG9ZiA4Va
zc1Yu8lWJQ3HUldkvR+bMfl2c6vZpHMqK+HArTeS0+Mp6NJ3ld48Ljms5Ku1ngHxkr1uVT6Ngeh2
7L2zbRA7sO7do00iQFSpxVHoVAeShr2zOYfODjjayByfbzZ1w009RVMlAAUnkVIfltep/Gf+bERN
9ujLXZUGE+oHBm1CaacScYhAujhErKaDGBRwApebvbFXBX50GMiFA2mMON86OvIrjpJTmBBUJxv7
qJOnUvp9eSSAd8XnMxyNwLhnWVRt6I958Bhzr52VROQFI0IYMFCL1Mm9f4ZglsP8c3ccoZZt8j6+
4RgnKDfQC28Z1Jm1vNyihP/3Y7qjW+Qw+Ct3VtAsr3wZgFTn3vKYMlksTDIcf3E3CzDn1yNjEtmD
ZK8rh/RONUDDjUYiNJaPeF3dxJmSMkxxRLvm3UZNRR94Qw+BPMZC7nIVv+iqU3bapoOmuqOetEYa
T8rB+CXloVLulU7YR/vELbfdu4gEXom+pSvSzIEMV4mhqG92vnVq7FOiXUg0zd+Tv7QNdqK34hJG
29jcCkRtCd21TUGzupmuYrgb5U+BMDShoYr0M2k3BEaVbLqlF3YrcvhOQ78G59mScrHWDmN3nL7V
F6TDmFjwW0ZPlPTsbgUpDFtHZp8oYlHfU62dy7ah3tD6t41zkG9gRhhw4X7Hjxg08caTf1EZJBWu
0FDl9/zOotN6xXdKN5SPDeGTmaxZYbYDBj4v7fe0KfEdbUP3AEAtZVcFOJ7ACRsJ7kPpfpc/2Zai
enftnsFTvioYPWFrn+UdcRifhL2BLTm1ewODkrtN4Ekh8DdWbElvJV13nOTr8mNY2duv5BivypPy
kNFgMVblR1sQ2rBKWeuCgYYmCIjWWKvbZIKytzI8yktDhyYBxfKaTsD4u7Uor/+KEXODHm7g9B8L
0mt/YShIJFSxFZ8uwbY8LXPX6tfs2kLyTJLHwxDuiS7GXR8QcEH03tO8c3/UX8RbBjgFHTIC/3gV
4zK8CXVFpmN5RzBEwBi1xC3tkiTYWZybT6VzoLBElGXEmj2DY7BN79Y5x4X5ln/bL/mru02vcb+y
+q3dwt3/gERuH0aiLvgWgX76e7LoW5uF+rrBrIowN3lx9mDbxrX6CBsOFUXubpxncVbeocbzZvjZ
4sn/PTzPFOST5SGlPs5pyxHqkU2nb9If2qiIQWJ/H//C6qcKQKqb7IJbsQI++JqcetrMxDHckuLe
navX4VHH5HuoiTBZ9e6aH1t3dsoHvtT2Lyv1MKbiNkORzA/KRLI9rdFKVfZJziEk6+CzPm2jo2pt
i7krHvFNkDQMMYG8la22lTfYvdNfrkd5A3bgjkxm0P2e9Zf7K3wWp+a38SM88yv6cW/MO7RfrHuA
CXFlYlOdXjDCDN1K7yGbncrHRrC6WmtvZGBWa7qt4xbfhOWujGt+8I/dFSdmyeXAInZx1XzpX6Q8
FunB4feQ7cpoG/6gh+nRNG1+uksrNt0FXbP1ZpxDEADZrrtQ7d7q2abZ0ghHROa/44JEuXPpy7Vl
r6oT+5vn6iKnU+QyZ5ChcnD+yqfd+KpO21xuhXxvxAdzh48EK6UJ82NkmznlJtxyoz6r8VH/Yh9I
XZZTiksuhxuwOhHD+IG6QxziHxnsrTXRDsmheMLywmfefE3P8U77Ln6TUhSg2z+M1o5EhY4pCsDs
+/hinoPZkbnq98HWOPY7yoj09cyX6GOq1v2uwBW46j+7eDcdy0dMB1Aea3/Pdxk2G99/YENYPvvo
mfe5PKSPyi/wnXy/vbLlq+fcy5+HcMN/iNmT/2c4t68+qop6Q2loJMFB2Tm8j2KlAilOV8pwouav
J4ecCx3zjualzzE/ynoTKFsyi5JViL+23rJ7pOmgxgdA6taN0/uWXeLvkMy2X8GT9D0TjTQTiPjt
6MkOdF+IfnZ4LzrwsiBx9u4dw+Cg7DgMOOyYQoNytpXPZqSMMewwyNW/tLt89y9Qd+zxEQoLyrLg
tVf3WfFqki9d1gdciHAqimwvtVdStlX11gxXW/0rbHn7JOgSLMiPecvW10IeiGolPrBbFtpKvw3v
ZYQRa83btu/T3e8+9eY3CgKoP+uKPYK9E5xCs9sDlOXMyM0eOYZBp0clOKbdMVlAlWUMsAJQA6eZ
7PLNwDL8DLs3o0Mn+D/pOq/d5LltDV+RJdzNqTu9BUg4sdI+927jcvX7IWtJ62hLvz7lJwkBPD3n
GONtcF3N8h8d1wrXF0LrRoc3xv6PiaOrraPvcLJE801wlFOYvafKTtqjuiaae94NKyt4b+CwMX5g
zWL1AE+5LPwx/H4yt8J2Ol+BpJKoUPDR5v68cLFDFqMj2IgQO2JHhI/Hy4OE1U52nK/EcvdCoA68
WLFf4baPCsy81iDrJaoeS7CV9qSnoylWm/RjuZbXyVnbTL6ylw/zIbgaa1Y0gbwb4V1/efyzuMXZ
XFjVOy8BrWjTHoTYjkS3kPdVm9mY3YmB/4z3mP5JS1tR19BngzPiwLfSJaTUXXI8rEj7iCuniG8x
9KdxOyg75lLTpnBS90biAFdQ/RGjb2SVgeSPzM1ls4SlhBCL2HSi50xmEHO80eBwoTLfBDCxvrqQ
iTvEBeiUzOxV2Ho+KHmNzW3I8ekNydtcur26E5/+U7GNbKcFFj8vVU6YnYrUIdkvFdDpm9WZjej6
eqrBzA8Rvs9Ut+ZyRZoiI8WrcCQeTtQsSDkJRpnIgCEs/cbpScLPkCiZ0SwmD9VjRXZMaw21o2KF
oXmCwgTWqTFmJr4lvZG1JUnQ2yHZmvE3hsa75Qe0u+LEo1PjBZtoA45uUGlYxr2ubF7SGe3QbE7b
0TO+lHtpL7bZeWrt6bWddv8EiPj7cLnS3MZDnvf04LV5slM8upPgPU+zEx4Fcd2v2sOwkT9q/wQp
s/htHoxKZ8c4VDzH7EQbUGxPQ7bWk5qwgwb6vvDjgIQoa4HaZsNnVJN+sDB1kkAuz9JqA1uiXF3S
K6wKA2HGTT7WhL2SVCk5BYOswmy8xdfyY3Hv2/vLyPz6TO3niXkIUujLtKFW4lV41OzYJTCkx/A3
W2d4PVnJSdlkp+k+3Jsrnz9/LO431UnQzGbPwUGujFWu2rfhjRg+VixId+V2ozUDzqz1m3idf6PR
kWM/L3bztVnTBhDPi54dZV343R+JhSYJkKPV1CTWENgwFh+mnvrRuV+FF+FNR0zKixevi+5OaKt6
E8ERRqptiyZCW9yN+YL6nenv85P8MfGW8WSVWXd+8zwPkQedEtv8eqPLLsqENHWDp7ltLBYpSdAT
dK3ikZw6vI4DF5uHzO9xJemdRXrG5LJHhESYTO4OudtprvyJLUEpm+Kn09aH8odzeknsdO7Kt4YB
jlf+zI7gdbhyrYiBkYIrXVV96K6Lrxxq7btBPo2bFi4+Fzpaj3YHbSWY3Xyguj0+z825kXZibD3P
cukt0xUDm8HsoWls6iMMgB708JJ+8+Zr2RkO/AFM9EmJWMbr+iiRujySqwa2iyHOXlpgH7DuDbM9
kJvBj5Yk34h+cUaSkYG9ZI6xYJhrJo8J7eQ+PQQADFY/kSsXW2ixn6XHhCjBIgE18z+V8lxY814q
vNsHSKQXvfoac7//qQu3HN5fkLBs96TnulQT4mFYvSisOHGQpC63yDhf8SSRUWAJL8+KTVtmrEmO
NNbyy+286ldJKcKif/2jRwW8Bvx5DaN5BDLs82cEL33u+/9+9ffY3z+hwnfRlVNhEEiDuVfZbqpe
A28NEhvdPrYOMhazFrFF/5X6/H01iMTI/H2V/ymBkpcSKFPaxEuz5wZFf7xw/r49qhAQ/f/3txUM
hW04T9SRqq8nhA2kAhS38OlAk5ZNFVMNW/jLAHn9QcmgPY5lPupl3HpkOq0LRsK+Mk/4ARbNelnU
HPt/X8oVff6U5egmjxrbLZkt5T38LX9jaZNy++9o0Vq2RysmH73xVDzkQ6t8YghukgAFWidwJxM9
jL7711gVm4YJ7eqprw0s+r8IMzS2dDxJZwp7/L+hlS0+8FULLEnfEtPWEtg0mDSTuydRCNDdmalr
Hk+qaHt8gkwmpBftIu8mAmsTqDquCiUdOqLu5L/FfToKTkctivUBf4P6825EZrAF8t31H9IHDRJ5
F16+T2wiZ8i38jVzeZoiu3eVD5wGHi9N3eBg1ASQAE6SGw71GGFGz3tNduYHrvNH8aFdui+CbsPf
Dmorzv8f8IoGl1Qbrj1GsZmKHMuUfp8/yZEmtcrO6hdpZKeRRmv20+hMWAbd21fhFisKD6zVq223
VSaqJKv9J0gWE15/+mVW/CAVefjQT4qt8dEx/d0nPxTFdHoDjM6P9rd81CEuZ6i00GB54oYPr/6l
uIz4tZDZB3JNtMS3BqNN0jNNpNjojtSt/CVx/p1ajyvSUQ/vcmeYqGIjl8tddeZ0nBKz8NVTtwYT
G0x5P4mMisiYQrPFmWYufiCSQsBf4r5y6BJ/RKtjQvKp8f8jkYEAL9ok2ZzPZFq/B24VWB3WLhLg
Gz7xmQWveHDDLasSu6HiCwN4eqrnHZXsAofGu+B8j9bIPhZvgzfdiq10pa3mhZnuAreZHKjwa9kn
CQ0n797rvhjhKz88a82gfLIgN2yWZLB+Ffg0XroIXyUr9XngLJxr7DhgL5kMvshzoH+WEZY64gYL
/+qSHEKQTiI3CfGFGAH98KOVTf28IBmR7LicP1L52b0J6PCpqQihQpZH2I1T43FqirayDjeKE56K
AP8Bavj6jOkxJG6WkUFOLEol6PGeDCFBtpY7wBvcO/z+mhzU0tbv9VrcGKOXHcoHQfb4u0Be+EE+
c0IepydWeCUOLxwsrsvSeX6hNyc0MLpPDPGPWuxIPyggKzoqwaLD530gVcspqS/4BPmwHwYTL2K3
OgQMhD4kxUyvlejkO7qX/lUE+vFDqYiTn8yUPbh0BXklninOTxV06tDmslfI+Vs47laA9fIrwqdI
fWxI+KJr3ZFsZ+UMLvM6ONFn0D2IJwy8gksZOcknUBSmUsY/LIihnqnNCunHEoMAlqOpedXqNSzD
kIF0CJxI6VDqv4kBMwKE8rfFP+bmzy19JL4/w2NG8f8ZIcHDzphzouVFeASuARXSDE2t23+qX7kP
Bw6nwplhJYHFRJ+FlyJ7U+8uxPNVdYgZM40UMf4Iy2+BThtmFt47JnQ7+V58EA9EaiAm3SQIgUOO
X2JlixsY/a95S2u1j9cqehi/TBEUBjAsDIIXuA0ZAHHB+xNTAeGd5lv9YpFE71CkRuzRHvjQq1/t
dMqzfZS4eLUk7/0vW1z0QfC7htINhlq/eR7bPb5OumA/74SKJei797wuhhMrDLxBCAU3OQ6PJfSe
l6rDYo41qfe0YjKJfslZ/GY4cD3wJOr50MDi+RQ4vgm6ii3jX8v8K3ORk+YPY72I0Mt4AmOfMF4P
O0A5W7fbr8BwcfRSdgRN5jfUF15y0DszIePynj+W50nd56kz9KDDVpadspSkULO4h6UVpdaz8cJh
146vMQtbqJbsR8zIoAE44TYQXOlC0gUZyeeSTY/GgaEDcwKMXurtfH8ey/XTDy6TDdeTH5hPjLWs
EQJfbTU/oLelHcoXXeXg3M2yLxsuWW850G7sskPLdnuVHLoXJmk+cTPTNT+JERtbNdyYenESBeoR
e3RubI6c5kt3dCKfmWLJd+5dVOvTrjpoR6xulibJKZj9FqSaA5ib2lp2ZZvV9Hq6U1yduY447U7X
104BgH7hynPLCfd+96fqf6lwsc8yqy9OjXbykoTtBj91TM/IV7imu+GoPzDRWVpoSBe/o+KjFezB
3b961U5laH3+BC6KqRST0NgddfPlDrU8BlQxOipo6sVVKfz+fd5cGMVZnJ5sAsaHvVhYUeeBpakb
+uzAqw7wNVQR62+LzQfhlk4RUvp5iUG7QzCZhmtpPWFg5THCMn45anFtIk5PyLBj33BCsYuysOJh
h20DARHd23CWfjsu84XbTdOsfHAYiTO7SxB8SG6g2hJGVyLTP5tkLPjFCLgJr2Szj/YlaTlmBC0K
ZxQMiT4jmKwgAe8ti/F9egw77jQ2bAzIk55nxeBylyXXhbrJ0PesmpVsVxPJ0yynckWHymclyFeq
hUF3Zp+7lsioxFOEM56Yy7NMf8tr5/NWLu3gc19o5Rb4u9rID3V09MLOiHabV+gZUsOrR9fIDz2r
8Sd2aI9JWXLFEHmOo4lv2uSgg51Uzj0HG3WSLtlBLq/3zM5SO8w6WY4mSyzif3z1K6NOUV4XPHju
cF8J9WMar6eOpUBXybENixNf/8BCvq5gtANnSMPNDPUk4xS3y04dGwyZUP2w49hoaiemTw4srXCX
e7ZfkyCL25NdixpKIuSUPBBr+BXby5Isbgzf+j1kBkyN2dPpkn7KUxuuSi9xY/XIRZHvyjU8hVfl
R6X83z83z47RJsHeFlVb6C8P4mv2a4vfyTHctKSslas89bhHSVpj4ZHdgTGrZi6ucPYJd55ZEvfh
l9qrJmwCcMjqmPqcldBqDuLX9HQYTM5fIx8F5dype1OxQLwhayfrJLSDU8tG8hpHp3SLmClUtjuc
26u2zj/T88LRyFi2tciluW/+Bvr9sBLvqjv8WzYICSzRheXjysVKGL8raFEelMVPtl+FZXnlkJwV
d3Hhgw36173b/lKLY9dHeHmDlKDaCZ8c6eifLGVt7NCiiWb4T8MPoMEp8dp1cCplIvLgYTO/Cwni
WqcMwnhIeQ1WAXqXyOz+5Xt6ftxhQNyo9qTebiq7xv/xOjjhLecOoMAbOPjcHGt/1co3BcmW/yJ2
4KWZ8TSoERzmwMwxlwSKrMet9I9dF2plPFvCISQSwOwuxY/iFIFZNPbISjCr7XTqdCf4JT+CHVwj
hZk5ULKeAT+GX9me1smxPoc+q/WbF0kORNttGZZW1YGLXK+DlULp5qnpTqJtfxi3eq844wbxp1v0
ZksynMTyZKjT/+NYXgLFv0kY+5nqBoNg4ISteFDn4zRZfBezJpvi/Mwe1ci+JLpYZkKIGtVXmRGI
m9DYRhUWB24nWotyS2v3/Fp+cXPCeXzeWSzSj9TZfH4mvj+3YF0cuHvb63ifiHo3UaC4xc8je5u3
zaW9sikmzE+Y3yDbcqiwV8rH/LW8z+gar9ix5Q/OJVU5wMOKpm8OGsr/YCs/ghrPt43xTXUiRFZR
eMSkReec8uFNPWE6aFxSiZeMWaWtbaU3eJTZHcuMX1TUNGWHdDeeFu8qcWCrDFHmttgoOhR5sBMT
Y7WOsArCgCj2V5Wz3IVH/K4iHy7pgdyFga4muUmu7HDvbEmw9onnOC43ow9f5l30sItnS6JZwk76
VTl0B0biABWR+5LiorqnkHKoLkgvFr9UypMLe2T72jfM7AtSyfT0Kd9D7KdfM2eDzAq6MXY+qsnK
aWqPFa4UVrwlHMJjTDC8LWIIofYC50zDlg3MZFyDCW9vleNmchvIT0svNwjido0LNLRiY8iwFiG9
mKls6QRO4FBzmC3D7/X1JF8rNlbcH17TBkImcaj0M6TsqlU5w7e4btbdY3h7tq6KufH7aGk2F52K
GUtptGPFga6PwvQME0J8qI62wutknW4ABFY0Fvq1ZifaZXhTQ1SxmPOhX6bVaD8WTFrZ9EO/pMnF
8fYTyvH7+G/B24MSvKvf8VTsv7sb8RnLwc/gg1pEdMLmVG/GZvHF4AqLa+UurBvRi87jbWgctXMZ
XZQ/uKsjJ3lN8zUasgXiP/TBLvbwkHAYxDMfKmOHENk+ctBWt8B4JH2NlrQlsUvBMHB8qJGFyw0n
9GUissQhKuZSv4dMlICgKMb1yckZxjAmOSvp48k7ilfDezxcIBgS/0pWJmZA0pZJ+rffCsy8ujOX
jRws65kxeDNfeXl4EzAiZxvxZyacP0Qr/ZNvgB5B6OShpwKxEeF7lOcdQtWWZWGFuBIa17b3sMrG
siGiDcYlO/Gx/Hil6aW24OFZlEIFMokvnIBWPeMb6bgVvmfMx8irYjItvT7/uLFTnArP4mRHAZUG
uhLaTlq86ZDtO7ji3DBH43to0C+/GoRXSnHmpDt27Yxuh37vZ3IVbmqwxWO9Dzc6wUOO5GJPws1D
qcxBEu4wRnChNd3Ur26bPCHw2uHnglFy89p+038l3tb/ug8DEWSIVSjtQ7tuN9EOjDX8J78l3vKt
XeM9ScM/PZR/I8kmGAXGL2w0svoIHYbLnfZcpedAOM60/fUL40Su0SyO87znGaN+Pb4HxWaUTABJ
0kTZrJPeE4K1ka5JG1WVrcK4Z7bIpMyeFiadAJvx68y6il/4pRQGLFMP0FIOsdCwIbAKhje370q6
qmdANwuYqIE05xWhJ73qCDBRwyKFihSW+owTI8Jw/uryXX6uQU3zEC9XbOgdjoWXCuuT4jjYaxMC
F1Nd4VvjwO8CwQL65gb4Lj6wkC0QpkXrYnlSVS/ObqrfXMSlO2Ee15vJd1TA+qbXT/38E5YYUQnZ
woZ31mQHAI6BDCUZ9NOncakJnKBOSFyi6Ba78CGxj1HdO1ILwsXVowJOT3Fq47vDK5gNMz9Bb2X+
Saxc7nKcOf0uOiQYjTxX0D45ELHwYRLjsWXvebtUxsk71XJebYsRjKiEeW8uP/UrMv7ilv6Qlc1S
z7eptXSMDyYBOvlxtF6MmfLTuA33wKfdW4LyTSdNyHu+0cMDKC4/GrK0GJgk9zrdc0sPJe/AEX6H
b+ODQ05S7deB9CT4cZ0/ZpTEaCrpGzRcaKlth73ym8NztMaV/o3tc416CBP0VRBs0adonvou26yJ
ghOWOyl1wfrHyY0Lp2vsApUo14W9motP2ftmkysKmgxepls69vXfHKCylfxM19JwMK2iTCt3eWov
bsjSDwLbkQQyNVPb1IOJD05CZqdswyTtudNY14IZXRF9X1LDxEw9bTdG4UePjNz4Y3UtS18XfMAF
EAdM9boSjcVKTI7TcMM25ZWLWrJRUGzwUtweFyBz8jTGOzawIGtdcdrdtCtWxGv5jI5YC1R2lf28
MpedYruiYLroR5W99CCtOR6Vm+w2bntHrV8Jfol+4CphWY/8oNjGDI1TxlLY0VCLXcLbfBGRAcuP
2HA7XiAwBFCWbzAnzx10zYlqxUL5Qqp0bRVG+Oo4A4SU6KHtcZ9ep3xS+Ca/x5ANkmv9eq3x55hZ
gRXwn+xPmNBORwBzAKOhx/rXZmRJuUHWgKNsAU/nG5MLBxjrvQemvIpH7LQP9Vt25lBfNmAGWN96
8g+AEda6cWPKKwCH2GIvviyUQ7IeDlpn8rey3+C+uE/0vhTeq/qj8AjBsLHy4lc+GXZ3D+b/1ZpQ
+V608Mx6FE7gCKvuGl94O4qN7zEoh7yKVvhqMHLjfUe78DDuCg8vBvCU5IXQxVC6OYYqiq/mjVtz
fGORseFJ2PNd5HcM/oUD3jniatmRw7p9lh9YG8o3jWFM5w2jMxYupkWLxNI7G7i7+i3kTYOe6GUD
Zc4c0Xz2lDtkfk0+PilZB+bikgulsr0M5IwRh7pOjBXEfjG0I33VE7yjO73izSNYhguLLA9c3HdB
EZAhgz+Mkmf0VlY4y/SeIXPo9M0T5eeOg6WZ1kBffHr6Hx6XEG2GgTphz3RJH81vfMm/xsIqfgGE
Tzw9K+Z1EdZ4w+oDW50V39tN89uguMQwg4DtbXKtFNM4G4jYUc08/5AlRlu1CQT4TNiUTOGNq8N7
JFZ0pgy7IziyYe4foAlZi41xBjsc8UH+URPHRp+waKCaMlAy8S3RNs9PYoNF7kEz+QfOser2zWiS
xDwiPBluYb8Xcf+kSEud4hS+E+KIofpJ3+keiuQLkgduP0X1kDuhgqfcyMHsOrpZc/qK7zQVQe41
kQ0TogU8cfo1/FmeXPoyNlVoRafqisQzdoUVu8PClQm1wdW1xMTFr3Gkc7gNahs9vfSmHMNf8TyB
N6PBtwgnd/nVX4HpLS4xiS3d+XtPl/fOzGrX3he+fAVSRN13ET608/hBZhuabtXDUuAbv7D4p7c5
KRjEXUkCQu3jgS1e9cljy2gvuM+MpnIPL2wKGtIoznfFqfpXk7I3doMPzgCrekniuGjVbnzEDe87
PXaAb8KxxxoI1t1V/lAAeeJLhqrxanxhCqEy/Nn0b4Anc/36PBvc5czpjefoTs1p8aVs0sMrtLEh
xcymwoOPMt7mR+Mh1AZqbRk0MBe9ADITiRk4sN+kdyRbl+jBsgsvL6WHZRyAfKrJzrefn7TVKRMG
f/RSarBffTC7a81QyIr4Q7zG+KKw4V2S63yBG1BQ1bKDl2ZBxDE2zNydX0t+Z7n9h2DsvtziBW2F
bJxwF8BGL9juAysD3MKbcrLf6aK50andvCrkkYMXIoAJheTKwHLT7fMDokUirkC/SLbsN7HbnKvT
cqUeERYeR0/5kgEMBxNayEby1SMO9N17fOfWjdaxXZyy/WCDLk7jZhE78F4Yy1N2nmxxVXjx05Jc
AUqH7sPDY8zCYP4ss3lUrzfR37vHc6/xboFvf14j25BLDUpJdMJGUEmzB1M3kSIWV8XPzlrobNV/
WIdxf2m+UjKrW3Gdf5jFRKEjtF6votI3IbqxfCHeMHUARNTX80mWVtqBEjOt35brxSZn++Toqbes
S+Rj1zK29U/ti8d60ZThaFssFPEjgU5DZX9vdpItUrHFVER2LR3xxEtAaibcbeHTWWzZvEMl9GQ6
29pi7DxEryWyeGtO8D4FIDc66pxp+SfVeyW/EVr7nB1R8pAyLlVz8V1veSbIsgi3Fr3V3IaLBvOF
G4GAcbKrN8omiGz1s3/L35IN6/NlSoRhEZNtiJgX1Gbr9K1fwaLS/lB+usaztMXBYFhRqVdsfbxE
TkwaxMg37kDYdWoVO/GDue7vSFW1DW/F9kURC21jfATTanmoP6MVt9bMPPUdTgi4TYWOzMy2Asc9
9DmnWh4CGLHw4W7Ne0sLPtikvLNvj+816C7TqXV4g9EhbLUTU4GOAfyDk+4tTdfGCWLZCZrrqfuo
7wu7oY7O3OqTHVtAFWA9ZZaPfOAE4aTR1rCGlBoaGoNwsgZMsd6FJAGfqLL1ozhZOP6VlMfNaXpr
L+qRFDIvS1eor3Uq2xv27efx0CuusMGzJ1xp+wUEEk5mxh/zN6leoQ0pZoOdBjuf4MJ5ZMxC1Tth
lmJ4k7e02QneG90eb2DdzS25La80pei7Yg6ba0gbRPnlhHa/fs+CXRGhQEByYs48ujSpT4B6p3/Y
Ki/fkzcaho4LSTwzTZNTHxsiQIAccf+zghbfQSplJ//pPulU46eX7JeP4NJQakscC6sux7PXx1SE
ejIYNkW1Txa+9q19pyT58FHxIW5JVldTElzN+J2eqn9XJuAQRwO4Whx0it3cSo/Dz6Lzy0viF3s8
vejg9E/hyEmXy4c8/KjhsMgsLoV+avAX07YbfBxq4uw0yH4QuTVQK4Xpbw3+h1G2jSqCMqNkjEWi
nttdw+8xdaSAMQemh6/VSBxoXvpD5SACHlOvb+6oRunVOZpqxmkibFmfVdaUTJfBXRlegTWRbQ0h
alduOs/KHjzXRFnF42wtCL8QhnyQ91t5w1dcrPDkgpC9UYn9HV8NtVwAJbw25Fl4VTRh7uQc1tHr
AA4vk9/9jp6Ee45ZPl/YgvrW3lMoqqEflVtSSFWmHwjEZb/MdhjJQaNi5xOA9SHx6TRtlvg9raNt
xSxjfpWwL9sN0pWttnYizioksKeEoflwG7uDvjKATZ++LEND3XJOA0sTEbUmYniYzrhJyeOaCIxY
W7/M77Fmx4IlexcDKKOVKQgUos9VX9oihwpgBLU1omHmrpKTHqphlRMJgFCwPMfpQcp3eeXLJUR2
C5LhjHElPl5P/HTXBmgXGGQJMIEd307OviZtrRiQxW54vJqEKFGWUJdRC1EkYHLSMAyhZKfslhwj
dtkruRwz0azjdil4AaQ6/CcmP8DqXrOh3WXvynl5hJ7Uk8DaWQRjGKUvCFi8maSSiuVnqKzacauO
cDhubMyxtnpeta/n8Q/Y719o//9w/r//FWV2dS0Xhf9wAf5+LjLC13SkgQ/HL6Bww+Qqb4LBU6Vo
9ffYFGiKq3f6EUuB5cowFg7Z2LDgWu6ESmAoh8Fah3R9QFj2+kqvYNQPk0iGbbM1BIVe8e+hv29K
cwFhs2O0/fcYUWN8Gz+YV2Ie/ywbxTXqeul1Crz6PJGw1R3jH3F4ce3/Hmte36hf9qV//+BmX//n
q/994+/n/vMrhtIX7Obxs7OfCvDW3w/hRiSz472e6O9H8UmlMUmkdP1Us+YQkj2JT06rTBBV+sCX
ebGihh6xGdrSDcLOeylApaTrrHHA0VfDEuma9tOuCacTQRQd5khctRKT4YNWxIcsiz6Xcn6WFeET
AV/nKplCICTwRpxOq1hInIb7tQ8OYzHKXlSKCJOy90DAdI6skRETisJKQxwE5q7FOCkpafKYICwL
oEaCBexJThY2xj+0NIZOm9zDE83kBPfO9D1/lsPqGVOfojjh6NM4NxG3Aly1RBzkuNVl8fCJVYy0
UQJoUW3oT4bicFVWScFnpC6ebitiD4073iobjnknkbylgj6gmPgxFmDxhuxWOvhk2tpGMz1QhbRm
hkme1z8RowZQ0oSQwiiLgSxj+J0qbIv2ieJ76qE1tgMHYdoybB4W4wpTAjRmEjE2HDEISQLggX5Z
Vf5C7RjMJb3LB1JYaolfkajWEC+XWOGpMSSvWUkg0z2fu1CTftsFdGYN/8+iFd15Bi+vELla0qz/
JLn6WSyZZ+D/HSDQwhBEh5kwGnBfGsY3CWwKRQfae8qiaIuowgjVWFQG+n28V+fmkEeQ7SAETsWP
MRaJM7Rgb/G5on9oYYs1T9qAZArtUZkHW61fvx4ts00c3eLmWWDSj+gW9/WTuODgUGV12upRWXhF
jsx90WaYvqpI4H21EMjMYw+cSNax+ciddoTiLsbZ7MR5/x6gtltV+b9FAvMhaCCs6yO+r3Oqrpdg
AU9ED7HIzKHp4mSfYJjWd6+9Jis+kVyiqNwnVQ1JoTQgLcwdHXmqPyIdxZsUaF/LaN5NhJZhzyTC
PF6o7hRDr015R6HCbBMN4bjP1RpWSxn4amRQ9HKrrXSZIKDnOPqo8GBzR0vmwWCKslbealaiIw4i
c8gaTyMy+tKUzSwxsn/NEGEEYkyHeWYmYmDRZiUF90cwRGSFzgogT0btqj/YAqt/Sh7+oGVmtJZx
tqGeBSxgyXbM0KRaeG5nY1rrOMwy1qIaUJKWsBzOgooJWt0BEDWKJjhSr7EZSNmnWueMuprkHXda
CjlknI5eXRYpLcFTINywf4KqorI/hglHWyIvL70SMvbDHI0w9NxOqlw9iHT/EqmrLCQbwzdGqaFh
11UIOzeD/V38wxC934opO7cikVPd11TkcR572hKou6ekSQJMJYO5TLHJwrRKUuAZLgrY89nCm61A
5UAtn1npTqq20fgAnjXTw7xnmT0xiTLDAX2sIUHxn5tk28cUKnlL1VdU6WkIP+N2xL0c3tcCkgFb
bOgrKuE0r1yMOB1+8gyhaopDTFQCKZd6hiOolHqT3JIo3aSzJ/UKfocvu6QRpmqIB9zw3cxEhc59
eifs/aakxxHnqqEDQxzTCfJzzwqOCEjKBIZYJcBnvBTsPJ0WJx3PlUMp0cKk4/dCX3yMWP4BZ5N0
JkypAy37qy3p7THtkLi0GAoYCiNHQbkVmshZ/UcBmgBcEswshryAg6s25zEXlA98TUxJBqvUmQUj
JXYzRVgPFBHSqHHgtAaO3c/4kfWoxhHRbeQ20mFFzqDWTwBSnB79IIAlEk/1CTtwjD+SbFPKwMR4
2cGhEmVMMOuywRFgOkjd5EiaHtqpgbVt0MiXrCeSXlKZGepjqVMyxLPbz2RvLvXoUIihRPZX/95I
/bVsuE/6uXS6kVQkSWc+EaFg3+cVDagKaD+rC1NZpAzb6eb0oap4XvY3SQjOQhCCU9SkjcNFrDsC
KlTqi2QJSL7cBmyRpfG+SBlTBjlONxoKBTGZOr8dB8T22XU5vuQKWv/AOSRYLXTK4UH7wjfgd+q0
paeOA+ryBTN4bCQ1XbJTpKumJOWRjfxNPOALAmVARLFuKPRL/cBIS8KAaA57aBNt5Cyj5U0pcd5u
MuYU3GYw5XAgNMjhtUNWOUw/izh37cUKGYpEW2UGxgvwDYtFW1icRrdFf56G9taW59dLXAd6xKKK
NMGTJ8yBElllnWS3eClHODip4hp5PJzjYhqAceB4iEsmI0bHrUhgXecue4rpAuDjqQk9FOiF1YqT
YM1RGLjPp3pIA6pRrOhJi2/mVS9GlaO12SnP8fsrgHkGo/V0RZrtRTRDbJgHPGrzKYBonzFj1CfV
zVM8k4E12H+fsOVIi24ORciS15MWK8DXmLqlEFdirimOJDmyBLgrAqHDWsNwuZrR2uM6zvEULAAh
OvVObkUEKZGAB4Egrhr2RDm0ZG4SIlxhU7Yux5e5HPk7ZUEJuSREAN0TU/5KDXqSOIzQDejCUiGO
QdBoYSCeDFAWQoOpoTw1qas3J1msBCdSF4CEI419ojD1aDV6P1yUwA4AniJ9OaFAzMAwBbjYMEfq
6Ykvm0aAX1hA4dM1dT+NzIzLNc7PYLE9+H6sK5bE1u9GDUKZVChbXAnVxI8B2sUxc+MAgnxD+oho
MF3GkS13OgZqZTLFNInCdZm1Bj4wOSDnQPpbp+QXqUhuQh364siGHGKTwxyeZmRRSDa+UNm6aBN0
SxwmeaPf25fLSU54r0xUjKJXvtAzwJwWKYqtDve5BtC1MpZ3zVAHwo2Mb4KXLqPUzfu8f7abIVzJ
pE6YGHsNG/UVzqctaeqfuKJZzdLYLov8U8Wf0XouQPFLfKbwc17Lc48R/zSwWClrqO6qofVQtjJ6
BWlMcKC2cmoveFwz2hvwp1xT3vMcIEuAxIYfPI1vzAxLXmQZbDTxR07VW9nUJIBVmO8OE7YLkD6f
9C+2+uwyuxIVr0ihLkTtedb1VazVNpYZV8qz2jNqHJLyEM2PHGoPuR1quq/OyeKRIZZQ7CsVo5pm
RjAGeFDlhBEQrXHoef12p4bNHq+cfSBEH3g0RL72yhqypyT/P/bOZDluZcuyv1L2xulpAByAA4Mc
FKNv2YoiNYGJooS+7/H1tQDe93iv6mVeq3kNBAs0EQpGIAD3c/Ze27w3G23vj1STUsOddqXqNl2F
/ker6WybWrIbhjo6eOF0NOv+rgTVuMtkAGGA6hWUXHqHUYkNKWwxK85TIFElm4CxALBGfhzu1Se9
70C6ZTLTNYl6gmKlFTTpE1ghmXmxBUGBRPAx67QxMmr6L6tvfjhaw2H+HTLo8cT4jg+MDNB0cg7l
GZKs+TgZNr5bcoBTLGkTg5Pd9Ayj2tziAJ/2rn6EnU5hwuOshad07gOLZgrgJh3gAf6g6hBaVOmH
2iiZ59wVforhdsRKWoMucJoRbS2MO9CN6K76y+Byl+jp/dSlrcO6Rw3Zt89SyuiQJOkdQoTBqDBc
Iqgvdb7qsCEKVRPVhkia8KZTpZpTJ08mrLAHaGtr3whWdYVUEVClvTXL5ptyi/6cuu6JFI9j51oF
ILFvmXUxivBcYxXeCOXQAhpJkAvV10C3HptkSFct75WPKUJNmBICw4TgafSdN/g91l6O0t3WWfMA
w9E/pyaXsmyMX61Y/IwbPlCLOqlrdYfAKl6rEomxSOuX1Ajpa2j5NfRKCxHwQBJaQmSTDWapafgU
QkswKYFlUcpHLdXg1He3fkFtT9+B/NC2Tt6t3IaRU5lN594K3lWfergc37yYyo4HJnDDYGybNcV4
lUq/poEwbwQgOrk1ARU/lAVFtZZZLxd/t7zXXDoqDSGzu2JW9kZle3BVKVa+RP+FYZO4N4oYPmPP
GodIaY3P5pBiVnRColOjWt+44OJKLd3ktfOaG9yH+0TsSHM31sAQUQrVFN/GUdxVWAueNJpmfVi/
pkNUrwLZo5vsY7WzEObHJxAcTKGN7mRL7h9NABxUZSmPRrRzUJKqtQrRp1mSJLgQqUYVmlxgfmjT
FMG4yfhLYUngge6xlAX66G9sC3No34XIFEdSIj2Pqd4k40cvsGEMtfRq+TaITYQR2yWktekpHSNm
0dTzHXIamHYcpLDvdFVS76q3sTaC6u/3A9gsypJwVpilImFOpw03LTgD/YFfsvtQF+cq2QZjO1fc
0Ary40HjVKRrN+gPMjd2gVfRVh6D5p6awheRwAozU7GXHl+g0CtqIEP7LW6zeGVD+2Q0L1Z1o529
kW6tZqWoICk3joilLfveZjZ01K37XqMhFo3Pkd/u3TiidBDoyTb1BR8YP3YyHaP+q0WSGnhHHVmt
O/tl62fM3cMJBl94c2tmmXuy8mlPMlSLItYKdtIe7rtOZ+ZdMZiB30MptHSu0qb26gv/MnnzYFnn
5GRciiCnvnCep2vHd+nvum9O1VZUo6KTLjqgbcaFP5xgt5oJm+hrPOxdeVVa9C2WcbwD3QU3N+Xi
l2eoBFX8APa6hHzcIC0Z+Xy1+Xv30JNK3QPa7CZfNdujzCiaU9TMPsW0owM5JqBhSxihjUWvT6Pv
MrjUpvkqzYbGBrSyhABO6gZ1Ia5V8NYOFmzSJiYWu+bscEzaOpWPywdJK4TBlT+S09ERwdj3Uh2C
6CFPkDH4QfMj0NBUVBQHQJChSKCvPgCq0xTe/gwEC9qlrN36LYKdJqThLQDZ3tglrq1xHKo9dwEM
0KDN0xE9ol3aPUQitS1cq59LGXi8DURxoQHF1x4kglWgP0SAoq9rzSljtm2ueomaHOC7s2vRuFQI
H63ctDFVVb9GLr1E5owk7yaE1IwVmWQ16qPetby1CVP/CsONoMHpMmlGfCKnt1gNU3EiGpSUwspD
O+gRNhp593GF+FpMxknO7R3L5MJkpvWznShacNra7r9OYI6OAEGeO1Mi5upqQpc9lEB8n8HeFBOq
GLCBm4w4N5m1GKXITEvHkfM6FVtp4WsYn2ViY0XVpmEVFSiram4HPmd9P5FADRfWWzML/oo0o9Aq
48dUPgZGqG/mq77iC8VguqrDqxGGeINleA+BblcYKAyLsYQZlqyJ3fQeQQWTQUBfmD8s0ZOviS23
3XSQNd4KIcMTw8J7KiYTYot+l2nGLy6U78FUzmhdZndZ2wMhlenaq01xUxHiY0bwM60M5LMdukxo
HfcpGy1+hDYnqqJZ2DOHvzW42GDOUj+mMEQTgvC9rTVmO3b/ioOq4UusqvNo8ccGKKrLIhu2oozo
c4gmuB/tN8d/wOJQUJO68d3W3aje+KY1NFP6uXs0vqiemUti198MjWldsa0988XL8ZZiwTpqDToP
YtO+NxpFoQhmQJSTX2P0DKvmOJu6LF/4yVFg8nT8Ipr5Wsm2v9ElwlPNzgxk7tqbhHg9VfQ0GvtK
pAVSgNpBzgflLunj90CF2d2EVB90IUrpeR5rMYXTGcMVPUHmGCecnhLIkOhnyJDOo1XREOlpXo0U
v3wZ6leVEz9tYaMiCDs6xsWQPU5Se3NmCDtzm3fL4yet20+ZS5KTJut37m+vRHpTz2p8Rlm3edlW
e8qZ1uATPVyGr6Zmoss6tD031NDEzFu3lNW4NJyJP7khFGZwGmMdyrTcWT6DGAWroZL9llsXrQkz
P6o+cVYwM988IypWBkrx3GN0MpK+huuaUEUz0Umm5/KWjfr3xHO/ZFOEfyVZLlY0n7zhGg7Jq6PX
/W6CjnguB9Oh3yX0tR1qOYKc8nvXm7t5mrHKK2vajLY5neDEI+Vg3JITwL7tdO/ChS46OYZLVHqR
Udxw9KfCLZkbpoNA6okpzmpfuHmF9/HQjGQouY+O8t2NN3mo/sv6i5Nla3sszfVACNPJz+Wj2XD9
y3SzWkPb3imhEWaraKdhf/KcJOU+R41n4NqXDQRF+3Fnb9PKPFZwwPcK5YFMFPlHhIsFDk5O6WVc
hVIIgDajJC3M8ckz1etgWvEpmwdhtuFK+MUqhhi9l4wtjn5u/ghTAZE3Ku4mDVMnnLFh66bM9iYH
x0uaMZA37Y0dWVuv1Lbd2NCzdLPmKt96hCcpF/4VM0KQUgz2UlXTdfC+yoyg10ki0u/oZwTR96rI
1Z1DOZpZw3hjd0T8IL5LsfrheTHHjVWIX9D7dr3t2MzcxK1qq3efwtsmr9BK9IWcdi5KjKmgWF96
DLvnqn1OeuTWVzK+6QNf7XtvvDoz+dJT9Egtb2QgVzI4AN5Vkw+MBmE0uGLo1K984omQsg5ipdr2
1ffFc0SY2zqBg70OiuzFGKd0b1jxyZvTOMce+6FsZ5Fl06zTER+/6LmQ5jrFZlnfVcIBxeCDB1N+
YG3rb61oTxUMwZ0x9Zg67ApeQd3W3KxEve50vDxaNtVrK8zo7YPnuxm4w60ikKsA/zW1KQ0+VTFo
P+zWepB1ar26Ao0VYeffIptUykZcjco+c6+96/lmnwsPoqUGxjAAFXqMan6DaWJuo+xlYFa89yo4
MgI1AyERPUb+COl72nPxb7BlcSMZbpiPcH+2yx+JnzEg1R3kxflM3vn3D4Oxuu+b2VA1R3wNrpVH
t8vhfqmckUb1PIno+nHNxD87fhw0H/m5mpY2TIRl/ePh8vR/u//z6VNX8b4+15VDh7EHItj/4r8k
68aRvON5sTxaFoQdZySb4Wv9XF0eLduWvZ8H/7btt9XlOA/aTNH90CtvM8ZYhd10SMl5g9uIv4k/
8ePhsnVZn+TALpFC+zDc/JH5SX5cFpxdOG4/18Xk/XPdnH22+GjCF5VO1j6exMoVWm2sTEqZBACA
Sgwd0RxI9r5JitHZewOJVY5D9zTtSotIt8A6ToHnrF2HIc2ySorBHzvi+RBlm3QehNx/PmE5bFkV
FIV2dh+clk2hZZrHwXBwsrVabOJfhtuzHLfsWRZ5WvGfM+kEDy0xbtsZhi5oetZx2U06kXXIjR+j
aVgIht0OdysJo+sQitiJgQOUrZlWpEqa+V7Cvbgs6P6aUfPYRDRoumqsVhCVm+OyMIYGQUSQVxP6
xgmFCNQZlTfvg0BrkTkEIYWRHp5ibuBmRccsqGvahUKsYmBj+3CmOEUzKCpbTvB5ddmWpj3S7VZV
1b7y4f7rAPcR+7GbHFp92nhF9jPpqcp/Po8AMW6oY2sfIT0TYrC8wvLahS9m8ojoTvw54e7z//v4
X5aX/Thm2TU0dFL0PsMV+q83Ff/rnS1HLzv+9Nr/7e7PVyicqN65bX34PPZP/ydh6fswrk6JzgAY
ZhaXPycFpGC50Trw3cfeRLho6Pjs1NicY0rP4KSgZ3RORjNMhJQuv8emXu5V6dEVyIODAn99sMnp
PQuI3X0d08dv/H0XdJuoAdzto1spc1BeIFbWniu+k9f8yzaJUelKGvFVwlC/YuTCjNNilg2pQNg2
NTF6lobHzNPN5AABBgYRBOidR+9DgMPf1MQtb2P3iQFYfo17LmkuUU+NrgEdbmJvTdpaiVmJZn2X
VQg/HeYi5gDUoIbhkaU/Oz8U5FWjgWIssG5jcooo0a2xy6MusvOnxqaBUAaQQXSUFB1VsjWDbvrd
DX7FMDH9Qznoj4bKbhne1qQRaQgRwmgPHDLfd7ZOcE0Gg0dnXqZ5IXIqBz9X3t4lOqjRMvTa66DT
WGrpYOqSNl07q8ET3z12OfhHL8a0RXwyESpTMfHTAoqj0CrD/RgRSjqFqO5yeotedBt4EJ3TyUVC
ozfvlh87mykq1dpw9VMe9C3yUw8xeu0dfQcDiKbcrzGyyoY+yNr3QxxELYqejAjjSXxvW7Jyq6x+
09QWzjxEY8CB+KDiu7pksh1ZBRrqAL+uhxrUoLl2Mq1vypLfjbjFPFtTTDNHfW/ZaMcDAPGr/LaL
kRuqpPyKyyC9cR04J1Xj+zelQ51Uj0FpRno9AeTg+kA8yXAoFXMHnx5s3ITVSfXiSp+g6pqnUmNc
rDMzbTIYJgRJrWgGX/tYP/dETqMfawm8dvKLaCTR7JZ3KwzzLSvnui1vBx4q3rPEEDciakEGZhhj
Yi/7pZLwlHg9xnG/FJcgo4bG7QymUCj4TBLj6kMZkdoc/1RTDiiRwIyFb6yyWH/RGvnTjomX8zFX
8NQL5QB+MMF0BwL5sbMr2Oza3vAZrBERQGvXUu5ewaMpKYYchamNuKbi+KA7zIIyV5yU9xibnXXf
JMYvy8DFHyZfgCOjILMzdLvma0cE2tptpq/BXpAZvNImI9qb8azrtZsfNAPniV8vNiSatTDaMfHJ
NtkUEVc1meoTzRXGrDKjpY0Ets6UtqaNRThFrH74XRU855S3PM8lPbUPt2UPuM2jrrv1Uu+oxeGB
YuYXg2ybQ8knJFwpKHXm1hc9b84J2Ut8vVxEzbTHVmda+04Gzr4pvEsdhNXRNDOuI3l6pCRw0TBh
DXX3WibVN63gHaQFItjUuy9y/a4OBqZ+fN6d2JCsHN3IdnzXY1tcqhCfgFFTwhOBjpoGHVYcIgOP
LO8lCBFVT5kGUydIGXTiAW4C75JPxBVq/D6gR4gfTNdQVGiHzMXg67cnE4Vdj7GnrkAqcTnfyh4a
XyFSH01tWr6lNmWDGkLimhhM/WKib9Mp7SF+ieutmsz+MW0qVIYRQhk+WwTMTSCujOkB+OmIbsfs
1KjQv1Mt92SftpBJpMV2kPo30pw01DAZ+ksj/jKahJrWMdNwPSDBrgu8Hw0ltFa3QGIYyLuGlvdV
ttFd2BTgAyeJe9Zr+XUPXYcsZrxxOypTlo9oquu9rTUNxqZQTf/Uko+dG/1TWdca2tLgpyFbePAU
C7aNheZ30A2dMTwvSpcYjUs7OxF7111VeKaTOm3gnUTGRnS3vEVjbdSkE1UtpQ9zqEtyo2mrexVK
2GHMT5nfk9JpoyZFyLGbhLA2fYSpAhpQGqM0tmsrBQAPWMgSwW2eMBINhpmEQPdu60VOc2h87RaA
eryjWfWlnRJMTd19T1zNylgAw4WOvVDzzWPvtD8iSKkU2rL3IQJJ2FdBxihNe4Z1W/OpV3iQLOCZ
ZTOeNMJt90OrSCBoKeHnkgKPVDMGNMNsUQ6PQ2OgBzdDqsUCwHNBpgnimsTy08ssMuPMVXkXnuOC
mLoqTc/USW+FtgjQQ4LcI7IOxlJVu7ZB/98PU3wcCc/aulN9Nf0QOE3ReZQRhlcAxLQLh+E2pm5/
7MnNqFICJowhkpiGc/egDfFrj+BVDcNrYtNM1+zo0k4CffSI1cI2sDBplVz5RL9vx248t1WUHMvt
2Kf3SaFzTc3c70VWU8xvsPja1XPsaCGameLRpqmVTSEUUZs7cyrUuz3/VG2DFg6g96rnB0TNjtHe
NLx5WnnttbEAmsNfH+F41zUs2U6KBbkMnnS3tnSkum55QJeTlggRoIDycsSjkdy4ps2MDWretuyY
HNh4pTKf8rrxT25gvYQJZMOo0tpjOxNsCKVsQX7GmCn87EsgguAYpGDlR3N4CQSgijqT41FntIe8
hEVFosLGSpETRHNedAy9/lACXTbm6qFXG7thngNoinlByTzSqXN9p82Qz2Vh/OvRsvrxFucn1GFI
Yw7MMm+8awyGc8P8zp1efxIg2I+G6rW1g7ccXeTXdGhOBSF2O4aPEwWnkZBtx3B4SCM9v8lBL691
VwAgqdxdBhMxrV6lj/Zfd9F5LkP6ZWE6nArGvFhWA+FQQWfCtjYbAmVj75tvtsP08aZkXffTphnr
+2A+w2OT+0ETxdONza+FySWTiNIAXZLPi+XRb9s6x+W+aWMwqoyI4uQ8cxKiYEjryxb1ZWxd/bZl
QpfN3+Xnop7HqG1o+SuNjvPKLGl27vWZzLogUv3YZ86Sabthzi7t5kWk5ijjZT2coaxTSTXGTeTe
XiJSJ0Xu+UJmTauHrnFIvVQQi0iA6I5TgpBXNGWy6rV+JlUBiz22Ba6zKrcuAeT5HSIw4zi2uTwu
jypNGMeit3OKGZRi/ZkRW0oyKTrbYsrB2vIelkc2U921bSLhCsJzYZX6cYkNQMfeBbZ3sEpoJkaM
6Jf0MUzwiW6Oh0A+0BbJj5nulLsgcoCy1a9TzziPuV66om1Q8hXm2trzBZYdVctjYejyWMuoWrfc
Q4mYQn2gDC6VMzoZ1qWrMmgBEG8Sso2SAkFpQbdurE0ycTrmMvQx7wrPC3d6qjidXKa8myYUv/p5
HrMs2vmR3nuI6SdJYeifmFyVhc66SiiIVJWTnbJOx74kuKFB9Srm9PEoROHMgvoqAPVJ3w30R4/T
vFg+/2WViJ5dklLM4eP2AejN3wEjtz8W7gBDxUErsJpcgQI3YUJkBMTqUb/NWxQvJQNedwYJf56A
y+oY4SnPx8kjps95lLJ/LQo8dd00ayWjKaq3gTa8SezxXPfVoR+K03+kZlcHZiOGqwGMcHIPFHeA
b/rcealZA5+Md3m8iTcKd5j2bXoPmEAQYI28CjvLCxqJp/JNPOUnWlMaIlWU2vNYEOZyxIB4haNJ
nYMv0yt4sffhlo6F9yUgwvXG2akRwukq/QVEcf5RDjvKnnQQC3xJtALGG2luaIJAtyYmAJVA85LN
wDEQJFsu6tMjPOmqB/RKrsUOqmPQ7bWH6bb5kbM6Ihu8MRFDgDiiB/hq8PPV1whzmhf+K5teHPKv
6kZ7wIxGkzDFDY7wxj6HbzqzGOypLk+akDPgNxakcN40xIVhdh92OEIMcxtYPxDDgLctAI0+6a/3
AKw2BLfRjrvBZozQ4klQKSUHCJ/YDJpyzuMP/844o04DXLDBHwuRIKH1+l5wO0tW9qP9bl2NR/FN
Hr1H6vGM9WrsWBL27o0XnBkzcFkxXqOv4633PuAN/9rDwG52/lkPDyYG/nZF7KNlM5HcmuVa0MVC
Tn4GPjsVTLpv8hfOAxzwE90Jukbn5BS94bgsVpm3IXzPr3AU4IhFb4GxF8BDK27KkBbWCnkcoKj+
jpEY1w0k8e79GbXFbnjzyxvr4afbbJsRqfx5xOftlNwM92a5d9WjSHZ/wrXfMSLx8+x/ZW16l4dZ
U//XP8jO+cdfGeiOZmkMJ0gfQ5qqW5bN/h/fH0KkM+Dc/6Mohz5KpI5RUzsWAsnKJv4lTvk+fmuP
/gOU0wTdwpaQ6VCtx3RHWVGdncv0gzOEcS0avWRmu4z2Wt9WHsOmAyH1OB4ifxc4hzlUD79fAUN1
LcVOuAY9dsYNOwPJ3wtEE5SBz9Mv6H7bdJu+QuG44AHdF8/dffSQPhXP5LFg/VtXP6MjxNqX5LuJ
wWXXXZMj9350mBonLMb6vdyNdCR26p6LGVqDPbIZ7NTIp/HtS4xN487oV+aaX8cKzBvK0snEHdU8
qwsY5oFq9tnuNm67/Vl17/ZTegbHG/zCmIChQf3CAWVNK/vELG0NMO01ekMMqb1Tt0b+2j/SWHgq
+dKx2sAqZg+/angNBL3ukZIdMMx6Z4tcGMByN8EDYrPyKxIL55pvyevb4tWlNpzw+R2RRL2qkEH2
PnlDq78V9/IZCubW3fg/pzcbY7fchU/JzGk0Xhy5Cc/tQdsHO/OKL9T8Vhcr7FMbrPfNPRhABM/p
V0I9JlwvKJs2yJ0xR/I7VbgB3qLNKjxkFrjWG35h4+2MAHiS2uonYLJQbRgdrJtVuN4DswT2SQc7
wEB4amfjxQmfAjj1jf5As1IPGOmcKZFDF5/pDZy2yPiu45pRxlqUe4gMB/5Efyvv9Pc0PZT74TtT
cN4qN/CddSxfx5P7yrxyx8hty9h8L3AMrWfQwvXV+oaSEIXo5hjtnM3fnPkz3P/jBzEHFaC4mk98
29B001a26xrmX098QPY1ii6jvxpOd8WzFKznawyn1xflvhizwpRwsHX2DdsMyiaMRl9wJNUz8XvW
Kv/NmyEI4f96M7pponjWTLIPfv8VWlEz2JXb9dfQoFbIv0Y7BNlm5CMC0YbDhvvHGp8dGaHMq/zb
grAsGrjYLL/gHwlvl7fz//Mu/i7vQjM5S/77uIv/nXyv4+9/ybtYnvHPuAvD/U9XGQ55Eorup+04
//gj7kJXxn+apqZrrmEZLokXhFr8kXeh9P+UpsPhyqTqa+nzV/9H3oXFLktz2SulYmAszf+XvAup
/nrGz++HubFl6owXeduO/O1Sj2thTNNWM39OdfOrGkb/HExWeO1aJFIuQc7fQy5Ssd5EcEBbHF6B
Lu+rCLGZrtCv5vimhqAf7lH8Tpu2RdDtWlb+WFVdfd+Gxg3dQChu88JHXclNgFzFwB9ZLQvz0lrO
nVI6/dGmm4sbsdYdPw4WKMlbZuc30wT+1CGSbSuRQFxo73l1kl8+FwTO5xcnaAIqrKFgXtCjFvrc
vTxajlkedZ0SZ4+u2vwiy+bM8J4rlYKn9EW/roNSf0nQPFll1f7UY8AtOo22sRqICRgs+5oQkH2M
NUkQh9XMhlbqAqWCcaimzIaImVeX1PDKi9l4xd7LvS+fm5bty+JzW+nA1y8t97hsF6Fdn/v2nkk0
vOSkLMDsz4s69ofTssqZljDrgXT023Yq02iC8yKBUjMfvSw+1vMhZt/yhNDpD1VCQVUtx1sfz8qy
gcs+mkpFuQrXWl3Dl4fib44AfejHpSfRtcClyL9ITwRgMyb//aEXpoTJFiI5uCupsBpnTn9h0j1c
lkdTTyEV2U4dnea9y46mZGyeWQ04PCph+LOq8jVEUc9FtvOPpus7L/TU/dQtXl2PBOch15lvUC0N
hnRkoqqKV10PXbKgTSgNUWs+60a+QrBdvg4GCZxKVv52OYzIrPscXcGDiuz+T08v/Y50DukHu0K1
llpnQg+PjgPpYVn1wti8ktla3qSeDSSYshxqSefWtg2PH0jRcUaUVMVN17lVeu7eWvPCtUl1a3Xz
9Lm9DTLvqAz/ftm0LAiQcm/NJAbpmvZ/vEbgojXL/SHl7hn1Zwb2/bnTLGwVaUffeOD8+m3Hcsjn
thod2Y0MiCAmtVadamkSEVmXX5e1dmImfrM8/H09EAm72gSoAFJJMIdzLujnkVmVcuuzOjwOnxvJ
/tmgpOImSAwQU18WGpiDSgl1RSHRPLSF3pyqLCT3zo3eO72+jlqQfpcFHh0miv6XsU7lOsyVcYtu
YNrZg56evKgvTtQaZwqC2558rRD9F0w/XrXxjFRcA4QvN6KkPD90BFt8LJIsPmeJjhPwX5vmR8JB
rWTFCBk+d4SdG969G8MQ/PHc+UBu+h4xreRoRAbl/bIpUbrpLkmyCX/ZvDBxtwDwYC72uS30prMb
CXlJ26F5qMykPWuO+HiSF0b+QYXEgoz4Sc5uO9HATtG2sBJGUwhI8/NhwGz5TC47odwVXL5lTz/v
jgwRoCwJANqPUmdWVGvB1Rl9pkmleSFqNgc1VAbXZt5u+TrbPcf0ZwWpufs4rp28P/antfZO9fw4
diAMRWNqD3WVjA+Mx+bHH4veQF1ej2pVlrH+sW1SXB1jrzrn86bBT7Nzo2IgUP98UhOg9f7tRb2P
F8j97rb0ieDy6SvcOUmzQSnWXjA1ZHcfm+K23kY9XbxlNdFr6F2jkX4e+7ndmts70Jy7FUBpdUwn
WjmT2XmXPjIADAxW+gPxrRDJ9IZkiYlZm8YXZ8S+3Ft/3BX+/gDcC3kBAe1P44F/M5+iP/eXkZxp
u5orDd12+GeZ0vj9JpvXNt2FerJ+Yjpq9w0f3nmQlX42LBdljEose1emzRdBuR1hm1nE1EimfFfM
n3nrYMcdDOvWb/nM9c7KD9qY4Weddy7bAh+/jELjdpxoMV70NDqkNNzhQkfRWzIBzRJatSsm/3ts
cIYmHVHgBQThZW1Z9N0hwX/w9LGCnBnDRXjXBL14shpkaJrrtudlZ5GCyM2yqjosqxottNrOXfwW
Tobb0hLo8UexKRIt+jol5Z0fpNG7roUvcdzqYA1Duc3CWG1H3TmnAdqNoo+0uxCxx65KZIh4oKND
gYpnY3ta9kXPCgpcNbX0MQlx2rQYRY0e4GnQdeaDaFkoBy4tVy3vQEbwvNol13Tyz8vacpiDT3Wd
FPzXpPiaDx+HYTdBDxcYkmmyU5u7wY7Ezm1C9YXW/q0N4xt0AiN/zq7pbiqr6dS6vkfZdMjfvGuv
9Batb63WU1Iw/Gli+/o/nzSGwfDvT8N/ThqlXN1S2MEsWzqu/tvITEUGKuG68t97penrpKvih87X
4T5AzowMMNplh3lraso72wFPP+J+hZsypE9akTZnlcEp6P1oIOs74QyYTBSvIhAYK1wqHSkqsjLv
vNPnjuXRsm05bln9bdvnc3/b8e8O/tzGCNO46QZ1IL6eaIXQtC6kbwvSJh2Pdo7Z0WqkKRWYwnwZ
Vfvoyt7EmUh5qJakBwSpDrzMl7NDIJZHa65L9pVGD3lZDxgi0NqYt348XLbajVXvDGqjH4fPT1y2
uwbCppjUtHMf2dG+NLT6UHhpcetGMsElJ0H4583tqJMNTSzqTu9K1GTuXB51e+2aGO0094PAKHYp
q0064dydH6I0vo1Q0xyX45ZNuLdz6vt0RTjlU24NuEvL2D03kt/alKfBps47iVlSi+/xfsf3WtFo
bGNUUJl5fC87Ed87yAx2caiA9M7bluNMUYp96kAXXVaXRe8gi2uj8eVzEymm6QU/5kHyka+Nqjf2
/C/YVYtYfonR66aDTcrtvDBl2W+8hFJwNg8dPncsj5ZtdYh2+N/ubiuqIoMR4DL81wsujxrDpw5k
1/L7lPTV2Xb9n4i29CuyR+tZJS4WAT980ie/fwzGfIOgVDwUmsjPhQuCRseq/mYrc+/5jvFVTakF
Coxkzd4PtEduLj+WA4w4+VlYFoRWC3SKOZoasCwpvlatszOLXn9zPTy30nAhTMVOcebuM62XHfBl
snjnT2BMMlPasJAm/4ISJLiMtkGbyQoo1NSGf2VoDIXYa+5IkNcupWkHj3ou3H2k6AsuO5dFh6Bh
rHTtsqx9HlHKkKfPz/rXayxHGFnmfbxGEwEU743U2CBKgKbqxJ5z/Hi4JCYIau3IkubwhI+Hw93U
j2KnWhlAhGzFs9eB02cah6UkcMSzJrGJmw53g2UvTfw15hTxGMSZeOjTdodvWDxjiSr/rnb41/hE
k3rhPJ10XSopumszr/1rBcUL4iGky5T9jA0X4rTRYeOLvPqtiINTF1f4WOOrHqYVjEC/O0eNMr44
bW4STyfOQUKfahXKgQ5EgeN2ubs5cUIHYgySY9hlubuNmn7cTioG3xVn/d8UgORfay68fUviPtMt
bC301ax56v/nyqfQfUJvEyV/+FKc7CpHq16EcbePUwcy07LuhkGAlGSG8kRNvv/Y6JROcRmAqqlm
xHUbBDJAljrZs29FXy9PaYiWhDMy4Xaq+ohI0rRbE3RNmUvY0e2ybVnYCWkMdUhvf9lhzXtVZfg7
PIje2P/N4GSuP/z5NsMXJvk7Tde2dIfbjPPbX0wIBS1He/DeRR9dSjfLnwfUzS2cBhK6Cgg8PYZq
W0rzJdKYo2O4YApFieCpzNPD5BXmiyTmfB/mEtHOvOq1+Xsi6+pOOkLcK8t//Hh2kamt2QTBbnnt
0oWdrF3ox9Of+xYOU33E31WfUOePqBrmhx/rjfrjUWyVRbq1ipHGeN4SKDtm3TrP86i7pe+6qq2A
uMPW4k3gho8dq8Px1cXOKUyU+lhEQ03bZlnvI2eu2Bs4SFI6CMv93oTxGTaN82LqATVYAx2PmxcV
bKDifTmg4np2ozThPExTQqRkjp2zHtz6NcHSjY0u/k40eryNBy7q1tSA9XU1bZvVhdxonf3nVXOc
a6hSkO1u+hdEf8FlebQsAhpOZKM4EBf+uiOc/PT4Pw8z7Lmi+VnxnH+vklm+1LjXSkqey/4/lfp1
6Y+aO0T2/yHsvJYbx7U1/ESsYgTJW0uWFa3g3DesTsOcM5/+fIR6t3q8Z8+pmkIRCwDlaQUCa/3h
R1dj94RoZHvnA/o5DKl6pJA8Xgy3ocGWlZKTHqysuSsHEgXJKF2M12l+3XuIn+KfJqDpupq6gYhE
8fkcKfFMAQncndqC5s0d74w6g3cetSIGOo/OPuR6/BfUDNeGWERgDucVciK8kDeeKNZOrpBxijzz
XWUg8000Z7mr7MkV8q6pFuiL210A/aIIaZXhg5wXzlVVv14ZBnBSLW5Ahl4v5768kk3vAALtBSee
O3nZRvCQK8NatzH2Pv/+Lmgysfz3t4FUn6m5hkkGBx7Mp59NPcySuAgt/UdS1NUCjlJ8TKvk4jqU
8u3Cj4+y6UYtPgJUjRZ54RQrGZNz5VXV2JgGaeD/Pw0MZY9ZUQDTY77TbQEkovix6HH6+Vs4nl9d
96N9k4/B7jZdTquVCMW4BNSU7P7RGB2IxrYBmf777/21IpvWOhoRyM78539EXmW1Hx98TnS3+O3F
FK14cDINONnvPy408VYNnCp5SGdX2anHUHZqYtQRr/3Pl3KCJwCnQxFk7h+XfywLjBwVp/+62byg
UQplKQrFXbbVALRLTZyDvII4rANnOFhR+xQO/pPhV86+zGF/OT3mHlbQ4Dml54GzlyOCxOtedkcy
cqumD8u7OAKX4SpB/1Lr2tvk1v6FnNsAk8WeDb8m9QMwWr3QOqCBk+9kz0Wi72Sc9EG06hunWKdB
qH3o4jLqXfUOP1FsCmr4UD9Z/Q931bJyWv77B1cX//34cDVDVx1hIYzBQffT4yPKcy3uOz39QZqH
d1h4A/pxre4c4r5aNV4V72Qvj3TIA4GeJvfkmCn0zVP+GOkBmHhJeQ01IwZNVF5AeWiu2S9vk4fJ
d69z6gK0z0jFGnxc+4CXL7KzcfsAqbN51KbeOeMwzY4Pt2MgCu5ZhrImq7emFVMYyxznrM9NMYkK
YR8lXcqYnBc3aG2qQuDJOk/pE3+XsgPZOFVm7TKtt3by6tbImAgCjPb4ycKqinm2Di7wevlP6/4Y
tuJ+XCsux/cQB8VP9//U/adblTWPRIqt/zTVbRp7m/BvtJvUQdnndqbs5VUY1q9dbCkPn+LDPO0W
g1qGjHZuzpsxMue39Z/m9Sb0nKoHp/JpIM9LimbyhrUP/trhr8V95HdQ3lGQFFzDx38MWgtdwLg3
dyTloL26O7+Oq3qlNMTloDPEAApSI7Su824ryDeePQ+zjVvotkzeMzAfQg99zFTdO/wtsL+b/hWI
/4cxJ/vjQSwbMitfRYfiMWmTEjsG0z0NiD1Uwim/OCM6GslYcaZqS8AWNcQbBemmD5fUlEx0iCRA
5CxQE1QN+hh8edSsM9Qw+qT0oPEhIeHYxatS1xTrkuYj9fIStm1c7FGlQepu7rYhcrBpDJTzOjdt
9YeqnaL7eB7tq41i79MQ394AOuHJGKJqM6pignqthE99ThI/sxP7h+p+RM5QU0PQKMIo4XRxSoj5
XeSgvRMb8xO9nS6FieKziCplLWNWNItBofwpF8gQ5Q3MLwNMF3w/mtD05k6eb0BzzIODnNENOf+D
JPXufa/sF8KNyIvDf63wKuQHcBysASaTR95r1EqSF/xSykaO3n4ZbwMxzxZLJxN/C/XyJrcf1Nsr
3WJytvb79t5a28jntj/BH+kbF5qHfK5f+/PDHZk0qjgQ5G6h2+Nf+4fdgJx32xx8ut1tLf8EUIhl
39T64P/ZLBj/dcSyOFyJ+T/dsagszj/Jf2zZjCqpKzeK6+9m5W8Qyyj2SeHpq7aMfgLSw6MU5ati
f7303bemULATQAjju694zzm/4q9aYKj33mC5u9q16wMbXEg1FXz7KkaJ1G41RDhq0R2mwXCfBSoV
YaA675mWZevOhlQ32IH73pjt18KrxSnJ4b36rv9BWv/878+XuQb69+2p5WiWSwmczZGqic+ZU82N
HX3Q1ey7iDC3qqJBYFTtIbUViJPsqaqjP2RkLhaJMpYZPL387GscxuRo2otqm+jgjjzXNldxGUG2
gte4G8bS28mrwuiPnYq1tOxR8URGQV7KxsLzU0yjuu19y6MoIbwtQlfVrokb9aHLm+YYhAOPXLIQ
z04AsxwGmYlwZxYsghqZDVyRQn/vCxoyqcpOXsnYZOrRprW9h1voNk3ObeMOl24ZVKr5XmHYPfpj
WL6wCbNWtoOUKjQJ5bUZU3WBIXy9lV3T0N4UxbWOsge2shym5tWFZ3dqy+lcK1m0/ve3SftcRubc
7PKBZHugsrfVtc/JSk/R1KGoLOVbqKCL0Wbgq5IuO8vGs4aEAk104s90SeuEqYoMZbZuR5GdQyvK
zlXrp8fYQnZWKT08NpBZOoUO8qhdiIRz+9XqFe8o76XNd0XujFKCWT3eXsOCxoFkirOX95NxJaxe
fC1Dq12fzm3ht7z9nrtrPQtSSdRMqwTVvUsSoSES9l3/tW+0dZrk5l8Olu5ZIpyveo9htm+5SGxC
oIRLm3k7xGwatFcqB7fE/PFWDjKnkj/V0NCB+F02CitxcZGPg0JPiWh0MxystPIfF4Vtg27TvMCe
F8h7AKFtD/OrNAFs80Uxxn++gqWUp9CCNFSUeXNJ07KFWVA9hrHaXGSIL8V4XwYG5rjzDK1DL5M0
ij/kmFLZYm961c8sLvIThHf3PBjOU8+36r0SNdJZA0+/zGvFexm0h65zo6chDZJj1UNAKeZ4lw7h
vTk6ySbzRrgMcRIuydzlO3NMVqLplcOtCVRoD7JbNcOLF3fk2OHfd8aOPPavRvdMY5e0MKCQMa7N
TWIlSxmTU8YmNXZBHWgPMIuRrI3y9k3/Xtmd8aY25XhIS3xeZRcY8LCqDKTfRBUabxUPSPQ7Mv/x
15rcL82L5gfiIeiD8tExShPFByf5XguEDAr1S4iRSA+6d99Vbf4kRg77apR9KUdrBJqsmBC7m/EF
8MM6pebyxaD6Avkfo+i8DcP3CBiCnJ8Gms23s0DSfV6OJPK8+APxpGxNIrf9f8BCmgZI6dNvJd86
25JZK9cBaf15K47CSlEhD5p/c2pONBCyxFGbm3ICnNXM9GoZ69uiopio6uvK4Tlxmxc4Rb/zEm9f
9kazQ52lgVQ4aA/oDrlvHaadUadPXyM3rZe96vh7M/fGrQFzzlf06pRZggdSJjZ2ENYnGWrMCNMI
C5mOW0wOWJPgC5x0B89jZVlh6FelubayVJ2jUWoAu6Bc0O+0AJM7qwNHIru+X0QIXVRjv7teyqgQ
te7hUMz8P6IFnn9JFA0bOdDMo9fZ82oXrDto11jsOlMhUap4xZM5BCFSDw65vjFTL36Fon42QYWy
IgC0UZ0He9l4TIQ9lWGUEJrISc4DMiavnHn0f8aMuIeZLZ5vs+RUamQjZlidC4W7VilBtihjKCX2
AmZi4zQmPH2DSoRz9uajjCgaJBo0ICpzaLST/Kik6O7OPRmquwwoZAqEH+2P6ATcn8c+xzIjr8eP
skKp1/Rhl7WFGD+CMNjpbKeevSQ2KfsZ5UJO441BsMKJw8c+84xLV5kXGQcNg630aCPVNd9N54QT
TenHLJAHgAlbPzz4IqvGj3gMgudmbjqNArzbPF0jQWogH42IWiAqFOAQ50FEr9npQ1vxFtAoCMVg
GNLjuKUJfKkCpEEq6HWgpBkNpg50A5SOjcLGAW0sP3wEpoLc7pDkAJvj9qJPqnvHgdX7Bup+ETam
91MIqHtlXL31NYQ9dV5UwmhH0kpgFOnPOkZ6FXNQkpd2xpnp2ijU4cFG0jdUD8O/CKsCctilsdQt
06EK5a59RGHUh8LPgCgqKaZG1Hbw/S0pH4AwlYUfNc36DQCYrQMq541NRIJSipscvABbaxKaj9l8
kPe9zLqPG2VYmpMToUQx2Sfw4u5es5SN7EHuwh5kjjtqvnDVXDw6SUhVwhlmZSGUDOWPLCqe3brR
ww/5u2tlHkJhckD202lYTmOh7z79PoeWcemRsgF0HhY8o1LvPnDz/mznKIL5lR6+JC6F3iZOgw8z
Fz/sWC2+D/m47Zx0Fp7vz0o8IT0R0xFNh4XO3DilSPeRJ+5Vu4PfLGNQqrzHPNPeQ6RCN9cBpXX1
x6LsHlxYbcgUTTROqqH5RtdpEgCrsl/Vol6XdnG6zpunXEdln6+Hel0i5/ERO8lbDXVyDCsMyLQA
N6ApUnH6mhtUZl1gXxeRU4HyojJZ9iKuHuSYnwf5odC6F9lDw7l7Kqvom5UgjKoZpAALB3qmbNwy
QoAXGMr9LdbCqTz2HgaCaS32tzhar/MZrvvJKylHXS05gfFbjpL+YGkrGZST1ayLNlWUPcYwxDcA
QZJ3tMLWjZVS+yLFemrb6JsMI6gWw+BuwAbPszo+6HcRP2YIIHvOs9soSxlvHNwpqaLHSx35v/d4
CPDMjMN+5Wg+xz6Ra19yBWJFXvBDkA2jeyoyJIjIJ1Zf0QbA/UAN/DPYJ2ALRu/x93b9yhy7cDl4
6CfJJtaFUWBb9Z/+oKDDjfAXUqlzLJXD0DfaXSz0ZqcVdrJpobPel5GSnWxXSZFcU8IfSHXYQ4NE
KeX2hemF7TGPakFlteUZFif265AOZzkTWOxr1LvOi6WN40pJvGTrBuqne/kOKl+xKE52P2nIMaLG
tZKX5hAbJRqfRAckVYui9TcqTCZ0xL63Nu9M7QqclXxRvpSphtVL0ofrjjLPC3zo5h5RGrFi21q9
5KPDP2SAlpkcdVN0WSakY5dy1EaTegMFDVLaPLlO+UkztQFKxNwNOjXbw1jk2DF3M94wOzEFWuoo
UZoZbEfXBZ0FvRcYuce3wXHsL5F3lbtA56bGu8ryNG8PeC/fKk6Acgn4+HahJbH9WI5FcN+7OYYm
GVJ8jV2MX1EC27WVoXyJdXNDhcB/FnXgnCZjvKdgABsmV+IPT9QpFoZR8Jyr4ex8ifZGnpnZhhLs
uMstnjBjupeNRr3veiW7rWan+35ublMUTwAOt2ByTI0/rjTEm1XgnTvZkAdudijiUvhpHEF5J3Xg
BVRmu4aDEBxlk7tpuOmy5ustJK8mZRZcCHNtraRpswxNY/yCRiJGC2b8DG213Mm4P8cjVTkq8fg0
dJWx64HsLCs/xmltDPJH0qs5voZcqXaVPybd+Gt0nLsyJkfdBChMjwjZu1mjT6OPqoWY2VAfKgpA
C6Woy29dhcZpIdKP0W+xb9LTbmMVpf5UGP5XfWIHDFx0HbjNrPYYVY/ySif7hRWCgymWzkHkDmGW
XyOOiChu+VbFzzGx24BcPNZWidk2/D05IGPXO1h6+GSzRXsw9XoP0n0BQjc8gq+jZl06xrU71sgX
y65H4hqd7WLfV4OHDVs17pqiL8mP2PFpKjqcMHSVP53jMjS9oT3VjR0tYw1NA1QcjRfkK0oydLMa
wt+7SiX6lTeS5Eq/ek7Oh7hMjWdVz8OPzoD5lGYgis0mEasBxdEd2mg1GmIjDo2OWpyBa6BzXgrS
wWGQP/DNTY6dix5xmKkbY+7JEMyV5IimECqVbYRyoUUpnH8WhtMgLu8dyOk4EpUHpxDBReu76aER
NtTmDGxvkCbAyUT7rIWdvS9UrI30tOw+GjtRsJELhwOM9Omp0c2Dmzp43Gc53mshnHW5HPwOvPws
OpcKhIS5cE+CwtnKYr1sIPe6164cyGWF/zbHTPBByazyXlNa80k3o1WXdM1bwvdzhyaxDws9aDA2
6osVKn4I9s6jvJXYxZe9zdaTURXX7MxInWezKb1TVoLri0b1kKteBBQr904UKaNDLqjmzj0Zkk2W
oTQqjKMJUPA0KW6xiRP3pMZZuCxRkt14MK5f9RROQYPA6052E334iv6O9Sh7maevVbWMLrLnKPe+
PbRPaoraQ1SWS6MQYl+PvdjPFSsUbOdL2ZdN2A/eXVnVyf1tohz41G1tOJJeDYP99/1uN/kU+6d7
NqhgQJLHWVIFbXdsdT9cGxX6kyGJlfg+Yd+8CM0ovVfjt1G04kfT8bUyDfTWSKYdyzBRPmrXqhaT
YfiXfv60dr067sakIA+d99pKQ+YWORuyvoOWpTuroDhd8SvyxbeiY+UrxbOMh0H4K55pydFii3TR
u69NGgYntDgEin9D9a2xykc7GvxXy0Onycw4g9WjM75W5B/kBMSkZ7EjcziGY6TtxdQidxj69bcM
Fe4BbNoXtBvM+ypy8q0WJP1FDBG+A/O9nSj64etp8TT4tQGhzU5WNZ/xDxQmF3KCUWGePDQTxCDF
tB8LA1B1Nq/sExMFcLyLKPRBS4/AgksUuGwk/ltCxeXVbeDTvE9dObkMYek7YsAJbQaY327w6X63
19DZ0IPMm5A8Ri97ZeXjsK7LEdvKapV3bfylFgYQ2IS3KdKc+AtJnkXn2SO5UGMC0VCWSOUzLUXz
wSWJ8uyJJNxmhgLPphmr3dDb1S5Ucf+7dbs5FjsK0rRyWPavE38vucWKfMDkKa685T9NDhB+WVcW
flsapNgwNvgUoHXy3Na4RxZWdjDnXjWiCBL31rRuFA+95pBHFrJuDQaUMqHEP4+1tETo/ZFycoZw
V4YiuCaZHJfMW1SHb9cM0m3BtR8p/q6eJ6tToS75SgdbpVMX1LswF0ST/9fVHFPMqPzLNKA4hqO7
NwR652Qj3L3s3prcB/jeaD9vkU+zJnOwFlOT9MDc2ruiyutLPGPjRrBEwPkaqOJzV2sUk81l7C7d
PsueBQxgcFfKR4SoHqq2k4u9d6IdFC1Wl0ruZh9JiYVa7Ikf42C/GsLvXzNfWPdmVeu7KLXVQxsi
rVPDjUSTLZ058CkIbQ899swQylGY3a9mMBHZ6zm1PAgt8U9yoEE07ajiejjPGiPTs+9Q+ISc2aIU
MTvZNz4Ual+Nf2rNtgjc5K8uDH6GqkOtR4k5FQTThHAp2q/V1KcPk9MXF6CJaBfzgP6WDIibzIvY
I52awhXvam1GaAZZ47EVAMmNwbzXwmoVeG69DJSp+VZ2K4l4DktcL4cUAqmYUX0atBz0FfKzqUCD
1M1M/9YgSRegJfSiNaH5YKkm+9dYq15Mx7vUmSi+DLb1MiFHd7FjHDJU22GjUBrJg+zKAaWq1ymc
jEcZQjSbWjZlscZ447QMCkAr0DWp36rUg+xi183KcP1hq07xdORoCLU5HLLvZr5zprj8gfwWJVtX
i88QxssNfzpCT5SPn4MmQn91nlKP4sFotP4DKodYIszm7SdXd/Y9j7tl203Nh9Wla/m6JMT5oLJH
vRRWhY1l5vWPg5h+NTlgp13q46LyO+46Q0QyKQLhX3JsWtwm3+aMPeWCfNTwA46tc+ip0UM0lMEr
Wz2klNFlWV+7Tg3PNeB/QnYnLcoWkZdMW9m1YkO9Q+jG3ZFMC16thmp/qcXVQY6GjfdOQtp+5Kc0
fOUY/FgMdnu63oiys5/68UUu1AyBF0eTnttxwJpmfningM76WNHu5ENbxto+ooZYicMtJOOA5PqS
bHIjfFj6QQSToWqDB+CaXxGcBj5ajgnk+WT6DnB4WrdqnR7zki8KYleUIkdI2nFcuz9GSq76mAPh
KI36sSWT/CXMLGTgp7K9eN58EFSA2gqvz3YuyYuHQsuaM1l1FSuNOFomk+MtBbqGi7AEa41CbXSR
jdsmGxUEDz4NhNywJk8rlI2Ykvg6wVGs6cGIMMmw8TfzW32rWPFwkI2nN1ggy8vRfe+maDXVvvea
41qw62tIZWY8ua+hProrPbODlT53XZQGFny83I0crYzkR5GZzqNcas0uAirpMhIfxcVIrOsk4RT6
vjAQqJBrcoTv11ma+fdq49+j9WmARTGrfZ+PrrYaC7u8x0AH0igqpxqnwrDeq1E+a1jPQ7mbIyI3
zzfkW5COuHf4SaojXF7VR611um1kpGfZyy2/Of49rur9iK/9PFdPkl7ONQK9vk4Ds/rHPWRchoZw
7Pekql6QnryXhyGqWPp911JRtvU0fBum5BpPVVR3RJ5XG3eO/32+jHdVnj9XPkcOYXi7tmtBkc9X
GFUoOz2Bq6PEJMuHUZnWeQm7//q5nT+8lklxY+rLnQw5tuOe5Ee28rYNFb5NWZQosndV//Y/t3dy
QG+sn0WtBeyL/rafvG0F27jXyD3DOq/FO0mT/oMMOI5jVoQA7twNwv5IfpSNUBLpB1wxIDHMcSPG
vletJp5t6Nc+d+zzK84bvm68KEEaQnKbaf+pqnzEuvKl8jrrbLgGNsgulisyLhw2cpqDmV1RulCo
805se9X1tnz0SHT/5m3Ump0skhiDEAl0Zb+hnDwdiaWZ6CG5H0WEeurU68NSxlLb0hFGa5EZL/GE
qyr9VA2V9RQlNt4ELo70/PNaTyTN1V0pYJCj02I+ySm/FwyAGzkqRwAWXTV9HnD5mnQ7POtzL8aF
aZGn0XOk9NMdyhXbDjsUA6vOwXtM7dSDZpSeBgshFKr+2wx1tV2HJQr7h+YwzuA02ejzwSu27Hev
7+qNDEXzAS2YG0FSawH+MaZAQwkP9Uh0phR/dHGea7Wt4Q2Ha1fmCs24OISF0LeyV006P6iOg6th
6T2wCfKeZAPA8Q0JkxJages9TTGih2zeccSeuy064nuzUL6YSOpXC382dHG18STn5iGKD9HUKte7
GeGcd0alDi5pqTwZeqc/Td+HXhUVPiE5OhJm2G2HprdWbuWKjRm9olBv/qV6cFVcq3n3g8Jf2pn4
IcLaXOpRyvE6jBuKGKZ4VLWoPleZWZ21oL2GMmyzrjOaobEf5aCcNi9yEFiD21GsOeMBKIMO7Oxt
kQfVMtRC1KhVRAFGfwJqNsMe5PB1ZqlN03IwjHrxx0o5yfL9H3HfKouBtNqlqo1zaprj+4RCzQPp
I1Tm5y58gS94gaBiFk7XWVpDTs1pgJ2HHBTnhj0NH8apA0b7O5b5WbChQlpCY2xQrFUxf+5UkK6z
TkvZ1yHiJSK4yrZctVtwE6OshIhImRdshWVQS1BOWsnLGETKbLrIcrmyWVHfLNZNLcp1EnT1xS8D
+Lem3f0AKMSF3n1TE1yBOT7Xx8Zr+62v8XjyegHQrlO+UJrofujYnHmxdk4TVd2mfjorO3cWJfSQ
ar+TVQHMVZMNVddOJwPxnnu9yoyXDgZDmljqycpU42WgF889OdbDuJFjSIRfx4oq1q5j/71Ojmkz
Ivj3OtPFmb0LYjwn4qJeGENGRW300HJwEYrlMVA8IfiFjP0M7hGKf2eSE4xEc9+mofmtByWEmmeq
n5Spynd9XOb3Ggj2LyV7s2IyvqELyVuuksvoujB+BHSpL+SAZgQLoXEUqnq+NFUdGAifNnxAEZfH
B5Z7J1F/HHwlfA000iZ6jxKF1sTKHkhPzKbXtLYRGpjbOul+XQ0iX3tKH6yNPJ1hMPOU26i8ui0L
zAJn7cyLkCi07obSEO++rY8PRRwPD4ObeO9Dqt0FmZl+5THV3Ov4qm0FP8/P/DOdULOcVd695K6M
pu7ZqwKgWnGrrtxR6Z6VKB7InGNtJEc7tYaPSDrCyGwPpVYHC6vWiC8W9NpnePIkglX0s293qm3Q
2/l8Y+Yj8mlUu8rDTAwLEKTLughnO9mtbd78uekcYTSofnJ5nThfxUr0qvFJepDxW1NO/hnsGVT7
onrlZ7/+q5pzDjAbfrDlxWUldJPnApMr4KRtsa+HUN2ZIfYJKLAhom5jq2Cn43lIKrZEAAVkSDbW
UOISV7dH2SODPZyvo3JBgPYggBd8LX/fo3L5+U7KAd9pbiub0HTQ4AgQXptDKT8lj1rRAxKaqcDA
te1dN9OFm7m5dVPFfwtVZGNRi4RRLAdAuau4P8zsYdmXTR17MWSlciFv8Pmuf/Sj0L+UuulASLeQ
6gJRttSQG381dWAYotG6B0whtddOQ2S/dQe0QyYt2Yxzct3XQSoFGWriSRakLwGSuw8IPGnYuGbJ
S5SV+CcHVb3A/TB56aw42KN1hmqN7AawlJA9fpG9UgHL6pbI+05uXO6qyCh38urWKKFDiUT2I2pZ
znVm7bclzhIosYRFq93jgvXsuVZ6l/pN/xLWUb2tsAlZyG4krGSX6civlGo6vOQBUgyeieKQHLUH
xdl3A/IyibD6lz508J1xxfds7mWkOx4jnDvkGIpjxtENi5NcGPuecRr9YCfHEpywzqWt4OrBX5AX
hQ2aD6WB+S4usqFPTfZTDg1mEL/gD13jvTcuonid2an5LOdlqOpEFRlR+dp2by4pszvLoEXi3mhF
9uL14ya2KFWCnc9fpoD8ZO7WKKAy5kSAYvVoiPdykK95ukjdKtrKUcUOc7wlzHwtu9juISk6DOrK
jGbHrsLZZV4RHoq/N+O47NRe28vw1FYFGWpz+jUt0iBNIeGAX02oY0wxL1UjhTlTM03rRK/Ov7py
oRyXq6M2UldegO0uGRl3W4he3bIdIOfEIxtIj5UYe6N1MFWjmL5sPMPlrZqDfVl5oDDlJCcEV6xO
JBd7fTrcmmnw1YMemckWhN9Gm3tyUMbjkfw3PHC3eugnM8BxguFMg8WOczi3uS7Ow/C+rtp5Q6P8
1RWg2yj5glvttXiZDyLZyybwgUl3V7aSbJ22Sa9DaYkF8mjPehy/58hLRYlwXeYfO7dHNB7tESmu
EIvf0ozq17Dk6Y5wuk8+hm6ll5cpVqOT7JktFlpGNz6xe+Goke9jv0SqocJK1NMpkIeTYsy/WOY5
KONxNYYpTtVuFKB85IHUMroc3S6Tz9witam0+yp1s2tfq9xjgMgkHkm6eZb3cQoe4Jlxmub75VHY
PFqjBwCbl5Ah6EfTFjnDv2ToGp8SNEsCdE7lHyFjnZND6+389j7otHylub3JronfyHjy66M/wRY1
PePQzAeuam5kXEGCItBU4yCnmmXfWwic/YrdpslVv+fKeOqM5V7T+dy3RTh+wfQQZahcfR9Cu1kP
LTJfEdw+Gfc9Mb071dSsLbVsV66JKhgblWBvljhFYFRkPrRp111GO+0vgbYOnMbEQpwIOxR9TZ4T
HeDJ9RI8PVWVmpJVo2VtdxcTEN9J4/x/HQUQBBUnDDAWmRcHafwTL45gKdoxfm2HcjNkqX5GhDeG
WIjNAYe0Jy3F8iz4KoN16LRPVWdTfGFBNpCuyEWzk2OC/f7RVcY3OeaTrj3oep1hahvqF6ezXnE0
+KF7efcclb54KsSqVho8lLjdi+J6ysGcx0RS2wsnzpu1nNphIvyAWEnNjwWj6eS5+9/3QVVZ3idC
rfXUh1CHa00/GvPJqJxPS0VmPGlRbxxkz1fRbiqb2aERbeIn1D6rx3m+HMzn+WptfZ5P/ra/l4Oe
MVWP9mge7TQAtJR4EfYTg7MVBdLMRV+YFx5S5gW5AgtnWjffNFVgXTJN949jEa7loJwWaIO5rH3S
8bdVVv+UQ906yzV6YbQPE95ci9uiQasujqdHB7nGU3Jn68wvbM6v+emFZdePon1chS9CdNqxsirE
wuPAe0Uu5S8Xc62fgfGcKwbqVphLnzVHnz6a0G9BqxiAj3jMrEp8RnZx7pFYUzgE5SAkz6E9YkJj
O9arV6RrP8NkrRzSp3puKh+jGFcBIZPlmP25DhsJPbT2sidn2CVuP65rNhu5CgngaF/h/GSbtpVz
25wjc1y2ILXsHnVNs7jT4yB+7JxB36R2dwQRMeDFJNvQc1FOVT/kjGsIImL8KPslVSaQcepOm0My
LiYOJ1lUDks1b7tjbtQcQZK4/JhqrMJKVRu3yK97b3317KR6gVKh6q37rmnvrTBGP75IoIjEE36D
vqIuSrcoLvncmB5mmMEUFMi50jU0jYQvx6AWKx7IbTl+PLEGuiPHAGwek7MKhB6gKZQHq++MozE3
VmZ1i95qopWM1VpsYFdBvc4O7DMHF317C5VGaz6G2lmv2RfcyeUFUHG+8OmCbzQEkx+TiK29bBTH
JdUlL/Ou5DI3/XGZcjpa3CbVQ/trOvVeix3of7qB325Q3O7xcYi+87vxc0Csh7znNO0xu0fmFneK
Jwi/KEI6qvc1E/YD3iXKXxa2gmjpl7i1C+MubVLraQxi935SbLGPjFrbhugpzbBq/4zkwjayfHBa
eLgPtf0RJGhJahGW69rcVSjeoZJkvTmGZ2+iDqPYPKbIngdIUiQ416wtTFDfXIR4IdxZJ33IoueJ
6qoMY10V7ZQgw5dunuUbnrtMu9T810UYDyPrN+EbOpCcnq2FRGDpy6JpDL4No3/EguSOTvHOuRID
IVA1nWlZl7L09jJcaTCJx6qq79swKd+zWAx3xdALCsxD+Eol5rp60HXSiHbanvA12A4UYz5IxaDg
AU5ohW2G/2GMwcnrweQp/IweSeNj5jPHUbvRsJXT5+SmH3yU0wp3hOI9yDTBRgMP6iAfPI4uJvr1
ab5XPRIoHSfGQ6fpOOzM1e2qJwU0dkZ0ADkbP/M82MkydxXi6Ts5WKLJ4jhsr0VPlecVn9hyNxaV
v5TTDLgwsMCq7Gii5HEeR+td3rbMscRBAgko0/9xdh5LjuvKun4iRtCbqbwpSaXy1RNGW3pP0D39
/Qj1aq3dZ98zOBMGkQAhqUoigczfzK8i1q7wq88mRY/KsRH9lJV1/JQ/qWz35D6bhjvqVC3kpBPe
VSsUbc19M36zOjXGY8EYn2M8AHYltcliG+LyscthAD1MFnWERLTeVm1DE1pD27XntoPCMMT9keSq
pvHNk7EiOrXY5RVzyzK7bsN6GKlKe1SO2P6go9Vn3ktUjcrF8hC0nFuJYU4vs+bJ3HC7XhyLImvn
tAXcGghrD0VNnT4SsPl8zcRBe3ZVz1zve9lZyg88eVBgpPCzaFnouH09fkdnBAXvqLfe0I6JZoBR
BTR36NZ9NNTPkzKMSGlVSE7MzQ6e7qOnhqtRQ8B9aRqgNTH4YJdj+P651N0OlbUjjnDTUzT0NPqs
WiUGIgeyTwnL4RSaFZRFOsMmYUSi/Ui8McElQ4k3vC5FrcRokSBnfzFVmXkphardQGD6UP3K1TFD
P4CimsMCdyXBYVo3bHI2/e9a3ZQ7w7TAvA2G/VkXpFyb5iu/4mGdhpCrubX+wsxshMle4YPSoXe0
agysT2LUUBVtcA7yAH0DQKY8ZSCnxWg7B4w7/2f/v4berzda0f2+Xgbl5bfuGjevoMr1qyvIGw1l
0n11VGAhjlrMwgRuhbYEQO3wgmV2+BULWnw/OtN7qSv4zyBh1AvpcW3rwR9Fga1ujko8u1mpdnqo
M8u/IjnVbUMvZMU8tP5VxnrYEIjdV3jF5SqJ4bTje5iiv5OXU7UVQJ4/xtr+6qKw9FhDYXjOMwPn
1rRityomdMxtkMjc9+y1GEgSgWIQD77e9O4JD4dohyPkyhopQOZgP55aQBI7NdSLHbgb5Sns+Q2V
rJtejURz+dU0GbU1v36fygGFU9tKTtbcVDxkaN0iekXyB4hp5zzJcJsP3j4pMaDG57t55xnvA8o3
up3sdT3rFyRV7yw7ZUg2sWzAUmNqXzE3xua1x83D7IX2SUbsJDrfwlRYC05O2Lwkg+ssCrXD/iEf
eHFdizeiGLy1PjfB2OFo4+cJ1EyaEBOUg+JTCUfgKnpFyTo4ayF5fcX6zIvwXbVG66Vpcn0DVqxY
N/wBXgx/RtI6WM91jWK9uBQnzmYZv6Z94y30tscprzYehIXoTDcjPHMEagD4xslxnPGhqEkF+ylV
8Qide+W4uMUokQXgVbb6UUcdIQNy6VbeFZBweQBnZz+GQAH43jbDd01UbC/y7ItvxgixTj3LG91V
z6K09KUcUaIqpxTx95as1bJxqcf7E6gOp8YCfPKQbWoEwsDKdLZR//XrJv9wYi0ELZaIg2X42Udv
usuex9CrcOzu3JchNQT+EB9dauGTzetsDYyIkGMnP4LoV7CYNCAuRReu04qveYRXztIxDeUcg+w8
4CaPXZprWS96oAULoyrLq4kR8C4zFOXk9drvg5pWTxaaHPt7vAV5mZpDux/zHgFwvmOfmDdeBBjn
X36WrGpbTb/nERk9uwbsBAcx2XSCfaI6qP3RnnhhVc/sp7bEuFVHuOWbU+qbWLfGX0bgH0ayMV8a
vaiX6hh4D5YVo+Wb1GKhQjZ+i4wcWeG4w8ZrbtahbW/BrFClm5t6gj5FmPnWBnxa/Ubhtlg5muPu
xrnX1kkY2WZFcmfuZTEEi7flP6GQnHjDBgP9szK5yplKAQehaPoXYDrjy4h7p7xGN3Qs7MvCvohh
+AqgS/zy3b2pts1PisHZYki08tWGTrNuRjM/ZRrJfSvEtwhbHv+qApdcjqFVfE3cegdHr/2VVda+
J9HyJQ6DeplH9XRN8FvfRkrWHvIyHE+41BfIXQj91ZhLtS7UzZ+2WLL+a39xC/iR2Yn61qapA5jA
K/jGwRBPoaJuB3QMHjH3BCYaOxur4e8IjL87KPkLoFGEriunrY+o1TTktEYnpkRiJvVRHmTXvWnr
EaAqF92yf12Tp7AqtMpTdjw+inM9HxowJyut7rsVSpXFmfwSEDbZrTVY5d57IvZ0rNgZI3thtbx6
7CTaYV+4PItvB6sIWB317abqU/Cqc0ePIQ3ahY3+iWCWvxeyWcexiwohgNV5iGoh8UzusaP4gjg9
FfEavz2pUx9o8+mUN9vC7863HgyXo2PX+VW4kaf/Gh+6l5EEy9Uzm01EduR9Uo38RE0RSNncjNqg
2RkGNwfN74J3VeDdR9Jk2slentQYxRaix+aBXorqKHcp6rM1VtXzPOXQasqbnDISU7uQTTllT/Vr
JZsBy5vblLKJVsLWMitnx29QPTQt2aoAOhYiZXj23GPyrHf86WD1NfLmsn0/yOvuTXl2j7Fg2TVe
e6LCY0Ktf23LDHq00bn4TjnuowuXC73+6eEeN4dBX2QpmAk5gv2t+5jOqMSWTCwVqn8uxfECjQgb
b285bjiYBkVZ7s/Jtg+Fe6rnM83FskCeyRhbpd+9f437b72AEtzbfEUanHzUXJNEdw7tAJ8QJSIY
sq6HFPNSnprmxKpDnt4GyLEU8/RF6HbN7VIZq+X18vRfF1EucQ7YmLSrMXQyiAI4mUYdQN0srYPH
KQsCOBsay8oamE6FZ9L23jEmTnCGTL6Uw+5xL0FjlvsFcHtS1djQzrO0pn4CVdwf7+OUWI8OTTR+
4Dbo7Fsfgx6nUYeDnnjDobNm/yLZntx0PGAj6pvre79Z5vTLoTJ4G39r62aggwsEBIrqExZ5l9zN
p69BYddrNc3bQxhF/bOu4R4wx/26RPd7xLsdojrLvFQPgmvWaMpj7qKgxpe9XdWNrbDsCI1mR+kR
V+9gQHR2qlr7CMryNlpewuLSuyTli2xQ++Oq3lI2HiWuk4zJg5GCLQbCy11FDf1Fh0k0ydOZJYsJ
Q26S5Ek8flm5cuj6BGpqML5ixtteS1WvcJ1J3syyHD9QEECdcFOFpfravta+0702fmdwridd9yqx
zr/PbQPhySyYLtC0XTx7C33TG6XO/grZJCBLP2tDOA96lA4vUQ1CM1TZPeH5N7yw1A12ghX4SvYq
TZGemsn7JjvTytBYIh3BJaRiGU31RjOCizF2IBrNyjvJQyYocs9Woe22U7x4cWvf++WZU4mdaqb6
AUs0VWxbJcJTDiekpReX3dHqyFUsfB/LT9l25qA8+yvmpjriV2QmWYgZCGroJngf14ge2s4JLsLt
fx8sB7ngIZ6qzV8dEAZQfapcFMz/XEF+L7hkZh6f+L4s/4rLOf2weB5RrtjL1mDrPVU1EskzN0iy
fSatL/bWbLX7h/Yj4xabNKhodyIRY/YG4+6h25kLe+g+nYzJOf+MlaG/ZtfD4KjZVbMzcUhSYDMj
XYGLFY7pWVzCRBAjZbq+KPadm8yntOVZjlIq9ibRg45P6ypxfOOMoJV5NvUpQFFnXGk4nZ5tjOqd
Fdbh2ipW4hzQ/dxrsn7oO2/RTHxRwCrz6eoxeh91vka52WVr2cx9q1ghZVLtwQ3H74YW/9RnaJPs
TKwnfiXOK2P8RwqMj1j+Re9gGb2D3SFnKAcFQ1Vzu6p00A3Mz886XYKHbI5y8IATWU05+uraNvU0
vhMy3GRWjSytjWPFfJFuspdTvtygD2X+WSV28ighDaxRmisRGDzp4x3pAAb9r0ihfcZJlzwCFm5u
eIn//zy312msj/sc/ezQDV35IPIRTAGJ5vBYq/5oLwHQAw2bDzAbW3ykUu4TeSmgKyoifsggrD7I
s1YGp8lmc663ITu3eZDsjxodh+Z/jZKnSUZFHeEvoLl/TSK7bxfFTpg8iEPBjgjLRtFsO+G9kOBV
jqE5WPVJnkZ9HsCwIjjyg+SmAakBtJ/TgbGD6Mj3IPLJhsS+cozIjiyK/Dx4P1rXj1dzGrHEVoWi
o6xE/veipOwCEFAd5UjFCDdtX+cH0xuQC4GgWukzmrRmf34TJbu1/3Q3aq/gDPLP6CFCp3ohlco0
1ICaVZoMy77CgnjQ4jbY3nXNWmO8vUBsUWU5/2neZkDPZ0A8JushdU79Vfu0Lcu4ykNt6+IUmyFw
eyylll3YKPvIqXHiy4VxzZvUvCZVAGNE8dXlPeZxD8acwaHwOk8lOwoHQ5JRp8J4j+EI8eElU3uU
M8k499VVA34cGhFXGloRPypOfXs9GapdM6c8K57kNbED4bZr9X3EHgvyfjkA7uN+1flexwq1ihc5
gh3Yhut490Gkqy2KXfOA0Q+wkImHQzBfWMpB8hRz6WyhxViO3Fdj9byyuzf/WpzdO+4Ltv99SJM0
7QJAl9gMHRufCXxDIIL64gNnRm14Ptj9YzBaw0HwmMdKao5VhfNGBtbcy5aT1PUlN7Tq4njVj8Gq
QFX/CckRo47nrUDRdzdaSBEnXamcUFmNcNvpxvd0gk45CL99GvrMXqel4p+8ttN2ptakBx0B54fG
nYKtUbT1o2Ja/SrOoux1mio2zZ3lvqVi6I6KUMFHUSBxgWlyCLIheyiro5ZH3oPuB3QiFfy7U47Q
9TF+MHGeUdkYq6kVPxZzYTGOYufsYvsiW/KgcBc4pEb7oxuDJF46bdRvsU9vYCz49qqxU/PQBJDN
gyhUtuY4uS+dUrNpzfVji++oQ0n70cPhx7ISxBA5JDyNry3SvZnrtBfZusUxTmUvqDxQgJhmrl3z
xbcj6yBHqGmaXl3ElxeUrq2d6QRqsISgASShqcPtfXY1Qwi0zymc32NFk2I4ZaTZSk4jJxSVGLeU
1flE85uy5sOQJ+2+DMMCX7f5LXiqwdrA1l7MZhqDpY0yxSlsu+39PQvbyB8L0qf/+en6YURAJgM0
P79tORwd9tunu4f+fML7O4hNl5JIHOBtJF8yZ7sBUIXlw/01Y8dBMzOnAnd/1S5S/DVUuN+fUE5Y
R/nvT3j7a0Whi9Tv/Oluc+tWwHqHTydHy/nlJ2yQEbu/yX7+hFl7+//d/ix9CQk8GX5/Onk17i0H
JXBBRc1/CHl1keVfYr22DvfpHcqOi6FW4hUwvOoZ3NHMd1XLU2kL94lS2XOjO94n5BsU53IfgKXm
V++FhiUkpqXnQvfMtTdhJdA6xYUbk/Wc62TkwsnnLhMlVD1TU39QNOOr7JSHCjCGYXnjbXzdQZpv
SYBuZD20j0Px4JbJj/t4TyN/yDOfBaerroShsNarZpn2bBhWTexqT2FQ6E/oQD24Q6uc4rmFbWR/
CGP+tLJTDrN9JOtZbYeoQjLEb0PkKFwkj+c55EFvy2GddQ4mP39iPpakHs5zl9urjHFDzt/XsY5i
DjmsNSNcQewyO8jmoI3NGXDzrSWvGlrkjCq7Qpzzz/sNsdeKJs19lKEYwYcdYhLF8v5+0Qz/Vahp
c5Qj0jYOT47e3F5ThtB2Jw86JCHVvn/ejPGZBJ24/UkA+5dbNc6A8RtfsIc1/Dw/N4oGgXUMoos8
s1J8RUETlTvZdKwUJfdKB4EQmW2M1/d/jPYSddjXsB3vE8gR8sAr+Pg23l7hHrYTbN68P69w70gr
8ftVCkgo6MezHlI7NJLVMFsDZSa1zaJjo1uKAaU+SPYs5xGznrzhSNUZF7m6rs6eh1XCoIbt1QBd
sKKeY78oIW7SnZEPH1bThwttMMZvcdGearfzf3kTtZo8xBha6agqszTDjs3VWZ+o4XfH1H62TqB8
hJnnopcl8lcdXg9Orp55hbrE1tQw1DNvV9vaYeccHQyQ917u1vtB4ZtrFI60YWHlpfnf+XGND0C1
Skza5FFjyd8aXbaXPYPhzYyjnFryQu+y8eEWdbBRHXgQrEFU5PwLWv7L2OM1Lfl+RUs3QmN5sqzy
uZytXfOkMZ8q9Ie2UVPuo1qLyJl6wUX1wIOAL1aQY+zSZaJn7WlqbPUpVptXGXeDxFjFU415FRA1
OJXGKi8d5RM8q7bxdN+mkMzlQ38qdIEEbW+Ge34a2lqG2SEe+2pQX+KrNYUuNDA7bZFC9eBZblgm
koSk4pse+8FMj01TtnCU59MJ+/Gta2mHXgsK8ovhKnK7cj2Nefbq2ZTPxIA5guvY6WupYKtgF+A7
ZLMTUK7iQv0lW5PSuhcv9k7ySjRfrCdU0pcoBfMsng9uvgNZ0r7IRp+UW5Tb26u8NounVzOI1LNs
8UnQ5fXD+EEOTXtAgIJU/Z70gfKSsf/c81Mo1YVZNhG5eg7GoEVL1cmN9RRFv2NTBp8LhesGoLBF
2k8OjAf9n+55IG6i5cHH0vdf8dKaEw2dmnAjnd4S3FaAVVfpe6eMOvL/PPll0yjJeRqxGRwCQFrv
rAHeVKuKH6GrT2/CWslBmNSmF6Ps+B4zg6vH8JlsjZXAfEnqYsLrKz4ogbl31Lg59s7knmTvRP0b
HFLwOoKuulpGe67bNHs3NRc/SyzDScdzUdFNxcYGY7GRF1kllsyjiNg84LByRL3f3wQzY1IeYunL
40X48KSzZY8MGmAJyY4iBTMFdf0ck9YaE6FfRWLUaA9HybrgL7yRnf3o+hfqjLeWDNWiD5Z5OvIT
mi/3KGkftdai4jWUFCCRBX1VRBCzTWAmEsHePoZcAIL5l2Y131B2APYTzTRx0ykfE7OytrY/zZy5
ARFAhUe2J+zmudVNb4G0d/m1caBPaXMZXROYRQFd+m77VblIskJ9LUObUoup6ySyTW/XoxC19xTM
ifWojNYoqxavTcrWjC9l/5382uo2U5Un+7LvzK+JCVPBhhj+LFqyXm0aZSdDLajcJUOwi1THv4SO
UaxcLcneI1v5kTmO9TMdMA2e3xGmV1cFq5VPYfUt4KtOuXqoPuAtPuHSNKSvE7ZWLxF+EC9dgxNU
4uRPMhQ3JjaasQBZPXdWIqs2Ben0tezl3pg8dCauebK3RF34pT3e56IeN2e1kvZB9jtelq2Fw5dM
+cw90b2MXbaqkDN+x0tLA34RYSU4N43ScjZ2KCqErNvmnZ0YVk7JAH1C9mb+hsIHCih+Vj9BrbqF
BzsLj3kxo6PnUWnBbw76yLAdVWEde6VNF6al9KdZn2KlNtj/mfY0nGRMHoAiDKd0Pkxxa6+wdGLI
fEWPkO0IdpUe2dZVBEvv3TIme5GDAz2V20e1SeOl6Cf/3NiBc2oLZ1iOxuR+JQV3CAZ/eisnDBwK
HwdvOJnRR2BOeEuk7lcFQvMq1ye8djotfswp30Dr1Z2veTy+a5hPBFQ2FqGf9+Aa++jxfnBafN5Z
6BwhM1buInG9ZD8pdriQQ9LI+T04iNAgNtX8hNl54S9sUnWLymobfv+yze5iU2X8eSIrHx8bBM0O
Uw+UR7IDujH9Xk8oK0nmQEsLSE+ImhOsgtGLvqu2iM6SHTD3tfPI/8N1chbTGvauVkcXdYIqoDQU
4n0r8Z5Cq/ee3Ab4iGtfZWRUSfogk9OuZJ+M2W67Gbx2ushWaiXJrulRLgsxgcuXeAc/Ilo7nOJ5
ssLX3c0E5jvSLfspxGMF0fuMjYnR2k96MbnX1AHmQp+MNLalrH347Ku0aFBtjJN4bUAAOWmgst26
jpdxnNRvWMv/PpMxaFbieRzKJRiK6IvX/zLsov5wSjvfOxDc1jLsB9HRc4RJsZe7FdYxSBlkffQl
ntTvUPa7a5iI4jwaWKLL8U1uIBVROP3ZM9Ts6uvmTxm3vNJnHVDZyNbwO/Pc6kHGube2aGdmYh9b
WfARmxTn57ej9BixpkiwbWWTd2f9eXd97w7rYn4XKMwcK4GHuHx3HUupZa/7mwYplbjqi5+Vo13I
yBYfU1xYKzsZ1JPfetWxwst10/dR8jp1QBTI0xQ/YYMvk3YwL8LArFyYho/UZYAJyHx2P2RCGbd2
lzx4tvh3XI41VfMtMN3wtevMo5ba+oc/VOiQ5Ul4qjQBPV71i7We+c77oKcXP3K1H7FRPIGKy96N
gI/V1zj3xsbUn1CngDlqhs0nWPl9wNr7h+aXX7DmMl/VWsk3bkny3Yha9dwHUzSLZvpfEiVYy6HI
IeHo5JXNSwH7e9OZIjioUNkvqEcNS10b+RGPZocU9+iDaptMZ2/E3o4NRiLFgt6nvG4X/TSmX6wy
+lZmjf+NTMK5QKDjZ6VPa5XbfrjwuhOiJ0W8EDbyNzBGFlA/NmaR1T+9UH3ETE18M7ro59SF1k6x
vX6j4jzy7APeK8pn5CKK566u2ICOvraRsW4y6wvEsV1e9MVtBHKF7J5TkzQGDnNjET2FeexdysgC
xTyfwcRvViItonXrIieyDlEY4z/gHWudojSPV/aNVpU83XpbH15S7LbROnEQL6LcLZjnn0tuMf6q
t0vk/KFWaOt4iNpN6mK9HCupcvHdXj+mI0C5JCjqr138Bv7Y+ZbWwl8iva2d+IfZJxPZ4WU9d4jx
ewYP+Wts9/E6qNkH2CMQlVLFEBlSr/NtMksYGSL8KPuk20RurO6V0lKf3BjLdDli6OwXAw7ma5Sb
wQ59UBfwnl2/ikx7lgOQJMoWiPoBOWuaeqsrkc6fgHoRUEzgdc2HAyZ7p6RZuakxgnFEEr6hf6/v
U9Pr1+6gWl/sUawiJx/f/Xowd66Ob4iM1+q3dojST4Gd21YAP9pqXmR/SbPM+mK4ZBSGVHW2lejT
zzH9JvsSOM4bttXGDsuW6X00mpWMaxYbVZxhdXJeQ/hGQnknX4L8jrOKlGhr2KmyrK0QqzP2Ekd5
Vs7Ne0x2mGH9P4b0pmfCpxDm6q9rB5D2B1TdcbRE4k8e6hicchXh3H2P5VlfXHgT8ZZKAV5Efwan
cwdq/S6q09aPv+J6C+U2DNrTX3Ef7+iTAPHfJfa4bGAtL/u+f8+tpr5WM3PRRcPn+CcE6725Yk5z
C1Flq0kiwYpV2NaG5qitShz1rkFhGevWHBA86TxvUxpmefLY6e1gxQ5HteX/SVnc3we2Vx6zAofx
BpXPk+WjqNMmJRUMBRe/BC3kxzBu0ATw6+A50zoUYmMWo7GunoEBFJfaNtSNrXX+Is8tn4317W+h
jjs0EtiZ2nZ+kTF55qeedYAZdJYtw4txYgfqVJ0aClJR2ueXWyyuMywEMzVdheOoPkMGDw7thMN0
5ptjxV4P5/WRqojstdK2WjkR9qCyaSRu/1COxbeiztTnxqzFGbHFhzTwlbdWjyMqulayk03T1PpF
Xsb+rTfqp63pJf4T1dPgpdXFSo5yJ9Yvtck6XoWtCPALrZnRmqgT9n78ENZm+xaZ9TIZDeSYHTKF
k9mJtWyKNvkBN358dLMuuebsPa02BSTqmca6tKsW3UsuynCrKqiY7NQCf1fHtpqn2iULbKbRSczK
tklrRaeOh7/sk4egb+u10MN6bdvahL25Jx5Ny1a3AQiSfR752UUeNLNKVmplY2hnFPktFrVTBlsp
CHEBtYEzzoNlTJ7B4Kx3qqDAeY/5SuivUHvRFiAPy2ndpQO1kVmDJ/NEdoghNW1T2o9ch5xdJwQ3
KO/V0w3/V5QeeGC4P+PK/6WLQX3LamUCltSEl7Zo3B366BFai7Z57jX4u6VRVm9aXEbUN6ruJ1he
yzC8X0Ydv8Qvea2aPKFG+3ZoMweFui67VkmBpel/xru5868YuQ38RzDitsJflRU0+tkDzwwlQ53W
JsCCUzEZGtjI+CeWRCOqLuN4lGf3g2Np2VZLBCxq7N28+RCyDoH1OJ/GRv3S6VSI70ZvMq4r8PRl
7Db4zzjZex881Fq1TlUT+23YaFvMVkfQRjYlPk1R0A5UrX3cBNF7mGRfI9trLjy4o3dzroKnzVvg
OwOp4exZXjJVjX6gZIhh+DwoZQcL8gu2B1lYnikjj42ph1lkDY7xasemtsqSsbmkmp7uNLXKwC8Y
9kMVp+kmrAftyYEktuyhk3z2k/NEkn0G8rP8omi18GGyRz7LkNA06iV0x/bJbHiCZJWmPmho1R5y
Vwl2U6VOlzLMx9WIkelb37NLLj+452QPplVSAoibfkGCS01WwFvTh2CmSXkCKuRCtuUBSF4MwkFM
eDQm//TIOeRwOeZ2jWzrCoqtffc5NmZ2DWfpa23oi4chry4yFM8hEAjWKe7brQzJQ2/q4kKuYCGv
ucflmT5rYt9ijLgN/TM/0mDb24RqRp4uS5qLG+bFgxyvTpGy8S2MxEtheFuLxNZxquLq0Ba9Rwpe
hCe3MYwNmLjkEScrd8XGZXwuRqulYGxU8zO3xKrICFaugHdmJiYm9xXeFotsVgvR6jbZyGCs5W51
O3UDFJp9smnjUR11IGga++kiEM1z16cgwU2fZHWmZltV9AgjDqW5H7O62udzZjJGkXEzeXX6WCoy
la0HL6ZaZEtbbaoPfIRDdEJJLXYIk8LmzFkqj1t/3kQtABauu75CaswvnK3jjgtrBnx0lRId2IDj
9zY3nVD4C/gSykOcZt3bn2HCAV3oDjBmitD4PcxvbB/TMoZ5zCbjcjZ7Hgau5d/DWIXY4ASm9CFp
23qrpC7F/WTUnyPbrq8hd3C7Da1q6euQAjoUCQ61l+rPjp3ruyKwYPLPg12sXp5zqD3zULPMiqUG
1m0nh2pqmx6EAlxbNk2nxfDSq/Rd71ASQjZIfc5ClDUtz0reyoBdj5h0+6ONWQzz79e+JhNSEmGr
/VDyjjVXitA2uYqFS5orXgT1lm0GpqvgadZNklVXRcGDvhFQzeu4Q6NJZKQOKQJ8hUR+KkJB3iJ2
d0FduL+oz736Q1x9lplVLh2lMp8MUHKbFh3Vkx0nxl6MmbHDNK07yxmR+skR5fJRze6G8GtdsDrl
2TXnjm8zVhnonXlGs/PK5TiLFJrAovZyj/PfdkF/xaiIVYcwI7U9WbsQkmJcmEOO38yYrTP0h1Dp
Vowyu0ZtWbxWonotekM/j36Xv/IuC8CNFhmZuXNSCqTuXKM+yF5HNDH6nVa3k71UPSrUnXwbf06u
JQ1rbRpy3UMjzmBoKvDvRvrpRuqDNXuQ2A7bk8D3PnLTnuVGI3H24gZgZqf5bM9bCGFJ1S0aw2l/
Ths/UMqfdZoOAESQxFLL/hNqh/fgK/XvQyuacZ0WqbH4q+Ovpl037LYgR8r4FBVoh3hYCGaT6T2E
LWloxNfZtMYWO/wqGn6wIkOQeeh/oXz4hqF4+OFl6ATDK+ovcTpYuwZeDlwXt7xkFIRXyGzbW9sc
vSWPN/7s80FAMDjamouO3GBgLy6DBa6oGEuPCZVpy+f5NUWLyAzMh75p/Bc/6Ocfit5izEgz67x6
XQsLy4t5MC4B9nYyTOQ25mYoPHScMUO+TeWUnjiHiniVl07sip8QPFo681C7Ff2SpU+0SdlPwIsM
pmRVpmw8C0MZjHeRcftpVuwbhnABJHnA+SFCdMBalcnY/1RL7TmnyvjV7+xmoTu294af17jEczd7
VoUarRGePnqZg05gOKLZGk/FfgCJg/KJphTLtu4OLDVc8Oz0ao6ZbhXLTVdF4ufP2XwYqSxQabjK
iOoHD54z7VW6TmFoeyddK6wJ327o06rtZysgQr26kv31SEa46NArboR/isnLLytzcBd5qL4kDuwr
G0mG7Uj5aWP7eb2UykJSOCieCbBtUc7W8cBa1anBETHV3xyTj+cm+kW2VFLoIK9f8FRtHjU0hw91
kderIHesz7ErfjiZlV1Lr1HOyENT9LZ6fkf4PMzZyCvV5OZbFoofFn+zTx4uAu9LYAGxIaIlis2P
uM335wIS0zpyXZDEnoNlptY3+zqAbu2jNzninYPdjjo98Gv5ok3cIPEBwf+t7YKN7YGwRO8t+uHx
jzFqRdslWqzsSAB+G2uEzTMTAfIKPfTfXBYUInO9dN7xEfW3WJ3kW7sqxTW0y1PqjzqmXAZb/zr7
rrYou5B0Dh+duLr2ShjvhyGyj4h4owg5H6z0EpRfiypsg0XQwxctou5Xr29UQ90OUeV9hIXfr1tD
rY8uG4hLwFtcxoJFloGCwwbXbfNSTyJY9uQiYQtVMUrRXpgsWpE40D7Vi6GJ6as2W6winpIvfKcs
+UaNm0J130O0dr+5boSySg/hjAdKvLVrlFF81erfPRu4Vm2G3ffAGrd1UFG4E8ZLl5seLD3lGtj5
rjURWxgdREfGRF+2LSbTfRa62wRN8mMxNMPOdpWDPxX5Whu945Q23UIl6UEiRgybLjLsTeGLj9DJ
Wxze3WjR5GP0DV2mR9eqnJ8lPx6knPGARQZ94ylte0D69eDBbz4zYDYzh6Fwzkdw6QkwkCEI46s8
IFCmHZUEVfo5lCgKsmKZa62p7Win3hm1k9qXH4NbPlZ2Tja+qF+gj6cXhJ3V10LR3lApdM56XDan
0aof+xgoT5nF8THyfsaqyB9URCe8eBj3gYMCCvD+wnxQzr6AqRja2WcPKmMLNh1pprmpjPZlzmw9
2XrXn4XdQlxXALWZShytalWER90TJ60V7v9j7bya3NaVLfyLWMUcXpXjSJNtv7DsvW3mnPnr70fI
Hs6esk+oc19QQKMBajSSSHSvXgvO+glxOAETfYcejwh/R7kPRmqAvkDYRUMxFnh64SLGjl994aE/
hUV7eO7RFroUcfhcK1l1R6CVb9LYkeHrqvZFttNwQZFFsi2D9m+bTMg9MsHaue8tSht1P1jytJGd
6N2LSUjju3t0EYArj9E3wvp4dIox7J0gyhe3caBa/WKo1BhQXdqu894uXgotbNaIQuZbMTQ1k9uP
o8Av643Uvzn5sOxqykCJsmnp8da1OLUeXZ1Kv+UEqjhGnv5AKlha+h0ihL5zSKvhWgyhcbETUK1d
vdYd7W/OdcVCDutvnW6017FOSDtl0HyWweex5HsYSupyaMLqR6c/drYFy0/kO6eCNNMCFqp21UcU
zzQhUuSB1Lg7hOIIOPF1viYweV7TqUca+pqocUERJyYx2WYUSnUdv5ViKKt6cicp5bcIVE+G7tdT
Gckt9yBoocTQCrzxPNgEy7jPPYH57B6SJltSBmE+5ZmcLAJgAiTO+/faauM0jCONu65vfv2dtJrw
EBMOt4e9NnD1NwU3C6bsIYh/FG5uH/oC7ke7Qd+GqptkF+hUWFGfSWVyCTcZR+5ho+VacRnt0qLY
Um6I4XhXpy6yXcaj+jG1ycv5fP133ENIzmVQKUB4OF4gZc7WbhDID80YWagMdfJTHt+XJQ+gk1zv
fduG4a7VUYQPPae+DMGUfHHi8rPqpme54JsexT1q68CZiHJpS9NCcl1rDH3XuKO8AyuNknmmxmvF
sIq9YrIb4O7pltEVZKZ5LqVqea3KpfndzpNHZUAmqMpkGdkaad0ZYf6DU96dz2/hZ6/lFXZ+lEHR
FDS7cqjvbL5K20i1u21v2MNVtmxvBQe0+iqToFTNJPyRmmcyWUDH+TJfzb62Pls+PKdFq1QPJJia
TRHXGViXEmw0YSyeuaprVunNMq2s6FuR9Us/K+Pvsl8igpAG8bMJNHDTQn1yHEcNlhYDLK/vdAo5
/eGs1rr9ZDuOwk/2hihX8TXwDco7bbk4uHpngSfsvitexA+lbQHFNyoTIHwTHqEiDtdEboa7xDHz
RWsY30Il954oRRx2CsSpW0hPnWfO6FBFpt5f0FgAIEyT4WFI9I6yn1LelGnbvMKLehAegVmPVK0R
n1O7Kts2fbWTLS/ewwlh7hXyDyf+lxGpv9q8QD3hrAKI/NdNT9B9UIPhlBL2XfSB4z4Zuk44qOwP
E/ak02AILnrQgn0dnwOAelTUlPW6NJCp9ngvVyb6l3tuLtJLE47+wm5t0t/TbNXYKM4Y+pMsT1yk
bsZDUc2NtARSoeltt28aotejraSfndj63oE0vRZOqF8zzf8bsfaUAmhnkYOjXlLHB8OCI5t7RKSG
bd9G6YOnTpHrrKn+MiHPSoJG+c4p53shB9ZzAfXTWlGiz/ZQ5ivyns41mRowyzCpkjvauaakSnB+
VMpqLMEs+W7pXIWj45hA80OS2LMtl3qT6C8/LNMuwi0mrnS1b3vfNotNxHWaS992BJslz1/bWZ6e
Ja9CgGCMIX5qtfgE6uKLBWDyHGjGOvOrRyiog6U6qqexco56QhzXcmzlnCPqvhwHX1kZdd3vnLhS
9+iQDJd8aoJdOhByAWUQ7HLPCVa62aiv5gCfftn3PyiGG/2OEzu0Vs8l8fZFVTvZuoMgiZ/L2BsP
ZBCWvi4ZCEXl2k4eALHFhakQq/GsnRtJ6ZKPPN9XJf7kOyo0MDYiMJqcD6eRYtVlopGODk2tX3VG
RIReHixK6pqmXUR18whZULITtrmhKuyXS2Wr3bqzOm3B08hZJ1XwalcdYRhLD14mNspVmxjaNXJ8
Z+NTnO0mxpaM1HiiwCjdeQaKN51awPgT1Oeu1JJHGBV4rkZlD+yV3u+FTUmAvsAuCxxUsq8cBazv
ikoYapzkyOwHT+MpGbWJr7IkDQdfz8YDeGzeHZcMRkBR/6kBe8SDYPRJqkg7dBThrlsImHdJ0dv3
MvKesqW2HHpQmqfulVhpwBnHD5pl7CXBCcxwug9GAhY2MI9VYY3qSvMdF3KX7sEjGu4YJin8MZTM
cw1C0aVe7V7KvOyeZ+mp2hnZiNHkqckDvftsIgSAHLnPQx5EXM+ofBFEj/QnPj8mGJ0lDO/p1W4m
Od7m2aIY+UrkM7k1BXnpVQFD2HqYvMREWFTuXZ3/JQYIncprEqbRyrLK8QrDlLPQlLony6KN15tN
NsytGts6+FdcxASnBf1iAJGcLHkXRkvZQMC9lpry1DtWcWqa+GcvhmoBhm5oGCG9BqQsfG5dfon4
XMVyu4m5E55LA3VfSTbybaI4LlWVNHwMnH1TW8Tv0/FslCY3gCS8rwsp4uvPzyJPsBaKsDB0I2xC
CUlpWPfCVtsZgcYK2tLQVjkmVS5JOqK6oP62o5ymq6wY7hrogK4yzAZLzfW9e59XvSU0F5Mt7GDN
98arDZjoxJeu6pQVvII6t2lXPzq5mmzrUP/c+m109tu/CYKXd3Ez5BvHdmGLCVAgqlxIN0UPTmVo
ckR3bmrrri/6gdAp8iO9KZsITVjwVUvxZxdWlC8G8hYLQ5fqF37vlWUdut5jYZcotYWlezFlPhRB
BGlPEB3NBm1etTG4tUxD0XSQelAF6WR9thBTak/cOu1WUherV616CAQ5k2zGyPPwBt+4m2TCcXuq
wkhfjBSVcOpVp1AfAm6CYEk0ha/wWOCbzUbxZO1G4FTWDWKkvQq/0EThJPw6dK3gizZPUQaPQB56
8aqxFP1QB9TrO4C5nhTfrB44Ti/kPsmeYH5cA5OU7qcHdbeplFctdopTmQTubWjkSbIMhy7cQOCC
xkra9tIa8VJpGwPTfaj07C9KJ8CIpV134LsWLDoyVfdGFoGXc+JxazgugKtSevHRtnrohmSpN2X1
5A1D+ZQl9jWHTPgu96TyydE6Y9kOQ8MvLEPbVtwtKYpw5dbunZHl3bnNB/cuRWwdfs7w1UvCch/I
fk7hhhe9mhGxSeKQwU7MRtRRg5EnVSZmXQnhqjSSHmVblx+4f+yEubfa9BT7GcgmDpoAJEcf8gYy
mIZWxSvqIcxnI44g8FbhDqeiynxOKmLfAM3klT0NjUFWtnnG7V2KLOM5oUoJSKgSr8Va1Wm9LQzf
zfq2tgE5zN1eg+EXZ57wqk02uh48aWwVtX0AaTv1X2KoIlK5hplf3gjntAOTrkM7epuVvSgldOPn
29vavndXEP7IW+GsUUyxKn3bvc3GZtWsLMrsd8JZDjpAT+2UhhXXHX1pqdd1tAU3ujMsp7203mBt
kmDMT3Z0zIjQPaH21Spy9zRV0jwlZf9Cfs45ZzAL7GB4gF1f67tLU8d7Stqdo6VJsLEIW618LUYq
s26mVuuiOx2kgivnagB1aaofyY4c7A61aeGflkG84vwcIF+OuomVdjziBeSJ5TBGoI7cRaL0f6W5
0X7Nc19FJlwzLtSlh7sA3qiadNi1MaLnRkYqzHRS9UBMvV2GTu+9loSONxo8Bxsxq1TIftRFjLrI
NJvpQPqqrL16ga29NF+rIvF2qp9BWt4RtgsTs1xVUlFuQTNz37K9cTg4yFQY69CwfnXjqasrSaEu
3zm86+qJkm+iqdrLMx7cofNeTP48ipaHlQQN0IvGp+3ejREimkaS0emX0BsexCgc0+yuAJ0nRmCs
jJOGQs8imOjVxxKSJ7vv4TufdkWgU9tM7Fqr0JS0y+DKPxtd2lsSJYezmQf+/BC7gCknp9ke63Au
+kNgLj9MZF4oLwo3Gbazs3AhHsFZx4Rr/u1ybsuB0SgV5Rlhgg313cNnezTd1Vg73WlQUvksq4S7
GhXgYMgZ2R8gmwgmHSHRFJOskOjFmjHxYCAMO1ooCgmb8taLsynJ3CJP+2FCOItZWHsR/Zh2FsvQ
/PXgUYDIYj0Cor7tWhFbBvZEUqpZgGReRcOYHrIq+NlQG5geiHynB9GbJ2a/eeKD33/gMm8P3AzC
e7H/vE4MZ5/5Sv+By4et5rV/fJV/vNr8CmaXD9tXnvTr5f/xSvM2s8uHbWaX/+79+OM2//pKYpl4
P5R2QN/RDx6EaX4Z8/CPl/ijyzzx4S3/77ea/4wPW/3ulX5w+d3VPtj+H1/pH7f616/U9vySp0Mt
Q7R34NEumL6GovkX43dTUeWzKiVHeFt1Gzd6lL0f3xa8W/bbKwij2Oq2y7/zn686v2q5Q4VmPc+8
3+nf7ffvrs9hhqN3p4c8nc9XvO368X14b/1fr3u74vu/RFy9HsarUXTtZv5r51f1wTYPP77QPy4R
E+9e+ryFmImnf/kHm5j4D2z/gct/v5XtlFDnltrXQTKCYyO1E0MiYLNj/NaImWgYioOqXYVZWESv
EgtmX9Mtw6OYLkkg7Z0YWTat8x4yrdGXXmVQW1Ub0n0WxBCo1f0Tp2CIbKdRnFNJ2IJvmebFmjHQ
zQPZ9x9iXthdeKI2YwkjlrCJpuphyzB1QGA1ZPsn6KIvkHrEl8KW4n1nOwg+d9T52mZ0a2CojM95
CgPp5KVFEUpyYjawJOBsnny62cS0GunfkaMjIGI1UMuIrXK/p845V+X1zdGFVXJVGYENT7JBfUk2
IrHDyR4cJmKqGz9Cy9WG78agfr4rLjpBA/L2IdU903AIrOJSKHFxUZRG23p6AXRdrG61ati5BciG
d6ut3gGYnDafIRdkR7GwMnNkiYz6ft5LbO13WkVQ0zve9guSojmFaQwt769LCre07/qzyoPFzU0f
OaJZ6s6Ry54iZvSCvEnd/iZWDz0yJervhOsbmfqrcei2Bv+3I6Bc7+RXk5a9a7BIGMXyeboAJ+JI
jn5IugZUhZ0XFJ2mMH1k1j4vLP82cJTAAQ0z2XPguBBcEby6rRDGeZlkjdGSpEe9frfm5lkN5bqL
k/T4ceGoDP6+CaX7D3uJoZGZZyLdxl6pDLTqY4TWRrnz7oIm8e5ED7CXh25r6W1dILPktZmdJ4Rf
54zReaSydHKdV9420toH245i4qaBfhDNSOjsgDKyfhA9BNOGfSIlCzGZvLmJoavrXkrBCSsyiqMR
m5UWrSMDL0NtzId4rCnUu1aSlDthbRGTW4Op1ZZi4jY7uYteN8qEvFXvJHxnDzJO5kbKofQAr/HT
d56NFP8RkSGVgO0/JrUx03e6an+d7SZ4QhU+rTQjy+PKWzEzX8xBwxBUXQeFyfSq317XbZhSqkep
ob0WL8KwPJV3pExg2LLdg2iMLEOx/tbO1i4ysWbUhBAtnHwTkC0IXw8o341xJ73bQC9yAgZxF0u3
DW+L3m1Y9nC9SjA0rFSY0Y/61IRh3hzFUPTm5oONOj1oYzmILeeJ/2qDedntGmrvbDKo7VIOPmV/
SjgiooCsJldf9tNraKScrkIEJcQE8bYIDWpEajM40uGltQ+UAozpQozBnv40Wob/hNCCvBF20GPO
YV4x+5ZC2FJsI9bOPh+GuddTjeHU+1GOPktNSiYjN2By08PoMQCgtrctggYyn7DXotV2woMCLocz
t+NfrQnGnmZU1+VmXAKpsqDwn+Ak7QQnaQZAPfmYm6Qep64w1tOM6M0+YknVb6we+abZVZh/NwwE
RGXeKZbHO7eth/vRMa56nXRPBQfuQ66r5Xoo4/SrpxuklABYETobIHmbUlBy5H4qDICrUQH9WljX
7kKqh70AGwsUsmjqynaXhuEk69kmYMspVXXrBPzWUkzc4Mmu44Zbzeaj/w707NVttId58dvNsaGK
uwpgzEXgyj04heMcOLnq6UJ0RQMXuwGEoELT/mYtKdPuC9XYaLMnZKcuMpyTD3kjZGKnRiy3izoA
YElYIDerHsbQFEJ1efRqZHOC6q7M4X0WPdHkQ0K1baqD6nCrnxPRWy/2ADnA5KxvhbOsachBRz6c
qLVVXfo0fgldx4J8OAZyKsUDuiG/bCGprIuY8Kfen+xJn77Eb3tE7RNhy/xUO3l0hvs/Ojeltaoc
Qp+Qev00icmx6EbwJJWS7yGhPcmjPXQL4VN1IKjJe6IMnzoR9YHTXklbV8FWdOPG+G4HarZ9ZxOX
Cn/k8IKfRF8iZNr3WgLRne4ckqnpTQVGynkseugEo0tiVruPdql1Dr+z9YbvHiREn9B0n3xuuwqr
GIs1omkHSk+WYqYoBnlHVrk1TOWq637+UhNv9mWA7Gbs689EPWqzyV88L5VRUO/A9cvZi4KE/MXo
zEexIszt+FzmPDTmOtFas+GHRqfk+uinvnsUvaTLvwyebW7EqBsK9+hVQJK5uf9yCd96s60DZorA
iIv6xDQ7T9wWi33Ejh8uV1Ots0rrZOLE/8e62fnn2kBGhcIKNrIfZNti1L17SS5hoS+c+BPRu89G
rys/ENd2DJ3Ur+2Fj7EV1Z+dNiKlE7b+gx/a/GYaoXQ0azM+ftingfTr6HclfDd8iE+KXFn7TsqJ
P0E7sKgRzzkFyEsM5wZWwE0bAr0Ei2CWr2EkOesYtq6FRaCchGkSrTstb07N1JCse9/MNuGiyMo6
Km1pP9vFgnko3IQtzTVzN0YOWm3/2NLIx/dXmNdrIemIOkmurmFQCBUj7mDBSr4Vw1jOkzsnie8A
2Eb5sklRs/B81LZ8rYbnq0eBS9GCfgGpVkfi/B9Nhl4veq8G3N4LMRV2CjzWopt7CSqwBWG1d0a3
yMy11oWg3Jyq2QRKpEwlB/6jaBodAgm07u/FyCsgwJk9usmtwyOwxl8ePDWBf1SQ91aKtFqRdvTO
pSBJKuqYx3Y369fCCHWmfx4EIVI8OQnjn33mNbNPNdEuiYkw1LydDFYPBqFce4YrJHKV/LmtUKL7
Nfg1U0iFtEmpjqIYZvrd07xsHULlsBQ/g/OvYjbAjOtPE7Pt9js6TeiDSyB9+lkVzbzVPDEvm7ea
nTMEm4jXJim/6/X4SK1/v7DJuB/GCL0YNbE8cq2UFMWW2xTLCq4Sv1Ef+mkSYgx72Sggs4VvL5nG
MagmvdtMawvSKsHRLtXgImaDnP9ImkBjLoYWmfk73euPCAfJj+WwbqmPqUDSAVmY5M7tTFu5jenv
U4QuTokFCxdnojxaiS7E4kO1sDOQnZShlpt6SPtqUWjyT9fb/LxU9Lpg4mAYOKuIIVF2qpl6QHiR
lD3YVBvfubWmPA0kPZdaZOl7UFPKk19aNmz3novidA5VmKx3S3PKvhpIvu4NrfirGGWb4+pkA9Po
AQJryv045WFFo3uKvg/q+i8xaqacrfANKN35re+057xc9MS+SiaVe1i64mMfdQX16zxPKbwPF70E
MCNsrUK1Zu24znYsMukup053PdQtanO9ly/7KlEOo2jiCoBTNskJLoTh3dQ0n8H1cfCS9mdPuLzz
1qLgU5rJ5Q70TnlQZYgl39QGheSgGGZBdiQt4h+FqRaqhFVC6syU04mC/5c+oXAuTSrnpF4Feoxk
4bsVvZIfDdPyjrcNxMy8y5hCd716exlDW5EoH714aQT5d1Kp+SMZqOJRkuIv5Prbkz6NFNnod0Am
kbKaPPJCLR6zoFlBfT5ehb9SjAgR95RIiUnJMKt7tSZ0Py0Xi1w3VgAcofV9u4AdJ+ckNajt1/J8
2REqWZiRkx2FMyiCca8OVAqJ66MQIe8Hm7QkxNVWq702VamdLQl4rBhaHqTKY01VjhgWjlUtZD2y
zqknya8/17Stop2lBJ5xt3C013kND7HhVVVR+/PhtAys+FsCBueSTQ0pTOXiq4mx7if10tkmJhI9
QychQuVHDEUjXHw9eOxBJx5mk+hRM9qbBGfmfcgd2gc3hfL37XI3T5Vac7d3wLpOL0E0vaXDoJ76
286V6qPB2TOHbUCtj2pf7szOG3a2UtfQ02KKVVOjakWMRVdYb2vEcrMiiQgUt6jW/gj+uamz3yzI
ZGo+o0DaKQ1HCNHEreeCuprGlSypNyPlLj+nZ8cPtnFa0ZiN83OxmNa1WN0q4PI/bm3Ejp2g7fmP
bXNKX3baAH8jvCDxKkJx5pPSOB13Wh2RTtPLPin2M6TI1gtEZ+W5CpEMtPo4/ZS6Q762PcrLOWJD
9FzKCyuTlZUzIfORgk6PxoTcFD1hGwGiAyueZkSTvfXEEJo0ph0jhpanm268WbeXeWY+wUvdXBU/
aa+qYrirrkPxZraZcuGdq9zdClNH0SUssxOlqzbY/V4YRRNCDLE1AXRMPNfNdW7Mx7B2syvoTIuj
okERZ1aVDoB7LliEpnxODNBslJiuQug1dznZ6pem4h2qQgPJ4UmJmfpfqqvdpj7q07CrQbBSIeye
xKxp+1+7wRnuxFIQsJekVIurmLP1fNvoZvwg5gKpXoDAiZ8UR3GeO+SHYXhxTOkpgCnvCmCzOmYu
iNRplEBtcOs1TowIgdJWezHRG155dUq72cGkxfPI5DxPNL60lxW9QfACN+ELjs3bNB7AlNlX7I6I
XBH5/m31bc4vgWNImrKWPM/dOJ0PD0HsZRfRyAbSUGONgK4Yolr8c6LKK6hpZNnbzM7pNIvkRLfy
oxzqubddol7JLp6vOuuuyREIepsQK4yOqF0oWZAx6dLGhGl7z3XMfaqgGjORU8qT1B6yXGgFC1rL
eTxPI1wI4aUYD3Vd7Cqd4mU/GrcZ+X9Ynrz26moqn7epp0XnEA3ACznln5bQzbop6sM/SDhME21e
l1QwACYlWrx2pZg6/dCBJxAC2n3n1NZ1mBqqclEBLomOxUpgXf3EsK6G4lrbuo+sxWzTFUk5UeF0
FCaxVPhCY7OoU9UHo8huYlLxvOB2mdk2X8ZpqThu4aY5Or7V7inMpjg9zsdXk0fuVaI3xCOnoQ0b
FWX7+n3fStVjpFtbT1ZHsCatd4xBmC4DMdStaB03XrUTs0HRfw3dKVUPOue54NMrvOBWgfieAyGi
FWxdVEq6gZYj2IrhGBagKBXfOYuhUoL4lNLXVPObO+5U8W0R+iwwD8PUsBZeuWZIi7IEzy+GqQVh
p4rgtl7wsTXzDKUF6ID2VW6lW350tUeSDfySQyTwd2BCvw0h/jc4AvulhdT35YOvDk8AWiz4pjEq
7zw+rijedVa1PGrHdmpETzQBUlRHq/DdAg50ZiTgVotWi2oINxlGZfWgOXX42kW1Ez7laVO/5nLz
XWmCjW0VxX3eyeoTZenAI8uKJ8XA15560B4rz+jcrZgNdM77qJZoADBwHlD+PkYuMKloci6JIV4p
AT+ISbE+LP6KbU5DwuLn4WevlGC4nrylHGL/EWJ52TDkVcxX7UE0FF/Jhv/QGW3+QDHnSCxJhuxy
dKN4acccV1Ndhxj1zb9us63mG8adaqnf3QRBsr5T4kuX8UvJ4yTs+KARL83UiIk+Tc291yfPtVn8
Mk0L0tTOz6UZLm/+jekdQn88N4KidCKfF725qX9jGxLj3/nNy8KQz38m1f1Kj70IrLQL486gUzE8
1Zyqla/CGEQjem1OnmQhxh+mwYIGOz9wT8J+20Es+eA329755HB1bPg+fFfkQuUhgwu/u9K8RPQ+
vppUJzbU81i3+KOj2HHeW/hpvmSsC35VYOpGI2DZ2bBK86mN8o0xcUuLMdQmAeBhAI2zres1NIze
jaeFjTCKNXNT2lZ4yPNOugc4aDy2VfqXlBndSYwIuaobzmbGquVz84hwyC6Isv6UNraCSg6VGoMZ
quibpupF2ETTpgYkl7aarcUwl0awu0U77onZ8vlvSv8FNHRAhZrSoBWYpRvdGZpzFFUOdSqBd5Am
5lc2JXANQMgfSw8MuudfRM9QudtkSgM78j8nUBkjeuwar8JujkkIDcXkosQ/qo5EktgjyWwfcohe
5WdOMlGQpTb0trHwLQcSBu5fMcIkx6SOs6PVh/eBbiTb8M0k7IVZ+vniY7enoh0rb/RttZh/5/S2
m7D9ecvcdX7tXufeFpCTvVY6Jz1XcdBCtEClQU6NySIwW/97CsyTIqIf/Gc+aXBjvY5KVq9cxY4v
WQaTIOR+6m4wC+Vi8oy2MtsmX1K675B8qMeTrwPP3pQ+pURWZfWrd0bRFY3mAVBva80FrgVmG2y3
Op7m6QGK+2bRuLxN6CZ/nScC6GHRWEPzUk6yB+62/BxDRypGVEroxyobP4uRaLpcnz40XblWqyF7
EDY5gAimHG2+3JhcRLNJ1QZrMadPJuhP1O0oac1ytiVJbS+GFrD6vFEffXMVtMtvu1IOdqBMLlyI
PYQtdeCWdeM+3AgbD0fBslCDegfPyCXLByQ+kFl6aB2zP8ObeQ6nEWXyxcMAC/8G0rRxJYaiIYb/
HaB8SHQSt7gynItLxlssEqaaaustzAbtsoQYmjrhfgBJ5iLN2OfqJQYdr+djcFdPI2FXfVM/8uxw
ECNbHnVQiupQbC0ktxbCeGsqWb24KlJhWgPTnLD5nazd6UO4qJIyXJuOVNwFuUF2FmreXWwp2h1/
tw3g2VKeW5MEitzq/t9DriwTyFAo5m71Q6oH2Ve/oHDVhpUKsiNJWkdjYZ10GEoOTiXrW4ugyLWl
HnIFBYv8amTBNzJc5Q8r3KKo4W34nSm3FtVz18ZRzWVWeNjMpnEWGc/mp6Z2DmLWlCIY7+OBjzha
o+ZOBgu5j5G4WWlqaZ4om/8OpYJPAYWCpPdkmpvZZsLkvsvkhnpzPIRd6oe8hcv61zJqN/+X7X53
VWGbXiHnLnXtgZQvp/RlPTXNlHkVDcVGqxDA72k2CQ9PHZRNo8r8QydfYRPrxZBC0Afw7sZejOZ9
qZJJ4QLZZpRLHRpg5ZPMcvJUtDHFotYXqOydS0WGbajSYpepcnCXdjXVv4Zm3hMNQnnKcSFXQod0
gSyG8aU3mscu4hMs9dXS6Mhxcso/3vhV31Gtiu7gJOq6LHRKZSZmVVUzaERvaoTLOLGzNlPUOhiT
H6OaDxd+0aC57v32G8Uqh4KyylcPcqMt9eXtrgjcEBkb+ZvBZ2yX2hb0O5mVvfQUIG0dexzWYlj1
dbtGqCndiqE7duFKNrRwL4aOOpFfIXRxHPipfPFgsqLcCOqtQpalM/rP4JpT6NcK2VafeyX9OSyn
eKsYOpHjQkXW/pwVw+Sa6+vBk7+34+jA/GrKqA7FOljfOo1AR3ecYEwFxRL+mFUitfJZjEST+MlE
ZKF+DzstTda9tVdNAv2EDTTKYWTt1pse1imMKTqSQBSaiQkdKYfbLF81nRKlyTsuDXWdqx3cs2/T
TmFo+UrseNuWytrFkLrSukYqZtnGbXYwogSdQORiVyP482+yAQmD6nyRxs5Yj4ofHJrSTh+1SPuG
iGeyzT0PnE7jZWfR2G5fnzr7IgZDVRTNap7UJE9ZGiUSS31TdDsIDV/ctKCY0CnVhaNa0l09CYaQ
DfAuaQzbkqFo7+x5kXr6orMhnwzqhrgBbmIVDLTtfmxRuiR9EX5uVDgqTcP+WnceN7oohye+pS6j
6eoWzojM+QpN0Fclb8tHXRuiA49KyhqK5+5rxONxrDlfdSJ1ZGpzGSysqjzoo/1drOMcwO2bspP7
nopH8hGNzn03MG6UZHL/qCum8oWKUrQ7gYjsxdFRNAlHId/KuU1Np0nRBAVln3JdIBCeWjZMw/lo
nXPHXIlDqB1Ocm2pt1TcWr5UUShfssr9XAaeshcj0YjJMHIXHbVx59muqap+anJtLJCqlCvnxRy1
8Wy6wbBoZUQFR0jm1o7a21sxTCTjGVXnJWqsaGJMtDW6Evq8a6p/Er1o9JNqIbqeZ0fVYp6S7ZpD
S6mADGfJO8efXWT/FnptOrA5jv0pnBqPKEy6KrXuk5WZzVZMoL7lIn0SZK+mnlJxmJd+xf+6Az0k
uv5EuxNOohbTDed0ayYmn9v45tSQclPQ+oIQa8JMC1R0BZ+bwvHTt9AYhZdaIlSMnuuo7upJu6cC
Ls9dPdR2daKqz3Lr/pyF+i48DB3KcDwn2Atq6bxvoxVty1DXf8Cwv6/ChiAfJA0cH929WVnZVQTy
Y7UYF7KX+kcx9BTfXxcy1GR2ZD1X/Yg+UjR+MV0738R1T/DRscpPkz0r1OELJbPQsvIRJr2zLEBI
HTK5Dz7pdgSZsVM9NQMskEnQfhdmO+n8ba71CyPZmZzRDjB3w9Q89fR/Dgep7yb5QqZv3Zu7D9xK
L7hxzms+7HPzVpAXSBfznp5j3VvUQWzL1OpOkpd1CN4jZWV0yqVBy1xHzBebmI3kvjuJJivTJ6n3
rG1UhaZ7FjaoQcDQqHm5ECsAmQSEp6ddi3SMdgr5nxzxV7S+qUnK424TvRVz8Q+0xoWYNYLwc1bJ
zW6sFZWqhmlF4NdkgnIzoErvzVFUgUHpYwIw+8oxNoqgtmx5oMl5CClrkhhbqYzMTQ6fGWzXqiKv
PK/+keeE8qW4QCeQuhcqK36JvfO3IvvedD8nhAD8zTYxZHyYsFOL4td5G+EtVOJvwvH/3P9328y2
m3z824rUgFmF7y6vJpheTTDJQwvv+bUavvrg6am2UKSqWBFjyK4ojKVXa+qBL6CAybwIi2hGHxW5
sjOtd65OXA+ch3a3JW879MWQ8DPmNmuxUmyt23J7NxDLEiY9aX0ULwydMHLgh5sxNDxnoXBfPed2
t1bEUKxL8jgjnSnrG9mjbJwyv7Y5BSBC51cmrk69r8UP/thu5wmnbtpjRdDx9jJ0eRIBk1YIOVv3
CWGnxiFQqhqFfR9Xjn4G93IQc/JkyjoLog5t4OloGoqJOm+6dak4zkoNeQ5fcoJzFxXzkxq0dfPh
n3oxIe85iV34VWjuUbOZ58H+1XtYXc6WHe3soDHuaiOLub8mpECVSgaiA7PBXTjqxp3o2V6p7b36
/wg7jyXHkS1Nv0rbXQ9sADhk29xZkAzqYOjIiNzAUhW0Bhzi6eeDsyojs7qmuxZecMlICsD9nF90
T9dxako4ZN+LoJj3Of8JAt/McPlJ7LtWxCtnWVWN+1hqwYVOblUery9poJURw8raDEu2cZB9CAWv
qvaqitc5RsA2VCRV9XKkPpr+CcMA74S/hHst/lZVHapN+km8raYoQXkQ7J9IhmyFv03zgMdc8xAn
5LysyoTxNUwNbzMFPJNf29RgnoLdJhtQ61BVNU7N7RL2HhYB5uvcv63XtlG3q1q42Aau5yerlH8W
fu+eBjYNUOBRWoJM9VfHYlleY4SAHKedtGWzRbsczQlkBmujDjdqhV8u1bJqtOoJUBDhh4Y10qxj
HoX5JpaYVY4nfJf4ZyjTBNkGG7f0asj1zbUOC9U7X0dNfoiChRN9/aXHVpPKZT6q5xy/4QmyDc/Y
r1hNoJ1mWIXsryjstNKwYSbrh6CPaRzTsYrPMTxX1OfFMcmzbUiMc5+40KrmqraP5GydfWgNj5oY
YFmjirwSs+y2HKCmzylRBPin05sZoonAN6TbNpm8thdOM1/bh9z8pV2Nn4GTXMdbWa/d4qqIJMuI
fNJQ15dmcdfNUo7HXTXFx3nx3h1crAUMDPS27WK2Kzi47PlFRRvVGyLNeg6clAfUMrcuJude1+J9
v4zF+sA7emHwioTp/NA6UqzaBtUetOBWKHaLL8LosccIZYycuQXF1WzNVZb46UXGVfaE49JdjZr4
OzCrYuuErYbAml+9+zCZiR9VkP3waCfhj2tifgtFs7lFuhoDoRoToMFrrk2hEyFQRCa/uTUajVha
DjxbDVZjVIeqqqJy4bEHIY48YbRovnwMVFfaIulcDt8+llfNapGPtiGKP/fuezaW87YRbWhs69mB
tKhxXNtgRFqvuY+2bKOWLjtJ6/PYC+7iuZ9kWwJI+eq/zAJLlRyFLzbXRdR610FWKj8Zmmj2iUji
y0fhlKCoh2n90YI8UnxBxxKvhDm2nwlJhgfV9jFEXbWVN68Dw9A2Hx3G5DGNqGm4s2UO73B5sWuj
uiwbkB2oN21EZv36VwiXUFxf9V+8Jh2OYTDJo6+7fxaqTVVVx0f1lyFJrWWrX+o/l9HmwFoH2Gph
aMSCH5P/v2u5yzitq6I9ns0HpD3mXTy60apZJLQ6lP2RAvCqTaX54lREPtJbSmorRTTqNiW/s57s
mGBv0Ew6LpfM0Us+lGk2T2oI8gMxykoYMIVhZe/HzHXZPTba+zAYB5hzqHHr0Ujya9EuX9rruf4h
UpQ64iQyL1VnHduo3w6aPCatXX6Ncq/lKSm0lzix6s3YasO9o9vxzkVb4+RhPbHus6nC2s5E/L7r
vuStm7yISnPvS4jEBXJvLwH5mOcyPKouVSD9AKRZb/ENZDT7ioe2tVZ47n6r8Qp+TjG3xblCW6ua
jZnRszvyI/PSfjOx1964YuVocfoURr18Ssc82Xh50O2y3JFPelkmt9wBX1WnKsYw+OyxWzyrGnIc
7q614G4mOmGhNYt5y2K+G/252Nxm/Y5A8O3UdyT85pI9zCLiI1HIBnOyVFE+uXE7c1dnqAHFsTbw
EP7LiUcZ4xhZi7CzDb70o6Nuqy/YvLhILBMF0PKILNOY3iukFSjDu7rL03sFwlr62qWm+sIkuWv1
TF9NHbsO1+4q0oWpvgKrXz26pVU+speGLFHMxU5VVYco4QkniXtRTa0tm7PZuc/X8cukUFvsUkMO
Pdkkk2w9WN3XxA/7kxpCJsO762Zn/THB0Lu1zk3y3BrWKnXZBKdVLG2kgrPg4OfaXdKEGoclgJ8X
LMvkJR9a8v96BmklQMpzJ1w4C3gUNbsgMARvYtCuazsiRbY8TDMzRds4wfZnqalCdZbLiI9h/33b
JHHhG1vIval2Uzoe6oScqT3kRm6mJPdO4xjVd3iU1GtcWvNv//OInDXG39fojRpPElGG+zrNuqd2
0t4C/sZzudSaoo/28zAaa02z2idRjt1Tmr2ZVpY+qhYbjxGcDO1hq/riyXcv1ohOUth2D1liAmuu
rQtnU5y5cym/DjyyI1tL3jrXF9vWF/GhTHXn0nMzcAYvODU85hroulyOs6/deBUASFzfPeQwZ8yW
5s58mZBeulZN6ZgvvQzcX6ofvWrwP80tiP3t0bzNZ7M7q8LXUT7goVsi5fhXm7rSexQvCAUHZEGK
BeA55djq6ihLbq6N/YImTXp3nztiPs4V6thKlL3HAYlnkvssjVnbT7IHql+Y8bteizWin9FXgJPA
wWLvxXQTLBIrMDipRNhVxBd70MxLioIM5CZ+Juc8rG6unU7SuQcn1D9FUBpI9QSvZcstwnfmficx
sNmU/iye68hqT6Q/5EpVTcTB7+M2xaSn0fq1EJ8Ms+qfVF+DwEKq1dFF1YxqqtbeZY65ld+jgeOd
plRL1wAAsBeZnOlW1rNYY7cUfXWFu2WnZH+SXYWqiIlCljNp0Wu1GIItA9TMdDEmaUYUndRMttbx
17m2t8Xk2p+GYah2Mr2JQqS/ZxDDzfe4xudw6gzt1ZHD18Zu0jtV083Xtu/0FyB1/QPJtdssK3H+
7gMymWYWrlXVLIZ8BxTYuQGn95bDjz/UjVPMoOy1eV+BujYzQkP6UtjRiObUz6sxRymDw8CwVR2q
MKrMuY5zEfw4IRq2/piftSRRsD/qWxQggmjrFrhojV7PybiZ0ovf6yZ3zMx4RKl5WKdV6/Gmz+Gq
dRsLOS4xrisvLE9OX9fe9TIPqvJkeDYhaLdCkVH71gvUuQm4lVgNjcDAJ55SpRiwxem74ckMFs/w
3Eq+ZUGwJvTY/5En8t5CjOp9nvjBWKKu7js/rfZycIgRGrl5EUmtbyKDhD2a3V/UpMk7VKgQ/XDt
IV9FetG8FBKj9cYN5KoJcQAnPyhRFOU3105Ws+9Sp38mJrF4jYFtV71NGYUkeaxvqtMtQ/+JN0Z1
qQK781f8u/1bVRNO662FN4A4W5ZGuvgf11KdtTZ7v68VY3hiCcO/tZbJaq3EfA6z3NqosJu0+wx3
o7j7M173S12OmrfOexSH2mVv3Zlof8zowezRirCfMyNxt7Us0ptu2WvLpEH6VuMOLJeqPor5QtSa
vC81zajMpzF9UBPVYq5dHXDwGHjm0Y9BUA1bK/dPai1djP/8SuFLFcY8ekQYXIvQ7Gygo1Eab3vZ
9ivV48v6z25VvY7R89Y4gPM4fExOKk4WIfpBK2MS3EYbMG4n08HbDBgrucCM++vSFCyy53pkTDG2
TFxeR+cx4FrNSI4zEnm6Z7zbegTMuOuD7RCW02cxoz31V3Nfo7SrmnX3H5t/G60WKZaY3m+jVXOU
JN/9Em3jUffknpOTvUtRo3+2pvCbdJrpGyIhjxoCRK+WmdiQq2wd5mbD8aef55UagczidpA+bM4g
qgC0959EYoxrQQb+lt0kyqu61pW3qt6DGx8WXSh/+MbWGtuu0vqjCKsLvjLe+2A2uB3VRLVd4qm7
Bp2do9v22llK37yZy6F9Rth8QFeuHb+VjVhuPNYfBIZ2qA6v+sKfnyXAFvRJdDBey7tmN8A9/qEd
D7Xbzqr059BDC3aw7T/HxxhFfYz/aF/Gy2V84DJera/e0N/Hf7xuyDp/G6/+nt/H/8P66u9vlr/f
ncqbkQTKs/DtH5Hoh289KtBzmuEP461g0sUI/tvFnpCB+Q3/9O9jYrlHRG4lG07b3qMelGwDL5g+
o9eGFFujfXJNNI/rpR3z4ukzijxr62d7AdHu2r6Mnz1L7omedKscw5VTa6VNs8pyzTnVg3Ax8JDm
RvWoQnV8VNVV0wqm/K27TPpjH43j/qN9MgabSFmkP2HrjC5TnprvlWxfPLKqf6C3m2suemP9POxH
PGrWIzIs26zyG6T9KPDTas6qqq5UoQ2ky0Ora1FC4ZGkQdGq5u5WFWnld7fxUqhqYI/2GomXbvPR
1lg9cWxVD7U52QornFdqnpqiOqYKVVk4nQ3y/q7+LmeB1VsTvpSeHZ/l4BrX9ilB4mTMHOw0dRxJ
OBtYFzkg/5Jm+bF2e1zUM9BcO7/AuBvtdu1MoBfenAsVeRaL/l0xP40xxxu/5LjlTk+4g8xPHt4F
UEol5otLG7SbCWNXNhyxA83PMe8ht01P3egjgQssA+Vjv6nX4ejBKMjMi+p14oVnBUrsxhDR/NQj
xLWchtlMdmuhC/8tiaZPBrqEf2TpvYuSYbhyHPAR88ITRFb/ps/Yt5glsAOp959NGG7DDue56IIE
1HLEFANWvihxjXvdjUAGGAi76XV1VLWR0MiduqrvWlmP12uNZ+zGNjPesxEgEBx+WEN5CPW8hpl4
2xTVWO4aObFlRlBvTXJyvLWhbRVoQaH0I+TXoC3XYzVZ6N1W2k2o5/ExNYb5sbUTJGcRltuPuu3f
eF3Ubr0Rx1hDC8fXLl0EH7siOphJP75OXmKsOAAW+DDQO9cpTxQM8Kw8HnEpqXli/Cwwgfyzyvko
OWp+jR49WkAXaFDypXX7NXsRsiaJwW0jDfHEWarw7BG9k8UmGQX/JOEu6polWGJC8DdO1ZpvlbZ4
iLepf0fCrTlZoEvwhtIkfMko2rJ4t6o72BGF55kPqmBzfyd0AynDEO2yazuyA5ZW3bcgtx/KDGJK
bM7Ibv81xYrrgbhh9PbRNCPSudcFAe2PZciTYmzDk/E6tUWYcp3NfbExAoyQG8A4t+lsik9I8deh
3n0qbTO8eIh5rlSznpo4aFjOm4GqJfl+b4sFO7iplIDiRjMXuLJeHJq08bVNnzSckcrC2s7SyO+8
NCyuRY7VCcbQSGA7QFEuJcjKnS7wYbPbfrrLQ+nAvjHcz0g0bysrLH+UQ/dWNsb4arn6cKOZSXvG
4W04l11Zbwaz755lnQcbUuTxvjXi+ZX4AjCasIF8MRjTa+T1nzWwJtAEqemhzf4mH56sorOedbBT
fLzza4Ezz300+49qUL18ZeA8GCs3RmnZLPqdpo/ptrbQ74P7Mr4I6Z81nrtfHA8dTDECzoljXCeh
ZKJLNw7dl3qCQle6mfcwoix2GgxwABNI7S81wTfhu9UnlPezfeiG8a7t7O59SRmpAbj0ooE7FfLY
SNN8MuP6tSfuuguJBeybRfi18w3jeUEcbdPGjY/Y+EKCRMxqjdmX+XXU/qhNbfoOoJS7H3zxx8h3
472oYrH32kB/6EK0vREem7+DH0JAS/vWhF4G7qY170MX2+pWuljOAnUoyjY5+YuCtCqCadbPYH/y
7bRAKz7arlceItNexxfq2mMvAyODt9gVFo3uz3V4bxyMULFXq6tiPIazS2jx75eqrgrTssajDo3k
vw7SO00n7RwO49FOalYBwBiBEUIqQQdkJmJDXsImth+qZpT3if8lsQS26lkeFedwCh5Vn+t39kNU
SX3fFGBSBygFyTq1I+tGlo5BDmuph6jMrrk1l8i+Mdy30HisvF1eo/I3VaaxnxtS0pDZXfbBBhmf
dgb/jYGl7O/bNgb2rw8XVUPwtr+vHI8Ic5GaN6pNFYueAl4FxgUjE5ZSbV1gvuWG1h2vI+w3Mw+P
RChmtEQl3K0SrAXeMQv+sTbdB7L3yV2m+5jMRN5DLmr3ocjt7oindrxS1dAdzTvcFAnhSW/+0hrD
cTRBumh+Ou87zbK2bDr0dwCIyJ9qh3bUHog8yYfRrdOjZ5v+KgzCP6wqXbZ8i4e1/eTU7E068mar
EQXlFzNNsk0b1C2vn2EEAErw1m3ZsLgulHU9b7xTH+ktGdtS3gWLXQESsdNT34MSnCwtfwtDbJtd
F6E6x0FdAJ73QxW06Vdc/MKVzC2MPQYk1VKvNTGDSIBmuDJ/Ri4WL6w+cR96An830wj8ENq4se3q
FjYGwIO9U5jiJNn0HkLJ2+jpyz1Cd7q9NQ/pLfRvbkXOmN5htchjkVPAw7SYmdRhNT9hb6YTHsGQ
bXQ9G+2V0XjDPyGFcciP2kXItovc+rulT4eqWET4AxvGcD9jcZBH08qRhvsyO9jjxn3DoTpsYEib
6cZvw+YNBBLOEKJEfFi4zVuVrTgLhW+T7pRnpESytRqVuXC+ReZhO7JMQvJl42UFsqhmKy92GzT8
pp0GK9Rae/UiH1KkT3SiNOWTHWprfTpH9kVmVYxnzVgcTSyUvomq+G7rdvKuG8AX48TDV9ZwyLtm
2QxQ1kHqIg+bi7LrMRHtdx2vrsRKH1p55y00MsWkVYxbsJgSOXz56C10XNU0pCHqLJk0j76XVU8z
3MUjJtNyVTep3I9g4rbYI+l3aRfH6FcYF1UDKQswZSlQLux2KfrEPCFDK7mpxWCutCp3HpFjMVfT
6ASfZV/f4QLhhSsetc4iaMur3sZFCnOkLuJtIUqelININcBRGZ6uZuJCzOjcW8JUYt6EEK7YJ/bn
a7WWgbntbASZPNLSfAxJsvVSQ9ePetris4XM6Cozg/pWFfmSvGl458drY1rsUa+xzqpTzy3UR4iR
3dQ2Zh6ZByqks8Lkkol862hI30/gwPgZl9Z9In1xH5WyvkAwRNX1r6Z2uepQmAzGyT19tI+pZq2d
VlZbI05DdKIx7Nxfl+OOCHZnsq9LqYWxHO3PbTP8YbQz2vpjVP7IL+3gdT+01O5XlldPT14z+/xL
reHIydbfDF35lR2Ag4sGKWSpFxGZMCh2qvrRca2SvEr9trj9W/to9fomQVd7o4Z9FGVJCMMq7lWL
5eWVtxkno1+bll/cjMFRN0P5qIrI460NTKkfVBWlcgPFX5R4xlY+anwLH5G5LHah5+Euv8xSbahp
wl43Ev+oxg0dxJd0DrbXCcuw0oyKbTsH00bNGhpLPjaN/oolaXlWTaOH16xsk4uaBHavxG0k2ldk
KC7GQCBuMnCuFM1AMBZZfu6e5rsW5uHWckR4JKxsPBoz8q5qxOi2X4lu6U+t7jWHxm6HbdDhFayX
yaEtK1tg8mIGl7qD79/79hlVEiRc8RLY2NYiUoU14QYZ2OZA3NJ7c3i4xJVrvUaxkZwHMGjrKnC8
NxG13Ar1JuGUXdqvdoD9Se5F664EMW8YXnpoc2GcwafFuyRJhruy66ob1Eb1R6L1ztpq2+S1rmMD
fZkcXXpn+qxhCPGtlcmhSoXg2eZNuziYA3glFH3EzdkvJpPTDdF4J0BYP5veAzvz1t3sz6c6le5L
nDk3UTXTjv7KzpjRTbULMb4XJlFpiaxrQCQCF3JBCmSZPpXAwqJqrO76am4egmj4oqZXnulschtZ
dpPsdRrntwSbxcH3gZr31SgvwnWLmwi33We7NmworEX8pXVwj1ZHnmY4xHJw/kDk4MV20vI9Lst6
rbeG+ViMU7hVKw4cPa4ruui2XrR8wHxqdMrnehxtoP1G/MWO5K2ZmhyiWLEAVfHdIOM1fVu8Z4QZ
ee9OLPg8BkecRR5ZT9EADGPI3PdBAGXRUB84WKhIP+lhxikSgYK50gsMvYorii4srP7EnaNfKxQd
qNZ+PRVfA6+OMaAKvHVjNOY+9KkOMkMsaRhwTSZeA4a6s3axhkW46h1TTmgRkOy16hU1pHYXaiHe
fvZJ801vg2Zx+DWLbnj4G1/r3ugw7cr1sx232d2kWcVCVRufF4RZVZqHpnWmF8761TE0k+hGAct+
b4+XdgVE+729Yr/wT+1qvDZWDRnJ3N7rWRJuc9+IsKAXyUskhbbrU/QP3CBJXwZTq46Oifml6i2N
TOPcMfFEWnp938RNfcxuZ2NJ4nTtVwX3sDSZHYcBmYIP9IdqI99JOv4n+kMbreyo2hRARHW0NnmB
FnCoKxA69nFou/VmQRpZS8z32uPO3poOlifVe4fj9WuzCOgTBEThbBma/bDTbV+CalSRAmvqrYu6
MpcrBP3vRm3Ojqrpo70snG43/JylOkiI/zk16OxfZpnR/L2ZW2tvGkZy1+epuymh+2zsCpV11aaK
EGrD3qx8XK0g8dy1jezZ4ML9g+dlreWcSv6FP6fgDrbz6947XceptYIA0mS3EFd+adT0wNm4M3iH
3m5jbSOtstk3CN2uMr+NMNxcXiHlFdTaap3r7OUVrEq6mzwwiDuJ3n9wZgOmnTE2333xoyqT8atd
FWLN25DfkVq2jxEGYVsTu927yEhtPNJa90bLfU6WhixeHV3CzqnNfj8u1cJukF5OveaoehFzkECZ
ouE86XHxavf5Zz8ZnAuc7uLVSjjK86s6dhFfGz3jVdtZr97B8CFvFFnJJdH8/Anm0J1qt72yBKEB
aXjGUendHarN5DvFK7bv1qka4j+nBzkSYzEq6hfhZP84PQTU8u7M5XU6IuzWKXR9c+3mAjSGiIN1
6hPtScXEWcDrk09t/+YjavTSNa12H2Yk0nMv+dSLyDsS4unwtKnSTyOn1q3utqCl+ExWvua0O3MK
cJgTTXQZO9zZR/Sh9+2ERZIWTnLTRZX9OsfOH1WGO0WdPUBNZou9kDDga6wSp7x4whrPymlX+fEu
TXzfseOw/7Lo/dnU1HgWDnkSAGFt+kOT1Y8J6tT6Dk5A90sV75j+gFXUY93r5SVKGxiGgZ9vhGWh
gLgUed5/zpBLOUyyxjhw6pL8zkBxfJ24br9VVTVOXzryySSJ2IjiukAzNhtfZKDwpJiex4AoQiLa
NxwIazLkk70BjbQEFBDcRpM7ux15qL3aXbZK7bR7s4SjH4PR09ZqVhia/Tq3sYlWvfrbhLzfG4GW
+JxnOKnB8e7YvSf5ZmqD6tjGurMhrBltZcYTHI0B6cBj5ATmWtfLEqHuFkDuGfwQURJJ9j+N2vwg
FpmcDXtvb9UNDc93NMrWRB+TF69LQWbhlfojb0HqBc73BBgCYWN3fhIFNrTjaIUny4bPhlREfKO5
cO7tpsSvaCbcTDYdfUT768BdmNRgiLQltgm7MajcA9xt59LGfr3xp8x8a0z7Tr2QFUf7FC4k1nA8
SCt9BmpQBsmdunLa+rumRS6JwN/a66bzMbDHXTwn9LkfNQ6cUrflWTrtcFZXfZH8eeUOtnbSY6Di
DPho/ttQ3NGHa28vF10VpyIwmZI2S/so3/tYWV3TZgMf0G1tJm+qs1rgImW8mjIve1bJL1ezvrBV
Km5VF/4BxcbE32KnOtmCZNe16tjXjvlIOjlKzfAeEzt7g1ET0KYYNrtqC5Yr4u43mm6SLsal8Npe
B2a7l2RvV2rEx4QsRlrKd8calOZfi8Q5f4oXI/KzvIxqV7NS6VkbP8WOXHX8sjovaN3FiV49cJTo
X9rCu40nCRJkqXlG/qLpsX9RNbctvwf5oskx5fLFxdEdr8lqPttLtQLPvKotbwA6wUwd0Zq1Gfry
2LezfEllNK1zfPIOai4Rb6wlE2veq7mjzg17GiJrd/0bDBRGAolrgprrkeTa9kLPtqp3SAMb6OPi
r1djwdnkDhaKcqheAyfZz7rpfnYszdlkgB8gD0XVM/zB+2s7qhyblPP8WR+L7tGzzC+qXa0TTy3q
nH433zsF3GvZzd7nsbcM7rZdcxfFqX9xTNshDGGgIdjl46YdsZWsvWi4h4U53GsLPb/hMTnrPpCz
n+22aUcbEpc2OzRGqI7QNjCrKFBgWZrCStd8hF2nuwKzkpNqy600WXHHtDf1oUsAfxvs4m9q35wO
KYnN56GcH7pmwCeoIxY4ua18dlzIiDgEnIeldm2KUDNp0JxVtQS+Gl7m2XBS1SlIipswi6ZtkIJB
9Pre2RaKuaNHQb+qlkvM47dWI6NlC0Nbv7B7DHC91aZLIkA4Cw7XmNNd7s/HonK1945bqp2zI+do
vUdklG8XiMj3Lvf3mKiVLzwk2hMKsYvDLu1oBH2bcL3RjSd7KMpoM91HdW2cYrbZJwFPxuuJkJvc
tFf2MDaPhVb4+2hKxt2YZNNzbo7fCP073xKH+wh6CZ/Kysq2HsiLI8H0+B4JXORknNT55hWPjj72
XzsTi183cLKLbwAKaFtQr5qbWye0EdpVwL6H2xxVVQTpYJ2WwAxw/6Xxl0tftYq+zrfkh9F8XPo7
20jX/nLUZHu/xpAgOBO/trzN4OrxJtY0d9PnnXvBwbvnzJPwa4mqei+FcMHX0BHaLYBRaY+QFLlZ
71UjGS3v2m1HEWQT35GrEaWuTW+gd6ILZ37EO9feLcZSWHhNXc7dePyBuUuDTUMyP4Y+B05EVi6q
piaQPdQ343JU1bWqz9nY9us6a5t7NSTgGXaYS8NZCdSAH+2lCE3EN8Ii9Q+qKmSYXSJ9D+P5Hso9
Yf3m1UZ9IVxBnH/U+ZPfozBNsUuKyycd7sqNnmMxUKHKcnCDOTpwWgovmR/jh0Ts5SkKa23FD7/7
LOvszxVNciB/rdiim7Xz50K/wSrU3FtGiqZF0wRvCDH/aBzR3EcwCbB79F9V8yR0wiv57O+8ZVTl
ip1txsYzp+0Z03fT5rOmXaKPuxnBch9xpmrfinyj/h9n52F0BEde6HRuWcHFzsZfq7hbaiuSUM46
n2aMlgarOScahNPttFzKxQpIFa1Ru3iHMKZCAKVbqcaPMQLl3p1d5fo6Lgg7Kmdgw5z2RUeiKuE3
ubLBaL5MbmaSB5rhAYdleDM0nffaOcs3qPyEsZh/CYf4j2sN0Oa+Zbe3iay+/DTVecetNSgOYaDF
Gy8I5FarwV2bPk5dueRJFQxyx1e2fCsQPemXwK0FBWaTVin2nwjRPtihm66wNpu/9CBJeYLl2YOZ
phnp0xC24k+pRnWlBBevqozXHg7a7HKD7cc4mQz5OnZysS7w5hv6YrifliKrPeLoYfWjz9EAUTXV
LsIYFmk9sRdFf/k6zM+a+q6y39Soj+ZuYoNjm2W+/+ioKwJYiQuAUa2mXq/VpQHeVRTpl2oIbyxu
DZesHfG56qf4sQDLszYdUKhTA4BhiMr6s2F0r5hexj8KQTbU7Lnr+sau6I2KI6AVHk2vxVRKs3+I
KRJvfj1FRHDy8dkc0nFTVLV1L5GA2Zpt0t72JowSc7AWQucgNx94eRmN/dqrfCh6JMzIsAxRe6u6
W/igOMMMP1oOiLuacDBSPGWKTVz5MPcOPjoGMK5Cq4i9pybmbxhN8mnH3bEHj/cGM08NT4izHFLZ
RuumHco9dylkF9vE2kTLDVcVXZdU0bWe2k3RrEQLk/xf//G//+//+Tb+Z/ijvCeUEpbFfxR9fl/G
Rdf++1+O96//qK7Nh+///pflGuw2yQ/7QvdN1zYsnf5vXx5jQIf//pfxvzx2xkOAo+3XzGB3Mxbc
n1Rhe0grmlp7CMtmvNVsYQ0bozTGW6NMLq1fdIePsapdr8wXvqjE7r2Az8WudYhno/uMJ0q2J4Gc
bVS1N2zz1GC+w1tOL8iE4E4EyVnVhjZwn6G9gze69gp2lkhe3qmO0hyhVtUlumYeQl2WzG76TlRv
oRd7B2/Ouo2qojVYrBsvT86jVVVv/QZEdf6WCpJB2WxkazVIT6Xc+IRCD1YRvxRecZm7sbk3rKDa
+2EpV4YooY+rxqL2oKtFwVnVCKk2942hTTdF66cbr86b+9KVX/77z0W973//XDxkPj3PMkzPdc3f
P5epQg2F0Gz3tUM5B0xd+VBNjXwYtPJFmcKLAkxRMdvOVlnMJ1J/VaM4TWQcpjkRhEbxo1o4M6qw
pdHj6ZP+AJrXPPCR056k/fHnKHuJlPxs0kPHQpVX79dVmIyvGboVc0C6QNXABkNGiV+jLusfi9mD
zMuYUAvaS2JbREXu/4c3Q/z9SyqEqRuWb+jCMuDhWb+/GWMT5F04uPaXMQhuxKKGbSwF56eezRtX
NhJFAQiDvxprb4w2DUmOX9rU6J4c/yktNQvO+DJb1dVVNCIOrM85IcRZIBDV9VtiGBkbASe9NFGW
XQs5Fgmq56oBcqyuI6fAKFUPGx9seChPao5qvw4hEfyCKkmILkJr6KvSLmAlCOxK//v3yXH//j5x
VvNM0xeeYRqe0Jcf+y8/ZhNw6Cw5Un+dm7bbGlafby320AfCvdlLMpR3npXoXwovJxHV2zFx/yi5
i/xMW6mOyrNe0CAOnqBlJ0eZ+9NNOtbYETbdEyatWHvOWfQouyQ7XKvRkmJReRadwPWu1xIMeqKs
h6v6s0flYiZ079MBS7ePzIy6MjXh3n7MVbM+Fv1lMPPV66oRH+3BCOwXiUXuC0BeTlUxhScXRn55
rUcCu0/erZ3qdZYhH+MQEoyuM3w146M7S/LCWQ/CDP+Hu61pLrfT33/WvnANYZvuEmTwhPP7J9Tq
RovuOyR4qcX1dsh1H5cldJI8H+Ip4RjO71jIXZKgkeeq8xEzkGX35rZmfBKZLB5iOykejAyX1Gzw
rf/H2XntyI1z7fqKBChR4bRyrs7BJ4I9tpVz1tXvRyz/03bPhxlgzwHBJNW4qkWRa71hL/tuRQdD
xg8KjFvnebIPEeCUGE/XbmWzHa3svi90h2Bz0mxG+eGeV5D8zstuDXXGQy4EOndsGlmzGCoF/Woj
plrCPCCU7NTL2NaKk5sU8IV+qzYIM++iybvz1BpWQJTxjfeJ2LGGWadpKOPt0BvhNY8SfQ28tr+P
WDlWGFbGT35HKI9ohveiFD1UvGFS3pMg+KaogPQV3Tmhyz09wVl7qEyt2U0AyAgHt/GdTkz4Ttbg
FH3nBihY/t2VN4hBRk36YrrT4NwuKEofBmsKfvbj+qaDfukRrgwVVq18FsabrLyMvxJ+gsBtI0bl
q6W9NEWPH7IuoEfPtdiekLSX1XoK3VunbALINw/NTxGTI/eXYNrjOWyarN0mAOotCz/emc6o7EkC
xyh9K7Wx1JwAqwTEBk5YBXinRGm6I3F5hAJoyX7Lrzhr/FYF/L1GtX46fMzJXTa3K9m2dOtbZPr1
1subfagWwXOgtsVKkKM45ZPpXFzy6EtjTgq06Wy8mYg3XsX5hiyruce4nDyy15LXrazxRmeQDIbB
87EydKC8zoSHsXOJR9fAsuQgIOXo2lfoIghvKpZmlY6LUY2wCZsnG41LOjoLv9iG3Zwmt1cvoEp/
FVmGUQ8xAXvLeX7SF3WXqpdIA76IvP1GzrO0H+rYBFe7iZ3zmGFhP3hW8MXtYcfEo+BY1tXizh7Q
u3NzI/xSdTkELc9JwBGZyiPpuIvZed4zsatu4UYHcmnjRfEq1V93eGyS/gVu55bF1VDgVyDdi8V4
OpVH2ZeBeUUTVCuuRHSe+wKNjYqTur/mKEwADAzsbkTM2V8Xgs2tkoEfkdfJS2TNDSIIRwn/mo97
TQ7C+QkPyzoJEr7YCAze2py8YGVzrFhrjc4OB3X9C2yQ/Ci8yrrWtm5dxwjU4b+/OeR24o91ybBs
w3WE5biabjpym/jbm0OUEe7GilV8VcwoW9pEhbZ5WeAtCpDpvRMo2KFr95I7Tnsknox+wdzvRCgl
qoWYrsmkeHe+ML/3hTXiU8v5he1EfRD6oL5GZbGQ/YFnhDuiocVGNrUMi1AQHE9E7YyTGQzV7bal
VrAhb9T0Mokg3SS61mO8kIQb3fEd1pTYfu2RN4pnUOyn/tRfmkWbf/HH2Fn3GAPtE3QXX0M1vwGM
I7RKb/24mbevCfFkCfT9ND+jXwKG3VCJ0HE4hpWTP855yVWRheZGNpWxya+wUncx8a4C4WUdhnfQ
5fuozYtHDLLJsDT1j3FUtPW//1rOP97zvENsEmGC30vopDH+fItUZW04ZDGDr13Q4gSt5a+TVXv3
UVralz6v+kUj2v59aAPwA75rwVZ2tGc0cjZYYvfvohuSrdPq4VaYabOuA5AuBviSozYXDpm1o2zK
muwLhE6uxrYPkR5nd7zHkXRR2XCVeCHfIRaIXezAQ9OXanHytLE/FZhlPDejuAZVNF0RJcqfXV38
IN/RnGUrmIOUTRHUR9lM27BfVq7d76v5ytLnqOZPhr2VoyG48bWRVvXGd/X0EMyQMzCQ7amb+UTW
rB3fLpu6r0+g9oBayh459jGr7HVkxB1OC1mN0lQb9d9ZzKw5v5fqFvkxYpsPrM/FLo5qgimJSggj
VplqxN08tW78ne1Bzqzd0T7bSLlNC2Hm9jmvzEuVi3FfzgNyVPZrjWX/xw8vf9jfH1OdGKXQVNtQ
TQ5r2ucNXo8Udde7vvFl1P1qlVsFiFqh9Lci5g8eNRL3Ja8ia8ORIjpbpWPdpxPCuzYCi7JFHjy5
is4EDsoReDaV6ta5Z4aLrAZXM/ZImckCrajs4tisaX5jKmyy8Bx3UJ0i1DJcOrZ6+3//ozY/b/J1
Yaj8ORsqTFjDMLRPW6PYFKVjaJH2xda81xpS87lhlfmtGHrU+eA7amxQJnuRIi59BjXSr8zMc+/K
VM83Mcd7jJTQIBVZ7h1KJ7QOKhCaXZdM09nrhmpTYM18B/2sX/TG2ByLUCMWbxb1DtA1KKFkWjte
6u1N8HsHWSvUCILv3Jf9Xftfox99H/NIrMX/sVT/4+HXhWvpjmY6hnDnw/unwxAbk4kz+1h9idL0
R5ZdCc975yGKrEs4Y3kkPkfoabxC8UisPvpkLW4d/aRhsHW7oESjZiGr0TSDiI1y3MgbyMlyACWb
OfrhHUeS1uMvqHeHwkAZjAFaK05/vsG/ZVUd6lmqaUzWPTFQcAcQRnUAPXDD9PpqSx2Tuc8OW+18
mwLq69Y05ik+misLtGZHZGDr7K6q0yfdEeZBmg3hRJzd+apodgIRXQhYNGUh5+ZpfJubgvd3FqIM
2p2vDJs+0mvovk6rLdqhPIOUd74EaoI9vQMYjwiJzSFWvJmN736xertZwlxAXUTrnbsqQYxVnwcQ
GyIcnAfZFWSNfy0mD9HNeSAb2bs03ogZuAjyczuoc3iIgWgqXk0Akf/+mNjyOfhjDbA4DbsAW23b
AYRofI4MIFmZaGjZfrEGkONlHRL8wl1gHSm9/VKaXr8SdW3tgrmp9GC4VaPJznKUVzfuvUSFx0KI
p4ytk+weLbBTvNy+oQZqv7Qa+A8nN9WlHHR1bFg8HhWKedTJ74O+f8KdqLyIUthn4Yf6skVZ+Rsw
dxhVxvg21QWoP1xT9lnoF0+VUr3KCZ2S1QurHZt75B7jY+BPyTrxBuVrEy7khFzP3FXhBuPRKzIX
n3iPV/98a/z0ntjfWk/sYozdYCi4kUnipZNahP38nt8XmaOtqkX1/TgX0H9+9VWZWd3LAqmU3/vk
5I9rlairb/M++vQIpST2FH/c6/P9SxtUEMcknez5o22rlwBOyHtiYC8Ul0O2z2vFfusjdONr+71r
4NAlnVqh1uRZ73aJHTiURTamHbgSDEYQOaMfeiXUhDqz7rpsQPM6gRrquuW+K0j8IRSS8JgYPnbR
0P0j6HPV2B/ZePTBi5s3j44O9kXP6xcXgsB5MhvnETibse5dxN1C3IgfR7/qsLnD9yhCumLJxgWE
+dBe5dxhwsErqRQP1ipzfY1kWJVPyUKO3oq8WZpuNN0nHIhOYtCMrf63UIrUO/kkf/IhsoKR9rTF
ivnuo0te8On6T81Pt2th9K1KoVsLea2UWfm4X4rl2EEtsDTK7Wbd9blxJwqtIcHBxxpzbZj75Kha
uPqt9u/zcjTDN65Kjs2bMe6WhLvLqp97z0ZrmbcBYtPayZUIeTnqzLNlrRh8wCnMi8kRTQYkiIm9
GChqNbqXRe41iBl4Ybqc0TS3vkaY097OZrjwPK+dC7Vp4bfE+vXj0shulYs+tcs+GvU16kbPpuOO
97Y61Uut7+qtbMpiyLR20XdOuu+aYrqXfVoKPFiB9CRbsr8Y3X3uFOP5o6sVEfr5bXSXGaK5E9kP
TyNVXCc4GhFqHd+w9fpBvtG/cxXNfBi04NKM9vAmSssATYN6Ew4pv8/qY1YaqJWXMS3A5cMYXEaj
kZbLxL94SJs9uKoyPNZ+xCmalOHW76bhUS9H4zTzDx23y0rik3hAgXMBKcjcLlccyCi8nLT4Uecd
gS7/eM8xsHhUh7RdW1qvr2VzdOPwPhvLpWzdZoyltjR9XdnCWCZ05nNGRtjLrjaGZxrHUO/Y/fXZ
DptIeydMq6/3ckAWSQ/sc+MKY9ay6quFnC1HGls9B0lRPmgu4tllI/pzbDvaxWsBJAEiLb8lCJCl
yDq+5mmabTP0FHdCzYtnrL/u5YQvoe7bh8CulRA1OngdbmOeB8cZiKmMwxUKbHqBDLC4zdDYyRyV
2Dx9zJDT/CLDRc1qQCabqsNmuXI4HQdYkw9imL+zpDpqPiLyQUozsRq2PFlvrFFrKFHWJFBhD176
zUBAp4yt4TtGRQCLsdR86CYfeZy0sXZepI6svY59m5LwzLmW/ZdFUlmyK+6yLB33vI9TFCteW5he
mPQNCADW+a/CnZsffUVq8jPORMsNCDd3EZDLfcOqbymVA9LKRndPBYgZlbl9DVRey1IxYBqTBzst
9VPR8y1PRY/iM6qNXyZnpixpynBJVUJVJmYiuskhFeT3smi08gu8IdBHgZvDpWnbd6i5VpKVXyZA
/luvnoqtbCb6oRg84GHDWO6m0aw38mIkIZc5PLfXXlGQd/LicS37gzrcNZEmnotJ7Q5Jb4qVvI1W
2Rc1IQzmZT3SAS26k4mwTNiC3vBuYmO8KG1pUDSN9xi5f5H9mg92G3y3NDYY3uLhGMzT9UZRdy6G
fWs5q1DF1awtUr4goM+GVSgodvbD+ygaJADKRYzf2rKPHfFsqa29GJp6emv8OsbtKRy/isiHt17p
340o25Em8QFhKj9zuJERgYpryYk9WJDm3vR5Wv2I/fReGTrjfvLDDMa0GO4yYPNLCBPeJo71WdtX
ab3dqDc5e70hqNdelCwq9BOvrlAyb2FoMAQrvtJNnPmo5EfveqC6nLDKSjl7vaacBxsdsFgvj7Lr
o1/W1N7r+Uex4fw0YAaGsp74sG01WDh0TfHVSUJke0zFex4zIwHR7Cp3bl7495xwnIUBhYNMLH2W
32cXoQf3pChPkWr0R2PQzKva+OKKX0g8y7KtZZcsUoA22LQM7YFUJJHZli2Dq2rBcx8DuAX6EoMi
acNnlDrsa9yVrFcMWl48PPrGj7wMw+dC1auVM6Z4HrlDcx7motAj5B2yaqd6WXNWHZtirslBOa00
jWIpIPGtZd+neWUyYHtpPUHa0U6Vrk7H3k1LDHTq6GkaSIP7gC9+hPhmNKb3oxNBuPCQniLf6k9r
H8TY7SIIfOUmSrSFACp9tHWEYzUYaR2ClUa3U8zm7tZEVd48jTXqMAt7bcK3e24yDAyqgsckEmn1
XEIUXGMMFmwd3yqfMwM5S1Z1G7cYmnppYiTq5Ihezs3Qtu1dgJb0UjadtisPbDCjWxNFRfcILxH8
0Tw5nSz1rBf+90R/8uJJ/QoU/K8IiOb7UJfewq+E/ZRUer3KHSu4h/2Xb6J+UM+DUg4Er0f1kIz8
SIlVILGCn8/SUvX2DoZtvFP5b29pY3OBlCdWfjVqHLK775oW9D95NJQqSX5G7OwWMdYIL2U4Buuq
ACL808n0dBVbCU+AGlnuqS/1HTaLPACFab1kZWYcCm8c7+ZW2RR8U36QPYMCThaKZkyImKrps+2b
QKJ9pTrIUVfL0FxE1x5IPKN6N/So3LnTRjbJGkfbnoDeehqz9Bk9KnORtkp8cvM6uOq69pPFsHsN
gzTfFfBs1hbClK9+7mqE/QoVVRZG3S446UGTPzQZK4jwEbaZu+3SrI6wmeWC2r026N2ui6FWt3KU
PxZU7pMqAZ/FLft+VQFTejGR0bvavfnb50IKTNfyGqMdNjr2jJba1Q84juVAk0ssu2IrvPhILa6c
Kq1fkUt/hZnE32fUL8l4u9+cyQOoNV8k4J5sh0BgFT5fFDggtQxsjV+nILldZDn90qkK55vfpwhU
2FH94M+flOrB758ECK5+zSr/1VJ85Udadr99Eqze3aRYC9ZSAUp0TsbLFL0sqrTZ/Mchb4515DJZ
f8vKkx7STdUicAYA6Z9xnjbzikBR4VPYUWAg/NnGR73K9JdUj94nP6qvCP/pL4ERg2Ctq6ehZOvT
j95KToKLja0xUOvbJUEzHiITVJFszoDJLSp0Bj8ct3AGpV+hTWLs5B2RiARlUcQkn+bRMYyuMRY0
dxqn8gPRn/CS5162CxJ8FtitIfwhpvDku0m+CCKOlHk4wC5NB5yxEutJzvCHVzTfukc5HmA7wmc3
F9kKNV5F6agmh9ENXpzatRBMMTiNq9bWqwxlBhI6J7il0IPmZq1k0S6Oowi8EU03KQfkNV17J5tm
Y8EMLRr9GDjjIwvxi+5Y2YMdd9lDzJEDJCYR+q7gWVj6EQ9vmKVHOQpipD3/+y+oGf8IZ5Hhc11V
EKuxYAmJT+GsyGY1KWun54Q3jFsChJNBVnJiYfRSxLEazLSjcytU82hVGX9U/Fsh2nkkUK1R3HnZ
N111ooeiyuOHEhPrvROLhvRYBLHcRUtURZh4W6uhsh7zontTO17MbWo0V792UFsppn2i6N3b1PXT
bhLAOAPE4d5KA+WNiRDYxTJxyAEffrscekizd2oenX6+W9HCkHUdqzz32JO8jMCz5eV1MeWHguww
BlxMK2c4RWam1SkFffrq/PpM163jo+Nm5lLO8gWCfhqr41HeA00kknXjSnGiYTkQCbzTUZi7KzBf
8FneLh9drgATYwyItsk+WXhY8WxM1HVvlyLnrJ3M0npVMdE9+fgr7nIjRe9trn30/a/av8+zI/fX
/dy/a5/uEoeu2AKdJoeo3ted4m2jIAyXHNCm+ZQ23WtpkGxE2+Wrjz5fa6dV12rGWl4mBzpTL5dm
anfbjz5bOAimjXq5Ef30HRw48pi1JnjyfHUvDMJYk+hRqq5D5wH993xpZUH7rnfiCfxYAAhHWdMB
gUl1yotRdvWXf//7/kci2zA4IwDIsGChE7aV478ljDKLQ06oN8E7QjVhfLDsXW1kTxC8mh+W027F
WGtfVN8Ry0C3jWuJpv6+CiZrC9k/P+Wo3y9ygIMLEFb8kc+Fgqz/yopBgsqmXjeXf/9fNj5nTQzb
FbZBcNMyHNMxxafAmaWpfhiQlfoyjcMqcqca6AOFmRR4Ptt2s+OYHC961fvVpw42Ft/42S301Oze
7aw+Qu0Dbq5BsSKNAHkqTft3H7z+IhWpeu7RDHtUxvRqpWr/XlT8QDqWMrs0WEGbLvxMP49NRWhz
MPHXzhNe8pbraNgmMiJrspATycD3+FaF+X9AEAzn08LEP9yxLUSULdsETwNC5c/kESx6EAbZbD9g
sWCKpMxP5Gf82cibqj0Xqe7nJ6+Ac04Ae/+pXzbljI+5si8ROVqtiYnX33yTT/M+mh/X5i7EHVhN
EZqwZv9gIG5+DIT7DnGAGEhtjhg02L7YOGbN6DwFJuhygDl/J7tAaw17VtIJbVoG5U16FRun2gnN
HXJ0w4NalD1iGnciyrml0vG36Vctqi3zBfImilcGC2AB/lHeBIbZeImxjpODom7jtVf0pkyUHBNi
hGw5Sc/HcyFrTW3mC2SW2/WngSxFq30hJ1o8KktdQ0i2agsbOb14WgZG2D3ZiTVe+EIe2rRD3Wsu
yuEdxlT8eBu3CI2ySa5Pcgxwhp5lzSlP8LyxygYtVz/Q8Gww1FOilb9qsk8W8Tz6abLsk6N1Y9p7
4aNO009+cVTdluDDmNwLrSiIi/9fIQcnB8H7TW6OxVG2P4bVCEljkgYDSVoXv11lUjbG/ObV5kIF
lxFpbXpx5vcw8JD4PDXZtb+9hgHJbzBrbcm/z6Ozmw8SnBmZRNAC8iZdmar3ot3IMTkrTKdqj+rq
yEZlfpf/r0/VunEfeuavT43SQV06gwCKkE4TCroYNCZI7r3XIFlgpRXuFeKmc5XNXh+Vd70nim8g
wHDqBj27plnzFX9h44KqvHmRNcszOQHikmGVhckxcQJcIgcizvnYSNTlWjY/CnlFha7rR5dK8mHR
ajEyKU2vnAG4IMamZ84mUC3lLPs+isDyg6VfhMmB6HF8RMMLB8C5Jota8cZ8IavkqpIN2qjXqA2S
U+RnKGA5RbZ2+BlWVVRU6xSZDVQl0IMmyDVAfGt/+mWOfkbfZY91Q9y6H3V1fWvWbXvvYhukG6aX
L0VWEXopiw4/OiYHbt9esmg6EfxJzj45PGRPhbPwGtN4HQbdWreinraymWMOuDCnMb6WQe2/VOxY
NDcxX5Np7CAs/3GV1d2lkGTYbjYRcQG9/sbTfBgBrb16Vl5t857jT54HBYqW4YOcgNLbuLADz7ob
Qrc7iiJHQnhwi2+gQecbOIXirDIAQUeEhfS7djSnhRwAAnVPpKR57jy/QF0GQdk4A70eOvpBThAl
mtQKQZfOwU+1WMapZ3ZPvcuh1UOjjZNztZlJOF+HFcKJgIdiCGxsmY2dF+rmi1kDOZqHIycGzW1x
Xkn7ylo7gRgOM7gY3hfSc0qgHEupODeoq8xGPEsSM/wi3gd1kcLLdZvjkPu/CBv60H0nn1Dc44E2
XqqyJD0FBPO9Nqe1FjbKFb2F8WF0iSsVYEh3caYPDzoqi/eteZJjsqfS7ALUTWAtZZPYxb1pmtYB
T8VgX4eGsYlVLX8bs3ojvwtraLtl0Ez1JU1KUnijELevFyHmVZbl2btm8FDjyqPuh2AoHwWGT/LK
TIuRQCsEnIQaAI5i+u7aHcbgC1yN2w+he4js9Q4anQZeHVc1KbOlVSGMoHRIXmYm2qZ1CU8Ocmvp
3iqjrOAkdKv8PTSq/z9z/vkR3Cer22reFnx8hOLr4j9ey/o/38o4Uxkq4E3TNiz381tZCL9xU6sd
nk1zcq5x0l6x7yjftRZ/zA6Nlq1sZsh2WJVOwKwiM7jsW0KQY7/ycl/pYr4eu1hmCOJBElQiIPH/
V1NM22WXMUZbWbuNltZ/pCaRKfnz2DrvrEhLWjYGuUCIjM9nHs4OdVmAoX4yqx7hTVR31crQdraJ
GKesffS5/6NPznPzK66hi1FJyUqhGZPsQ4LTh24qiTwmrnfo9GI/ZlNkbLXBszdjy5vn1sadZoOe
MZooQ/LetU2yMurKPpQugqKifoxsJWFXZmX7MAhTlmea0dh9x31Ru4PKZED6C7/LWUQA0rXh4GQm
m5X3ZANpeS2AC2662qmsSzJkJVpzYfGqt+w/6qDB/3FuhkW+8g2vevLTybzn+WPPNwN0RhvnpdzF
cTPgpOfEXrINUHK69mR5T7Y3bGRrjFv3KmtV66iojOGnF9vITy9kp2Kl7yhoefuPyfJ6olQbdb70
Nldem7S8jWVnN+A6HvoGLFlD87Z+qJbsVfrilRCwDRKgSA7yXxK57gOZS5Pgbdg9d01GhJd/kYVf
wRJO+YDiVmaL9yINvwbRlP4VTtG7WeUm2/7B4w/UAdmIOeTTPCHkPfEcipKlrncBW8/bpVtV7qH0
MeaX1ca2XpoG/xMfG6tKawtv+bGVQqEUzwXYcdupNdONE07lnv2480Sa+N4wQuNrIbwYxUTfuBhG
UFz8suYlNA+0wXQpeLCeXTXz93ZYdZuyZ8Gpo7/kOKnnYD0lWNKbjTp7M3j92mD7f0kS9hW95hZf
dTd6heXVIeuniwOJXGUl+/nWlxH2wG+zluq2b+16axeu8hYgXiMnJPhHrfXeqA7oq0dPWUiAZr6h
6pvV0hkn5wx72LjWRUdKZh5oPRK+KFkp97pXe8cpTcuVlQr3LuphuKBL+lJXeY18WeE/C84Gha+N
r51tF6exMtFPGrPxFZpHuGlCIwORz2hYIKyqYP10kaMVnCfbzF5RWRouFbYJHEmYFYfTtB19BTGk
Npxem6iNlyr2N0d5ke366xbptiel7pU7O8NJVn4wvJe97QbdSl6E6WKyajzH2iNpVp+rCG2WaZwA
dtTzqSmMjOePJj5Rv5pl4VVHQku/N+VoWBFykNc2s7tSWPqEdFNyj65J4l8E3iH0O/Gryquvm/2p
S++gQeNW1v8Yk1conlgbsaWCCdnHmeeJt3KoKyQ7EJwDgEnIPiZB0+nWPslnaTqvUPGVsqNjMXri
MZ6ch1t/4lpE3UDIOs3g3bOb/iH7a7Yky7RGEADSUnKXNkWzCGaoiTJi15IGjnm1prK/gP/EDyJC
VrdrAdYgzru2s8Y+3Kr41dgH2fZIxmyx3UQjh5csYjjmORuRsaxLrHpufWVpnUN1Ug6/gWvmPl+7
H4FqeywWbF9BuXVR+K3q/Qc78sIfXV9ucSrOg0WRfksxCI8WRXvlZCyCRR5HKFr404969K5W5fTf
cN/5PlW59q5P5oAqGAJ3A2HvBSrxyOx6to2kYMIJAgKby3tI9dDT7ByCXHNVTpK12mjwinKcdCn7
lArKzEIJuEcq70EGIdyi3/lTDn9c5/RYjwXBlK87Lx0WLjLncE1jf61YpXnhjKvCZtW0feZG7RmM
FjJxIqgflYC9sjNV3ReU4q6eD1pxoaz8rOtu7KZwJjVJZpNkMfl+qh2DCeTPzH9qRqwpLCPNF101
2ADQKAj2QX8o8Kxz/YiNCGRWndvfoaDWHfygftNmfzZZuDOTuPXTMwbxylF2yalWgCikh87p6mOu
HeA8qIlgl0SVWOn66F/1tJlwr7JGnOkS89xEarfW3Tx7whdLh3tr+N+MAQhMzR560cXFKkbW5698
iGcFPs18dkPED+WdKl/7dad8Nmg1LEXfWkolzoS2chEGZ2duJGxDz2k/JQi79WW4qW1l9kVgxE7M
CB4i/pxLkJBETaJmRyU9DXMt0sr05BdVs8txILzVgr/7Po3mft2vVaj8oAPUg0tsFFbJXA0sVT0o
gkI2ZSEMJ7PWt0koGwodow2mOrGlLXOtCO86pDcTx0hegfzoB8ds65VuQXVGLwNlsIDoAHS19M5J
DHxY5wH00IpV77bOofQD96VK2mVimQMeKUD/s74bN7IJ7muPk5x4wtsnIl0MASxBfbvFz5Wvmt13
HtbeF0zbw2WazwJlilFtsiTMTsjygmVGdndbTn53r7nTuAwC2OtqQvLBmCNM/hxravrQ3DtZ9frR
JWtO2ZurcHYzVDH80eLUOeFI7nDohzeH0pxY6nNT9sliKti5LOAcYhHpIM6HYtB9RQBsqZEPQ0i3
QEpBtqe5PdQ+KCbZ5i3+f20/rV5NNUPzK1PfVPDDaaVmPzkgItqZCc5LAA2C2LQewApbm8ApwqNl
p/65deaEk9JUz22eoX6Bsu+P9luSxPnPTAdDWlW686yw7AEcSJqz31f6IbfTeJuUbfnAqROJj7RM
vnUYbsqrtK64+iOrFcA9b8nSuv33yJ8u/qTdkCU0XVtXCQu7Qhgqf05/xryIUQadoxbeXyKf5Q8m
wz+mxPrgdvzUa7/+lsbT+k20yFxHGKwv4/A86ljjaTW0YkVo4bXVhz1OSFj+lZ7Bjiy/hFFV71t3
ZdhFuE2LPHgIsockbq654ZsHVRHGgWgBhi55kSzDrgUBY0I24NRkrnJ1RPVrSFSWDm4HgxaNz037
qpmKuWpG9NuI2zVbaBWEk40KqkgTYGuhHawZfGOrsIIQlH7TNcS1MuMt+gFy1rib8mfM6FyQPigY
6+Q3cY5yspOqedo2rdpnxZ0wKvJJYMK1FzuyqekSYqVytKNHgh6oeut9fRUjTlxeB80mREX6qKg2
KXcUUhcZPq2bFGTqqvfwp3KCZOkJLd9A4VI3vZcYm0n81Zp6tu8Itaxt4uNLgZDphgj4sLSrgr23
aPfeFCY7uLhgZSZwQ7HIF0j0QujEQ00J+V+uc3I8sUDDOS0XgxpOjz2i0ZGCe+MY8M6H3oumiB7b
a3BMyhrgXbEZDUdfxEFP6j5uypWKIBvOD2jJKL3+Nc6R7OusrFxnvpctFKVMV6mvFw8RaEAgBfoZ
EWv93MBxirWwxZEhWKJwMxwAHLtHHAwRPq8hSJEzDB5jSJPLZNAJOeLrBgixrPbo8K3QwySZHzX7
CR17xBqKhTUQMYim9q9ULY0T8JlvfmBs7YA9k1XmUbbwurE8EA33Gz89pYb5MkSWcfAb1V7FAvle
di3+MtLcBu9IqybH8sSpLj1B5k9PJYv0GCD62sLIqCKveAzM4kmIJj2IkFS1Zx4JX1+RxbLeWHv3
gYO5O77jTpCdc8OKXisl2Wp232NqFdbLnHTkvQmYrqvMRRLYoB+KAAM4HPRgykaLruuac2sdJmAQ
61nNc4Op77lNnOkc5ABUFJusONSsU+HhMqvCyNrYgykORRm95KnXn72RoGyMZoajVd6uHfV7h/Po
giXZ2SNbiii0PjxqUdVeZKHbKCcOZYYFX1ABuipV42iMNVA5wz4VZGOvPUiU1WgFyPfb2NACtl32
3rRo1LNfOuIF+uHCCYJjSRT7oKTKsB/d7j2FP3429QFstMHPaABwXeoGxsKc6AE3gp9cdRUCCd7k
6NuBnewq1e1lqBh/qX251kOd18s4DGc1S+8aOHm404OvhSSPPMZoNKs4azFCT4M1AQt3m/h2vkJE
eWUN/ldLN7r/WNa0P4/brGpCE7aA7knUAAuYz0hglMgy263c7DuwI/01H8FT4R1jdwqEnMZWOHRB
WkZDal14EdT6ThQ/8c2wtwFvNHxSYuzT4/gQk2Vvw26ENcyz/R8r75+JbP4XbZNoAHBlTScTYZuf
mCqaqidVWhbRjwFnKCS98Rzs1fy+TLQcz9qx3+k2LioFcaBlwdlxk2j1wuhBWkkZ4WJClSMaERU3
ks3/o+5MdiM51iz9KgXtXe3zANSthQ8xMoLBOcmNg8kkfR7NJ/On7y/yqgqlVLdu96IXDQkCBDKT
ZNDD7B/O+Y6h2WLDwoW2JRuqu0atvUhdU32zXs/aupizwLNLIzIriwygJn0ZpPqvXvE/T2l+vuII
rzUL+T2mkL/YN5llek2Bs+1HBdDsAHPRPqLYCcmRzwllKuFhEdYS+zV+V59xbUzyeUmkue7iPLTc
4O9fXE/707jl53dDLjuIXM/TWDb/6t1fEPnrEwfKD48uBO7J2BPg3XxObno1LckhXE2v8O0cUou7
uF+GUnyMw7DcjLO37hvT3XaqQ8/C2HBHbbgcYiVFcDZkzkZLO7jyKzTJcUq/oQFTz2JNz4VwNMQd
U3aqRr3cjiRxWNHP8QdRlS9Kk8W+3uaP2dg9cIt5UdLOFYlmpbXtVeMlKwl6zE2obaZdQI27Lhjy
0Rt5uYAQjZ2tRloy7atK6EFqqVMgE60nq8vBRnT93962y0jMzjHB+kXuQ+VXC2mQgDq/vCFLt1Y2
vOr1Clqxbe4b1/QOeqId5kx5gA2WPxe8a33N9b5XDbBAQ47qEV2OuasTLpBGKfOtFev9kXdKf9U1
j+OXJc1bzgNccH0ZyRl+bB8X442uDgOaWo/QBrU9Dt04nMqKOGY7acYAXnHhF6qbMSfSLoQnKOxv
MpJKhVy//v73r/2lquFJZIVn8c43dcdxf6lqGkipTmcl9Y/aUZfL1Hst8VqxOQfsdR5EqtMWtUzV
9evT2XZNemdxFvz996D/5Rm87n7RqPAgGqxUf90Da4ojFuys6w+tKT9IdRtuUG+U0OWqBJUqpJif
y2m96E8IPbZ0YMk+ldoSMdJG/jw37iaz9O8EE4ynhbBc0DBSOZYwBXJZq+E8T/rNOhML+vfftvbL
qPLnwUTMgOm5uuZdd6G/yDO0gnYSXZPzI+t5+NTCevfGWQ8JHgQSEifdvnZsJDLr8GylEcP7PfB0
461xlz1XN2ZVcggpQtr5rEytz/TVOwhHln7ukk1AmEGg8TujFHa1x6zT1EimzQ4+lBoOIjlqLuyJ
mAhDW1Qh+Sn2fklWETI5dbezy6xvHko4KxV5oYQzXTHf5UusLPXGmaExp+yqjx3y0aiLY0gsSTbd
OLZkn8MaGSsukaRjkwu/y+X32mS3meKIDApFjpFMFmfTWG5KH9pMocinDjek9DbJaGzSxurvjHmo
8M6XTrSQ27WJTTOnIvGoVq1kZrq3DvjdjC7szWQI4pbC1cvfMQamovuumKZ14mS3QkUhvldzCQ7t
sKn7Tp5JZmHxI1Y5bz+b2ddI3Ydr6WftvMg9CN5214oBNTFTly0Vg0ak4j4DGvyhGsT6Aggx+olc
rWZI9/Z112bSbpN+mZEwmZp7MSdLNIMw4wqw6gcPKvvOm8ZPC5RiRVGjazsNQ9ylFVSqtwiQ6O9U
dLOHWN54elvs0m7WfDmZ2cq0pA6srgwk0ecXw1GIle1gWc6ql9Y+mwvlLqu/1SYCBpIotOpI3ia1
Ya2FyfwFbLx6EI1p78xJrMHACFq1tAuA+2vMEW7CZh3Ev7gGfjEE/fNRNsE+OIzfPbB7vxjCRjX2
eF868Q+7z1Kqqan2C0fxNgUKpI2mZiNL52k627Y1nc1EI98zT45NibWd4mGzmNPDdA0cxLn4WPFL
+ft32l8PCCoAz/IQHGi27vwFMGPo87oWy1x8ztl4i2xYe9A85O49CuMg5twO5diXlwEaGjqJKdB0
iSNNc7VgsChhFINUbyG05m1xRxS0hWMggsynB2d+9Br3u0xk+5iw8/9XYhHv17uVWsXQ2cQYhuuZ
vPP+3DHaWiYqQWTBp5IAvllBKs6N8zSUORcX+NKNveiLnypxs8ezw3oIWewDtOGLU3qHWrOt/c9m
alKNkyIW9Hr1Xp9Jy2pG+h2NfAo/QV3pDLM4GVq7zxkcbjU3uYI4MNZATPMO/byqvhGLLdFAHxKl
2KtRuAhXhv6UV3G/ZTZcPFZTz9iM02cYl5e//839omD7+Vy5Js2bq1o6WlfvF73MWo0QAZYi/3Qr
XUReYSfcJzG2b+HeGVlbHO1FsyO8Up9SIShqXA6KFNaxWvoI9xIA4jk9GYva31hV2sK31r45BNdf
DFfZk1g4KYP5jNmXNEjMGiHqxczvRDkFDFVgeuRJd17r+G1URw61mKYKn+tTjK/n2I+wyP/+Z+X5
+cvvG/0PV6ju8pDamv3Lm6ifK0u4SV1/lpalhihp5zNuYI+g7Slx9hlFz22VFSE6mfrkrcmDOaRf
cbfqQaHq1qY0veT08z+Nx2gXcg8QAwtlJXarfByLO46qeN+64pUI5uVGYdzrDlWUKf2ZQOUFAAPj
UdyNZ5Pv7WICHMp4tnaemZBpXyrmZWHddy7q18zZE6lRkmZJjgM8nNozfKt1sbuqxlNnj1HMjt4o
TO1IKDla/mFSIe2SEjaim6mxx7cOdwlzr12c5GkwEhrii6S+Lj9osdZ7q6p9adoKoSYVCBAMOrfg
DOqb4Uo9SiqvI8IeIDhaGr4xa1SeFVl2ISuKW/SLzVlfHodhzXa0nAlzehtTd1W3pAxPZYAQXA9W
44kCBYmnmD9Hezx6XU+WD6c1MHCfpWJxW1LU+SuC1ign8cSvrhx+2+qJKu7qMxWkd3TtJjuyxGr8
oTCtnZbGy0G68mvJRp2tQ60d4muia6zXn+nYgXBgjukTGrDctKR0xB25lANsv4WjcGNRpmCRY+Ch
Aq25jkJN6zqBmybHJ3rmuEw9ULG8fLbNnkzLawKv7jJzQzOEN0Y7ilSKkzl9saAfbkuqBx88xh7W
27w14754Ruh/iHtmxI387pZKckPT022WBKp3j7TOzyXUIWbj6tG6/geHtE9Ca3uTxO132DufPT7w
ndZYZ8DO5r05jsvOgaY6w6W91TMklYtVfdRjfzJtqPSDm1xmcrYuwFIDoVX3JEc0X07CXWifme07
L7W22r5k9XCsVf28WJr+ILV0K922uMx0PDDP5LDjWGK+PaczEUIpTlr0ejs7Y/QPnpTLuK28KOcq
P6J4l6dkZFS1up64JOSf/Yv60vlLjevYmmVY9I+Op6E3/OUcnkim5Kkzx0+b+JigSCVlT4Uvy/VG
zlBKhlvX7XggxUYny7318wSQh60lYUow49bO1o9qyaxtWQCczy3A429MPRwfTJa3L/LrhIo6nvvv
hoRIzCCg8DjikhPeDL+w65n0l9j2dQObdDJLN9QSCb6/muWNKt6Kst4ZiD7vQQQ0BAjW4wl6lbXJ
G+3rJw0G18iW7BJjby3sgMCXFa+VmMoQ6xi3yJjSmPO15iqzNnhi9C3mAbyhSdYcZ6BaxTXvsxb9
+DDmuhas02PF5gvu2pJHag0aKF3rz8VFaWQv07BNYhZKxfURjvvsPOWTPGW2dRnWtv9nV/8//kSN
Ez8pch8NWDHEYMMv//sfj03Fv/9+/TP/9Tl//hP/cco+2Eg2X8Pfftb2szm/V5/i10/609/MV//j
uwvfh/c//U9UD9kg78bPXt5/irEc/pN+d/3M/9MP/tvnz7/lUbaf//jt/UeV1WEmhj77GH7740NX
XT7GdI1L8L/4etev8MeHrz/CP34jcqT+pAYF9vbPv/C//anPdzH84zfF9X6nsCAizDI9JhaI/H/7
N1iB1w95zu8MSTzUtPbPIYPN16qbfkjh9Hm/o1lFW0GLZXg6voDf/k2QXHr9kPG7yV4XFgC8Lwu6
lPXbf74Cf/D//vmr+1/zAOkg/3QRWmh6r7cgogPmSoxnfjad/03Ya6SFVw1mrXJAKE3aAYBzJkZw
HAGmEUnhDpg12sH4ZHe+5iFGPzYxOLnGFNRfTm7RF/ir2fqhpnajPJkxzInnmS2R+EqkWTbvq2NM
yo8pd0myyVcBwd1YBaundsoKGL5o6Tu/WRwlD5vWLsUDrh2yJ1Qs7c8QanhD5KLF17+gfaRqT3oG
0OTOTEz203HB2GbriX5s06m8LRTXaMN4BmO9wRZKX2OqI9bCERt1cyQ2hgwM1U0lu4eRoT6+Plgr
W32crvbGXE+yUB3L+k11XUKMBycp7BDwid1cWwzP9Ls6MTN1C6tJ+9Tlgn0QFoxE0p4m7H3SbhnI
OIvZTQV2Ngr7RmLimNJb1mn6okR0eJ4QfLVcqmKfJtZ1mpGXVqa9O2lfJPvObtDH4TNTcVJi9sn3
c4pqbBunXAOzDfDZWLvGx8GsMamROlnRfRMX33UxA7RVTK9MTwMBSFl11Rvq+McoG6pttRLn6KPc
8eLXuiKyaoPegWG1sAyOPplp8uDNC1Kuyass2Ha2I73LuKbO/GTMbmc88Ile+8NOl/Qp8ebyQ12X
VWxF0UG6yvu+RX9AnAl/lWUMb3ZajAD7vDk+V96AdlWPjceafWeQoYVNog6+OYr5mij7gC+rH4rr
HLpmiicpkjuyO1qtqYsA/5bzNDptPG/qqR0W9Ij6tRMmuCe/7jpV7dD3/Kg45o2iYCQkdLMFpTTY
7WVdhJVFmS0xJwHOae1QGvoIw1vkjdykaEQEJHZlqi/4SRT3y3Jmg0QHj7CoFldk4dU+sh12z+hH
nIRmMksy5VgltiGZDtvsYrA+r24b1vYEO2L0mFCBhKK92Obu3IFWR01iRZDRquSctExqdzm9hb6B
0SXUc4sA5IFFhI5pCxUPmUNMCJKTstCqP9cWIR47pG2ue4g5UQz2QYk9rkUE04vfCnCEQsxnex6X
SJdYvq6zuUOBGfdba1byYcJeca/1gnV5nFmBIPnngnA2ueEdkCMLtKxbDQtZys9ZZj9KUy8elV7M
27nWGafpc/a9m+xkuyg6Zb3qtrtGmHHkuZiU9XYZIpjrbbRSj7X+ShhylJaDcTR7rTtlSacGK9CY
W6VYlRCO0oL5zta3c4bJvHI652ZJiYrxYiaECbCjQ9yZFak5yUzSWBKH/WCxqMu1fMdsQt+rcWI9
q7K7epy9zGIaaXyaXMPvoyj7M3kf5l0zzvHdPFGS15pW37WMmng9AKzOKVwHt0nG7xPgjD3bC+Mh
LVTQ9QXZ4id4wnxi2dlbQSbEt6rGq2t0ebG3GfX7JSzrjeFlLKVcujQSUut4J7Kk2CleL6NesZMb
/P+Z6wMmze9LTshbcsLrt3q5hlmNXnKx7d7ZjixpIsdyhk3GOBBv3tLvBG7EnTm29Z2HMCXMHFo7
g0dxOykC2vdaWJfJjJV3DLkLf1XTPk8w0C/Ai2jpa4WttZNPt2uelGQGqSVngz3gBM3MC4gUdhVW
igK6cJU6TPNc/aqAsT30rJTPGsFH2Odo1oHOqpW+N8WqvEDtEifs7qUIZinBzalp0V5So3TuPNQX
GymXJNSNykHf5k1RNbWUgY2OjFah1ooMdQKBkfM2H7VhuV/tbtzYsaGRVR8joxwkbMI4gT6oMxPa
suI2IldYoKarjj19NjpOMFtr/TFqes4TQshCr44pjn7Udv0Cv63pUiIT+f3s9Ky19vEVYq+jbd1A
aFcI2TSMA6DLZVeUsxXSs4Ktza81XSvrrTsk9EYVwLo6tpyPfjYVAgS77EY1crmpeuJHHao8xm94
Tw3SEgJMFP3Z7Qed1rRNn2JRyhPbNgZZOjzrbl2W7ZBDB/OayjhAy6Vrp44LbNPWw5K30hb6lsNg
WLo428CpLW5uwU7DuTMUk0ro77zcxZXan3kNHI7kGttmMTcYIFUI5Xmr2buZPObIi9lFyf5a4+pr
u1GrPAvr3kzhq2j1nrQwGWp2PJzZo4CoJoX3AAwg9lO4HBsUbQzyEscI1WYivNCe4tPIjJ19Kb0Y
F4K7XXhHIwJf423XttT2ploggMH4XbK3P1uwsCgALOIu3YZwXpW1HOs3M1QquBKuO7MVJwEmYs2Z
B2MOkNlwRn7jUk57ADQQIKux3hjQnm5YJKv7Crb7i+NU9hNRGPqtEjtgIFO4f7OXl5tqGIDOKkUR
8vbmEB1kHJVQdQKkSXKDz9n9StmhH7UMKwI2g/7edSWmTGvUonwWIK0mrQvRXRqEkVEfV9K2ScdC
bEz6dR/m0zjfukrZRiD+pjMkzn6LNbxACUqs1bpMyTY3jTKqMzKmKnUdN2igUX6wtFp2yCcnyOAJ
XFTIduyuyiysNLKC8HyV4eLFRmg0K4/DOKEWXst5PSaNXV4vXDXqHG8JiahtIgtNwB74WEzgO6nb
DgOl0PHyPlqgAAeVWctNDugMEDroaTfr+w12XlTQVzxAm6vjNp2r6wUyN0fJfUc/oloBmfA8pVWe
hOVyVSfkK1FAszXkEVhg7tBeJb9VjuM9+2MlsKq13q0a+IBBZsNGoTcJmGTEQdJzzAjDU3aOJ6yI
Ae0SZbU9btfCnkiqlIV4b/qWdl+dzG3dLGj0ymWcnUDp2vRusktS3V03jf3YFf0LU2cyUOe1PZsl
4VgbrNFkuOTJPOsbUQgBtCozBy1Us6QciRCFDUa6zzKvNy4vEuOKbrWHx8Vc23RDfdkPodm3M+4R
tjaBwYaqOZLUUAKK6vSRhTT44I5EHwKHrRiQVzIqUr0ZHdckUnIy9bX+f9MF/X/U30BWvtLE/vf9
DT9Ln2R/6m7++DP/2d2ov7usVdCw0zngsTPoU/7oblzrd1v1TAbRjg1sUnP50B/djUEP8kc3Y6i/
X7scG50OQALL1f9vmhnd+QWYR4/leDb/WCqXmalb9rXb+W/dDPCq2o0bt9yJqv1scmDG64iLu/si
GuZAXUMOvVc8ZVXHRZBsZcr55qbTeIAUfpJs8py0nKLERWpHpLQalDF2LBZiyW5WrsxHjte4J6VS
E14aiFm7c6HwuLNgWtAYnJyu8dVLtQ2ROH9yIcKiU7xjbkwsulMUWk1O7BfK/VCYE8hxjG0bWh9M
YimmTTiEUVlxWvFOxi0vYAoYo4tZ7Nus5UzHGeCLHC2i3ViXViGnaCwIiLUNcVK4dDY92WM+f3IK
CNPWEUcY+3KqSJEs9B9slRKkKUYo6KHUK3qx0M91Y75pvaz5CwEG5qu9kcCizTK9xFfYlBD1ofKq
vVyJIizy0Y3axr2dWGdkhe2wzcVgJGfmGqgWtplpckyk3N7VdNfFaE1dr+n8PnM/PGI+dAvhtUpN
wToMu+DUWSvfpXWfF7jurfZpHKb5Zi2OTb2uexMwP52K8NcKglVJYRtlEkOel4yg/9b0TrHlp0lU
XJ5QQ1kGpUUCkn/dZosG+w3BMPCdGSBH7fOvjr8NEfDeQkbeVdoa8loR0bg+UxFBhUWRQ33dBxoM
+KgfuqtcYWgJ5NCCsU85sO2UK8Vo4AJRHDIL/FFN2bkvlC99isOBlHk13xIRCNPL+iCwblfW9Uud
uDwP9jYZrY/CSeaA8IZbyY8Vr/3FGYeXuDIZDNZBNsSkHRWUbjknaNAtdshi9G5lyBrmlXs/D0Sl
jypsXVLIzRt9GH+g+PKLYXwZWZFJNLo+CRo7W1zrMU+PKmHemMpsRt3VQ0/ABfG3n0MpN66DciYt
inuKnh8Ehl9HT+y5aAUMuWKsqg5DzdR0WcoklLqeHEnVilxX80iNTfuNO4n9RM4UG3TxYMVQk1T5
YVifcox1LnTVi4w187XEVKMi5lVHF5dt6FRPojVxb5i8ZeK5PLV4fTb6GGubqra4FWhLIe/KexTz
1QatZXoa1XwPo2d8KEXoDkW342Cp7ubuODBNOw7Z8si1Xe6UXAaGUAYkA1a85+b6tg6lgs6ekLZF
bMoOS7SbK+bRpSqcJgO5uFIBqhZJuDo4RpDsLQy1SRJxU/2owqohf1s50G5gsh9HhCYjj6+MxaNw
x3Sfpp0M63F+Ixs3TuoIzRl2gI4ekanHSSCWrZXE20upPREZT3KRY2/Alhw6dmEo2bKbhmYFHbW9
brVpfU1ptqN06m9IK5cbES+BrcySLb552xByFyDTKnxvGXdxjLo95pTCXyXuJmDEO+2HIltvT1i9
FWo6jJsxw1PbpLRpsrCPNWHPR7ddLi4xWxtNTlPAJ+ySqot3iu1urTL1trOmKQw7kLrq6Uw/W3TY
iKCPPBopL42Xfs8UAR0JM9ci3eIWyS6abK889I6F/UybKDEWQ4R5jitxoKKHP9RtbOdboXja2WrH
EGzQtYeybujvPgT1L1xq/Xkmnm3XwB73r2N6wuhJLeRd4QWEAOihK2Z3U10JWVXj+uNE5PqQuA3z
9/a1HB1rg1ZyPJZtuPQNe4Xlw1yr7JE81XDVejrhearYIw7qzlzsLkLRQ/Ro5dyQvGT49qrw8yTF
ECDbVZzjBOp4U61QxPvr7sqeonbyTixPHP60nvvwg/odS8aAyh0dbWE/Y28k3pCDZkJb6gu92CxD
2t83ibZPChY6agu0ypvtq+zaQb9Wl4GCGwNNvbZj3/JkiDTeSM/ZGvbSwPoWezPN3rhAqysB+j6b
wU5qznKnkgadroYXwdvqb2ZTAOkkyw/LYF09D3X97qjLKV/M+RZRAZJ3L/6ocnYnak80Rd2nJw2U
el6TlsiUJ2KPYgWupj1Bfn2uesXYiDo7jjz8kcjYQBK2WlL5grnmMUBBWu/nHooRiqgdSfKSmXqN
b4GwhQ0Rl0eXNcZmRINAjg32mSx9VdhSX2TuHlKpmhtv6giJZ1qwTcTymjojqYJO8kwy32H2Mgci
D71Ly9IlsDQ3CwddubdWkVO6qbea192nbIwZton5m6mL9Wz2zv1EdMJhGa7L0jTWfMOZ01Aj1XhP
GOL61CjqhTyO5biwZQsTogu2rbeGTb6mIUD45VvaaicuNBrI3sgOsr3UQA0jybpsB3pfHG1kEEJP
F58gYbFFWwsioAErz+IWubC3rePmXObW+0jBua9c8kdQErxac58Haa0hipX8/mo534wJrJ04kWed
RIZosKYxFFbznbvGflkd80nqJJdNy7Hsszqqde9hYlHj627/Uqzlx2Sw/sUDQaNdeLvVXTcQyj1k
PKnPVA4tlfMDhToAetv+lkNB8rU2P8+e2h7mgz2s0zY1PNjrJtCfRJgBI/712I6RMSvTfT3lbCJK
79ZN2yk0PPwH1M3VFXAbltVYnN3cPEGUQM/SmjqViDwjtHPDUemVR9LROPHk8Jo7TrExO7UGbFIM
oYr6kRc2SbiPLSski1eNkjVVAiKcgMi30o6I+/Rogfr0MOap4Mray9zST0s/bxkUQ1az3D3p1HUw
IUg922W56yYIaojI2obrRKcdPy4Z8l37FXgUOqumfVW9cjzr1/9ItXt383VDJsqC4DpEHtyCTu93
bdXq9OR9Cv1G0QKGnVBW3HZgWFrxynj6EqxtVW6JhXsrlImDxG6u9xKRGAgOMPp4DpCvAlBQbttM
0VZOS1VVQX2I9CXpn8f0SwxvkuFmqHpi2vZO95gwWr/PyZNNDfq63qm2pBBnvp6Cn8H4f52ulMOu
tclwNauttB2XVWJCIbcYLb6Z9VklfnpkgUMDuygHvWpOmtmuQc98iOwS5z1N8jHQ0uvvuCjbY5c/
ZH15jPFm+MgWGYqgVYoctdUiuy0/KYeQByTIztXCjf2i58VYc41Lc9Vf8JJO0QDNMTQUZdywvE1D
Uw975h7BwJCFxKaDShjel27WoebsJiDR38xq0bY22bJ+O63UWI0NNCyeFKqvibXtasS7zKTO1uO5
3Yw6+ycifj9y10h2RmuBoB0toi/kLmNS2o3WfCrnMz2fPKpx5d5dH5m2KK27ZbqfO3yYHR6GULEH
PbLrtWPDzYyahy0wR+jOnt5zMU/l/WhAn02pbjc989PFodTXcSVCmifyB43wVhbkRaaus2EeVF/6
Og/R6t2pziAuld43t4NL366N1o75waNrEEBpkybXy1YEq0ayspk6C+EaDCYs9IF+Uw5epDm9EQx8
b1sbJUOAXcDhEWi/D0lTHBfba/w549OA+KqRmRZRW+v6rWe/VenghHGrlzsYhXWQiuVbwtZXVvqr
ZXASDHNaB/kEIKW4ZsgBUgkUySUNdFwL3Lg2o7blKljU6qBdIZAEuoWTdN4miQOkxWqxEtuZoD6a
NEgrVj8agVfvF0oXpcoZcHj3RT29243Y48FiciPjk9LWn2pl7rruudO8704PxqMet6Ou74vZ/R7P
zWeK09bKXj13vJWZ3K0T7cZz71lT0LxPmbVXkmG7JAaGXe9EbXqrqOY+jq9rkOF2WeZdn6ph4rTX
vb1yMigiRmhTrlEFvRQgF+ftkLlBp4itsjL3UIbtYK/P1sI0nnBzRP3or1TPQ42z7kzDujfY5ftE
J323YOq4yXCziPaBT1TKYIIio7d3wIEfuWkHP8P2RuHtM57F/mggiEpRzo1knHfzVh+gVQ5zkfi4
3084Nqzu+fpJ6MKe2LjtsAUdhny+h61842IwBCKgPTRaf2TLkGLZ9CyfNI6TZnjHUtp3jXQx8zlf
o4UANmEkiPK+ba8xsUMaTOq4aUuULqu5gUn2AHjlZe7vEqSbPLGPQwKoRN0oGhPiNTl2hvlpmxdh
GGCh+IKdIXbaRN8BxGDh49Yk2aKZ5XNnAj7i69JQ+4UmToTKPumKTMLGfOixdgQTNnI2YUhTFtsh
JK+tcIvFvuLGBCQSbU/c5PUNAoUGT4iDcEVmRyfL9k0Dey9N6kC22U4yDKX12CfGQiaM2rCTNr2t
NQBW1JEEm2L4aEw/c13LJ53weSLFbag18Hvi29yLmwXjkda9i356Ukg7Ke6dWNPPrYJ9w1o+FA/H
m/tmOs5LnDJDaqvHeiQBrhBvwlzOQPp8yB83ad9uzSVFLdh8N6R6mXBu2D0FC2klcP0wvjjyoV7c
Rxu64xZd/zc2dydbGhjWxn01PVSDxNBK8HzTRfC/jSsGnjWTE1l1+WhN5S69bXsu1zVuN0rFkkfp
MTkpNXisvgwSRmjXrNWCNFKXd0MOFru/KHqFsIQnpSW7vFdJdR4cq/PF4t3ix6CmZNnP22kcjujv
vMAOGmtG23Y/tdc3pH7pRv2APMlPOCIIFD+l0MparfTVLrkX1cyLMSwPlSsf3bW6cUR2sDFx5YMO
Xco6z/VwYEh2q3byttedKigbZTe43blzOl+jDbOzLLQVC2KxeJksx1dsorhnixWiaRwQnr2OhXqH
H8WRGqGL9nDILfPeVsZvopiOHELBNIlP1TCPpoL2yUZyuS5nftIbk1ualEFf1ao36RhnRbpny+w+
i+Wx16pLp1ZMDfRDsj4Nqtj2WNCo73zTdX+0SRcyFL6QVvmEgniPzTb0Ku/QjDxpOKKp3ZiDxrwC
3KllVV36xd0lhomFs3AZUstXYuF+Hpl1aW5EKV6Fot7bbvquDqEdV7vcGj+aJItU23ioGnGF139n
6b6Ryhj2k3hkpp4W5S0BSxuUk76JQX6oKpg/2R0Lx2vD+MT3+qVZ8Z09xm8qFnR3eXOG7jnhgGMg
GjWD/diX9o8hxVu64nibKvNJ1cQPb1C+JzD3QHiEDU6pxvNucg2V0/yR6NWWOEAaBh6WxMpfm7x9
H1yKt9Q8V4PBDjj9ZsWPtdAK31D7bT+Z+6VLTkiCju00K8Eyez3CKt72shJ3jeEmvia/9Jm3nNOp
LyRhsdWyrhVwE7aO9m0Y3KeqsCKheOeFYgJB+LcZ/S5nGiyZ6TxeQYDlK3EO7zW/kxju0NikUQ6y
WiIR9mOPqDIFRIlKj26NDxwYCXJnLVTaJfLa+qDYy8Uu+qCq0q0wup06gBKlsTByzde9+CHP031u
attEl9DueLTtJbLGy8JatV75FlfUwbREOgucMts5CJLTomOGoIijYr45ZwaNt65ONcJwDMMjSQS+
zJ6zrnVZrI4DKzzwInqy6SbCk4vYpG03Q6tcLALFOTAhKWsuGDlzBKPH6Yq5gBUZKexSWX5UZf7c
klCyTUjFIcKzZkYy38kao3xXKI891yawvvbEOuSAPG6DLfx5bXmqUbdvEXNvepnuyWY9Dx7Jed1d
YbE5Fm39Kgz8Twz1C3u9rCYJCNB2ZqnezwDcO6PbZHb/4i3YYIy+Y/BV05ma0jfKvmXKnkFEnmdc
6jsmcisdMQcH0wmyJwibbWdsgYN4Y3x/R8LtWmvnOitvq6Ha24q61Yb5tp6UW3BkgdREpBW0RksX
WsWTOTf/k73z2m5by7btF6Eacni8CIwSlSVbL2iyJSOnhYyvvx3Qri2Xz6m657zfFxgESZAWEdaa
c4w+nkqzJnGYMG4a/LOCuawtvxEa9ZgWyoNeT/Qw5+t6QTE9ohhwaYImiBKYElVGME+9X6wDvSZc
9hXTQDTOKHRxl0CdNKs95Rw/ijxNta4IOv2G020ioz2a9HtDG2+FVX6LixsJOnCqc8dl9ic7qPbG
7CAc4fXaNyXvGSbr5xUQhQqOhOnwlMZiBRs+IqcQ+j7iGjFgxab0eMFDyGlftc8dw3ORtK+2GV0z
AGakRaOE2ItyMO8MEXZ0JclSlomzokpRzubkdQmEBdMvrOqdHkGQatuBb43RgYETv0ou/JEQQ5kZ
bRT2v1r8+GW7NpQqbNjQEpTxbuB/13OjUMrzRHqKLTcfqENad1YVAKjLi2jK60lbgnwJGeIMNIAt
/m5SDSxqKrwUV581TVfr70VT9/tgDs+O2r1i9b10jbFHL7DvqwDyxj1mGtT4MjU1cxbY/2nRR78S
dJ2dnL+FlgJkQeiZ72j9PQHJjNwXmoNhq8I7DUtPSYmeLXn1asUxdaBnnRbeRJL1UNIpV9TuZAMW
dFMaLYywqodOPNAFMrpZccns5kbaE6E+tYcMuMNBwRlOJRuxKOZSox+XXVlTnhTAOdgQVUtD+jKA
kMbAh6+McuCUdGGZoCNueEUKe8PMlQEToFDbmu9ykPZO+VC1IIGyYfkmBuCYVlXv5YhQLbO8kSXz
e6dWGC26AcFG8Z6182nqP6IGx48YnvPB1H0tl1QO2Xw/0o+m2EPdtOmX3JfS5ixC6gq9DfBcMKv3
rchBdadeep2MuW4gOrUdriuO5VNuMEFHaulZybDFu7lSkcjXVJ0Z1VVzMMLJsRaq21XFGCtlfKTZ
9q+8K6mBdeoB7u4Q9FIoXy1cP02FkZEBK0nXYue2o5lKAYRLHSlxhUtm+EJCTRS6ADxVaGlkwU7K
fGQG4Nr+0NGcdvLOppnQPkyVKoLRjgBat9GhN9E9tHH0yIzgxxLr2a5pU8xeAyXzKAfLLmLVxZGb
XKvxnLlKoz8CG74NaYjtR127NUf9BnpI7jpgUxsnN/gZo8dFmm71sHymIQ5AustaX5t6yY+7Rj+k
dTbt87yK3C1+Ky8d8jLhdYH8gKEvbC8b2+c+yx1fnq0XAN8auobpKLhvCd38Zkgawx+megljOeCt
a/p4c29I5ImKmjxcVFbCxX++IzM890TLfMomFtctaoHT3nb2TUMQep/MO8rs3cUNa8vxnbg5ihUW
gtOIJsObGC96v3i9bj2Jut9sVofSOulGEQayKkmezhVtzvZaYphXjmUwElp7OJHDZLx0Eo+iQeZZ
cTSScZu+xTXqjrnojwbWHcZvtX7M8LKsVnViFhvbjyQ56MJqvkpneOlt3FcuYKGR4mD4aowMTyNY
057UCmMfW8w5J7rmKLHxiZiDzhjKwr4wRa46mMXZqLKHvM8/0mE51CjBdmjKEo7UjpuaeRuL6Vdh
A9EwXoqqYgYA/SrXnqRUf65ilYBqQ3po1yNZCNoinZ1wT1SAEOaVrQa9jW47giFflUiahbWLSel2
xTKSs83tqehjn5lqPBXBmIvbNNUeJ6V6jucg0m/FAvevLm9qMumwQkOHHGBUtuH4fVbs90Xfm3Zx
MHOoMhW4OUb/RJPnH0j0/XwBP6uQ2z4bUeVmU/lcj2QBS8Ri9ap+rjsiXPT5WsY+6+E6rVxdjC36
XXFdKRBztJ/K3lH1W3RUPzAb+L0tNXTzuTDZEbKIsL1nfo32qsufe2stHZJ17zqxg3RIe89r+mGk
rSRuDcQmYZBgHHK7DkqUKnIsgRzVgLTqMBuyQ+Gox4mmgy5J+3GyHgd9+B62BTiTyl0grek4N8xI
eQoTk3qcpBy5ZRsuR8xltHvFpWF4WBn24Ti9M62iddXnb2ZW4jcdaRXlmGtkVPqKgyF4GfEMKfdj
mrzLY+FFc/MQpdoPVczXaZgx1iqnnzL5QJk9PmsYpBDAIElpn+SRu48jfkrVizbo8THkztt2JqAk
zmRK0ogRKdjtOBpjIsn4z+K0YnbRZOnJ4K6YhpoJw1/6YUXyCUX0PbRqjyIIwQnThSbXi0m10F3M
6SOOxV1C1W8kvyHK/UYOiaAXCbcL8QDC5lEt+hslXMHlMeKqHIV6WF+NnXykwjwwS0wabuJFGahY
wWrJPM3VRCvEFEeK0++ERxyyKToxS/JXeoBwxo4zQb1uhvwtYnzv6aFxN2bjfhoa8JEjO1OOkzl+
5CZh2mH3TSbAoJNEH8RF/gCALzPT97n8iFIKGiXjRr2jnG4R4FQo15JjBqomuZq2RO409xehwAiZ
l/mQi+kNndPktrMluwqoyXpliJqD/dAmJPtY9Zs2MdUi2IVxTM5Bt0zrwQm2YkCAJsjkkZUJwEP9
ISXiNNNTFIt60XFTJp313RmcpxCZx2LkGTrBBOLHyGBEtMEkFbc2HHK3EN1z1NBSTId98wQc+ya1
BvSOIj4gc8jJpKo+SJg4KlN5O5RzABWbrqweuVaHGZqqokaXAp6SbraxD29wOG0Lh/TQz7XtobQ+
/GPbHw//eNv2js/9Je0+mzVaT4XNUBQjEwr2nbzwJxRY37xQKcqTUw0l0QaRTot5uS/TED1tbpPp
uS62ta/F/2DbRPMkd0PKItaYZEfIx9VpBhDsIwvIXaUsSYZZwupzsT10QPQereUJVRgs6TRSq1Mu
kzbs2pMVwQkoVFcO63zxEltjXrJ+XX0iCCjYVuvCgq29rS6dchPq9rQL7YSLMtrO4rQtpCT85xoZ
gZUZmgctB78g183RNnq+7/Y1P1ez9VO2xzgm1oJd6Fq1yPDHGOI0wRY69cr412Lbtj3cnrDsaOB3
//vpdl2z8iz3uF+MwBjsSqZmyca6fNbR9tPRTOoTHbT61OkqNzZ5RGGQxc2JdiqRCOva12LbhkdC
Ojo9FJfhNpTG9zyX66OJ2SYO7ezKjijHWVryY6F9c9GsbGYAEHdBMkalrx8yBz4PFvfnnHzrwW6p
VanjR9bZI7NUFjbznrzFHlMr8+w7DhDyhcukZpShj/1LeFmmhDhmCadL6vkkdFKJhczFdR4umZjq
VQg5eVCvvk9GjYaJmyCzZXTfxos8zPlpYBKQLkZ1sYo59dR2mIOlcrJ9ZB6lPPslW81Jm2z9hGV3
vtjkBNnpmJ1UPcQQU0UndKI/RBo3h6EMM+bWbkpqzwU0YX/p9Mbhimqe6TJULsX5oDKGIwjN0Jta
hY9Rq4rTjR+TKJ50F9G5ZExqcauyJRSIM/jFoi2ofKjyURpl/LJKexkMca1UqEYWRFW1ulRHxuEu
OJA8v5bhYURlp10GVdMucxdx9mur1d68WbT6F1icJOAt/aUwCLIp9WtBPNeeA/s26Sb7iJgezBbJ
omGt+XiAXwnDpc1Xqx+t2hXXZcX4faH50scMWfg3taeQasHMXxXAnj/Egiu1076NE47XUavKG6Sl
5c2S/MKJaLiDWAafhEsXoVgWdCa/itGGDHHlbgmyrCgvMWq9iyw90l2argkqE35c57RUKLeVKNh2
g0LcKPNzpI5UpK+pkR7JgLlXo8ailNXMV+YB//UvjRLBQosNXC6OtRJan08lr4PggWeaouPiZw1T
CeoARaDUTDfjYkamSkO4dOarZP0m9J4kunMMbxTZgp5igXKezIhfpZ86z6kLwZ3IyTHUqd+438kH
ynSPDEACef0R6SihNKGhUtCT41UxjAYvI5gq2LZ9Pr09YxRW7E89/mj7vCSHstZytxiLF7y3770J
PrhoGLum1YMuJkpo4oLs9pQSJzNNXitNb2ajfch9+jiDSsqKGUVFcx4nfOBgXtxOV54rLQPL59Sv
lopLTgFhQYvjflwwZRU5WZSSfGV0jBQVE04XDZiDRGpUk59qLblqS8Z5abOD7EvpWROEYUeIZ2UA
eBDVXvRKPQwZiLFcVvH0hdg2Y6Kl4WpTRZCc+ybKJ69KSP4p7YEOijI8OtyrpMm+GxN4LPM43zZK
i5xbPTG9dbWpYgjWGc/k61zbc/Z9lHSGqUw8SdW8VQqkM4o45Qda2wxLJicIDQznY9rqrqHVNwX0
NNqog4adAA6dyJKHOgn9vKdsNVhNh+o1I4HGqX+ODYMwq5Bf+7reFxYGM/LZSPtUzrad8WMv2i+D
uZ3bKDAgjWi6D8FtuPNUUemLsFgwdlDM2xCvpueAEZHUajqPiEC9qRi+9aZ2ry/3uBjQAonotpdU
uMgOmg30kpgSIIoQsCwlycQI8iIXHbrHkeBODBZeM0gvYU3nldxEertZhXN5eQtDTqdsQICq6MGY
3hvGhSv+o9OVVIet8mkWhS+tMWUNaTe9Yd7ZSnysu/SnrtyOQ4zhwKZnUdnda4niIyPyYTdjAWUs
8FHWlXMUdEhuJSIe/LqnpQY29ozRRTPhEy9RmPnEEs1oQFJCqWXdL0b+DPm8nwz1Sk4ZUbbqsacR
NgFIctvOcceqrD1E3/ygTHK0BHMbYlWkGTIY8mS8riIifcieSlq59PIiawIKFCp4++aD7JkflkWq
Vk+vUu41apKp8zC3SGJJBcZLXhrKuYlIIlbUl56gaM1oT4VlRcekn/D2ZtKLIl0axmd1hQJFF807
3GAu01gi6/iXonDdt+SKAWJ+C2agHlRizucIrZiEP8cKZXx1TKClOAOTxR04bhccKp3bavIZZHRG
mSKpAlOgOibhiVNhbuEsd1Tq65LjxmBaBp7Gjd7t1izPVlkiVWPy4+LfqG4mygmuOtsHCzTjgdlu
eS/a+gnF1A9Mnx9p/w7zAuKrSrQK1IED1139tuCPVRgU9UoVuR4zfvoB0xN0tNnPCYajdtZ1uzfZ
KPtdQ3m5MwEyY+GoPNArN0o89UFj0nxsQnSBWaYZV8ZbLGnLDgMTNdv+Br6m8R2y1kcTLzdmgjq/
hMQYpFPrlXToXRE7crCMMud2R63QBPNB5ruPkSmio9lLbtGFuh9rNYpxGHZ8nxbx8cLRBRGLuMYq
CyRVcPvF8RgIaw4cqf2pDiU+8nx5lJb0yBUpPqEuvxjVSmWUlYfYYMysFuW0JpMNntU3h7jTGb/l
OBClbHTbFPo4wesZJV3zOjWQ6FThlWzrEAdqlG9OTmWsFfoK4Gb8HtvI7QXp3bKzN2txR1nWOWi2
cpPQlBJGDEgNO7hGpyJw5OienvWBypB9iSxpTWKu5WMa1wvB731xcGoGLjaBsLRkK1IDpvGkaf0v
s1mei7Ec2Ld5Mkz1qiej9Rmucqy379E0PDZoDxioCX8g8iEQobzv0/CWKou9a6KG6nM3e1xtdFyY
IAnCSPkhpGkklnadLTTmR0UF2GVQOgaT2u0m2XmXUXN7A+50xj/yz7AB/QLh4qCXOhG6HRrHIqc8
ETKlTsxG3jXlMeN/5onOEcFsK+FZij7KlrhBrnka3JxaPSfcd3fZRL8piyX7OrZl+3rOJV8ZgeaS
RqQHFbb0AxHcM61iTTrIVtv7kQ0suSvlEZQotRp4aQxhrlWESac0Gi5UX8gA6tHpyKMIg6bJfuR9
DwW3xeva6ki5hqXOy11hpsK3Or59JiUp0oOoOI3VyyQZyflzy7p5EessIH4EDQ2kW+57L0QcdjZF
s+Yi1O2060Xz8vkQzcle6Mp4mGE875hk01xcB39zRMcii8/bmkkR+TAYaTBvoNeN+bqtLpgB3SKP
Cl8rledywUyzbd8W1hAS6FX233jUHeQxRqMh5+c2QhoRr2uJzdSlK7TjTD2VU7A8YngpzwSCVD5G
fMctw4WpfWeaDRcVE3oviHjXMugLW9PyOhdxyWWrKc9c3M9xaaUBP9BVzf/+LNZFI2FPiw3pZduU
xXbooSwp18BHPTuObZEcG4xgZquCY4rwK69p69tiAKiHiJ8oRMvpD9jCJN8SWPzCMpVPY64b0C6j
FHG/SqkKGls5G/uIXxw9oIQMq+QFKTm1fremOBBMjjA+YojRcwnkuC5+KJEgDibLDn1iX3ox0Vwk
EcHVG4wcmZy1Z+SOMA8EUoEi4fAxZJR4CcEAZy3Caq9a6U+mrRwPqEjPI9MTr5xoXKTCdnNlomBi
WrSndKIhqC1ARJJ7FB21uic0aXWGkd97HmoZLN/6V25xW57VCYNz1UVXHZ6Rc19E4lwaYJ+UNlqv
LhGNkG2jlZY+hxRF8MQpmblbIrBLbI/WHJ8zW6e2s31gQsWtAc88adWZKMr6HE00DPo2uW4iBygX
3J3tu6eUn87bGrwoy+9TBlHtLG7KsEjuxMCZpoifaiQvR4eeb64mBA0M1rGrZEL0mvEc65CWm5rx
jLT0N13BF0jk6ZtKC95vbOh3ZWvjhBvM9bb92phUwNrGyFCkMJybVRPIc7Rbxj6/pq1d+zb5tOiE
IslAKWVTTTIxWCnATsG8jhNSiREmKKw90Hz34chYb3ZA98bmqza0z2mBEFqSQaLVSC6HpeSobSmY
W2n6yZn6/3bv/4fdGxsDdoF/74b4PyJZqvJf3RDbW/4yQyiy8w8ZN8QauKPL4LHwVvxlhlAU/R8M
DU2uy/h6sHx/Wb016x+yDJGKK7luQVt3oP790xyh/ENTbVt2LG6FGL7t/405QjFXm8VvKXOG7NiG
BV/axrDAF9K1PxhYBazNdsqYZdjaml7TdMtpW0xTtpyURF1O6oI5qKw5KR1JFng0MWyHFCf/Wlsf
Jkv+UnbQJ0a8sgzJcVueQmceaO6xhjqA+XJ86qSmPPUzqczb2rbA3vbXNqsYAdVtG6Um6ykFx0eZ
9PldVM2PDBWjxXPWGpRccin7JqvLGk4Y7lCUlaevBX0Toti3xwWc6AxwR/GC8YeJaJuUJ7F+hZhR
Nki8SGJpcBMg/lJC1LJWVraF2nTTgppY8PhrFb3kT8jcbRC1ZQYocn16GJbxr1emRTlToc/SefWY
CYZkKe7X7S9mg0ehgRYFqW1S89m2fT49NsUZS8UEOxVEysmYKXZ15oCG8++HOVjy3C0xocEtdrOq
604lplAZ8SOr0bgArdxWtwXzYzp6U0Nwe1hiEliq1WGy/s+/Foq5/vcjxabula1/foMbPQ7Mmouh
MlWnGCDPidTWWsabibHNNSJTIe9v3by94OtVo1CfoVGTrgqnYDc3zf08c2BouMpP25ry91rCtEFG
N/ovT8vJFCqBpqH0l5gdh3bfnrKu5o+0vXB7rA7rH/K3p772/ts+S239084dGnK40or/x6fXn0+v
n759pW0fn5+0rX59z+2NRb2vZ461TMrU05Dbyucaw0H1pBk5LvltdXt6WzRL/oopKgy+Nm1rxbqD
bc1opJlmfvr5iq/tX28wgLUwH9oXklKdptLmL8/AheXn+rb5a2Gtx8rn89vG//bxb7vaVpNmTKGu
aY9fb9nWPvfz5y5++9z/spo67xpTzuOfn/Dbnki1MiEnAU/97d2/Pf8fvvxvb/ht9etL//bW//b5
7ZV/frU/X5kAK6J8re0Y3oElsDn9vw7vbe3fbvs8L/58Osm18vDHRqnirNlOndnK10bleoZ9LVCw
CTmQkPPnNBwmEx1iuPt6z9cL/9jt9oS53MWrCXqrkedrLXxb2wrlXw//2FYRO0fk3FpW/y+r20u3
p7a1bbHt6KsUvz00sKtRcl/3UWy721aNsWPP//nTv/a7fQy5QI9Sjy90265Sihu+bavkXA8ymI9F
2csAnTUK1yfTsOsTMoaCaiF5IKdt47awcwzosPrWp7ZXbVu7BCu5Zy0NepwmxSbWrcFt21OLnJrL
w7YqG1FR3fy2G9WMZDQ2CpXYLKJd/rkvCZ9ryhg/IZw6qQx/zpVrZ22U1eb0IxH693Ah66FQqIjS
hPAm0f/IQE4xr5umYMjf51Gm9xjHQbHGBsxogL3RTs51TlweMTK0pdfozpNmRT+1ZRh2JbcgdwQt
6IWCKupv3/LzvzHrlKPmRMToDrilDet1fFiv89vDf7ut3W7Bfy+2d2zv/XzHuoM/HjqYVLiL/uuu
/we7ITinx1BmH7Y9O9vNdtv15+q2ddsNICXu+//5mxRycoqpLux//zbtVCHwne/r7U4mG8ZffZtt
DXsIQ4W/t/35mq+nv17zta1uTIJRvh5vjaE/dqsOpM5jO+dTv3bxv/uYbbdfn/K1m22bkwKKyphW
zw6jrmm9danr3XRb27ZtD7mD3yqpPO++tg9xCyx1e8nn6vZUut1Xt/f8scftYbHdIbenP1+5vWlZ
P3Zb+3z+6/HnPmNd8mfJyPFbEZttVRIpeLVxVuRXoLfMkJGqVqOMrbWY6cn247Rv17YVsk/QlMoa
w53J/hJq4NR1s0YWBfFsMFFyz2gzuD93gYni3o0MjDeiKK5ax6kOQ4dQoAYGnGX2q6YThlYDPGlf
Tck+KhDjj0BqVK8K0eHq1j0S4BnIvwQcuW1+ptjA/YERRpBoFwRjy23UhPsW3dspE0Sb50nzKIM0
2cdV+y1PpJ/pSmWcFex/1UKBd5Qx+amLFxkvrVM6eydxkPZjfzeyeK/DWO1zeXQHsjVdE5Fx28Q/
s5Dg73mkj7iaEw3yhVbxTkFmdjBMOTQbSz/UWUOHLvmVocpymXHINERMSmcywpnRoSCTkSiX241L
tbM8J4zIfdu0TnSgXgotmy5FUl/JcxtUjN3pp1gPw1ilRwMya4w5AYiOExQOljDqWUh5x+TeVCCy
mBEN67ehrAqfumPML4nCU6+S9CoZl29VnrxZ3aIFyvhdbh+oJNw2uuFFDWEfchHU1nqdM4hkElrv
1jPZYxlMBt/AReTiREWMuuCVvdNNbDy0ik6qKignd1WJJKt6rUbqaBA5JC6L4cqx1+5UZByDgxw5
jIen3ALeDurtvujMqzJpvhtGOKEJQU0330VFdEpVyNH19KsuFDq9jQhdo256fguMPWQohiDs54Xy
SZzAOODZbFPPZaex46KKkrPc6Rgayb5pA7tQe89qnJ9IdCny01+6Qm7mO2ZDT9mpkmNsqYiN70IA
QxTScKQ1urD9uu72CiVDnTpMQIMlLxn7Gwl2l4T/lrmMRyoc38tYTW+Gvl7u+m/2g0x03t7Cu0wl
VPqQ4kPYwEbMY/m5cpZqLyBi5aS/e8AvbrW8Q8Czi4wal4dTO15nTLqnDL2HZhztQ4mog05sQxge
5N4yb4/NWsxI0iReKxGWHzd0T5IEl0kY4SAvmoPmdN+jrP9FjW3ytQbYbpHdDDLe8hls5w1l/Ljy
hswJL7XWmWc7Cr0ZygWFqXcgN+FudPJdjg4C0A0yrq5XTk5b/yob/dZYHbxYHPZkbIuoxcGY1HsH
pGyK3dQQKnKLFhmiEUPw04oaH1iIJB1V6cIfjpmNbhYKQp+Bk2dR7usFZRAcTPYTAn9Nx+/dMt2Z
nSkCTH7cKtX+tL0DLEvsx/JMF7S9hdlcf7eN/JAoy7mzLJIq5Jc2K4RPUCfl6fSuZ7Tv1m1uU6WC
bBjaBZzuvrhFd3RC6Kec1TQNMUIwWUOl/3MygH5Tpcw9A8bs7VSax3ly5oPIHRnsmebhje7v6rVK
3Ce47EVXrUbGpLidAZ27K68d/5b9tIwD93ABJ6rusUpaWqTsG0N/VPupuWrS7kFosX1YllOxkIPt
zqKm7FwZTMgYQjdZ1F7L9qmIY2M/afntNDL9GzJ9Ro5oPMUSdBWBymUYs+oIKgM9Ugs5N6KnV9vd
bkmHNwwbhIqSp+i2nPheRfQS4myaBAgMDUKre7ppOzWjWcKB+iT12IqMDnN52Ayp58yvBHC7OAfK
VSqDidVGFG7iZXaTQRj4WwAD6M1OsSnHjc3REIvbE10xG1wSDGhgmGzyF+JOPG1EL1fzzWAhtNfN
6OB3GzpEP5t8vqTXiMwGuTqZJEY6Hmp+XKRy8ccyhB8kWl8nKOXMdHoIywarBURTu8NuIzXYuRS0
Yp2E+mequseKHE00DpVwZYnMuE7THgZN0f0lcY6Al0q6HdN8S4eSrPhEorbPRTeO82zXFaDS60qP
PaqZuy5U+x1psfso7yiQTxdUVd8gyeB0X21kgBBAry3f/blU7xurfubswy0v+trFh1kCAKL+7oS7
atSZj2ZJ6UXYdVK12U8CYaM8lwOdyegp4TTd99qbUtFKHztUUUpDQ4zC0wPpIZlvDbENaiA+DimB
FopkXmWR8qj0DMs6Z7iSjVcnD0l7U+OD0+k9QIoc/SgMai0sFgy2WeRJZdZ41L/3ptMZDzlWoMFW
z/2N2TTSGYctbeZW2yP1nmE00GheMUItuF11Xp1jlm0HkXmHKErxk5pzkm5Su0bBIKMzIFF1l2bC
nddYHHtj1sM5aLNj1r3A6idBjxZFyOWu67JXJghAEwZM0Z3j7KpwhTmb9ZplSkuxIzAuYCR9FDJB
AOrc3mbEwc+pnpKvZvhc7VCszbN+TjC2+5x4fh9Zsjc2hCvpCXGhSNKXzvF6Qgq93tL38xA+LyYe
B31ynmdVXgI9JzAUyaUHVOhN9MZ5IEjZH7OC+lZmfhSCpoo1wRPnTCkPITMBehcqTiK6kPSiBJCg
s2rGa9U8dNZWt7Lr4gYcoYIMjj7V9wZ9IKIuGHSWzSZRy/ZhtiQYcmX1nYpaQZ4XI6LepDttmE8T
oVOmUjyVCyIH+PJgP/mFrTYfsdYvV42td8zWWzxQSMjwyanYsAlgsKsxAHADKlFJQq+1S+rNYxRA
j7oR91CHkfh1q/dg6k4V54aV0ZPgQtL53fA29ElAgNvkJ2YI2DxH2xupBge0fGqyjlYB9Yoxw9iX
9ARZtWnyHIIkPC2pdMGB8EMfyKiEhH0CmrgeGRCBVFnslhm0rCBNZmWn08i+Cte/dK0Ml4qwSH+u
ufJBDFHqbgxKm5aBZifvtZLgw9UZKLQJso9O1itfVDUWLsmRPHWo6cWVjzYFop7r8cmMnF2MSuq6
TBM8KYbaBzqKnj6WzSDScPjOckXgwfBE+p3wu667dbRVpDGQrdSp9Q3tv2dVyOcqRDECJNjUsrVQ
XiM0RRPS4HnJlCtexM+m3U2GkntLEV0l6vCjHvkoObXxEKCRsgzrBIa+uUJqfq9PoGFIQoMxEr9n
07OJBGlWp1/5KM1eYyFNL6EBtOU4ATTI0OnoRR8UJlyP6ddqFMfdhRoeUOCT7cQWkpv4Eg625MW2
pLiNNcxuST4ozBIpAbFShseGIbQsqquatlVgyjoByIOXWzbtEEk7ogjpwQFiDytHbwE35yUK0Ay9
0eRjY027pdK1A9e4oFCAvNOBJv18+ImalgMA1XZi84eLczhKOL0Z+fTnJjZXKp95bupDmc8JoHPs
m+0RSqFy7pylZDzfeDl28lrNJM+pam3P9MFT9VeYDtpNq6yXTgjEe3OiAd0PP2lIcjGJPf7iob9E
9iPCu5pp3b5q6z0gZMjETnE/6SUs7LK+jjT5Xh2L3tfk8sHo+/eoxYwm0yeprfhbnhIrak+xeiXp
TSAnan+IiylYGpr7VZzGZ9ky0AKh2FxWqrryTSQw77gYmkGa1VfcBxlumTZ/7hoDLCYtl7wrt9bj
mkTSVkeBjpXWQArTNiOJrvLr0M2vkjHsIg3bkaJV94VjJ0QnF6FfGmj0ibH2ZRVeApHnFtr1dAFx
o96kprjNI27GsSahyrDS6zodLkbyDgDtIkbVfNHQJOTJqZYYb08Zte4l/SB8AMHAgBpedwigsI2F
YxTIsGTpVExy3WWIJrmjHcbkQSg9KRIKJ1/iDlKSMTLB3TFWXhqqF2lV1FcdhsYorBAGSyY50aAI
OyWn0jBCTO6JEE+6PtpbYgnGaAYfHMu7Mspf4n6J9qVYMrdn/oN3o37qqjOIzszj9GJ0gFsa+TDl
jqlb/DaL3/o5eZRB3UDZG3+pnXJlOQPKnHn4hdGPcny2G9v511hMGrEasGUzqV4HlpMWjAqS3rRq
+2vTTxVapBGZ2FILMLsbFqhqcrS3pevCGX84cJmuqRwRHKLpJ2VqAa4kjSeWCOVZr8EeL9+MCqjn
2C0o3OSjGWNZorP6Uds1Go0wAHn0E0KAcBvdpGjjJDqojv4IvfJdFKGza6bpDDoG/4eaANfjplBb
zk8TYkyV9gSqOteG1e51MPU2hg308dGdDeu7AvczKvaT3kJLG5gk0/2fH0XY8Kv2Twr9VJp7pIVY
cnYZ5PaKqzR+mY7SHbySXK2eK119i6vxihxnd65Aps8odmryWS/E06zMBCU+DCpoQUH0eyIpd5tM
CMVPeFsvTX7bhFg0HQTi26ZxGo5iyrPrz22gN+jFViOQzVVctL0kUsPYL8SEW3rdtj0xLNpbt1iT
3+C80eLloW0eIKiPt6OCQdsSGIxLJJXjgjl9DeHii+DhrAkRQqW1nNKmt4JhwClO+xg+F2hVI78M
yhTddetizsM7gT+pLKozjmzjdltQjly8lOC7nVpZf20rzbnZL+A3Pfnvbf0aZaPqibpvbBj1thHe
EH8Y3kAfdGqrueWkULnkdwhzClAky7qgNFsf7BmBxPaQeHvtNhVWcjP2K1Pqny/btrem/pIw/D1t
2zEhqLc5ITAorNoq+HqtpobqsY1o724v+e0JojPJKfv84G2zoeJbSOaqPG4fsG0L49FlNKb5TE5r
f9u0PZkQUXQ2zPnh851FnVwsi8DhKE7vqBVWyHRvO0VJ7sZmgnbfhMdR0a7l/8vemSw3jjTZ+lXa
7h6/YR4WdyOSoiSSIkUlJaU2sJwK8zzj6fuLoEpUqupWde/vJgzu4UAOxBDhfvycKU6342iZBzm4
M88VzalQir/70gl4Dy3tKWoFUABelaRdtobS3SUWHKORGGQwhAqUc/wE+CW8Xjnk7/yoaUB/t1W6
67Ndi1YveonMBV0izIelpbMyGg8xzKezxzukR+aWZ6czD56XKHvAIoEwDLY354Gt1VdYQOY7GKG5
QirEb8bc4OPwHjcii3CTzvTdyguBELM3QRYdsjLr7kt4Y8531FxG9FCF7ZWXZs2+YPX1YCpu8KAD
z0SKbtzIMDmguQfplJuXN9KUsbSGtkuroltNniV9+qTTQUYTdtoB6AR95B3S3PAO4KtnASx6DWB8
O0i/7mT93kYF0I9dlX+HCPO76bZ09HAnI9gFHtRIM0jbcP8V8C3eQAxlIwhTOAd0PauVFrozfVez
c5ATWhs34FKACElTTsDrYd6Djl0YcdICs/TCFqS+YSz6aGLl1lvI13FNGRtWlXPlodO1TvUqvnYn
SCFnxQ+hw7Xc5QiH48pwfBrPaGX24WQi+9ZUVfTQicFsm/aWnBIoyRF8iKyN/38UwRlF8IPW9LaG
gh52/vw3+ndR9v9/gwhOedT++vlfj+239lfzl/PekAS2/R/PUQ3IDEHHkdKmkH8GEmiO/h8TtkWP
Rhchs2cjY/NGqugAFrBMxwAt5Wo6Z7yBCDT3P56hW/S/IKmgIYvq/G9QBGyVfwMRmDakb7rq2TTF
OYjluJKB8QPDIsQ5da5BXf2rMoqdJWRIxirVl2SpPMjNbP00mPRzZ3MNU4SYVVnenmf1OjfOs6jA
vs3+3bnyUjL4787VvG9RQAIz6MtqIwfkqyqad99tb5yqDXu7t2k5IX1xMJPOOgcqzdam8MKyY663
lyFFTeODGZmZsqGNzAPF/hyUabZFQYg9tjCrKVdXwwBjnG5X5rPutD+TnH7sgASKRvWncGoKsPMw
vZKspPlB8557Ui+QybQtTVbObLI2mf3NNPEdl0d26fkbElssUi524mvGXQ8KLJmQkzUd2Opb8jHB
0h1mbTOmmkM6xnQBTgs7tKFhgYXgO8uI+GaCDXELG1axTcWAcAorT7U0F58mpCkHO2LDkZSJAnJf
HJY3XjAkWzmXQiiwCkLUKIJg6q/peHbvY9g9roPSd+9DcQRL8kjrlwWwVWOVbzRPnlophzYtknWi
hHRggLy+Jydf3MP7y+BUE7ncXOQMhoBsipnZKAiC4kIkpb3XgnaGQ10xHzWkmFdQLgbX9VhbjyFK
gzuwhqcqYzlOTsnqj3DmUzEJoWy0mmOnpu2Rf0d/A+9/dPbJCfGsXHlRHNxK05714PhPJ8kLpVZ/
Y9RFcQtVPvR1VtRNKHYkHwfpK3UHwNz7hPT1Znl6+81dGkLi/gY8ZLqHkCx8BM9nrRsTnevatMPH
sZm0q34AvouYVLtmk25sEBjp7kpn6G9cja5EC81YttVzcdRHcpIWrSvPSQrOfRi9HjhlBf+EPqYL
6JFRYhVH6ftRMyjR2Xc5cgwdeuE0tFca3GQLzcmttRei7rCQNnhaoIeZF/ARRcK4n2kFVZohfHRG
NHbnuodacFTdY9nQ39vDNfQzRCu6rcLstfUnbUnNKNpZre5vA1qdlj7JmOuiA7+Y8bWGz01V4cv3
AHLSY1Lch6jm3YP5K+4nMVQOPayjV5fXcqKmC0njuWFGCVvryq3KH0437io/fdWBQ0Ib7VWCwzF9
zRF+BwvjzMqd0RWvPJ78g97NOjfrh2a+hfEw28ys/qorUygoxXmaBMsWcM0KGuP67DzPx4323S6z
8AYkeLRCoMsm96TE8CkqP1CaGHeJ4xv32Qh5Tuyk81OfUpVTq4iWKBLdLaVyCzYASlvTwZut8Tzk
IPlHL/roCehgLqp6XpPEng4jzRujqU/r1AngKYFDEfB6nf2ga+tmjBEAA2F97+QVDbO8R+TAW8/f
WOI9Is1MvkwuNj/g3p8pQTu1Fm/bXst2IZJDSz4380tAUztoVftnSDoSYrfoOXO9gXo0VKPFXGc7
6l9voX0Or6WZFf8iQaZpvwuuwgOskn6Hi9f0bOSQdEFP/JG/19GyqAvt0P0FGVd6G3kJMANdoLUU
AUlqEx1bHn62P4d+sP9y+PlcpDqThdKO5so0ZvXUwcJTWdOIAFgUn4ph4QNpW9AJDju5+JnlAJen
yTsMIaGctId0ZXoRGkJ9g2qjOGNUAFvLuMtp72dc/BbNUWwj/md/RpXXuyof8seJHehV0xfDQ6TX
9daHCmlp2W35LSAHEoxG8EQRMLo1qdBdB7VbfuthTw2Sbw3sONdtVEAamybNk6JktPeiZze3j4hS
5ge4zaxjFnY7hI8EttoKoZG3zZXmtN1L3sOyRo9sCOEINAV14GgLraYJ2oMZ5bX3YdXJVHXc9rk7
PdJWcnCEvyFrs1KzmYxWZOXPM1g16e+82Lme2lhfQ+0fvmrtHriu8+JPuXIDrM6Evx93ACVOG5cR
8iMuDLCoJKDxEkSvhh4vPyzE3rRx/iunwlNEedv83/+jwTb9ESDJ3ec4Bm88aKwNVjjcir/ffXNs
0DWi2tHPWEsMQW6hHGI1mV9NdbZh8dNZM5S+cWRXyqe8mF7V1EMvPmibLXTNxjEMlOeJB/ZaoyIL
bMRPtrWhJltYDt6OpE9xs0OS017yyS9jx86GAE3GXaZjuzrURs3/+N9cTvrUJl6XYffgWGaxGrtu
2FLos7ZJjQJsVszBS2vHe0c83JZvHSp0ip5lqB6ab6EIaXwILZzU+Vko7JypuT7b/lTQpqeFy5oe
dEjQFFOZy5x6wHDLIylYl+HNF0dqaoKfD7rw7ej32c9xyhhdw1zEGb/HFW6j3el1Z5I38NStMs0f
B6/UbmPDpu/8d/8lNvFLdStN2yq27ZhBUJhMU3d1CbmcK30WnZL6kCImIU6Vk9L/+bTMU4/g/CDz
LZJrf06nL3w844XmavWLPUHGFFGl/R6U7W5Gozm4YgcHGZ0CWwVl+6vW8uojJcN6oVj5SYvHeK+H
qn56t2YvME5RVJ30PoshRcUSc9LS+VJdIv9H583iT3i/yuXPC/gTpPU+d/nzxNzFev+bwZbm3Cal
KNBqESIqZWCCCNALiHXMYCd98ugyJHIiIHFgA4Q7x/1dcDj6/s0/P8kOmOkPSGfY6JGYMF32J7aG
DACbnt8f5DGMFB00hPIzitXHdq7dBxecPIlDmpnkE82S4EeXG+4DSx+6Bt79Lv7m3d/PcKUXlT6J
JcSP0Ym8D/HSbwTOj9T/FtXe0WvTmWyhm2lbqWYub6LzkfCpM8JtcWSTewwblUBx88ppOci7TR7J
QL6OFEwNwaopneeL0zNEfwkKEyQsWBRXKZJFee/RiyIWxRkU9OtQNaKlNJGMS8nB0XkmJgsxGBTN
r6KRVFxkvcKYDW3QZG3Sqm32gz6UcCUl2Y8KAY7Yt8fXjGXy6hJhWz99667pXfsWmSEKkprNIuti
l8a/rAYsgUcv0ikgOYb6mvwVxWZX1y1V91CT//Qrop1UADMy3J9KADOLcmXBb7OSG8NCW6edrnyR
Bo0ug1UqX0o4PB6j6VufORt4X4OdbQsOunez9FX+wmhxnGe9yKkfvIAkPt8b6OH1rQHL6E1TqvrW
EkeG8Mkj6bvMFqWvgCP6M04eDdFw1PI52g5Q5iwcUx+v26pu9ogzvQ1youi8kU3hnz4ZAoUuq1Mx
QR4IIrNanKcJp7yMjJaBXkKO+Z+fFPuvT4rD5hA5YToZYGt2PvUEBFYfKeoYGj+tvA0WYMC1bfc+
2E3EnSptpFpYHZaUHtuoubu4KjSrQFL1xmqOLNQNosRENh7YphE2O3PqzHuoo9/8EX0z0JRr5uLT
hDxr9OBbqPVo1Xae0t4Wc+Sk9+jYxMtIz14qCrO3VmE1+2bsmr0hjoQf7eXp5hyLTg0Mu12ygeRF
P9HZ7x0cJ9rUQ2mcjATafzFXqe6HuUZYpjl8KbgvV2AJKqSly3gjj+geejtK348us5ejAOnVDd0C
9fqffxtNNmT8/gC4jouCkEUPCOkg85Pge+iEfopgXP2Tcu3cmCun9ARDs7IDHoYGhEj4C+vscjQf
/p+8m5Brcj0KhdJ+n4+p9N4NTn075RRWjCy0+vXkFR8uIyfktZC/NZdtQdutX1L3iYtZ+Wrp+bEo
a4227m0woY8Hb7dxGPW8eh38EiU++g8f1XAeVzlkQbsK2pVbPYLnBJZOYyeg74DL4vrRyHJKwbRd
voorhokDnWK9NSFzO7pGWK9NBe3Nlm6JHya8y9U4TC8RqqCrWXGGOy2llC0jEBcb4OaGo6qVt6u4
PUezUwVdJvfsAK6BlnRBWP4+cwks9A6i9gDh73wwmgeo+a7SagwfIYsIH/Wh05eR5woZAXzvEaA1
kqU2+sdK7B+tOcyvdQj6l40wpS9Kneyazl8kfuSOM3i3aXZjyykCpU/x0LGbtbh5kBOXa2Vy45rr
JqRgCjSfVbiqAAvcd8HIflgcOdBD35dWDvCyClaf/DJCToozZejlJEucWYsz3y8rI6RfhunReL6s
dH06/ffLNmAz//lud//ytrd023Qty7WpvOtQJP/+zW7tSI0n6t4/kgnqaSTiCsqQNM3MKtt0GxmI
jTQhCtSAGsW008/sCWm/Y/pTIBzzjrM4h8ugUQTJyEu4vKQ05SXd0tqnuoEOBYSd95EJzABCBbjG
y430zIMx3SfS7ZSxfx0MkAylfNR1UHicIefJ2nZXDtQu61mLpvvz9NtVNLJIV6AKrVURrOgZparc
K1291eKiypbyUA6NkvqbLFhJA3KoWvSc/hl8CUMSpd6GqutBbbKKypII6Tof+l3EBwjK32uEzIpd
kyM0RcGZYiS5t530ycEiswALpohxB2dbqlNN/RTZsrPvEhh67dsVpM8rLe/un28Azfy0+XdUy1NN
tl/s/3lDGe6n113gzbHlIfD2PWkgJyF3gbBl7UIMBuMH4Ea+LJdviYuM9r37Kh0RHWsGTJp8ZyYU
JOBunN/ipU+eOQOkve9/8CYRV71c6/frn//QKHb+cPhJkxHOVdiCmofeOYaqWR3OawaxcGALfvEE
bpYcyngrOBdHfpeHpE2tRw+V9GVjFlBZ+p71mM92vLErQCdydqST9lGcQFdFcz6BjCsnDPNV2jQo
Lop0ueIhb8kzUyBhgBlkVbfUU624UYUJXP9tVmbeL7My8y5nVRH86VyNuuOpgOPkdgZU60+wGYdq
mJ8HJeh/woym3UqXnOzctEffvv4j05r8ANXIvBw93eBfkqGBfB0bwRI11+xH3DfJYtIna19Nardx
IARcQS8TvDaOsqj90HiZZx/W0Ar6ULjJIUSvUQyqjPBRS2CXDVplL11jNBYsZMtwOaAkflt3A7QA
LdDHUIkAmGqFt69Mz9074qi0AkGdMqcQ+f05MSaeuauUGewuYRe/vEjXAsa7TJArnK8MVWGxEfnm
vOnriuxGwmouLosDvJQ/2skZX6YeeC4KVhP8BeX04nfF3u7c4ZiE4b+8CB1qOL8te8mKqaapmpYG
qyFbmE85MGQt3VpFcPD7WJPpV6/yUUEGwRytHeu0hwK6w5JynvmH0YfeZo7V/pG0LbSddFUCJcGU
Q19+EfT5R2noVFWXUG37QEQJgOrF2gWx9SCtzs/7xz7y/0jSqtvovVLek1s1z3muaVJWxTAoG5nD
OueqUgBM10juJotLnCGzWB7yrxVKdgqcTmIRlnmslJMyVWGbY6VV/G56wH+WMC9eU/aydkZaPMrk
vhzKJDsEfV0iBcnGxecnWEHFD/xLVgPi2r7EF9pEbVRoCZqo70CsyVFmQwleTfV2EHka6acWCoNU
67tfWhdeu9/9Bp0L6ymO6sWgqYH/bys5C7GzT7+p7Zg25LOea8Ih8vk3pUmhaafGLr430+CClvHr
25bKdjxOyQRiMBx38MmMO3lUoJ4AdRdER4baWHcyWJgQg8cTlJ7HVE2dHVj17Kb0vJAO2yHbOQh4
rZw8Gx/5WMDjFkXZNwdplKQrETOrgYk6PUpgzjTBJ6CC7iEnuCOJn5PhQuTSZHu8rGbVhTUknfJD
LojSnHndZZBJhoBnol86lc1lDlHTYhafnstgh1GzhYyULNj7RJ/DjAf+4wptDG3lsbxrj0Vv3+Z+
fZPpo/FsxGEBWNC0bq1UMZ5b2936ulceu3QaENPwN7wCk6fS2TvOnMDmySCP5ODO9YS8O7RwRZNq
N9JXez0VIpr51+dtM4WnL1BU+evLRlvuzS+m3FjLffd7rHTJCFspITeCiq0pg2lzGea+nKBtym4y
ENU3hhGUsFi9h5xttLYe0eicb0E2m/sZMZcuz6qdISzpavnqbNQWgi3h4h3z5u8Luv+nWB0WF58M
oYbzqnVTsx7I8dbfYxByK+DD9q2RAwtLyyn4mhm5sSB3OaEulOXPaCKd/YXvF7cTgrArMnPhV4Pm
4KvM1jy0SHI4pc32ZAs/Pe1UKz0UNHLFySkiQc4H12kFYe2mHwf7MTeKCDjYtUw8mY0mDZk/MkM3
FDPSSEUYiqOXsCC6rmJoZP95tWCov3ez0ysv3o2OjlyKzsrBtsUj96EQPRpDjobabHyHqKO5pSPf
3cpBcWf0WpFcubr4zLCd+iudRPg5Joceb8uTZ72fJWM/mTLeArx9lWb8kyCwegyVebqL6Vw5yGEC
nQ9HxHh/cdmQKl1NlZ7fVHphnsNCw06ubRXBLemDs1oDhuJV17Tsjwu6gzLYICvvSwVH9Mo2Siq6
wixns76BhQ/NI2HGtDdBC0XvoTQ719Lo5zB30gKtUnwJrPOJ0oP+6I0P4fMh8KIfsZrlGxj+wC2a
I5Q7YisyiQ3IJ58qfNCYf4y7+BQoQZH8FbW2T+d1hjttrAFqrVkJEBjIkqem75UVwFk+KVMAAnVW
+2VqJepXFeSeqnX2z99DE4evjylCrarvlxEKImu3Binr09h+Tx9CeF+ppHNVJLlCWi7ubavKVAR0
mJD24I7w/anmrUILigrFKzFeb4X3tYLylxFO+erDeUDaAc3A8ret6AfYG3P7Ojue+kQzVrwxM5Jj
0qzLwVw7SZivpAmjdbQy3MFfn4NTAJl62tcbaQZK9eLA67S3g1p7CtGIdxHJ6xAzvTItw3qcrCra
lbb2Ir9i0kVtbsP+Nto7hedsgwS196mgzik3ZFo2A37VyCVddmqXbZmc1SvyRp/2a7BT0x2iRe6d
N/u8fdpuglEgMm9DBGTginUpuU/NxhBDkJUNBUOO5oKekoZunYtLHskwGSFNOait02x8X4NHNIH6
MA46d637jkGXShS92EUx0dk2zbtkCPwnb9qHTh+9qL7lb2Y/R/9GmLqXmchPqBktV5hFm2/6XPOP
cR1D0Wt/S7QJQSzbH++8sMhOgJU3ddpPr9IPpH2EAFL9W79DTv0ugmMLaljKoaPtIaAuTFkTldVQ
OXEpm1583YxU0wzZY6MaO18NC9jAEpWiN+Zl8N5NX7WgTa7MaC1nA0GUfI6uKz3ezdGtX1bwNHpx
tYIdP0co0XB3I9vwK5Rxq68kDmAwDW1/05OZPNEzxMNOC5yZ0JiInDXQr1ktv1a6uYv4sj+6Zuid
T59F2KfTM/i8pZ+lkrmyRHcfwMkP8AcIemCsyxzjTsIfWAloezqv+R0ATUy5Q9PizCrR7RCrcroT
nA2O4NRmmRBSbFyOkVKv+pgClvRZtkYFwzl5XfFbWG69wBcOHVRYKt6DOR1nknvFQvNyZZnoRnRt
GSh9q17li0lQuUAhenv/z18IzRIZg4/pM50tPBApW9UMy7bYVf7+hXAyBSWrvC9fS98U4lqNvVH7
KEfpINIYz8e2b9Ec4pQqYoiwaFty6hwgp85DbZXreKBzn+Jnte6zPD0nokthutybK7nlAnJdrgul
SVdyQ4YC9Nts3GfFg8ejKvELEs8gj7qmO9UO6nIX/wUKMfw5KeMlJuIShnbfKZ6bY6GjXZMn0SmJ
x5XTZ/OLrqU8U1GmkOKqpxdvgOHYI8d7n3jDOUyZnX6XjWBn5YKH1YV6DQMdUrei3CZ9l5XQp4rG
JfjTcuqTebky3yn0wt6vLJdX+thvWyN29x5077IumUXDgwa13LNZW9XKjNN2C6eLB9ZxCleo8GQv
jVHfo1o4fUOgkwRxHrTB0edbekWvSbWHBn58HHT1jq/29GI0VnYD1RP1AmHKMB0o05ZGlfyqQPeV
tPaYHS73cjBlp74cVUhmxc1s2OV4Y2TscWWIHFpx46P4eeqGQr27+C+x8prnh0axivP1YmCg9HiG
NW2iaXIkE60txwaxqNKz4qMc9Cx6neFL30jLB1R+8JMXachzQgf8sdFCt37xfbrOmCfqvyyxLIEa
/PQAGbpHVgaQkSHScp92osmYNDToFuVrG+rZHXm5cJeaHmprzZQhc4U2l9WgfrCUzr+blhPoyn1t
GrOEdoyNZuvtOzvoj9JIYLRf6kg3rKWpjJ22U/3xeN7kwqr3qyqcYNvXaIVPmhUtfHDLwzL2umBp
AKpdDvVk31Rx9xyx9aElOgTAM8/e3jJpMCB/aDxDlxbfSZ8t8gPxpFCL86u1tOYJwkSwdmCbhr7k
DVgUUJnmvmc+QFS3kn8pGobzazWxw5XcLftFFz5QyF7YRTA8yogaWDPdu2lxK83Ksd27QSR6pKkZ
tG9USTSsU3POtyUNWS2rpXu7nMgaVi15Ri0UnTIdLeOh2+X2Uk6hcPTqla55M3n0iARBECL5lfdo
rIzaMXSafjmT3DkGydQvR3EUC1/hu/oO8SyW7U6ieXwjI0rpiDpboU7ZRAyNqC9JP5u+g7TmSF1R
x/Y2rp04h1npv8pXR1ME83VfKtka1t9g07WxfRvm/kOb0oUhIWutnie3oUfPtS1e6XJQMv8hSZxm
J61LhIS8ybPeryEjYJ5DDIcn/uryXpQvO11rwl3r//zklqbTg7kmVSWNyytTvh/lnN/9vLws5VFl
7vrGrWlf4/ku3TjZGtTq7tg3AoaJkSVUtQKwjJuO5PvCiP9UK0bw0expnq2Kb1XWHrzU9P+w2+/w
ttugIDRA+iAIfzat9prbXk6/tR0scgoedyXdxUtdMZzdpMfOLnZaZxdZTXGba8kDjf3GvAyFT07k
7qMdsgbsVUVswMcgXuS9HqwvqbkxT68Lr99xFzygEmL+eD9Ig/jsif88EFOt5uyVsE82tpq6OyVs
4NIdalKLnaXUbEVwehoIzmUFyT99QU70EMWWdVeqI6KJHXozi8ZENFxRE+9aLg54+9QP8bRPFXdd
AWLbXt5/Dv8b16z3ssX51dc3x5autpWjAbOE7T39QvyL5pvddzoOkHXQKPbQK9LcOWpprKqaGpID
Ua2MKDoNbdi6TnZZ1zn3tm+Wi6Ry9Ftakfnoup61Kdm5bmoxSPMy1KjaDUYa3l5cnY3kgDHRYfuk
1U23JuG9IvkW3utUIw8jleyDq8SQFwHJX/eOqcAE7sb9dVjZcDSKaRpOzUM0hjE7j4ACZxWv3Sil
2ac3vDVCwVCnZXm+RfJau+60mpvHNE00iXznuXKsH+Ns5b/KxIDrERjf1RxMNzAYjN8h1EQxs2v8
Jdq54L/6on4sYK7wdN1+SBu3eqT5CEGzLkmQ32bSQH9g7yvetZyULjhb6Q8gIXkrTUVNh40VoCyS
DRBqkKdJT2lspLu5KmFTtMDjXlcNfA4I60HYkVJcUU2ENhBM51A65ZCI6fORqlu0cecUXy4x0uR1
a69dE4mxxA91SAvMGt6WKH4ZC1Tw/Crz9r04oqVKWahJOa3kBH3r443Qh4EmZHYWdNryWnHH6UXX
qZyNznPZ6z50johw5qR4qsyM56c5V1VuXD0+yiFQTp1f+QeFpPOxtfJxo03162XeqE13NZSjvpQ+
XW2+ucUYs1BwhgmVmwnJiyFAiM3KbIgf9AIKDNW517RpWHCnZD/+JqKEFfd6KM0Xg+3ZMSD/abDJ
OEkLRuoPlphjpUHJWUQWmrK6WGJuolP6F3pdYL6LLj50YObOz1uVkvQfyYSel+sSeJw3/cY3Aez5
ZQaZvKY8WW6zqGFx/+IrTX9UtfwW1R7lycytcVsZsJrAeaE8xSVMSnEVQjgkZlPka5dhU4IuLoEQ
yEvrRZoetBYyDLH0l0M/9IKWIn77G8SBka3bIImhJHGN7Tjrxy5z5pRfJkpXULeMVHTd5igH6qX3
SPFaSOY0e0sCV+qGClkYoeMKewoc59KZTlax7nVKqX4Q8wmzFfZm0BEcSqPPgcIqwx4FOem5uC+h
oWZlBzmRZtooQmFw8dZ9SW/ETVSo+oocOU3ntp3+agCXaYX/y8lctOnttj1ZcDnQedjNW0iftA2d
c2O3YJGoLM9gHroyPXvuTygA1Hc9EgAXvzka8a6Y0XQOMuPIx2ehpob3RWZaCqhfvWgoj9KKfedF
633/nJfRSYIu+q4q6Fwkh9MHrbekEJeupRkhYruOIwe1U3E1VL+mO0dXoGRw/ea61+CQ03WPWrFf
W1vVpLJSwyEpKKfD7zx7D72WBCfaV92bUs+MazUqqh0K9QYdoLTrQqn900kN+tGStHv050BZd+E0
3YBC6o/p7NL4L0LihGwLKJBXOpn5RfoQ8Jqe9f+SAxdcmp8Xk47qOJprmNxNhvZpN2aA6ww0r0xf
owhGRrTCD5qhNMek1ZO7soG/FpxSe5S+0oHVIqmQiJOmnJgR4v101qhoN1PhtcqjZffIEyzc0csS
tP8uB2ArsgdDDXR6FBUgAY7RNhs5+BmUOYWlfpsVtAfzwBlLmrOh6FXFIEOkaeYt58nDy8kfzpHX
Gaf667/sXiW4o/iAftIdvkN0/4CDBpn6l/+vplabcMiM4Stc3ajVB1p8ZYj1hCYGeYTILJ/1SG2P
NYKat9IXiUXFgCobPP7w3axpFYe7Qzi7JHJ3mW4426R32AIVQgrT1vafjno91c++8f3ofx83wJXe
WsFMAzt1SgtA8FVokliT22JpBmacbGRhUpqJOcYfTDl7Cb6c2xY99NS/B1/MoIFwIEwVf6GOmrN1
i6LYI2NwkwkkhxzI1xuLzDOMNQnY8DFFghxVIWNh6ioiIsmkXIFRbh/o09BvyoRNZOiaCfsCw0A4
r7d/Jv5Vw6/9E0VWmNfTMb6DCAxBgpLOcXdM85dg4pWvhKO2lmY+Ol/o780f0MCoKCIb9zThZS9R
WjQ30LnQaiDNeIZ1ZfCn3RD305OR/4qzOX8Z0jzfGKYr7mwuTadBBI2W2tzJ2cmkCz/MawCj6sh2
gr+BvJiaRcG1/BucTdP7Urh9/tB5eXVseus+C0JrZVlxdIvGjbasR1SVsrT0DxFSZzAxVdF3Ho6v
kVsYj4YaG7c2CgLXjRXXr67zXWmd8PunE/1Oe/7n+1+3RbX/4/1PisrWHbAglq7qpvuZrXY2eGui
85Q92SNrkSdTc83rJoyRTkC8CuYP2sVtw9+EffUQBoG5lpb0U1lzakg6mJU23TRk3oGB3QyDmd1O
Nrw7eWhCHu/onRAdmJtbo7fGI3QS5aGwuwUk4tNRuvJi7K97hb5RacoJU/ceUSAAMChOcmjO2Tbh
fJKWHGA6LWnuIqvSA/ldxTp9S85Mk2bR+fNqjIFKssgU0sFturUAIzyPEagEN5tOIOkCuJ2ceBH2
vdUKONQMxYLjLuVDfH7k5aMctQWke/Um6FToOfgsrWNvbvYmRa/zUCaI0ZmplX6YgGuk2cszHHGG
DM5L+zuyMzb9MyX9cb0g7Fa9pNq070e1nJE2hV7XXbiu82MsPQDfIlAZ1ftWtQ+f8gDSvPhgnJlB
sW2lp+BztLukDFoEZKiyoecaunl4RweI8hQgtGfy7t9Lq2v3qVm4p0z3swfVCfeUnZQnvQvHjaqa
0aK2OuWJJqVobZNqbQbQqUcacPIj7+r4oeEHCRPVelRihiocUC9AwnUjfVBUQU6eTWs/LvuNIkjW
lWLqN16qu+XVxZZHlxhXREuTbd99SJJZ77Xx5ryJC0le3IV+eZIwCgmckEdm2FUQF3kgzaeSzV5A
KvkSZ8FLddUo8czyQDP3WmRZC7tmBWUIUw5qG1j73CwfBKL3bqot5PHaPvF3EJVcfQqLK7SHz91x
QjtgkzR1uJcDhO4Jsk4HaZANJO1MZvmp6PT5Np+HzLySM04kik8mSvTSREky3bhtvOONEx9HqKPS
YkgP0irtJKN+EYm3UXyUQ5ZS4prpr2J58afPLOHU6Up3kSV9uMvr6Wfj98YpsUtXWmUUG6dYmT9Y
1NzOVpPp+ilJ/A9ziADoS1Kv2TIo7Rn6aRj05VE7jPP5SProwzSu1AEl9kjwiTqCX9QoYHRb2U4H
9/v5GFHFZA0HDtrY1Lxv3WqabsesS7e669OPp0z+fTdkKIxR6jwW9OtDVRS2p9yiCRvC9vjr2Ee/
YvaTP6xc43YeWzoA0Oww6dyOWGyh3pPAZ0d7R7fNKsX9bofNHz4czS+5V8CvU2rZqaBLDLIympH+
+YX6l85d1wBRxeaRlyovU6Y/wasSREVzdHecE1za6pX89A5lB6XLAOuPTF+PCp2qpaqmd/LTK2dR
CHibVTV60uXs5Vw5q1sjqo9F+fB3519OCHUQxlZd69Mmr+g3z9swv/rUEWB3QO7ZDMNFdU5iubE3
bE09ahbsl4dTCWseip72cDLZtHeAXRVF35uI5z7PbjTfjQ5SatIkUwipdWBMvCSZtQMHKH3VVjvk
4Ipny0LqZ6pQ3rVabxW0IZSNblOtrV63T7CfHOVGcGrnEOLCqHmMB8u6aQK1Wgdt7JyU3jhGtEoh
6h2aNygu36lNkX+1FKD5EcvcnWnk+ib0dGvlIQf6lDX2k8xyv4dmTf4WipAFfbsi1PXG52IolSUd
k87OdGlLXmopvVNx0cHAAz0LhIiBu9Mpwe6MdnC/69l8tHkov6sG0j3haH81IExA4s6fn+laoyXS
tvvT6NCEgRJm95j+N2nntRypkq3hJyICb27LW3m1pL4h2uK9SeDpz0eWdpdG++w5M3EumiAdlKqL
JHOt38ToFlYdQQpVaXEyrkLzNs+VfgMwGDmiulS3Q2e2JwxknZ2uDN7Bcx2kapVi2DtCqEe3qord
aEMG9KIi2nZD6dyUsaWsbRdxUh1YMClA0eEXWKSrOHLbp6bW2cvrufjCxGUsumzQXiMH95amFMpX
Z5pe+UvqHywAzuj3Or8skW0Q18SQhqTNrkIPCF33PL0di7G6z8vq+xAb2psWmOqqCbQKMVCIkBoy
WrI+G1pnW4Nt2wwohr2FgbULUzd8Et3twMO9n7wx3pVQpWFKNajVoTD0w6y6BdJe3a+xwqeqs5HF
i1DB2OiWYhzbKg/ObmBl61StgpdE2F+EN3W/lCTedJ1lbuwi1ncje5olbjjdw6xwuTE6tT86oFmZ
EAM0IuuwfGyymOkyNLLvVjVttLJuMViJ0qWTlO6RxL9zOciizZacNYiFtuPcoDl4Ay7kqZrFnMpO
l1NvHm60GJsk0YfLyM5u1IolUhrpXlc8JDeEinmZGumHzs71Df462ROAR9yKFTP/ZYRvYgqnH7ii
ILFR5+q9Xk35DhNad2cqgX6nhC6PXuVU35ugXsoxOc7Ina4Wz2WGzGnHT++IDZg4K1ruAOENB8LR
aF4j654dmA0fI7n6mA/GvEqR9XU3PYL8fK+61pOVRLWZXniTQ4pIo+ZyjX+skxeRdxj69DVDX2tp
R661giwUPHV91dy0+JfpShw+ySrbag8NyWTwN1S5SLlBoIzUrWyMLTcDTkYyQBY9HTfXwt6ajho3
WA71a+h1N0Y6tbd2q7SPbYjoSZoQxtJ6JFA1y1j3c1QrQEJw0etec1shJfKod8GHbt0I0jLzXowE
a5eSMB1qR6B4dfQ8T4MFdk0eZDFLRv7/LCtH8NU2MHougrs4OkDNJV4pqxRhfTVUr32vm2wedGAA
1Vq2ssooj//+fUKc4V8X6C6EEReUJ6lVHk5NUz8BcCr0NacizvVn8p8kYxDKGnEzmNytTdztvppf
5JOHbK7bvpfmtmtpbpM92/m1PvxLz7+Pkz2b+Zp/7vBnXJQo9VbUORKwvU86xZ9tIm3vpDY9mEnX
Hm9kjTyMgKW2SowS26eGxkZU9RIodt1MXXk17hGJBZNhTtPxgBc3Vu3vZEkezCaytkwUOL1aIS70
feui1uq54zbMteUEbgkOYOfdOmPkHyIjvo+Qd7uVVfJMiUjXdAHavNcGolv1Js+C8SZGq9bMJh0d
GhasY1aVKztREEiCoQ9+M1aPrB+wes/073g9p0+R5v6aWj18rrVebMbc1w6an1g32ICEIIbRcSsL
4a2JRsHeaq0Hp8zKx6TMt0lmFy82ymAnqyM2KIsDeEVmLavd1ENevoyTjtG1drALHDWVNM9WxKR0
8PeFzWMu8O0M6vWkNUBGG0XZs5Ro130GCXY7TtM3Sy/EYkz6dk1k2n3uSv3BINn6I+tJoQwFlBCg
QfYOQ2dern/vQfyyWLW+pm8h8mgbpNdJauhZdmYPXK6zUs2+8C77CVHE/6Xrb13bNXcpzGJz5zt1
wNaptIjepNadSAvtEBMpWUO6sF7VUtmEg5X90BT80WUPPr2KaUnhrB2b9FVTms0yzBKW4DPkl5A6
0tU1e2UdXeBXMKeR4orjBSLnhx0CguNwGtQAhduGLEqrNPBBGzQPk1HovwPNvCHMnHyv4QUveqCw
L25Z5UsWpcnT2EfayuePuUsjr93kQMfPONyOu6EFyjJGfXj0B6vYFW7hngk3ppu4RhKA/zFEGQwS
ymOA0uCGNfh0NqoRboReGPtAVcbXZOAdUA4eMXO/Pg/wD2aF7PHV9BuEiMKBbvPENVQIOP/ppibY
u7bzDKaMOVdrrfduCaqIWeL95tWevJh8hYgo1G8BcgdrxPVC/J2q+ibVEn8ZQND7rqE8Eqj2j0hV
i+WEYQzIKE8/NG0d8WH16iUpspvMTuwfWZr+yhVRPzlVVf5fS1/rE7OAqcrTDFPXCKeplgndjans
A1awHRLNwaFufAat4z3U5hfX6Jh4kcs4WL0HYyBNqrcsisuFrbTdbS8qdCF1DWkN6pMpQYNTYISK
t5pRDslebkRkMWqsj0XZahftsYrKe29y05OvRbiE1UP5kNZ4og5EO96MbLqPJC7Xc/el5VS/Gxtb
akS/XxQonstMaNme5M/vtm3UI55PJG+6cvyKn+VDg2LQYz3Xh4DxV4FpjF97dIX94hZbu/edf5FM
2MxMRbCU+30ZFyDBNZwjHQ8JO3XMdmsVar6oLCPeOliITUAhC3KVbl6/B9Mdoa1AS/fI1uUBCyR1
ECdZ9gMk64LB6shKDPHnBtnFLm2GyI543Q3rzB2eW9O+k0hCiT2E5Z6e5ip8Gpr7sHRSJCZcgeWX
rp5dxKrWjjpvhlQVQVUvGn62EcxVPbB+O271EPuu8oqggLVM4lq7myCrM/9rxOL+DI98MGNyON/c
ZbhtBebvOuofJmMMbjvTxxI5GvLbBlrBogjs/LWuo3bjOna2Veomfw0d+63zkcKLqil69KDNyurR
y90d4glI/MyD8pHdn6nX/skM1fYlKnYmaryv6GPaR7LENfKSFAdlfIR/cxvPgkB57d84sVU9BaJN
j4i69StZH+TBLaC66slox1XuTdpCTcuN2bYswVnJnwCPfzxc61QHtVWzqA3szehybZBFkKJiDWfJ
WeWiGVeDnqX3XpXjuUqilxdl1G+jOKtOQTUW+4Rl4SEDuXA0eEB3Rtx1aIRk+IMHPVyKeEI/PIuH
hzT1MLxz8+Y5aRG9HzSte1XDBlf0eDS+6f6cAy6LX3XZbMbE90M05bauBRZ1YYwIuydBFCzUgiSM
77Q/uiB6NPA0i3/3gCn2MmM2NOQF0A2+V+dsWuFGB5/57V62kdG5tBkzKf5Pm8zJ/X2cl9Qhro+5
fmEPeCY+hH7hhTuJwIQba8zepJCzZqpBGzjKxhRpCdSVX2T3iLDbnmV88Bum4h6l6eiNWIjGRDEk
N6mXGgcVaZtNFuvOo1uTxY6QZvkV20uefudnrVXqYtJzBedYNN9bFgN4UCKXFFSsNys9Hd+KKsD2
MW3PjZoYW4dI3oLAZ/AbyCn+0MZvpWzfCpLLL06XlCtkh6dbXCbH3WTo5d7wO3OToHx9RCklQly+
0Y5GrUVnta3SNaCv5MUQ6Rd0ALpfoFw2XWKG38YE3Y7SHsM7iBHMNFUe7oK6N+6dMAnZFuvWd0d8
ZckM3QCRO3GOJE3BHkqBb6yFZDJ8BdkAIuj9zNTGAX0D7IPV0bLvetG+1aU3vPbuOG6cHDNZcwZi
tUhzq53iPY2pqE7wmqKl2prRa1fEwNX4eexk0Zvqc9cE4qH22/ZeFMmjPvfCcDTdZe2IKM1cJHhH
5FMJf+SW6G7IJ/BVlJCRriCpKcKgFU0ZYvl/wFZjh1I+klO3ssrJnQiN93BLrsA4pskA4SJwvK1Z
NswMKirRjdZ1T4k92Au17sXXNijvY34dwaJU1kmS4CKQx+VxNPrgeztpEPuDyHxWp5vLwkBJfjBR
f/Fb03gpW23adVkermXR85D3VxSetEsrfxZi1PbNv1+n239799mGQYBYB8GveerfGN6amKBI25Xy
JLxcA9uEkOBYTf2tKrLk0GAIuoEuWTzhXEHqTM+cnyW4wKDlIb72HeE17sfkhmUB3aMyfyor/JjL
wrCv3TMVRSp56RSC6+HSd760NbNJGr/FqEOSuvOpA1KfpseWiO+vutUO2G8nX9umN5dRG+d3ZlLr
u4J9xy4otPgugDW6tJUi+Io9/DFgUS4H9cJJiIKC05jATejzTFBaWfQ0O2Trc3Y+RPDqKREkf+cZ
RLb9KY3J9LltHgfKxfk/ZGWAzH3eKME4MdAwUG2DfyDQ/3X1QfjGN4ETOk8Gqd1V0o1J+ZJa/gKI
WbIFKNYcXVXAzZSndUc6sp0Pl5bcHL2lrBRpQyZyGt1lkFkgSe3pLHEuEg4jzz5hYj4VhbAQqp5a
29xBkUIbqOt7FuC9+4hpIYtOF0NyDYX9U5vY/bpBWuMZqZJgMe+CfmVIKDuF9VMOypSIQU7cbVSD
Pb8c1CQBj2XoGs9OWrLUT291vQx/dkKsXYwqw0UVFEt7BAwDu++b09rTKwZ2zRIui/Wgjgm02CSy
z21sKjv4h+oep9LwbAEX2JiTUA5eaH4JfaJkKSCbEyE67wg+NN4o2SSecjhxvCvF+MsH3tya/EDA
44H36ONnkXjWOvLq90EEwlFknwexba3+DBolUqBGqqvGB/QyKJ7vNG+bLnfydUU8qb5NigQA0LY3
PQzCAXZGX6Y2+KZZrnYSRhIfpjL2WOwSZWx81rLNMAQ7c45BVoZaLKxq9C4xSOSlsH+IpucytVZC
Bb+pKJr9Wva/mxnn3nbtsKmJp+xcK3bm6sqIi7vATF4xTPeRR4Or2zQ6boyDfyOr5EEWvSzdEHiP
T5/qzUbXl10m6nU+PiSdMeJxigAiGRDIxPPZ9SDrkqAvd0l+YoZye/Zt6mOezIDj1LdO2pzadWzw
tLqb2ye9t/Vn2Tp2qnWqvcegHpq9niXGSzIh6B4E9qM6OOF9HYrHdCaBFWbj7bQssfFX1Y210qEH
VJR1vhPE31fyqdXcMd95o9tdirI1s8u9r41bq2x/W/PWbACovyGMY1NFUYk1HCc058Evfhpo8mMl
NDpnucANtU3kqNX5subVXbvFXAUP8hXBaZYzCepuQo1RT2tC0NUs1dhlBivkCsJTGYfZozXFH+sn
dn1DbmWPc3+ry7w3Uz+lIwj/rIVjm3Th2pSfKMrKPUt/dyWMXt3Zk8V/QIaxS9a27rlNwuJZaYO1
3GeOeVfuM+LDS5Ho3eM4hDgUuka8kYlCP8kMjFxM75Twlb3k8V2pauMX0GdPFxAMWC9jNRmKumFt
7GCw0ylnFxullR+31avVJrggEevE8/FgZ7n1JpIhBijuRbeVH/l7zMGbbRR45kOap/rCBavys9U3
ZtL8zuE6vOXFA8HgAhLhXyeK8rnmY1MOeiFefOyTV63zpkLukykHsC9zjsgh3Dr/nPKGlJEeacFG
tvbQJPFq+e46swly9sPnv3MJlaC9SSMnOXVWEaG91jhvXYZbTNpqP7Kiw6VbS6b7lEUSQEDb3aSR
8J6ztn+SPeosYsMapc9tmVbbzs2jvZZ21UM3B99kDwfhidLqx3PJnLZqZ72Rej4IFTKNGmI56Woh
euGJHVPp2LgOdE78nA3RjaGn1Z18+RSUGFDeyZ/x3HYttUbwofRnnO/zQ/z3b39Pdf7+/p/hNmR+
NBJ1f9dCMiylUQJ1GJ8mD09UDeHzKAOT5Hlmv+qL2D5KYoQ8CzqfDZAJx2kVNz56823vb7oc2R/I
KfDwiU0cK3NwyZ6rT4mTeGubqWo7mm28sf2cqPAMLZYg43jWuGmxg84rCGsRokZHm5n1i2N6X3I3
0W9lSQ2GBV4WT0lE1Eazc//AvF2vApwk3mBc/3QAyt1jGaDcJFM/LDIYZjejp1TEIIb7sO0byH/d
Twul2jdk62fsQj++xEaHg0Kd3iVjIG6KGBZ65LrFTe05/i7WRLOv2Z1m7CHXY1f1jwN+Iac06r5q
k94/jhV+fXHbBxvbI6tQ8q776dnNwuC72yVarOwqv/2Oy5TxgCNzyfcRGCuhefU3jac910vnxRxN
fwsdON/aVdndh3Z5ToHyvmEmupJ5JbWFQTeKIrxz4upeYPi6H4bIPvo5XBR54PUJQrGokFubeUIz
r6r/LXTet2Roosp7DQvMxVpDrY+uM7a3pMR4lXbRuDasAb3uxDdva2anpfArd4NVD8kHWNuoNmFJ
8OD66q0BDO6bBmBmUZQF3uNOWbLhGTeF6r6EVt5/d92oWFQCa6F46uKtXavakhlAvHg2xgO1GfY/
AujwdVAhD98ZT31uer+tXrlnU7xryc6vRgfGwpjoy7bV2oXIQnebmNj4FEMz7GxXOfj4La+1ERZ7
2vQLFXT1y5R3w6YHFzd7xrADz9tbvQS/1wA6/N4l4s4l2fqLlBMxG8dbBn7obmCDtIcUWIxk+9Hh
L1ogNr09tAXk0mdJdXmoKlU7KgkQvrkqUZR6GSEpvy6tQjsLZ4R/IMrXwcUAzc7LJ4C3T1rtpbeI
KKnPhaJ9KQLNudHjsjmPVo2xEAq7ZTbL4nu/YrXLT2oUPHjwuveBk2E0UEeFeVIIQHvrKbSzN2ET
NS672UhlLiqjfeuWbA9tvRc3nY2OfqDk+ZupxNGqVrvwqHvdGZimC/4ZFTFJowk9zio0m5IyDLbZ
KN7rZWNCEJNwzdxFllEb+6o4Rb7q/REXmjS/rdL4mdVJczMOMU/SJLSDEE3/RXWZqYGGZ1uCJD95
74r7zO2N8zA4Oys1w2iJoBYBPRMI+tyojr647wfHOZRT8p0cIz0ECgl7L0KX7FKOUMRdjLAmF/6Q
92u896ovLGO6NdB7Xmtz0TZsb6niLQGjZyo3kYchlmgbBfkX28iPl1PH7NgmseJyl2KuTQJeUK6O
e4q4KUXoHfJmvKvG2Lp1s3bL7nNtesbPQmis8OL2uzCt/m5qM9xKCrfe1NHbVAP0jdnpjF3c/Bbm
o3Ad8YynhXeq/AnucJVCq0g6SCQxUzoSfv5OFRGOYjzOd5nSlXf5fOaY2l3GpH+UVbKxL5psK4SB
A9jcA3BTdqNo9feElHDRONZTnaj9XjR2jV0zRScKJiJvybdYye0ntIXFQ4a7YDqXygLGZhT03XpQ
B+U0zQfQZO9naWL02z60v12rrt2ufT0YxaQ2uPufkY7dHEHx/q780j0MVRPv3c73oIQO2S4yteAs
oqjZhrWR3JBKHDdGaVS3k1s7ay9D2kOI4M7jzbwrsiI7okfcHkIe/10XFe7JQCl1o4/qdDvgdrHG
+0196KYE6WlTqE9lel/XFqgDd8ru0bWOd71Z1/s48NrbMeoi4l5p/ab7+VlF2/5XkoIt0PLma1x3
+O45RnZnkHbdAaRSd33ZJTge6tDtiKLuNewpkIJT5leGqJauY2jfbDYW2BbZv9wye9RYQywbooJ3
AiNrxEXK3yakspC58C3o+YQiTIo7K4+6XT22Ny6P0jbRXbEdLLAyquMSW7BD/UW1mu+6ncW/c/sM
ShOBBR7mO5vc85sTGuWy6rXmAbmXblOlbXFyh/roxeQE/UBp7mAYdcu8IRNQFQNuLnX6S8VGb+Hl
rEls18w30AuL4zQZ1lkHR7IKPaG9mmI8EwNxSVR6GlP2plHt6lsUWni4uGp1IEzpPOSN+AW3gomS
rD074sa+z5ouPhpRgJJf1o83mTdvXyzre6yVAbSMdtxpYdtt7YAlEpJF9x0o3R8eMDncfbPxYcxM
AcK8Vjd13ncvhCdIkNAjmhfOblVk9zpWGeAAmp3qBOnemTx7r01xceL/MtmOamvfemblrSIxy1UN
sbcb9Wg85SVw/CHy/CfLNJs7px4OCcxUYYiFUZHuDYY2PUcI8G3JILdrCe7Cmq1Y2SKq9hL61SFs
DlLEbRG1AvrVYEbWoWn6pKp9/qDiV2yUrXW0anxVDLMX+67TgvXkavkbRIxfZF2Gu8qD2lEY4c9o
nnMxHl2UvVIuI504LE6p9r6P+nE79En+EOjCI17ZNT9sr0bMs9N+KaQsKjVynivVnNaalry5I/4e
xWwLkc0HCPZiocf8UH1b0bHO0BptNdVOuQ5nTwnZ0fNsc+vGGKdc61B2g99iMbHMV5HdUmuw79zL
tS8XS21tG4Bq6MX0MioBnkFFmZ+VgAAgnEHWz72RnrzY++okhneODPbXYfM4GUa01CcdwVoPlnvt
HxzP1c4lBJXlhL420BNE8b200fd5n463uKeOt9EuHzOMB9s02pXsFFam3ekvyJ1+M+ph+E1+bgKp
zEKF3TbOYNmiab1iLYh9M13i9nFQUiZqU7HuB+aRnToq8SqtbO3ZjgNn5ydKjkhjzvOqpa8AYXCY
dTGdM9RyPE0+6JHMsJxNbBsDekBJsXHV0TkVVdf1KCl1j1bhZDtZdz1ojftXl8bVias5wL9YjaBI
2DQvboPjJFas0ZceUfdVn1nGXeKFbFHBQoDn3sbGBEUAQgL4HoQghY7ByRS1Z1EbbAGJUD1m5JkW
kLKHvazTsMzFzLKdXQjdu9iInF/konBBWLZ+4D4EBqvkSFe/qYoyHkCeTgdTgWmy8NFOjsY5NFEp
goVg8qpgkPYm1BDAOnCgGbjsEgAPD6DSe2TODHuZDG69tsHQWyHupCkuKSe1HPJ9NOU8D6Wq4M43
6aT2PP9hdMRDYAdnuNFBiDiQQoAl6ba+Vhf3xNOgJOMPDY+thTZus2qCUls/28UYnwfiGoRC2vo5
KQv3xkvMJ34/9tM0wuaBDv4XQ9yZ1WKuVLCKXdyqwmV0LQnisiGuGv+mLX/Igh2G6rpwBF6HTj3d
JUhjLQytHWAmGNPdpQ61j62eumAv5i6ygd0CGikKGjDUlCLGJMjKWQDPAmqD51Snrkvfz1KjTNbI
RlrIfImmJQ9Ln8spMxG/q1TtN0jmo5toITmpqFC7s9kjTR74GXj7DqaVgbbI2aptXgBZfN9WCg7Q
BdMiK1jnXpsGxFH4ZvZWbTn3sq51i4OeNNOuiF0dgSmYXV1qk4UfUINTMR8sqvGGrJNxp46jtTT8
MLjHLbPeYlWU7hS2lpWOR7GrjHMI4RYE66q3VJPXNMhNr9Th4sQm1rR9cg77n6NRkGjtxnLjuQRu
yyhxDo3fsBabz7QE+ZxLpSzLQ+vckOUdN/gCtmvCpqQoSpiQQknf/CRMvmImMCuiKO0X5ntcRWM/
eASLEq3NuPZvbZUfRZR8Y3NFAr6rAe93Fq+WuSgPwsODbIGHLmqKskkfHPuQi5UiUv3OaB4is4HY
qNpIr/h8wUgioJysenW6921dwN/QcL4rJ+IBZoLNdDQpxr08VCGUQFZb3UYL1Pe6uu06EjZ6tR/S
2rz0E5p2Q0LPPiWF5W3KeMaJO5p5aCMiLR4a1k9aaDcPohELFRHcJ9Pp116iKvfzQt3vGu3FALF6
IkDgX4pWmWXYVIl4k+lljHVYjwNGifz/FgmmlFxs8cP14wLnACEOPGsRO2ZzuLdQ0pi9dKet5fnu
MamVL2FcJA8ChqTZ1c1TMI71UwEaqTRa7aYMlPrJM4S17NGoZoaliAuLv9V6QjN+699YBaAqqFv+
TR7bP7Vpil+CLK73kRqSEfKC5MWGLbM2RRPtZCuMCLQ7Q7MEvUIrNhOo3CbKo+qa6gPvD2AsVA9O
D28xxCbOZqN5dJQJwGBvGTvLaPBE8lUbxlTSINgEegweuP2cEUrAv8JVV8T1aR1VbVsWvN6VxLEI
sYTodwITXcuxutcH21Iru/VlbAfojLc9cb65Myu8ZlNMIONla9IT+zNHvKZkEZgWL6xxUDeycy5S
8puDiZzhfF81SPJ13REYu4wdBn/lkNDeys5G3+qrOnT9S2tqNx36FjgiX8ZGgsRbT0pI/gnJFCpL
MqzJFjOeHS6X/W2P9P0mi6by5CZH0CfRk9Ise00VT4rm9E9ZPXyBReWdCzMfdlUPeVMxBnHbtUjQ
Rb0Hd0iJ7Etdq32rJvTULlU9YgU3JslmXy3RuY3ZMQM0Dw+ucMWtvEZeRymaJ3m0dfNhmTm5YImH
qTPw6fQYBBC/Yb39yAlOfcN/GTuIwrBuM9+KdxGu5m07ZXedlTxj8Re8wEfWD/haoHjtDcFLnbTt
hlj7uJGtgAeaJTlC7yBbC7N+zJqivwsi1/jSfWuqLNjpYYH1sbBqFEPw2WzgrW6bmCQnnhbIIHkl
7iDr2HL+Ok3nU1PLcGT/0OHDqZlp5SYZCR8E1gNOscEXmz/v0TOB8Q5e8MXg13bvp8VBlhRLmLdx
MD7IUjzlSKDm4ocs4dtnQd/GeDUaqvDLVKMd5A7k6ORVY6zMNz7IlFVsK8bt6KvvB1PZO4oIMGn8
q5oFf3lI/eBZdrrWp2anrcORTPGnhiKI1UXlwxa4dpZdiEew10HHTPy5nd+zYbRqTXuGD7+JRDu+
uZONF2YLqHnUcvWs6oS7wE6vXLRe4L/X4TKaXVDkAV+l97PUwMgTC1Te4Q7+J7JV+3OWFpm3HnoI
JZ8aZGfZKjol+NAK2Qf7FVs0RCWIvV6u2jTuIm0mgHsdpGICLOOUH5ALez/ELBUOODDnB3l2bbj2
uzZ86vcfdLlefrJbkG3y+tdxsnjtc73Tf9Dl06WuY//xU/7j3a6f4Nrl0+WbYAbmfWr+dKfrZa4f
5tNlrl3+u+/jHy/z7+8kh8lPqfVjtenC6OH6J8j6a/Efb/GPXa4Nn76I//5S1z/j06WuX9h/dbdP
n+C/Gvvvv5d/vNS//6TIO9SsDvGDRSCEpV00P4by8G/KH5pIRTEqT933UZcyFs/F5SqX8mXAh2H/
6x1kpbzUx1H//Imud732Uck7T+try8cr/X/vz2aGrbcwY1bn1zternq5z/W+H2v/v/e93PHjXyLv
3sKBwF4So90/3/71U32quxY/f9B/HCIbPnz06yVkSzrf9FOdbPgP6v6DLv/9pcDUd6sRh5+FGY/N
TTeEzroGEb+UxbCfJQPMvAG5QysYLWupVq6/Utym0Ldpg6lfU3usKOdm2XEYAzBxgFdOkNTrg17g
2bSSzUG/Ns3UO4P5hUEnq/rJS4+Vxyqw1Et9q4+GszJJKi3h/S1JMwC9nO3aLmZu0tdNOrfB2UPS
U55aw4TR9dXPTXfeB16rrlZwvm/EqBw36Tc/apS9ieTzMs+yZEtOiniUmhUPoDJ3ZpW3N4gt5Q8K
0ZeT5bV3sk32qnhyN55dDyto4fmD7KYnWImFBFsOsovuqyyRcpamXFV2SMsCDJcZa4vrhf7Du+tu
f+dYuk8Q9X+5szeivKT734PcIAKXu+I8gcQaFzbaH2dZxmwyXA6p9958bTD/dLFNhS7FQJdCvA+T
Y+VB9vP+XMWqknBTmJB3NTzPAbLFZAHkqTwQJUSk9Fr+0Clx3TPoy3H7YQzI07+6f6hFXDF1l4Oh
CmT60PDH+s3GrzhybuRZindF3+fd+VM9C6JoxfqU39CnAUMbnvokQK3hr2vIHvJQsr1FBcrut9c6
eRamTr+DBvnrU728SNm4x7qc7INslFVOKjaZOop9pQkLzCR5QoycLL4iZ5nbtXepl42yXp5dD8Dr
8HWfh05SAE+euiRT/Dp+HyuHNWbkryKjbvE8y4YNEIB+ibG57i3Q12vuFpVGkARTI4VfLRBqwnb2
sIm9or0Tgdre1VrpHJzefZJV13rkt56srHXZa9BVHjLgyBvbDPrlOI+UdZd7yCtdK+V9XCcYL/eR
DWo5vWZF3WwlTVeeoQN1/87X/UTdRYTPKzEMnrm8l3PJ2ZXsXWRhQTu0Kw9dzpAc7kFtDSNF17zK
moNSKTbnvqLW/3LeakatLmV3v6374dhqur0Imj5bNbHxzp1OlM5ziW7Ajr4ejLJBrJNovqz60OUz
81q2B7ELHftDV0PxhRwuidjIFywidP4xTiNmbRoQpZvUtY/hDIrAIVL9mhWoA81OGtceoa1piAaL
bKnvP4F+kgzw+UZWOrNbKPxXiwDIqviDDULT6JjbAZmjOQLIk/IQkUVFuBJZPHlAkD3DV67tL6J5
pdSTnvu1ZMMu/YBaiDWqJw3ScWVzPysUbKK2jlchUu/hEqRgDhwki1fC9+r7Uoz1vazT5roOUjeW
Q8RoN7Ismz9dZ1Dj26bzg31vN+LUq1Z/8gQZ4oUsx6jQH139puiKIV9dGgg+gQcYnO57iLkNiXu9
R385KFfXK3R5/H6tT3XhfD1fv/lUbauRslX04b77Ywb64b3y7iJa44FODEH78Ia5vHZIAR4vfWT5
w8jLS0b4kboMAD0tYfihj6uQMc3S6EXAC9vms9mcPKR/zkZpKncty+ZeJJcRn+plkR10vwX5/9qI
zp0WBD5hTXmQmDMzUs7XQ+4370UzaBcdMJGTbJT1l7E9bJxlMGEUfh1GVN1f9WWlLS9qtyaEQ2hQ
AjFA04giQMBatVac5s0Yuyw4tLkjTnmcszGNmmofT2m1T4zUVR+ERexAHdx8KfvUc8dEUhVGD2R0
R9btqA83ssoN9WLJYlQgD9Joarb0dBu94sGZdrzmtFvIrPqtPMvwAdWnqDtf63Ws206ZbqFdRFdP
BVS70IbS2jp8bCh+VF4PhPX4S0B9ryIFEetLc2R6SFX+uZvs3cy3HAqFlAx3u36AsM6bU9+Yl7t9
qM/TCnQMvnhi0vdTGlVb4tTqo9dlCFUqvv1Tx84j7DLx3W1zsawh9d/5f/pGhjN96iuc15rbpBV6
yoFGCqBrEEdLvYZwUh7sDPSaxKW5sqP/oe3MlttGlm79RIjAPNxyFCVSEiXbcvsGYbe7Mc8znv58
SKpFWe29//9EnHODQGVmFWiZBFCZK9ciIwnS4dVW0FhVjBUKO8uMy2RZZwiXpF4Vuqtm8dTwmGkb
WdEewxsJ+ThlWZvW2gjWd2aIt7CqTao7zmg/gFnPt24D0TD/dfZPO6RPREuq76Edw+thNelDVSdo
/yJmuLPoc/kksULX8mus2s8WZRqgD4peKytH45EkPQMNqgc0wyQMFxixasCrJl7pNhCv4wJ0EK/M
LTrqkKpnmF699llnbVInX9WLygH5ejLwFfip61C81aJEJd6sQFWmNgE0NRosv163Mv20eYCohA6e
5ezquNrCxQuCQ9vbMd0KEieHATbmi4PejZ8zFb55GCiiXifIJT6sJJeYYDuBEZqFJfh67XT5UKCv
mlMFrMlwzHJrT8DxInuM/6APCjkY9Y+APwDFwgiq4aHT/qgsDZBVOT1PxUB/npKkVMID7Q8nVx2K
n6p/CtJZRQCRL+wyXVbN27w+jOR7/3er+qMON4aioO/Dy+PBGlxrr/k9ndngs1bwh/XHSI+Cl7Cc
D0FFtr914/lTURXrcSFGo3+uuNc7ZKOCJYqmRd6dbTRmxOslesU/hSXFK0vSlTccxRuZ6rsl8ymn
UMwablv8pKSQUmHwChD0TvekQjh+6NzQ3iF2ZX9R5uhensPXiBTg56GMHGsXNhakyybsVMOqnq1q
L+/JcxwZd6aTrz+8K9NUyRv4rKrGnRW/el9t4oma+p1nGnn8rC6v6hR8boyieU4W+UYjTWHRMZvb
Vh2U4f5tSFE0OMlhzp0DzdHlyVbQs2Oh4qbR3OhJDh4AjzIBiycjuC30U2W2d0ZvIgCTTdm4z7qh
5ybLhJnf/5OTpe160d/aF1DRIRLTqrdl2zknCZl0f7i33Xl/naDbc3LDHZSueplAK7O1bqFPv8Rc
rjsnD2VRhJdFDOgdH8KJwqd8CgcYPrLtvrWSWDmAmk43YJuGnbksPytuuR5RRXhW0o0ao4tSdM3w
PAW1vo4GhG/FNoK4PYKK+uktfK9iqgoTqqBMPTmLaQCdvktqm7fIZViy6XsyrK/ik3Azpo/Uy2jZ
aVXfvJ0y/w+4Q4Y7LwiGu8kfQaHLqRy4vSsKuhZvAR+jqjePxMjQL9qgWskYqrNoq1tzf1nzGpMV
8eSvr7NlXaueXj/HZQkZl5nzSR3qYP8hxG5UnqiB9zm0apRUOs+8dXslAjs4q5zK4ToWv0SK24Eq
6zVSxvY18uKSUAoS01oL4BmRIFlDzq6XRJtAMda/vZpEskcNYR0EmajqzfjgQDC4iUct2cqw90Js
vTE+9O7srAY4KHYfHP6Q/gyptxw+2ovxNiwz7a7O69RGToVFRvdZn8rhPtCDFnBS5uw8dpZnSO3r
lV/Pw0GGckg690k1+/gooyqOtXNnjZscAaGHYhl5ZhCcacy8Tqlg4Th1nXXjT80crb2uhWXAy75r
tH9HazheZn4iOmR/Mn258GiGw66JMnBKVb0G3jOca0cNn2kEAFfpP8vBiO0WBJHl36aLzW0Aqs6z
grjLMqRa3z3kgX5bmd7rBL0HwmAhNCgmWtGyrTP30MYu8WBv82NfOH9f42kNBN5lo263BFR9Na2D
PpxuZDi3ZQcYzY7WMlTc1HjKyy9Zkr5eDVakivSl7RyMtE1A3RQGSRt30S2DSzTmXxYHGyjWUSxb
bFFhASK+js2DQaMcXP0E+EuARMlQDkZkx+BoimDzwXEdot1i7kLLBiP4xdBcdHImI0AqxaXYNMJj
bwF83LRDM++owkNd70bhWY3cVTyV2b+8MtdEkkdiU8MNnmU+zf0f50tECDntJeJ6hbfri/O6BqBg
uHwBoXtQ/e+sEA6vpEZCb2XTvHNylXZLZ0YAkYA1/Fm3cXAbLxjrlUR3duSsp9AYH+XQwpp6Kv0G
Wvt2esxtmjyy2M/28pmgmEaSwaqPl5FLGa1RrHGVyJ/jzSufLvuNNyUl9m5ut8wdlj9dribWDbXq
gA6nlNabpKxvgQvCLQUA9mkM12m0FPwXS6HG3q095n+L6xJU+902rdxoe50TDEW6mvrgdR1xQGb8
/3Gd67XH//nzdP2srg0LhrIqtYxj0ej7PtatQ+sbvG+lfW8cp4plePVKjWNqG/HtSAswspDGUUyD
eC8xEl7RlLPVWo9ekmWKRMraMlRG1CM2VQDhU5tU01aM4r5cUcJHmpC2NF/Vq8iNkte7dDmB81mV
pjHdoImxRf0uMtckNczbqMosoNvc89uARx4SE4w9ub+Ln1zO5G7Lqm1vXt9r/DE6kOVT7vmBBA9u
l7q7sWgNuI7/samLA/07OnNq/WLPYd5BLHkJQcH8a69b5UHmi0kmaHx9NnxToEVZ5otj6DP3aOuT
souzkX6OoTyClaiOs2aVx98NxSEhE6zWdj3TWvs/x8pKaRR8d2wY0Wr7uVQMZS1nJqCVy1m+2MpU
Qfzvzfvf49CDVUAFk8x00+0HbiwZ6sB4lTwCMLu8x4lJDnXYB+9kuFOgBalvQNuWBSfNCWg+o75s
mhkY59E0ADDHz8Zi9rMuuZ3YS69laFW03sORpABgnosXXSMJTxYIwtElmDf6yxoz7zSPsRM+BzQr
vXBI+NmavMegcGFn6L3ti9J5anwbNcnrkOaQQx9AaLJXGu/iDSArO8e2aR2hCB8fZ2hSrMno7iBB
mx59k0MTKbBgV5G+cfqSm9cY28lxdl8nyCw5uEZ6mSojmT9aSbx1gNJsSrdKyXV2077QIuNc0mi1
7UryZKZlIam32HzFbNdlYTeXEHFMLLCCmS2/LfXpry6wtFtSw8YZUtNbNQ7Vk9a1brQuXiZ6xc7t
4pq6Vjlp9njTGo4XIaSdTbeJov99iTRp1gKdbhZrueb1w6QBXN8xsJgSDPud2NPWa9cVEh/7y1LX
DyNu+YCxk14+yHW54kXzEueQx3oAYQIbO2PZT7qR0t8A9advS2FLv7oatWkGdyv7RQkH800kpPWX
mOsSV8fVdl0GtZ94NfM7Ret+/EIK7YWGSuVTW0zWvujM8qbN6vSTMsNZBvDxz18DxgjBizogLSNU
QJNKn4wBkZeQAaqhbWzsKns/NJehBItXgq9D8X6YW9jA01sw1uuhs4xTloAHGn33K/hWzb8NNOjS
aeKB5asulYk0TWyeyO0aJ4luxnaT1MZwV7R/p4Vl3oZQPN3RScp/VaWgU0lnaFFDIoYVHfPxjpSQ
eKclRM7kUDc0SV08H8d21Bq3dv8nkmY2fdFLnCwnY5JIHa3Q1W08BdC1B0mf0QbNwZi1ULkZKxL2
M8+RdW9Vuft3mprZHWjgktRnlGV3DYiodeL42lomNW7qbaOui3i3yh3FPFUlAkfBMNEBuCikL0NY
o6YHL/Q7RMi9V6+l9vV5RhrgRAPeC7vO4muXxfNKKyL/peuAI2l9Mb34VWStvLbJX3wH2cGiCDxU
FBplpVj07HYGHU2UDbxbDXXaS5+2Gcf+ZagJ1QM0NO+GV6/01f1v56ZpEK2dgS15u3R/Gh3wGKOO
NN4VPOdkL2wnlM9AsU/UDO+GoNqKbQRyOW8u7mVK1hfatl5WMGno2nqaXm/dWilvoE9xtwltu3/o
SfylocXgrPaV/jBkVboSe5715iZTgZF7C6iX9mdezbSv/ly16FMCqQOulfxBd1uzagLPvwcLOD+V
SnsWe6Bn1S71TYvEGBeJmnbXmcCJWng2X6JvRhiPP4c5QK6A29q5L9v5BvWT6kY1s+CJ7SAYeju3
f0bf9Bb+E4mE3mw62zG0MK9v1vBN0vmEpuMGCouUHqg3+Xkx0mqQbqfJSU+g8ZyHvFKUtRJYPM3e
zoKcVKnYorezq/dyFo/Fqcshx4oC+xzy9nrgu2jcy4EmdvPein1UG1EOXH1wyHCK/XNZZu5BYq8R
8LyTCbPAnPZp8AS5X/6s1Wm89VVg/0VD41islOXa6p30z3aM17M5jd8C1MW2c528j2iWEsl/jRCe
qDSO1lkUoiYaKDR85FBt7mG3yfgVKWr44C8bjib0nI2lwgl2EVEOZXPiLNsQ8fsB/Q1KZN15cIZ2
G29xiNdLXX40aX2alLKmKWTZ07ybtqxNDXi8a+pTu0jt6j0JX6PyyqcJYOJhcBV9N86l8oUM1iXC
oOlnlU0QD9kxLVE59WFt4VtHBfw7pWftDmbd9gkexeke7vMbI+djr9ViKnbWpA8biZWDoabfobDT
7mRUddFMT2V/A59788jmct3PNWVJHzE3EcptG/JwhUF2ZG7a6bOj5xtpgYYele0wciob6XJ2dUdb
ubatnmhQXKeh1ivPkT9NW1j3C5tOGWhx5RDaqnqrWMsBrHnGXYRTsLWmTktB9yPj3kilYPFI+NLT
/p9O8wARyJp2WPpeq2k8R8v9GrIvixpOarGtp3Eh/2v223x3lfScwd2i7lehFTg5N2L/qPopIXls
jHfpFJqrGRaOjQSK47qUnAVJs4/flvoQlrgPiqdlTbSHckWPN21mbdrWzh+tMmWjaSbxvtbbdNPo
ETtNNaVxvlPRGTXrH0OZeTu9V2ekCNCnFu1qsbVeP69HZWzO4viPNnWZS4cfranXGJmS1s2w7qZR
20jh8UoQfSlbvqtjhqgX7fxh+CxVy4v7wh397/NLedM0kKS7cE53RWfv+qL77EYbyC9Xlj6mp2Hq
+3CbKLR6Ovm/hsnSZZwPZOjSvt3L6C20XXqR6+XwZpcVZSR2iXiLF7u5CCS9xcslJdT7ZlcQMJUL
a7UcitK3t01fz6urTc4W/syTXnjQ2EqM5cJLSL/+67zWHWgKksghqZDSGhJnW1TJ+5jrii3Ea3uq
UT9RPrBvq8q6v/w9ZAjrFW3R/AGu/yKqbJcwMbm5QxXgbeplKJ4PNjK+3/2grlaaPqjbpuXOJuwC
ZWP8BFDfPwRAi8GwaivhIGiCKjuaJjyhEiWTnKCHfWGhMv/3pLZJTq+lEi3SUPo2c9rdymRCQwoZ
5lVS2uNJxgHyOLt+opQoNmWJeR9I1/WWu5VzmS1ucsIalUXyb2CvDYiH4r9MKm8HJZ+MRznMbe9s
nKEJtldbTXsdJUQ1WGW5arItRqp9WITD5EC2Gr7Vmpx3PvowOC7CYaGdGIhRf5OAd+au13bQ2WZr
sV3XICcH7qlxnMsa4rBzzTvpAa+ay6W6t+uBAkp382wOHx28c/xJ6bU/XBevPH4Gpdnx5fP0GxiU
oIRZRFshNazPhl7QZ+2YD02OwCvikPV5CRCTBMghdt6bJHSZCFjZukz8da3r8r+uNRXtVy+KtVtX
D1eObb2qyMRageK95nevujZtASmSPnvmoVPT9qnvM++xz8IlR4WWzBCgr+qrRF/GJK6oxefaa7RD
O85jwVbmY/T1ejJDXdYX22SO3uPI+jLqSu0lysKXMYmc8zjwulclRniQobTueLNzRxdac5Ieniz2
gnOs3clAgkKY6ellND9FS9+P2In290kPaqq2aAZbd0jnbbSGX47MkBg6kF8vdV1quZRDEhfZbT6M
1hbh2a/p81vWUOm8Og5cJvOWypbq57tADQFZgNN/DLP+vp7T6U5Mcihhddojiq1D5kgYmUe45GPi
VAvwQKI41W01mrGDkjCy2zeylUjkESencoDD0d+0mqatZJsiNtmWyNnVdp3xwSYLmFT9VqpbdNuQ
BlAgQ/CFvSMNo1nUOdRqihLDQidGu+srYVgx1VvL0qHI7BEX3Cn0T+7qpUA6J2W2o80g2VVLNfXq
nQL9z1EDQUNJL1rTp+RsP8DkZSjekpLjxXuFyQucnipteJn7wXFZavEmM99ktA3JbtFFhKbRl7mE
qcvXYPR3e8364nf6NwSZ8gdxdq2+giRP/1Rltfc06eFezGGGEJ8x0Ic76pH9ZSzU5pCrZbIRrxU0
yjbwYupoywV8tI8vF7gsOTofLkAx8d0FIrdxd1CZgnqlzaU9WmGyZkjaRYaZBaBv0vR1mvS3EHi6
x86fok1jRdGPikaOWYf/FCE4czfohQ2pRZF8HpX6LAEAKB3ILgLj4ToTecDwR6WxCfZ882s6Z9YO
cRe+Vhas9emYwQ+zYFb6BexyPYgtR3gF3tt8f7V7UT3sKoCS5LkQB/swVYaKgCmXufTpohf1tvD0
FEd8mawuqMtVt+hTyMEuOhJVclrHQLDa5XB1i22ag3AzDySCxPFxics6ZU2hmCz0xtBreBTfDkPX
N7d9CXTpzRSARjoaI0R7m39OaTns5+ZdTNFG4z5pvR99MBb3cCXrp1rZyQBqaGSebV7HL/Yq24td
LHLWLnOGpNFPvNtczQGCknDaUWT9ZdF3613tvywaIIjV503kOmudzqllTyEbEMt37f04Jt8uWxQp
nCyHD/sPGoW/IvoFnnZxgi/Td1E8ki3+NdZZVqvC6NtlByTey36mr4YNgCb3LjayipROXj83KQ18
qjLTjJJVDjzClfNpsulMh7DmbyTs3M8a909yeJp/nOO6vtMNgJDoFxnP/M2HVai06k+lfRCdr2WO
Vemvc3xN8Y9NECHNnRTTVhum9ZQV7IrJaH9ruT+vekhcHuqmh85DDdh9hdn8rXHgfoAvclqnDVyO
zjAVGyoq8QPQ4/Fgu5Oy152mOLuaV7HzoQ/L8KBbXsjDpmh4HPtG//phktbWCmyrZnFua3gP3El3
DubgTRmqE7xA0h9UO7vEyo0vST3ep5Ob/pkYCZ2UvL09wa9Z02NKRKioxpd66O8lf/a7iLc1/mME
TWzuOqcLeON2yWd4KbJHATp0W5Xq1hdramoawMJPAqgoQtW+HeHYusAcstIA6okaxs4YYa/q4Nvd
l0ber4vCRG17QULEeXRZVOa3G1l0Ai0piwqGgsZO57Jop03dNka0BGgxrymqMzwGapUf0TZgB4I4
2WUoIvXCG6thIncCw8ryuiP2xVTHan6UJd7WEROCnmsnVjT+zND324AeabyC5CM4zraePDSLkF4X
hvmfXQhiqvW8b9Os+puUjdYlwmrVfhUC0vFA2u3sJqaB6i2fCh1A81CUqYYDGblJ8qdXowUPNjKX
ClsXmU3RplrpcD4sD+TA3hTjTHptyrKHrIRLVHTNuyoeAVT921HbCnuJxRGQUbvMSHqPb/HiCOLS
POoGPMSnkVRVVjRq8/ya3xkMJ9uNFKhF727j95P6vU1eUArN/iTTp64jb5rvNfBNRxrYoQh7Dcj7
aFunCng+JXb3U9vtLLV17uzJt5wN6ZJkl0OkCMoIjXlxR4ru3EX8e6AfQq8ypfXukOo0scu/DJj1
1gD9/9KNMH1c7XDjbM00CV9+E28vdj3yCpCNDVxkBfQeaVLzK11ykjJW3aBeUTa2ELQjd+GV2rgy
7axFMrYyXhoqL3VLEpLkwH1Yd+VKWDbhWYHSSoHvUIambf73SZVmAs7LpxNJqgL62+WgwFMJvBD9
jHb+x7Y4YmTKUIQZgD2p9naC3bjU3OoYN9N0DpdDPlrbpixgd19GcgDwb0YNL52Lxcs69aGjViwj
KB3h4wDZhyRycHc1xWOd3Q29+oeY5GB3XnFwVb29zGyiOjzktfUXEj3dHdyfQJ+7MekRBy26NUTo
FjWmoSTfvhjFI5FydgmXsRlkf+WpqoKXScYjWyZtW839sBKspTbQfcN7OR4ZS4ycyQGWNHgLkuPV
DH0vAM6y614n1A0S29WsPiS6g5SR0noO92RF5y/X1f52qgJ3EyfG9KnpQ/KolnfWVbBc4VjCHmpr
yp0450FVaahEaF28LvRPN4hW+2vxujxqTvbkfKezePpkwQX9jBxAUdd1ty5q5aEa4BaTyMKiO7ua
cvUg6+g1P53GGqatePWmG241+l1hw+QTgeOIH2O9vJVlJQIkJIR9SvUkoyiHiJItZ3WU1chZdZDY
VxM0WjZ6oyZ6eJbWsw2bQ/2zTzMrBY8ImiiUSG8GvsgHAxrdE13Z3JrroPxUQY6xUgeU2Qr+aD4J
nwC5oGajBvF40wU5gIslp8p2WltHUVjBiscw04vQWIFmSE48lOBrKU2abRTT2cRtrK1TP/slMHQQ
AfCrbKfmFSrASwlOWUpw/lKaS8kBef3Y3otJnHYDgY3qmcNOIsRhdxA5yXyxXRfRrA6Mbtbdi11t
lAFJGjSz6NfXjnVX5Tdl6J/9WTGh/hJKqyDTIbLS4Eid/fjPjGc55CqLJ2w8TtGCSXY22sErMcLd
TLicXkKhrsy3XUdZCnnqjee9hEU7PVxTAJNi0hbgR8qNJA7EETXmiBB2U2+4wRqP4kj1hpp3ob1A
kJHeOkWRc+Pz9L2Zdd592aJrkFkRggr+PK/V2olf2sEtVs6c+d8rt7ofBhLyq3H+VrLh469atHSQ
9NVfiZl9sYYk/9Yp/NfSvzx9Zj+QbcI8bc5dX5AQMC3t5IbjfDMFTndbqd6AKq/+rysXo/n+ytZy
ZSUs78upIM9SpN8o2r+/ct8lX+IyU9dxbvYPc5TvIDGDjXs2lb1ZTMp3Y+B77nWJDhl27W6h+PeO
9Pz3t9TRtb0xxOpjAqHZ2mmq8qvVdC8LaJv5f0NtRKVzTr4rmqK+BL2TbHR+9I9B6it7+rfj2yiJ
m9PYxvPW8ubikxP6EEaHpvYDIY3Xj6HxMRQ/CH50BknADx9jmr1/fYzIdItfPkbNi83J4D153Y38
nqsB+QqKENknqGCLs9FyW1lGpqdyAMuXO1N+LybetpqN1xjdXoYyPZzBKsmwNcbLdPq6nWa9TKUx
gB5zSJGd2Yw2vRFaz36hZWe2WgATWusZPQHruQ+WJAwiSHdiq4NgQf0uXFeQHD+DMMrOtv86HUkw
6omRRTbB7NRj15qvh2Y5S4C/20oPunQZ2VE/k1tJDRKniwdyHlR7NPWgwlK5EV0HUyO7QAlkPsIG
i6ae+qeYURdFKmaJEp0aicrnaTqWlXrmvcVfR2UJH+Y0mPWxXxhU5KC3fc/7MWTQEfSPh6sDaQSi
1bfoaay3RevfINfZrQ3yZwcp3qUJ3FcwTLiQoYKzFi+c195BCn+ZPiPH60Iva/v+9gIcmIcwXPn+
4O6LSKuNjei9a4sRTQV3L8LuIhYvZ+LVYXFbtYu3asHOdEOL6jokYQ9zaHzShaV2GU22+kkobMW3
jK6+JVJ9i/x1HgLDl8jSqA0ayYCF+YM1bZMWDiV5Bby8DYpxjEp0QpaXRSmVy+ESbbYGXb6U5q8H
b1Km7VTy9juE9k1sKgYghWj6BrBrU6Ze8jJFdUmrH3bhpk0iDyaLKr3Y3WlhGHP96dtiv8ZruvkX
r28D9zByL+PC2C6HNtHpFhm6iHQbtqs3WOIyp50BO8huMU+z8D7QeHC17UCnxeSMXz3PDzajkem3
Ut1xisd5npqXD1GDEy+1xduUHfxZ4T+tM2wKF27kmBs3DylwLsKsg9GM52riv1TKGr3Onk3Ka6Oh
OOfUVI1nWHa2Cs8bNFOs7qik7NdEqUZPNV7n9JAmokXHBtmXHGh62NyJt02t2wnaiqcgCE1ZQ8w9
0qLHMGMNWdIgDwYeKclWWVgkKFh14XM5VRX0OwCVKiMKnwuI+yFrcdfzCPvsujJ6NA1939lVpv3q
TdhWy1Qx/W7+EiFOhwa7rYUmDb0DtdOWyz+luRCYO4VZHfmnNBfOctUK66N456UyLl6q4wSH8Jtf
vfJrkmHo6O/n/i5Yfmvc1ZLjcJdHzrjObU/5pATTv86mUX+1DW9nH+KUGC33sanHfZMnxl04upDu
LF9acBBPUzlOz1bfGndlN6WoGvLlrKH7Nti9vLPLl9n/J36I4QKd+2Kw1W1pOySIIDG5m5tQv5v0
1t4gCW+sxHZ1/G5ILkGvVjLv6jby2d60IQrZHxzasn7KE3fTugYSX4oWPsghK9JP9K86IB7/MckZ
vG7eGk75dFuIXqYYy7iBNsV2oUD7NToKAbun9o+r2ZiC6HqFzCler+BYYLcW1jhvrQdhupUZ12Bb
yZ6DITsoCiybdC/Fqyob412Lyidacq5+aGe1uleXSq8SZt6d2gExWCq9PGmbp4acEzILFbqtS4Q4
ssY8aPSQXSbRXtxtGsTNJm3275EjbVdK6pV/tCXlSEvPwrvM78sX9Mgu9npCpQhBInNbJXX1R8m7
qqYVxZOR+7AVZRNI48XeL9PpgAqu0yskV58Du/uCyEWxQXsveR5U0i1yJrZhsU2LTc7+38QpBemF
XIVrehxDbe0ZM3T7yx3N2s/91H419XC6m1Qwy2JN0kxbjwN3lDI00K/YdjMk2B4iPAoEebu6ibW9
CF3MjnFvaYX6lGRj8hg1+k8xS5Qbueo+N83p6xKles7eyMDDFIr5zLtmfqdZ3ASox1vPYivCcDPS
5Hg2LMN6jhFq3jigrvcSIRPMiXTnIgD7LLZlQm/D3nrJA7h6EAHiS7awdocvwKXrg9/X+jZcUl8O
dqu13tsLtkXflvjf2Yc5RX228lfhGHb3ST64u0Tvi22Rh9lnaAyNG3QpvXXot9nnIaxpWnYCZ6V4
DOPZJylRQo8pwZoBn0+fDffiTMp4fkogIQt4dRrQ2dpkQaF/0rshOg9OO9z0ie2qpOHs9rbkYZmu
Bi3wD6ax16ym6X+KQymgu7rL9LG9vYQj24feDCJUoKcqWFjmcrw3o6J7aTf2aA4vqtK0CE6N6UqG
QdktDJMKMrCLF1XSEnEFWllkmI0omAXW8Exl2ju7nX0SM39dGIoCQO5lUrOkiwpahhDMjXgdbfrm
m1O7S1L2d9fHLdmRdFpFZEjQAnj3GJan7fXh64/bpan3XYD4QlFgwTkj83J5VstEnRx0BBnS0YTd
nT2kNuz6pcqWdWP7FM3+ru3C4EFMneqidxzWP8Unpuukq+3XSe04V3daN/yU+P/bSVEHWgy2Bz5a
17jkSZ3xwYsDoB5lMxjVj6kO7pSYt83n3G+LT3ni/60tb12VU0crl5fJE3SCxmVo/zoU7zWYjFVz
ug6HhI4zLQ2qjaccfHPpLB4Nd35kFEifcf/bkeHk+WpI7eoJSIi+trJQP7u6Nu2Qla6PEMH1t0OD
WI7nuM0D+WVjowCY+DxXCGlMRVX/cKvw0GjgbVcFcG74CRAKzYwfKO+EX23d0dcJ5bbLkr2y0D46
+euSwwxgqRus1yVpKT8GfHejthm+KoXeQ83I2UQP3gqdg+Fr3nBNORsW22/jCmOGJtaDsHQ9tlm4
E7Vvn7TKyXaguKggTt7KsO5qhMLR2hSlMNEMKzPdOb3ZRVrMJoHBwziJeRc8uTmywStOTJ/nzwqp
jsvJe9d/iVEB/Nz2c2Tsgs7oNuHs+IfI86avDnLW3VCUXxqtiE8pDNGrEV2PrxIWRYlygCMYnU3T
WZV6793Eie7vQ5oVNzQmm9toKPm/LtO52xhFiu6HjKfW7KAVMc3tiKgQuqD2vDVUZw+W6advTcFB
eOsBXbUPcvZmv5rEPlvaJV4o7sVkLYCRETtP1eAgdjGJ83+0f1if7/i7z/Pr+vI5PUF0vK096NbO
o6ttpym2yRfyn0MPke2kdw9dnsD7Xg0upYs8/lEbjp9swbaT/6k7SEaWCZcYY44ReokdVGFi7tL/
XupqeVvuMj2G0tceMxTCFzUEs7CWb1FTrj3NTXdiE+2EDubT+yFVV0avw4vNo9QwA+1AaVS94MYG
NzVXVuN2JweW+c9RZbw+gOPyNewCI1vCvLboTrCG2J+Tf8LmdvzXar+GyfTCD/gvtvn2GzMbYxSY
HtrSQpPeqJxz1ETmGbTnQP8wX/RCPaYtzBYS2ZhGe2PbhgtXos6mZImv5wiqw7CG61ZiJsWyV3UD
mk6nxnKJWa4A+7L17grq5hKeDv58hDbiUaJl2dHjvmVcikNqM96ODqgV01eymxQdzC9qSUnCd/zg
JEOo/vZ11kbPCop0z9lkbKalxzVJDZ2up6ZYyXCeNeMGMmb14k3HECDMmOc34pUlQwQ3TjJclpxS
OPlkyRx6nbQL2pMV+NCiKB7JinCtS95kOTR1BkwcObij5FK6oJzRxIuCnQy1JBzudBXNor4K808B
daNnM72kUiSgrqB8vk5vmkpde0631VoDlcIg9s5jRauavqiFlkMP7YTTAjTuetgf/h0xuO1dPfKo
/xABcoq0+FLy+M0aDvv3zRgZ6MPzzpLpW5A4pFRsw+Q4L7T7fazshEj/Yrv4IdWHZL+qYYG1ckXb
W5VJVUKH1ZQ6WHV0ZEjJ5DIUhI1gasLBupiumJq3SYLWkag3k4wk9G2iTjvCMQxopY714qFLkzvk
B51noMHOs6PrX2jjqk+QxDpIllfulvz2uBVn6yjeaSJl1S5OMeV5el84qQ4rLbOTyIq3tNTXO5nu
qo3GTrT+cZm9TEJKYw+8P3oUk+r2vFRB/LyXTzD2bncXoge8Eq+soVODy1W9P4tpKBU6iAYnuZGP
gLp2dWvptgoA5J9PBOkPql/Kk1haNUP1af7hx1F/kARcA0Hufq668pLAGyKjvedBexanfMmoxiL6
Hodn+YKFSUvbx6/Tm6wsN6GtQ9+cJ+4h4jkAdtc9tF6VfbL0OP+U8Z5kjMn4EFQG33FLN9eWHjY3
4gQhPd8YECWsZcLbdO5XGSSuk7N17SK+N4xnAU3oPIQ2QHpn2Hfgu08qisr1MEY/oMH9bnfo+0A0
4h2yEDVGJ021b0wUv0ycSsXdWDGgmXyjqLF+sBYIvqZU0w1lcW2BXjRn6sLWyi/rdOfCWjAgg/S1
SyIDttOUCka6KEktUi6LHWSt/s7+azw1w5Pu1WF3oHV5BMKagFRYMn8fcoClE5VrI6KgcXW8SxbW
kgl0Blg184h7eN8XcGkM/hkVL/9sa1RZeD329j0ytmc4Asj527R+Da53lAjdj7XHsfs+T5YVr1Mv
tBf68L98Z7DjtbWwA9fLkhIra8iSVlWj2bdcoep1krcd6t1+T9PbsrPjvvR/WPuu5ch1ZdkvYgS9
eW3vu+VHemGMxtBbEATIrz+JopaoNXv2OXEj7guCKBTAlmkSqMrKdCHjF3V76ramvorBCvuU4OSB
bct/utGronegoB0U3V/dGrUaAZk/3dQ5ZlqN7HRTjdtsvimtxnswKveZAHACwmTbbsyyI3TB8mNh
aPZ2AArhGosKMPbK8B94iNB1YzrVq5nEr0ks6l9NCr27zJPxwpKAQLdx9YsHzeugxeVr0ZQppHEy
72Ew8WWutTi/QqDi4y6NIb/exbWTdI08WAv647fG0j9YY6A0LY7AbBFHzBcztCEnWpm/2WiSouDw
IwMSG4G/zhF7e4BITHVwkLKBMI9jP5AtYt86Yff3wsDrIHAgO9yO4MKa/SF9BUgj07FLbY32bmpe
+m6EaGll35xBugdLbVZdYDc2RjakSGOP7IpkuwTa9d/GSTyejJbyTNf2QTLf/1ll+kkHy8l84bnG
ZAn+ufiXT5UGw3PSNW+0R6bdMm2Uhx5i8yzU92QXgX+NLR/Yh3x85RFkB+bwLoWBld02IXZuu9GG
Kg8G8VxHUKqAVISxSpBnhORcOl6skOlLcnCC56xr7GVcoli9ZVG+ZKMebcbEsS8aELdTYwRmfAqY
ve6LEOEtGiAXAbmlZYkv2YZsPer/VrqTRBCm4+zaC9CFdE4mN1XJ8PtrKg0BSDYcsGkcvoEm14NE
paMduOqa5qYJpPdSg7zm6PhQ74uVdrRRjN6SM1D4j55Wggmr/lUPlvamLvys/rgwwI+bMQiCOAay
i6WRG8+N33WrmDP7KgxoC2RtUhyQMACjQzgG69qEKkJqhOUyr0G+Eyl5ulJdcR9obwB50NcNJP1S
qRvr/+5DjtSkKdhOYuU9L0ZXcfG9LLsAxy3rREfOvorHm6mNJ5Ihy1JzuKkxOmHSWGviv0UdTj/H
/rd54EMBy72031rIMixAfBQ/xFbobwYfGBsBGsOzmQbJmjfMeK40/r2oJNTME/DgYVf3A3TP1kKq
SZr5zySAb+UZBT0pmDU1/XmUcpoEWdVpUlshoAW4iRb22TFpHG2ZjyJdIuaUHaNQgqSdRrowHT4u
aWjMdARQnGI8WBIJtFKVVVYaCsETA8Lr0AJLTkEIBg2tYO29Zqf1sqpZ/DYU4uo5qPVa9OJ7z/zu
F0qmfse+4z97uQUeZl/a18zTM+g+sfiA32x9zgbLXDPb9x7MlL0kYbQdVf6IGlENAbA1MerGqZ9b
SBdnjjwYlIH64vM5HPvxcKBep0NxvhuCcUuQoEpCp7xvEdGbEEIKPgRKlr/bmAsGChKlJmfyk59z
CXVE65Hff13PabFH97PuBP4NlKfonraaIyy9rT+CJR2YGxWkKW2AAivHBVWZQkerhiaF0HZaz7Yx
DS6G9tbg2H1I/KDGKVnXJH6H0WrqSlG410EUKSp3kwDhAhAnJaqhATDZhQvLKePtF2/sllftkPfn
2dnxFLF3Vj98cYOQe7KWTtGCC/wFBDHBmVW1Yy06xAP2gRW+1KYZXgaGc8sK8PuNa4GBbHJBzdW4
SJNQw9NlKFbAE0HUYH4+STOvQWa9pgdTR3Z74PalzLtiJZQzjYQ5MnALnQEgmLLJ+Y+HH61emJYB
skWUpSu2Q1fRI0ZmibpMutSJ+HAeIqMwUhuoPmAz1BTSwPviF/dGFa/I0UkMlAdZtWftTVtMtmkF
a6h3LWTa7HhR1AXkJgzDviXZ2OycpMv3peUM1xFCkNCIS5tXCblHT4u0X75odm5lem+dV8glTSrc
tNmJ3ADzSMCHq4Ulp0mF7p7piWCX3Q4xIneaFALXdgvSYW1CoW9RqEoFV1UqUFPLZomgVXC2bGEA
V6OO9uDaiEF/hdIDEDJ++OHUBOYSVjfAmyPks/icrFeJ2EIfDfLGSOdcgRmW1yITzdl0oVDPzMKF
+A4oUPSkHQ5VoN9Rz1UmugJvSb7jripPUFNpERootSjb6DXgd17Ylh+rBHnerUyOSGpi+GGyLm0c
NGVmgpBwvhVyS/g0QNDsaDU5pLswTdmFgVRh7fsiWdM3qlJfKz0pH6DkZp6o14ZBdy4bDt4/jFET
NLpYu0BcrNMq+LChcvUurDR/+i6iqrY816N1JX/6KoI8nq2jWDTreSERspsF2eIzrYPgMOg3Bi9F
kAmUKrXivzKy5DcTqXdzeoh3sxCs9WRnruMtjdYwj21Uyiczjbfd4BuvuTCgZF22w5bcMqTQcwMH
+3bszcN/W3Y0NfBbCtBw0bJFKMqDRbDAVuPWDlWD4bpwxm5DLGTUTRFb/9KNVZcoy/S2CdfzaCgQ
lNDL3xFeC089NIUOLMNPSV07RrS8cn0UIqjR1FEckXENXKLq6imwh0zR9FMXKYPknNVdNnWjQejn
qNZ+TSsh43FJo/I79SLmOJe+05+9cRyfupJ1Vw06YjQWG1Z8a/PgQmMSyMVbO1jgDMAdwajR3GGD
tQtBsPKUaKMGTNGwobGiN417F4SBNI87vH0YumRJY/UYJY9u8bvGf95WpMC687DsH0RRZqDlyvuj
q8idABu2dqlp19DSAV/U5IJqmsZynDvqpWVuAgOYGBvq9gYw3GUWXKhHk0ps0BcIEPRH6tKSns/v
vCx9HBTtSd632b2morZlHdtbbDB6yN3E9V6idv9CLkjKxBdoUOznCV3B9C0KAYCgUItQw4uETYtE
RdPvLUCXF2CYCJDKrt1F2gRAM9e2rS1MzYkhssWClc3H8FbnVXhDtWS+SyBvtNDJpzFRZlfW/EKj
1JDzcCiDyL1NTlmLh0uL/4Fp3SwAU5LuZNFunjTfq1S3MVJQ2AZZ6axQcAUMSRDp5tHBL+dzL1CI
BGht6n95+8tkyNfcQxC87vRtyvN+56Ja6CGKnZ9xOhY/Sj1A5sCrngrQpf3NIWu9p2Co6skBL95+
Vw84dKkVchyW7j3wyCwSF5r2pRHVZy/XrBeTbcawSF7qRjYXmUTAaSszL0W8zQAc3yAZZb3Mkz66
2K2niGSNY3Wc3ozSDPAdSeIK5X2QR/rS8BCAt7gfoPKLgVa9W+kKMu/eBQeexJLBiiyBaWKfk1XV
NsxLqOE5dgBZ15ytHWamT6zAVjDpou5nhViVZtr2b4Y0Vu0N6avTIaiRA5+NkzbH8RDb74NRtyi2
U9NDiN1M00dfb5+Q8ujXaY7dfquwEK7CR7DWxuvS4xfqeTrYFMYuY0tjMIDvUKPcFx+jUYRy+cap
gJhSUz/nB74sN3oABtMEFNaIBaAQvlc1KrkFWhV8QR6Qt/fBFYWzQO+Z+hsXjzQegtttZVrBeKSJ
uZrYUXHLKB+bPBkOniqraDq/vDjqirqRG+J7GvYnY4TWNlg4wM/YVOJEbuQxalG17TjIYvcAH/Gl
7xQNMp6DNtUGhHlaLRJDFzej9+sLsC8a0KxInbqirvD/WStx0n9mWFEW3IEQEBzmuf3DYz470suJ
t0lwgQzatovxpl+2ZtRvwKTXruatnprgirw7kkmApm+j+xZA0giPstSVb2Fe70G8o/0yHOME4dLx
lYFZYOmh3v8K3ixt53C936G8FKhNNclzULeY6s1+lHF1HUO7XGRDGZ9zVZWaJYBHC0gCTb1Pu8Oc
kq0KURxKC1yKM8kMYKHQ9dG4B3ZVvTzQQI5/r3WV28jxmyGUXLk+nBswpL3w37Uw+EtkyggcuWBF
C5rAemHg/9qkhpAbcgJr68cc023sF+OHHeU70ZTJHW+s+MEsLADjcx30VW2aPOSsak944rzS4BjH
9RkU1edSuvnJGrJ8BWVcCCyqbsDxBlzQJTWhluIRpkYGmWHEg3CnEupx12TsnXdA4vI7e/CaSw78
6KLrA/1b3EptVTVmuaduhowF1DHFU2aoIxhwtosYzDDfwrSRwFbo/t6L/fSIqlN3ie3QgmeMPY9F
FJ91bQhAoAsYAIRku5VW+dGhUl3lxpSbHjXxGfFKaKJFLZJhQGGtQGUTH6j76Wao1QAWAzcagQrG
9h2VHWDYqqvvgYuYuoqYp3orgLTi/kUGZXVCRZy7+vRASgIlAKkQS1d5hB0o5ckDmkTV96j5WIM8
NCjOgYsIHMl4IOn3HZJp67FBDYisGuMepfTGfc6CTYso5ZU8iiS1gDgI5ALRKfDseqk7LvC0Gfbk
bFuoyWZDC8wVptKMVq2JcGS7tisxFsva1Tayd15NaGrtM9AxLTrFDOOMYX2kLkRqrCeHs49uJIdk
k6BUeSUb5u7qEoJhdFZ38VPvWCWSFR3kaZS6dFqfne1OhEcEddIFZbU6uwNVcFr2m6T1NYCUC35g
tuUfdaC2puxYFoKSSyLDShPITqmzdpDJdgAGaFppnvDnmogUQZVwlcXY9pg5gG5x0We3IMMbTY7e
XROWMAFDcJSm/zab+tSFJIJdiGXU5TxdenHBVqnWZZupX0ej4ixPrP3UN0K8fJuqvNASVeFmt0Fy
nA/VZODtpvVzlNiCpE4e8uRYRCI7Ybfz0Yx+CrDPn/24qvtj0R7JTjO6MLBAo6oT1Yx18RTYfOxD
CAZ7qKW0Qs1ckM1RA/jzV8sSoKj1TANCVwijI40KpF2cFA+jMziPkgEmMyRXzjTnkSyWNu5BH8Fv
TJl6S28Wac29I3mUyEisWgYltFZrXeyoUCrJGnBI0dQYUrIHFGMFC+qiJNa4/B938qyG3xJAXFpk
4QOeO6iUHpvi2KkmkRb6fIgLYIbG4khXNFzZXIKc2JLgbfycE5E7jZNnPdbg8/nzksa1tm/WkNJK
tnYeZSvSDd8Xqjqsxv/Jymx1ceYA4J+dPM9WuW5aR+lWv1iY8ZMh+EcTpTY/kc31wa/n2PmRBkfl
wcHWgDjapwuNSFTQgdIZvGqFdjenqcbei4/60Lyyz8pyG2kGMlGaihqtA0Wl8qIeudLEMe6miVNG
65+15uX/vRbZP+84r2X+c0da2SxL64habDw+8TBqMlTeEoLX/+ziuGM+pR0eK/MothNfuzSKhHic
m+3ZdjRxliYL93i1HTozBWKHbNOlD4DKPjWMA9moKd0a9cyqQZkBSEpf4g4nCPB2MW940gC/91Pt
pe6a6r20/Bcf/wjvoIKeLoAnnS7+NaSH0nuGVMZBDZdq5v+xxP93H0iAocoL/N1rhzvOqZGuvSCi
hyLO400LndqJHcLyoOxS17pz6fAjP5v+YzKa1svfJoW+2U7sEP85Saa19RJZdnISJYoveaHJGzVd
4uXQylzOlhGBuJubqA15FivRV12xWZa1sTUSnFFdYQxfpuZ8qYVNFU5L9ga4OnSpghLqDiqmd2vC
2NhmIYhgyWYjQ7loO68ENWhZr3vU1O9Dj+XPgzZuy8YEqFXZdSsLZruIqg+7B8a2fQN83bNT4Qz5
aZ/9/22vGtSvUfZqSnyp7BUoL6HJPEzJsga0tScetI9z/izvzWbbO75czvkzgRQmorCJv5mTYtyO
XvPIlkcyTfZ4WYWoKKOc26iF2Sm26sf51hwPnG3TxMNyXqYN+69L08Bg5NPStJAOKucbd83laKBC
kLkjAoM5ICmXvHbdpdayAnUAMrxMI3hCDXvUtTwVykZ+rRlCQREIki2tMM2lBT5XEWD3QUGTWvSz
wfZ0Wmk2zWs2SbbF+8Y70iBwYPepk/NTjzL+lSw87LjVRmbaeeDFVw82UrPK5INnelflA6i6VJe2
K04ZIdcmwuxINtcHwQFA4VcanNzUui5S4ZvZVpq/52W1wf+6LE0KNASzUsEynKOwDaJlezBa0yA1
3eeyIcNRYaixq5Kd5uzrDjs72s/4EXAQ1KX9DHVdvxcoREJqYu7SKGrZ8H3JTn6EU0+PCuJtKMfv
QYcjUeTp/QmE4tjjUd9TRrqiJglLSMRm7ZamhmBZx2tDTaH+vEJYgeDf6tv7P+zTyl9uMuRBsvD8
UmwQ4uj30oseTLvX3zwIsQahk/woeNovW5n6Fwj+difQeKCccKiC70ZzJgcHqsTLygOnfCPr+lxC
R2RFA+7WgsbUO5Sdm5XbiOQcxFFxiUdgD5DaSn645mNfG+N3C0XpK+jYlmrbHG6RIkbsgUG4E+/c
4a3QbbZIMiu6laVrX2gARwDUVqgBDSV200CtgX85NFFHIZuDZ8SgVnQUBEoycU820TlA2Q39cN8g
MrixIk1cwzw2r0ar3zG1qU2RSqKe6LR4o4ExH4rAEHmMPM88IKqyp6KWudCFulB3dg4gP58GyZ/s
1AxILR2cxN39aVfLgh1aO1RGt/vir+x0g2zU4iMKcqbBP6ajehf5Y11MH2+utyE3QCLL41jn23lZ
E5j6c+qLZaMxeXZdJHQkMPnXPsTrGoVmyT3LAsB+Kyg2yDYol4Zt1C8ea1HGJ9r8zfeBAhCi/BFk
IE8qXf6b2+UqywoP+qH3SAalOKXkbFkHVvgbqTPAuPPsXSY/UaPXPNmcD+sYj8ZTo5fV0UB2dTP6
NjaVIB9YRIXf/bDMaKmNefEbHNzP3Bnsl0CTCO4j8n5xNV3fVzZK9z2cye7S0u+XotONt8Hu98I1
8t+6Nx74EDRvAG1CoAvshx5ni1j044Nuluk2tJvs0Hgsu9p+HK2MoBdvQNJvhzrLf+lD/I3n6fDc
Czng9GmUp8Dg9gnf7Grt9V714nGEA5Wr1Y37xPPjY9MmzrKOUg4KbIcdE98YHzpmPICnw3mDRjPU
nEK7O0E/rL4HTds72fHDICrTN+JcgrburmUxgNSJv9ICFNeBADO6aEWZnBsjxmHfsvr31lm7aVL+
ALgGMlnKwWTusEUNZbxOzay8ofilvFUhCrwQcKgRr3eKmwHtNX9RF/jEY34lE2q4NGSmRWDFC6lV
u0jr0o1QoA/8qbU708+TBcLG4mCp9940EKJaYAyrG/ViN6zOhRmf50l5hbf+ECcg8fxcqETCeIUv
U7rRCCKCDfXHwuTjxQZbFH77g8jeRsXHWWd8OHbFonQU5dtE/Da15EPNl34to/HIgHXlhn+AhM3C
ccHiUeXWZcIsjJDGQHAg3RDGISpNdkaBxjMNksmNjbNp9R/+DAh3pMki56i1vrMkOgq7ar9ViW3c
mwianf5i75vyqz01u29Ozj78GwCAlsRegf+bb0GYmvcyQjXVFMkqw5598LsiCXLyXHCDEiaBStUK
8C90bQfuidC+4RdTPfWQZNp1KOHedINlfBvx4I24F7/jFQb6FJZpp4E74xUq1T6IMlCQrGYip1s9
STWTVQgMRW49zSQHJ0QRGM20gKi48hSi494/M+meugeIIs10Yl//xgA+Igfs9FB7Ea2LqLXvgRBP
N/hjBCeRJeAbhnj1zmJWjbxAbEEtnOvQo7ZAr2qZ2Q9IF22G2hsj1CTGa3B0GT9SG5WFQMymz86o
i1VgCvNaiUjb9mPfHdymG07Is0N83Kua+waPeZTn9eUrthGPYQZw7yK+H3kLxrDaq5WqiP3KNL1c
/u2zjdz6j88W1fqXz5ZoGkR2Ve0XlW7FkhVLZsXdYSrOUl2g5rsDlX0xU7tHHQnb1yLLxAKRVVDI
UbjOb71mbSVgDJiMLtK2a1/G2gJp7BKn1s7bSIiZLWMZ4rdORlYleEdHzmlUKl5SNSXXvQ2LIHbu
1XJrSa88aICEnIXL5ZmuqOFpBYay0HVX80DThO8J08NF0XpyY6WRtfe9Or73B1XSNoDqF8iTE0o8
6xfyGGzLRH7TekL1j1hCjz06SDxKrDmt/yXGP12S0wgnSgF4aeJshIxx7Acb3YDgruP5qEEJ83Wj
YMXMYt3C6IAM7AELenQdQKTtbPxGbqEOmlOnrhGB63HWSJKuu3TKrY9Qy6em/81N4pu/LQFFhIyV
x5/aotiilBt5PXzzNqYTj9tCdUVeL1PohrxkZaMfMtOF7Lg26q+6I38NaeDfkGiWV7Bpo2Jd+VtG
4C4Z95C5UssWvNyS/5B6H8tWiBvvxgKV7aDWBsPuxgdmbInsYrKnoy11az1N99PBV42iYiP50kUs
M9mnjY5MdIPqUp+Aq1Hi9AvD6J11UAb6ySG0K14SvbtBecbt445QpzlGHeI0+Wh2JxSZgF6iAFH1
CQKdobmJahSVV54UGxqnRvOS76lbm1tZmhw1LGiSMurPFWsqlPLnDhhkfFcuyJhU7MPHcjlf1owh
+6u8aYB7kQT/JZQWshrJW2it8zMXIcCE0JdadhUkGkUGND9S97jEzqvbgPGtW/gITcoFGVs1Qlc+
kDL7qvGus702TFB/TKPcWhk1gIYSOwMHr/Ejoy8avkLxuctsfOfoMvYfaitPoXCGuDk1yFHlAiHd
f/od+IVK8PqT5ctM6o9ZYkCzfElrzXMgJIRQvGrMwrPWtszd/AJ6sG6jgwv8Uhuhddb5k6HgXtSQ
ma7GWFhLNx3KdYKdioczSOifxqhYkktGtiEoW+j3xPZ6XqFN9CecTmLQ9Pm8XGhQJTsEqqGrKHO6
EkwKLow4zwVrsnZjawO+q7wcz4bSORt25EMm26n+mU1Lzn3yoW5VFY69nEdcw6tWhgtByVYgYSTK
5KNJEY1sUS+Pfi79BoRD0a/JltMIuTutV236QvtNEcgvQcosSaDyE4M8vQOa/YSz49do5h/BTZrs
O9GTlmjPQEFbZ1MDP6Cw4gFK8UN6boa8BPcS1+5QhGYumy42EePJowUYI8ufMsrWACmWwH4kEK5x
wvgXT5v3KnK7b+2AvL3mxvo9Njw+uCeZjr9jle3x0urBgtOimt/L1i5ervg+OCV+F6kYTtOlZnHt
YLTYU5VZg0oiNUKNK4DMGkCLJ3Ea7BITRXugw3gF8PIOYp3tgz/WwQnFgu2S7BoH+WLVxs01C63x
FjgS+xc1IQZXADJGlXO0UV/86FeQ0xV6+RRVY7uQYOQ7UTMIrTjpqplt1OWCs6WTm5tqBCBclOzM
3Kh6CoCCvWd+uNTNNgauZdW6Zf7kyK56QuQV8Maa35NjVOUXoKT8K/XatP0py2aYFoFeHWhV8xjf
Q7VmpQ60eBCJPXXz0RlXwALZW+p2fo30IALcG+oOSchwGmv9laVuCq7QZI/shrWkUWTitUNTgd6C
Rn23T85dhx0qjerSbK8IGdzRILauyaJ2Bn1XaJo1gm05a1GQ0R46bA4QSiqy8Iz/rfBMV5qov4Ev
W+xMo3LGhdmEPQLwA5jgjQIHwwLKzOqKmgiqAIcwQTN3/+Y3T6MZ5ELT5u7/+1LzLf9Y6o9PMN/j
Dz8a8Jjg+954CGOILGtQCakWdDk3IP5wVpVVywWEEvLjPOAloKRvquKfKdSfh3214tylqz9vkHfI
SBoeWA7/92Xi5vOD0V3ok0zG+a5kdNvGrhaubdyNPMHZTX2IeQp1Jxe6pCl1nb5AebPZa1ZS3TpI
QzpIBZ1KxdhJTT04QIFoYb0cTOvDJugqzTYaRI3Og/oGABvN2ablGWolPufSjCoFWk565nm2jzpq
t8ccTyK66zwwgF5HuCK7lH6MnTmPe3ed1UmwnO74uTCiVCjcBoe3oHvnvMQpuTHS1bQUTY75a+6J
+DotlXOjXseJ1kwugRZcLJAQbcEwwQ8u1/lhuvLy/uPqLzZykb7t5fhiYx415efVbHPVMvOqNDDb
GrCELlMb33jQuwX3de+BmyoGkzp1QycL7rkJCW2RmddYeTSQV9vFndMvabCx/eC+QrylaIR+niYJ
DqVAFPEg8gWIaMlZefUt6wKalOZnPToXzdXrnzb3LrGHixIWP0zZyUtycDMFerj3WvlEgHSCoUcK
i45IwGSfTeRB9qIZr6gyX+gDDgS5k95AoGffpUnqXfBAWlOPGm0Em3NudT/7IcqQ6euAyKuDhi19
NwSLgVdExza31Xm+cV+7z6ssNT5sdNXntvsax0O+0KvCe51Go61uBA8Z59md4zjZHXiv3RPrxiOZ
IA6R3XUA4l9DPMugmiejJbn1/V0MMqYbeVHTtWyXWZU4U08maXbXltVL5ZVg0lArk0kycFa4mhnt
Z1tfWe3ST/VsSy40kPMCRRcVinjIRmvGDeREo87OVvNdI49b20yCgXpeL7Jyc+8ZEngtw8cHTqvR
P9pud0fT6EcCLqKBUmn9ZXWjAQ1vOn2E+UfIcKIUYP+6zKYybG8y8OLT/Mm4FyYLAzSJqEnFL4x8
mduGC01zvS8/VWOGgJGaoKsiF2qCERwgzGDG9FPRol4fQHSvKPhyvq3elf5Oa4Bbn3/Svu21g+6L
b/MvDgFS8P7zfD9/Olk6wbWKXmmt6W8YyFpFXYfr1B1r+wCGDaGKacTeMyGSoFWF/J6y7tHMi+wx
hWTjwdN1IHSVHXp2llZ1lxH7cIA/fbbpQGW094vafuIguiMn3TWNZefq7TmxHG2lOVWx4BDge+il
8Sy6oTwL1XPrYNwAKwLm5CYwHlpXtjcfpFednxkPZOoNUHtFRZQcySb7qN4VSaUvpwmOGT1IYxNy
boCJExA97Kv7dE+LgxM3OyAqYiyoSxMC/LNoriHvyNSPCCXmsm+3tDiqTYpTapW/aJA+rpYYR6Rw
o+t0984SQJsl7poW871MXHS7vpA/NUGafq8yzzhRT2J7uA09swedCH6gUZPRHZAqKxokUwWJzIXd
hvJA3WysrZ2XIFhHLvQRBCrj9PGBDJoHjZegGfUdfQDQeuiHiEscJXGmEsmLnlj93Wh7/FaP4mco
guAbpN2HNRQBh10k0Y25tgLpFjCaaRCc6raAAh8qqL+Bp9AGJW7RHes+AXTNvJvMPRT4eNOALwQx
muXHiRsUarsJpzdj8zOkPo59WS++APWslEFM3LDuNXzsOgpfKH8d6eU7Z7x6rJFk23EGiR9EaYNH
5UCpbewB3232piHI+Z46AEBmwv6dWfm1ywfzlafdAD1Qs7xzraTf+o0pD2HjZohTZDpYA235mA1Q
xi0h0PlDTYdGqf07wXSvQDAY/6LhJrRy/GvkOkoSVB154mtgtjAyFJ/lsXyGRgW4nGGf3YSqPs8D
D2lEBNQmNxe19+SG6oiP1QblNq+WpD9CIjqA5PEAmm+Ud2iLYvhZeDHQpYH5AtnhBqBEo9gx2WXP
TW+fvNqI31HPky9rwKMv3DP1c2UMSK1ZQ/L+OVPkEKOgmZUbAbZtWfpKS1MkiKIyf6arMnKz6Ur8
xfY3v0g3dDw36/xLnk1zreEIZrDdl6zelGNzhgfNGd09pdemUQ9ZsrWjNSgz+czRkTOtkjdsR3aZ
5otyRGL3Uvd1vXVBP/BiFvXEZ+XmvrHOLL/dA4UEcd68mvissJeGPe1AoG0G2rPy9xEnQ5UaYArO
UIFH2ayFuVbY+WXsBuDBbuLsv/TFMuWLMOHhMcggOwKoTFZditFBwsUQKxpAnrC6JNAQtFbpKFfA
UIXH2S0cnHgzRLm3lDaqOQWAGkde9P1jLMxyDZYyuZm6I4jYbLfFRzK9/pELYwSBa36iQWqEB8Iw
FHXdUY9Wk5nxsZptiI/VIkuLNj0vO0S8fDNbEGcW5IdOwjfaC/WYnrNdGhTtkrrUIMgLYs6IXewm
AGBTeTAQiC1tJSVCtr+sMXmoCf9e4293sRpov9Y9uCfjwa4ftMw4EjdDCHXSXYZaq7VUXwpo9CUq
Fi2uDUS7H2wxHnWIv67xcPSOMYviZeeP9olllfWsgy59oq3jZXUAC2W9ioCa+0ZuYd7YJ0OPtr5Z
9Siqd9/pG8MYhCsaxCzuOl3vjl3U+ys9ypJ3Xpyrxgre+gy0q2M3Jge9yMsHNZHG26yCho4JuJCV
ZO4+y7GOy0z3Z4SATxx34h3ZUrHs7SC+Zb5hQMx1BMuoVY0QUc4+fB0osnDIMZYrA8nTHgy94P6w
9ZWkKwtHVVFyH+ECXE2j6sqKvzudhIq7jzIh1YAUk0dbBkDv1ulsJGU5nkQdthHg9/fGbYDnzF3j
IbWu+NKmP0bcDSvmIuhKf8s87tM7KMspDa6bE+jOWw6uXYgpijdzlPqSZ6mAll4kdp3bazsdmc6r
QEn4Enm58bWR8kQc2kEJ9s6kEm96k0MOEvUXmkiLxxKl9yjdxlXU1pANxSP5UUv5h20epatS19la
lC2YgWw8KFGiURzoI4dunp/cpv0+fWL1o7g1yL7Io4j5DooF6VNQ1Keq0oLHFIRPBzxR1LdQDG/K
nut4W5hxbB9cD1Qp/7aPSGQsKoM1Ozz+5BkbfnkeHVdAH9qutplZJ4tGlxAhoBEvTsZF1zjxthID
dM006CD4gQpqqe5s87J82AHb1t71qmEg1kf2Ajbq0sBsq5jHNk1o9ktCuRHeDWfgO892wz3h22a7
5qXjVgd2eJETTeusbBVY7R1ya2xdcjw9Is0wr2XmaOtEXUXu8HFFtr+NAlgK+hxgJbcp/nsOPlIH
GzZ69VPblj8tRBl/Jg3bIBAn3owizFbATw0X7vuI7BkV25S55y7NctQWoV8YJ58YEShQTH0HETns
c6IDmajxVBSZrpCmgJZrPUKIFuDV/2HszJbbRrY1/So79nUjGkNiOtGnLziTIimJkizLNwjZLmOe
Zzx9f0iqtmS7TlVXVCCYI2iIADLX+odNZLewlWfCnQRxyToEAPC/MawTgZz87M6P36zVX/SpUXeR
MHkkF8oQ74Wq8JYoYzzQu9oXmOlo0XePu8LRLfO1cINopZlmenZj1bkJprxeD23WwvWGL46b53dR
pz/GvGsenSBstp6Xp3s/NXFKmyeTPSYDx/WwNl8J7Ucrz56yla064w4JQYlRlwc3y8q1Z5v6WhZ7
yHsX662DMMytlabAxcfmYco8qP1xmO7JaUAwxOHhHmeQt7rSPiletM8Ca/1XnhWewat2bpzmVLyd
BeoKyGKvPBBd4yr0oV+sJPc/JnW1I9er8wrD5Qkhxeo+IBhzrZNF2QC6vdkZS8VGAKETnf4EDbw7
CL2YtakdwocV1hDvRQsBRa6rcYoMH4S0Y7nLeFYYx6r1k1VX/oNtNsmxG2NvKRW9rT/r29xIjrkx
2zMRgV+j5ZtgSlgsuG21r+httGD+9eTObq0RrRf+EIkZdg+qUyE4ND9qx+CtbxegaGzobXAJNMSr
W49EFnvD6YtQceYZ2vEZu5i3egnEQCPzWi/7T1nkrX1lgmPQNPFO9GGwIclBXs+ZeC6SK0fdBlJI
nCQ7LU6bz7JH0IRiG2HOt2CxlS6v0vONog7bvyxL4XnyZbBkTMfd6RbScIFV434mL2lbfSzKViL+
/V5e/zLsf2v9Zex7526eqnSUdjv506EfSbpihV7eDEQANlmlGQ8ZkDBsjrPpe+7dFkPv/WFM5Q/D
dJynNtHYWfqDdwQFXl3HtGmhrLMRppK839RRVNtICXJiT/MaqJ0XPP18SNzJWKrq6ztn+p1XXSAm
sU9LzH0EzOveSmsMisf2jYn93g9PBtbmXfok1Frld9pXaNOkxiYxAReHcVmcIMFna2BP5afK1r5J
aqNifeOxFX9/H6OGU7BSPPOltfhjStYaCONy815066HcYI8cbBLb94/mCPXKHJ4l+j3PO6zpAm88
O8Lpj3rLRiYsPe21jq8djOFBHbQF2YIShAi3RM4Kk7CwKI7Shiadi+ZclK1GB7dTtrJX1J9k61+N
ja2AzEWaIaCqZGeWCawrMaDVy8G5KVuVpeZc31cWggFj81K2Tm78aGPbueBHu0Lh1k/vA38mMLTh
EaVuU3zL4BCvkNUQt0qB69+o2PGTn+TVGiep6QTlKzlYRWxtpyI37oyoMJedaQUvnZ5d0iQXPyD2
g2902+9B+edwO2iBb3SxjpA/7wr0EVxCMW56NJvOAz0wfJK3v6zXRWZt7aK6ug+5o57ewe2+yTKM
kd4NidIiaLZmGyCGO2FI9N6gFQLDD+UOBRuUqApQ+wRXFqUZ9jey2Iz5W1FSD3k7fGwdfy7K1kiF
HvY/js0nMDpllq6Qtj2atZ3t3XmBBRoRRzanTIOTLMvD3MXLp2wfxXZ41Fh8Sj2DqO3/8Mw8uLP6
QVzUKT5LMQQj640tsNFoI3uN6fQHLD3/jrXttZes1keDXkNCr3nl+p+50K+49srqwtq0Tm2siVAC
EB4q9Tk00Ibjvvbus6BGj5uH/wmODDkorwsIuvTGaQIqjjlibVyavG6WuZYNnyPXeO1cO/5DLxuG
z3koMynZKqnxd8vFaHXwTRVDNp972q/RRulH0iSdFp48TXlNFE9cF5RdrKXHPApe5TJNbhAcWK4L
x+jig1ysuYLfIGT4Yi3VvKSuVzt4yUmpeFXMyl+yvhlaqB1zveid5XtXWY9NZ8KLwS0XCPZOW0gz
6bONvXimOcHX1IMGbaPFdo6SoD87EKiBGjTB1whrAFNFe0O3Q2/788hYC6e7LDWeM1Y2JySYshOr
3uzEDiTamYPyyTHC8MaIwo2vp+VDkkTdnRXbAFp6nEEHYi7LylPVnWxVOrM5+r7z5dqqjtb3GvLH
DYsjdi2WULC8JEIm+8oDwnUbs8+UW1kKS9da/ftf//v//p9vw3/5f+R3wEj9PPtX1qZ3eZg19X//
21L//a/iWr3//t//Fq5jOKYp0LAwXdRHLMuh/dvrhSQ4vbX/FTTojeFGpD+IOq8fGn2FAUH6Pco8
H26aXxK6dcXOcGdVBZj0lyYeoeG2rf2d1Dnp8+xbp6yu+1i/D+IbGCvbWK6wetPsdkDNzORsTUG6
daSuHHapYhGMZbi9ugzGYfNTGR7xOQAI877MiGIzWpGNSTEIQZlIHvzY+1gnO5dpslL5jR+wJwY9
Ox/MLB1OxnwYoqba5Dz0UGT6szWp2s+I6ac7s1NZsZupVYFHcrprFzlWdpYT4KagLv7+0gv990tv
WcLil2Wa5KAt8fOlRx4vV/rath6aPhx3JIF9UFPatE6FUr5UMUmTeTnRT/CgS0dUd7KHBecJqrYK
TOyve1WZpxzSwPkwT6/OMhvG0GJWrBxMsw5ekrDSV5ER9ycbS8ybskAnYyQ39WlC9JnLa32fu6I/
DcZ77qp6OI34yXiUt5lWjbdtEBkHIXSeuVAa7H/4XbrGrxdHqER9uToCaIhlWubPF6d34tIBOp89
XBfpVmHCy8/FJzIU+T2Ost09VP0n+TgM60zZyEeeLM69gGtl92OBV7EeuK/EgNu1ZaYZqmk8mIKs
xqzBNJvPelud7HmNyEvxkkVq/mwqBZZBRU/XMRc3tX0XKHl1B9B+Q8LefMhnNf0SbVvkDmLvRtYh
GRZvmwL9R9kqB1ThsDFnXX6iZrjWVqGAt2ekS4JT0X6yM1T7vQzK4+ChmWH0cbWsPViEQfOAd735
8Etfod3Vlr53cO74ZWkvHeb01nQPc6O0n5s6H3ZST9CD5a961ET4R9W76WMzH4gUFpUZIQBGIQ2t
btFBPTykbpE96q1WbRRtyteyVY7u++Q6Oke89/YabxSFrq510cQfxOW7xp6fylqzkQ2lrgb/8IsQ
7k+/CFNVHY3/TRyzbWjItjHfTh+eVDxZ9BEpGf/B5BWFfZw6nHsNeWXJMwzLT5pb669yESaUbjj6
pjeclcBliaZUWEFG8Um6yl5dYqV57NUeVn6s3KIoFs3s9hYCAsR7p4wwl4nLGzlINsji/1h3ncxX
Y29b1w4om9Fwkp3dT9qNKhztRn4SQ2yUiywcQVuRKFJ3won2782/9blWiKrd/sOz5+fH/nwxEYCy
hGo5ro4QnWv9fDHjoFK1JFW9iz3UI6nY1F1o8Bfu9FBxAX2n2rpL3OwlV821XOvKHlUVwNLrRY/C
LcKzpBELB+5xV+xq8gzzc7aan64fDpCMTl2LlxsdZDUeHwSdtIBwmj9lyyrWkHfV1fRec+NwIYMt
skFNlbcGsjMhUQJk3RXRZsuoKNCy8dzk3gLn8vdXxbV/+4kZwlZNW9OR3FWF8ctVYUUl/KxJrIuK
Xe7JmA0zkDaJgbDNLrdSE9W3omg1FPehNSWrD9LLOYYGUi5Z1qGfBzHWQUpeSit79ggObrCaVV1F
Clrcab2UUMDcRJ4DK2T/xpwRg5G/tdvCfn7vVVug02wV68Z+Dg0VXoQoRqj4O1ls57regaEUjMZv
dbJfMYearp3nfrJurB2W2kJ5qWZ574XtT+KBxzC+IrofodRllXvZEpZ4bHkVNlyy9UNvV9Q1BrnC
PQatPv8Exi/8nIpNpNfTLjMBqsz1aj5YPCMIKqKawo4fwX4HML7pLLraHR70mUBSQEQmdctOaS7N
bf2Ig1LSEJbDIizwM+Sde83bY+5dnNsmRGZ+arwbJ7U/J1nbXGRVzqtrlZDD2MiibNASKFSq9vr3
vxHd/O3WcfHbcDXMBVxTsAuf2z88h0ZX5XU3GuUlCLQ56pw9R3UVfs16QIfeYKl3ZH5C4HkAgNHX
C74WKGKQ3/deCtJKG3xTUcmwrfDx55Fu1alsYMajmyohHFe0WKw+qohJIVcri044rYOinR66wEZV
xM824eyIV+RKfkImFqjpXGSH0ewce1a5mYtphfho6ZjDThYhGr1NKYtYIa9DoGZrx+BXLhlBoafX
63Cymg/Ua9jirIyq6kocIlA17RMB1e1KvTZThCRwAtOu1Gvc5vJbzzA/UK8Lf6jXbZ+211PI84wQ
c8B967H9out2e2/prn8bd/BfB0g8L0ar4xSuqukRhIL9qPnl3gsK7QVVkWbDM9Xbym5RhP55Qa6r
bxzwTh07CFlvieb1fVrDn4gAz8PltEWb+4Tii2PdigncKNaNY9kFj2iuC/A5ROsqu96PNRkBaAX2
EvWL8DvLp2yRTqX3FHeTvvKUIbnNwIbu2rzT93ImsyED+D5Tr6b+xS0GyMn4ZHXesNQxjSM4DTfZ
mQ+y3qyacV2bRrvUrOmtTjbIfgOjDFU1rnM44RYTq/rW8YmgZKJNvyAAf5DOkE3U3JjD5L4AYrSW
kT0G8CewT7WbStsNIQF7TTcMvoGTfnHC+lB72RNkhvhW5XF4P7IxwvMCg2sz7x7Jc/nY2fn5Y55O
NTYBRbeVRatM2n3dARyXRUyYjbu6VjdRa+T3RNi1Va4m9kUv8+RWLe2tNg72RVYNodesPN2bNsZc
p4uyxrnj2t3rk+ysF9leBmsxDULdMLH2MmAUyAzZXNcMNtjoToUQzmLJQbrtRcm0+7AyCerl9d7w
qvJHp8evRjQ5cF5rb8k2XdyVmlFvRVIr4IEm5BpgcW6KsM0vfzVPEu+HtCi3BCy6ddlhiZeFxaWY
2SjAIHFJnokomZJj2lgnGbcUdfJgYhwg+1oTTyknLMnJD+NnJ89X05iPT1EMQcMpLY1cCzt2VrcC
gkbOi3QWNzSTYgWxaDj0VVORgeu7Pj7VUV4ua01179EnDbaGU4Q4zuTjMdaJzgNJtB8snUSBlQfO
VzhV6yT1xQ+/dW+6hoyMHA4cwL0XfhBuATRNm79/Ehq/vi1ZNQjVUHkxWJqm8Uz5+UFIGKps9EHp
MIzXCLH2HuklSRlAburODVpth1QYERFZ1+EdFTTd49RYJYY3qORbdqHdR13GeqAv0285v0rAZeL5
vQcYfp9EtRfu7FliReqstIissv/p3LUUVWlnA1v5CQtHjHGXfl2n13WEAfp42YoxPrdBo9/JBpUM
yN3fXwbt13XpfBlMlXXD/J9lyR32h/eBPQzgvB21Pb9h2m13ZpJyy6s4HyPiRRjA0Cf0Mt9v+sQ3
VmIwyl8fBnJEkQDyl3d/UKBnR6YsWv79VxbaL+scW3M0x+Ev5/DwEL/tPGGaahgNhtH5uqCfPLtC
Cd0PvxATTuagPGo78bZ0PXX7Z7V8x1caUKrfq310G6/VqtGGX7DaeO9dR429MsMyQ6NpLcOcqe2G
T7qJlkuerMegRjiYlMcqi7Xgovjl2yeMEMSqb6F5ZL4mVuP86b1fhkXeP2zH5f7hPRJi8k5nGyzY
WBiWK1TKP/+c+3Eawmoy493oQfUylwamLN2E1bbNQpMAkn3ppx5D3Zlw0rfxHaC36tN7D08RE/kh
fVj0vodrow6VIRwGrJwCBKYT3jmwQPPgwVTT8tDPrbIoDz6J4NEa/GMgVLyq/jM+680YnrCmfVX7
m7//DehzdOHnfy43r2OjEiJ024aT9fM/F6pFOpLJ8ndXDpdRLK8RGWL77kn3MxKXaKhU8yGe/Bod
cOq7MYPThkD1IrZQcfTbDmE+1SZs7evGdkTLOWC/AHX3Q/m9XXLCnOoffs38kYw5GvDhH2OqOv8S
1zV0IjzCcX6NYqm4+uZ2GNTbpI3FocUufAlSCARbb/qfw9RFAg/guWNXMCXFEC5kPQgge4MWIwno
MAs+u2qeYHZkWmeNnMNTSl5UdstyM7vxA8IuspibyFLXUa8i6hiyWh6a4kDG7Ctgq+hHWpxZNPJG
ynyDjJTnvMxSw0sig+1FeEmzSdWyPDZJZx9IIvfbphLTHdxsf8WjXH+e5+kaL/wxTW/z6ApKjxbJ
xKI4a37ACwQFye4M0P7k+HF+0Lm7tTk81KJA5benSXmq0N04y16yWhbHtpx2sJ9fZb2sko3yMHal
t9JY9i+vZ5CV9TxlrQ3dos0yfyvrPpzMsZttO0b1zYe6tMvSY6OWK7Mv8ZuUQ+SpTMhfWz2p0o91
so9iVvnsgdYRsPj9W2NFzZ7QUd0tK61y76uoICYwx3Bx1OBnOkm2gu2nm8eo0AnXx5qHTF6rdDey
nDu5v2x8LWR1O64Tr7ZwVZvicYmAMm8Uq0kf7DawT5Pwbi0RUJqr2sTTFnWjmniFmCn5G1/cKCL9
8d6jN9UfiGDbPNpFzHqRkSTi7H1jY7Ms53DniRBOR7SgNU+yh0jKeEdsnAD03CjrjFisCV0Fd9cz
pe64ScdxWl3nCFnxRlN0a1fbsI5RipvH6bWTrTVXs9fXGXKvvDfwt3yf1NamcAXRs9jKWcVUeOcw
8Q+OqZr5EjogjhSFN+4S9XqexvfEEeuWZ9ldzjOQ1l80CGkeZNELHDGzdsB1zl9BHkofPY3E0o9y
lO/4yq4q+JvIbyXrDB06Arnus+wfihBxDk8LVvLajIP3xcjr8OigDcczptvogRAXhB7FxZiQwsJP
wl03lhlky0GJFzi2pPeyCxgDAwobbqShrudrPRLN1u1QE66T16RPks0wiXAvFL34lEweCxA7eQUB
Wa+sJtdvcB0dLkrXfdVKL34FF8VSImu0s+O78S2rU2shGzJr+NGVtnIfenl8nOomWckTEBm/cWY4
Y96NZ6T6kLEf+FPIkyTeY164BuqrQ7JNit7d1kIpPmO9vRzVytvoSQ211CWNozQ3fVSSe2gJBi55
ukR7LbZVONZcMiKP6qIYQrVcejzEPM3P7mWrZoXdymLnv5XFQHHBM2G8ep2q4jdcEqM5O26rPmCI
EW48nUCeLJZZpd5Cadxd+zYD/GysAvKNVxvf5Gx2YStbTHbNJbtw7UFXBnFJjRvZdq3JYEKkIN6u
X9VRmuzAngWrlfmbGwn7K0REoA3VvDSJx7595zkmGpGs28rv0eaqOBoie/vOveXcAifOrt95/jls
0DbI1/KsiQmCfbJtMunzCeaD/N7Em/vr9/q77ywHDbXy23f24wrBfvJut002bHolNrdt5e4LcnNw
0NoCYIfSsbSQH8ekrYCtkhMpQtvcubLFUXLYilmCrdu1ZwOpIzIdH9e2GRcyz9GDqN54ofMcGwFG
0rJORV40OMqP19qi09UFUDsvU+JVEPICMOKHqC7hc1SovLEESR7gXSYPZYojZe/eyw6ABoy1CpVq
LYuFGusXBsuOcggOYM6qD/psI+tqh2RxGy6xQh33eZcs34Yxbx004HLaEt1tvUseVN9sbkfN2r73
SMux5Z/Z5js5Vzs17okrknXLsihuZD85tPIH7NjUod7LumxQ++MoopepnNq9Y5TJishutBXNYB7U
OEtP/lCxUh9WXlbsnTjH3krN0kUSFOMfwbRJMrv+MSbTN3bQ+icnJ7kQVV4GJhzhu6kWbCz1xr8f
PHRksk5Pv+iaQ66YQQBm2ek0+mtkGgjxN1N6kWcextw8RNFg7ZEG3BaOhbyQPtk3TRT8YfR6SZpU
QdzScsxTyFtjIwpfg02HZfYYl+5S9cA8KPW6FAhzJKAsXh1fPSOhPac/ido4Axc5AigQhHr+XWn9
byXOrp+tQY2Xoh+9hxp9yhU2DCq0j+nt3LD4i8Mv5w1b37mHDwFtLgj6T6CEIThrIAp+Oh8W3fD5
8rrYuGOBgjnq55sKDZCVl2Chk3UaC+6x014h5i28Tq9f3BqqfYBq3E4llvHJFdahTOdZK1dbOhNG
R8bQabdZGJPLkSOJRXpBOT54rlYcbMyk13JAmm0nPXK+QC1JMMjp6z0wfedxcq072T5ZETFdrezP
QUF4HnYjfufzmVLXR+hL2I/cds1+UIN4U+qV98WrNteBhtOt9XbKD5pKhAuTv8/XLwJqdqFkXLiY
DcFJJ3+zzOcJAS4d8rDNPk1OMO50qOCbtGnbl7gYF7KDYsDPw7svvUF8qby4DuZT8lS1CXm7ZtVw
54OBOFooYK5kg2LWG5en5nPrGGLrIFW6DeJBec4Ff/n5nEjclaspcBJSuCB+8Egur5crx1h9Ad7F
v1gKDjXebCIsR1QRiB8CSS/NZPnbYSqqHS4k46cpx2dlvtBxiq4CApjpyZoUFwhepC8mXklPJKue
yhEHjxA8wS73Y2zDrolvst8m2gnEsyxSl7MQjGzQfPtBGTDnnN+mlRKZl2I+OAlru9KIlLV8fYZu
R4PzLbCG+vpCLdJw2ubo/izlINmrA707spw8yZI1tC6uGz2v4TzXtyxztQMMqoUNKuYpEYpyH/vF
jeZ1/vNg51wcyJ7XWGRVacCc1HRYy1Yr9ZOVQupuL4OPIEl/JIWjnmVpnlEHRfGUzTMiT4ewOvFL
s+S8f5LFkwC/SUghR7CnzrE1O1anXTnou95ub/W5Aa4bJLIPzcpQ7HjoW/upiPCwA5flHD1T//Pj
GFi47EzDd1/70gsfse+2SwmCuUa8DOygWTq8I7eloYp4iR3jVu8c41zDN7lMlRqcjFS9feucKST8
hjZdXcs68UIYmmWD0808WZ3hQ6pG90noJhdS4wT8A/eP1kpo01snXetNzc9MnqgW+be2aLQ1SHR1
Dd7ZQInLip4TX7HWqeLmGNtQLHsk2b0gLo6yOBj6Dgwaq6jcMx+yqVjnYxY/+0FFJmM29WIhHT/j
luBsK9V7a42SIV6h2DTuZWun2q8iD6pbOVTx15OhwlhIyuKO4MuTPE+aifIgv1Q6zw9l/K+/lGxN
iT7KL6Wg8MliIS633jipR4nyvOI952JGAnzhsZO5igXILlcZgQ/IUF/xCLDPnWwpJvA+0bWTnDOc
O5lpOq3Kxl+zpV8CS4oewIFMTwZo97iBHSxLap+zREONXZYczdgbkxpfS0kxHg0/7+9km9e4t+h1
ObeypPvqQ4m05LUEqvK5HWztLNsyP/2qBWZ4VQ1XcZgnNyL60/UUapUsuDe8o9QGR2C1WmTuCCBk
/nJem6NZoCXOjWzNeM8vtFSQp5Gt+L9zTyUgbVtffbJsN1mm6qmxqnhPaix/nCw72saKqq1k0U/U
5uRU3mdbtUJ+xfiU+iNqY7JRbThVbtTuIauV/HGIu3yTRYToZWvvGemxHnmiXcc26KQ4yaPsmmZI
lROoZ+E+nzRo+26N40NC9p2JXBQYDqD/k6qvz4mBtUASp9qK/Hp9Nkt8fgHl8DEKwFiMODZsrpVl
4NJU1tpdlHZiT+hhxBJunkMFCJIa6eeqD/bDBEYdccTsQXP79FyGwVlVNCUHLDqxYdMM7ITmVjOs
mxtvBHHmpWX+IOswuvpipjpArLkqdHtM4+eN0CgnGDVYC3pe8/Rl/KABnfICzB1lUY7Qi00Qd+pF
1mgBa73RTOKNbAvGuL8jDHLtLnv0A4bXbUEkSRYdwp4I93eXyR6+IJXTHGV1owBr5AfaHWTRr0sB
0wi6gCzKQ1/pj0aTJCd5JneCXhHy9oKyxBeVB9Vc4b2x4oeS3PViUNeG2nZrnjTlJmtyeyUHdrmm
XPo/rv/aunSn1QjZHFges0yRod/GSbTVgzF7kN3NjMSsrk7629d3fMEeyHx2Y/ymlvBF4eP7S5yd
UPa2DeMutmdktuIc3qvkp3iwNyD5hpMsXasw3CBtOAxbCLVvw9H5N4COj90SpYN9UAz2OhHwHEZQ
sHdd5KTXg1c7s+GCd3DbHJmZtEbubhiyt36G2/ab1sbYzw2KcNXHvnYin92cQAKmq3hIgm/eXoaZ
39tV0f1tuxzPqzll85fkG7Jc9qokRXTTNnDzpTv6e1GK6LwXoQ4hPzN3hqZIZ5bfT++tcmwNLHNV
ueqwd8hg3daG9kOmhC0nQKKtqqytTAmzajuNGBFcGlahspcX2U9jj16xn/bu5uqhpGtPXRs2965w
y/vESD5JJEwR+c7GLgp30/LqJCW7GC1olZCM8+27zlaiVOkxYNsSx2FQgAL6s4vU2IqHoFwhhTOs
xz6Px4XtZnfoHkZ7CZC61kmYlDU09epq7obnNwCRYkAB3VIdLhpCysEkgOxmEGfQ/TOeZCsWYxgc
4+uQxL2/GXzidIXSo6ap6bl6CmJ3rZEduzPmw4j6xZ2fFl9HvYoPsiTrnVZ/Gyrr5EG1lGE1smm7
NQ20jkPEqW9Gu+4ezbit100Z1Jt+LgpFs/dW5IdL2ZqLyL0tK3GQjbKq6LqVa6javSzhl4M875jm
N3iwf5xN1TahX1n3OGU3FyU+tXrW32uz/XmfkkJ3vUZdyDZZZ/kKNlZhT0Bo7i/r3PjUVK1+7KL0
/D7QGgd1IYu/DDQyk7Q4g+CD9YQpprczyQFRmnm7XHec5JyxTkB0QSOE5ds7Rcn0m8zrrd8+scLf
aLYH+qshekQkjSjFzEIAHtCXnXmUpXZQzBuMMV5lSR6A/I/LCKfzrZH2CHV3jn/piKfOg+U0Xtgo
890drro6RnV7nrEJTPPY90pwsQJAUkmGB+T0SZf/pAhZ65UILAcJVC6fPERVdZMYhnKSpbGHRzv0
2idZquy+O1a5M20TMmfH0A9wlJwP8X8+maHbbpu4fJE9Eq186yGLY5IsTVFE2BKKBglaSEATlrUL
F7Xsc18m7q06N6RzQy4AsyIIC00/791byMZvI2C7/pgKHbqOmey7GaJgaJO4F6hfTnp9SWeYgs2j
fVcXhFFkB1nXz2JACljY66A6V8S97W4y+2SZw9KK9RCwdCbO8tC7AzZseOhuOgyV2NDTEDgz0Hmc
WwT8xcEgpCb7yVbAhY8drmw7qayVuRaWKJZzI4W1XA2N/YVskOW5VfH8b2A+4d8HeAllbq8/vH/y
lTFYFXOd4tMqYvdj63u/ITePmN18Dfq+fCE4SzqEP/+ZvKt+KclGyvoKD3rCZnWxU4ewfAnYJqVD
YX3qWhY8SHCy5Z7r34dnuNTcVECz7xodxZoJH6dnNhIIoM+fqrlOfpJ1slX267sq+LXVcfu3sXnl
VUu3D/StMhmQ5JoAkSSU+A8AUNay6r1efsqtxj+1jqi3rhlPjyLxTgomHd/nD0Ame/kBU/hrjV3h
5Hu1Ivf4S7RRGxyUSrtLPPYQofzLyY+1O2HW44w9ARL+ptZ8kA3GpAcH988RDv/S85UKZGPcAsbD
mFZ6PjTb3im1R/6UyrZP/Gwli0kN0tgkbLOQxXqI2aaxUvCrUG+XhqJv+j6KwA4x1AXhuCi5826U
xtAe5cRVVBJYnYuBxcRuRqzdI8KLTvDo3CEwti4CfTi7MzkoHrAIVU1/1cF6IpXtNcJ4RjEMScM4
LZaam4hnxcqI1ipZCc+tNJ6ron4ZTSO584l/Pv7FIEUb1VWW69Ypw1ZbUaKYtdLK90FdcsesQvmh
n1a8saydZVjmJlX0bDuC8SY+zstXFo1asLOaX76y2OCnupzSoLwfx0Qc9MRVlshAjZ9VRJOWXWum
R0Iu3TOYtEzgmSB7BYVQoJu5w2fXQbQXwaf0aHSK7CUH/1UvQ4ELkmlWQDQk7p6FcpIzFE37dlpZ
/OW09KqTPt+USq+tyB+m5/dDZKAHV6in95pU4z2+AJO1rCqzOMoG3EWyM+T39qgi7Ps5S7mXec88
4RJm7dKxNDcxmc/PXVWvkhmzFNmYGPhF4xwjlGBvhw7L8yuYiZFeFcVPSdm8jdS89DpSdkj+M7LU
U+M6UqKdsJi8H/NmF+JV8Vpn2wHBqh8VTpSLsuisJxOVjnXe9eGpKpX4plIGfeOaVv5ApIXclt2J
b+3ULuSoOB9f2mAKnxuC8StQZcE5EKRWNZP4HSTY+BLVXrD006T8GvYOKg9kzmKPN6pS1J+n0C3R
bKmDW+Qiu71T5S8s+tNVOQhiURgvofc0Ol9YcIKpbcMfs9FJDOvtJUs1e+nlZninNZ6+c5zY2uWG
RpII/D02vf3wIqwcGxverZrivbS8EFrNdM9eqeWPHRSCZYFHyE5z8/xRJVUF3dOdloUIisd+7NXb
BrdE7rv8UfYwB2fnT2NyJ6usyq2XkeMEe9l/8jtzW6ZaspKtBPGbM/Jo9/JUssoJhhVWO+29LDWB
4cI3wsdEzh2GlbKx8FRGGpYvY/lGDgi2+CL7DnlandPQhPEdKgZmOmH6SOjq3CVZ/sUIwUgLJH0O
leOArZ0gddRa/mX0RtQ8W8GPAi+Pz4X6VXZXNLBJg8PCXhbRZbDzpn/Jjbbc4axXb2Q1PqarRkQp
XIpU3+d6UK7lpJ1iHnJuxkcra6DkGWIPhiy+xLnAt0cA7q7tDn+qvPN4FZa8q4kmX4oGlFEwdpC8
sj5eWn7V7lDxUkiQzuX/z8HXqeaz/eUEmo8LaNTkqK/Mig0NzH70LJ4iDTGyVivMhazPtGFaFX5v
XLtV2fChW+MkH7tZLJb2Kuvk0xhKS3CSiN/DuHEXta3hl9BM4lnFeTdDD/qTqrrBrWWVwWKaH6Ks
D7qtCzdjLYtWaZKHJ1BwlEXPeOp8q/kUGJU4D6kfk8Zkss4yIRP/P8rOazdyo2vXV0SAOZyyc7fU
yhppTogZz5jFHIr56vfDku02jA8/sE8IViA7ssJab+iROEyH0CXn/wds9q1ulgQnADZdUiMIvtsW
bnJYJ+rPiLUM+ynrtEsUNP0Fcre/t5Jae0pnBN8EHO/vztBfTXX9kiEDNSbtr7rEomLyuhGFVryH
6ygor1499ydkrOdjGsnuoZg1VIWxInknQfS7SAfxZ6wfHdPifTSG+ebn/oQbDc+etpLM0rQxDjAD
+nMnFtxah9LZJWh/vurrQMHuffqpuRIta2Ji+EUOx8zSo+OstfG2k6b1Viadf6wbghCqOAMpO2Za
ln4VMTm1jmYgs6/iGPOUFlifbfUqtd9yfSJbbpUl8yvFzkknim711dkjXX1sMFL8anXbuDt6RIS+
rhWVxzovF1gNrtfWLtkTORvYP67vCnpPgW2cNny1Fg5E0t7XUaFcW4OgTo6xoc1frXkQaYd4MPSv
1iVPowMpdsgY651bj0QIluDWV6tj4PTsmAiOq1uJRLcOeoeOqioytxmHpZfIFqzXltO4HEwnwjRl
fV1jMKcD9m1QtWZ5kn7dHaO5fMN7aJpCWJbyXh34ef86S60HTy7T3X97qG4CymtIIi8/qKKsMRku
hYNp0mofWdimfx8sHTijOnpg8rU8xFHcZN/EiJ+qStVPHeIq/eklIEtVSTW6GvqTfTHu0/X6W9c0
JxaVp+TCbnXqrDP1V7PE0vR2b4kz68UXzlkmETOe6halcG4btHK26sZGweATJrDHC1jWl9uLRRX2
I41WPWZsyP/1+lA4JCJHZbpTfW8v5pnZyfFlfXer72OtOKNd/a5e+XbvpDT9DYEx4+se3kvkGVBF
V7sVddASnFZEgEv2vLLK/q7Oc+F0oSqbWGX8c+qQSkO/BckBSyu2OgCLu69T1bWrcy0UHX58quX/
uF2XJwczikktrC85r/dx455dkSrbs+YjMRKYOyP1WZuhgxuMRnBqYv7lqug6mce+SVT3uhPE7y0e
bqremHzr1LQ6y1jAVx+GhArmSuDOoJztt4JogKrPimA6LWKCHKhuji0PORJwhcRAWNAapALUoe7S
4K5dD6rYdU6z1yOI4qpubBqS1OT461A3dZvIVOrdp17n3We53PaBtVyYhG1iY2uDG3nDjsAX80pW
ss5WHVWLkWDbuPYW67W3enUWRMZfl6ni17Vt7JztCs3Vn00uD/NsandAGnLfLu7VYbYTBKvWgzpT
dQkJoy046HbznwakxiEgrteqzqk2HGa9rs7/qVc91KWkyaN9y3L56xX/14upa402+EkAcY3MEfrN
x2je66s94rwewHX9daiVgWIOreTkxvquVcVbn9GK9Y0eaOPBlF4aOoaTYCjdxievLvLDKOL8PYmy
J0UpWWSU8rfo/t0jAIz+f/eItKbbzkuHPGyAgmjQdwSvuri8M3VvZ1t47d6qvDxFHOFWvl3Rmll/
tKrmHnpMcafqvzp7s+5thwJHO6fvu0e05mG22Dh2TMROAtJ9rXfElqoKm9npHr8q61IeAPStQq7U
VetBtnmyY4+tb9VtvhoMD/+YDDXtRV9tnFZvp0mb9U2eR/3mVpf6wvO+ypXybro1GQZyqqG6UlX+
q12VpUQL4z+3+58dp/UdqBZ1UHd0Df+vuluRp46JXfXxywZHmH0GAW0bkHGZwjqe6/sJN0YyO1Wj
Xxq4KbolKKqWPpJmv427Fm4lv/JeVbqtu5qCzFa6zVq0T61RPjeJzlhiJt7JDzLCJWObPZn+h2pT
NSBO06NH5HFzq3MdfDySEjadkTntswAr8Fw9q+7qkFsBy3bd975eQ9XZQk8RDRHyaFb+eDQKHQxM
UeT3BOPye0ns4yhQgWiiyhj57/ocVYvqA5azA489oOO89lYNcCeNfTVYSIYVuXmunGyQr1GB4a/T
YIUX+PFL4STTp1GAWW+doiMP3WBKl8cAJEo5n+cGUj0Lx/gRIU0MGjUYmBlb53As7PkXRPsNJJQx
DvN+BGtkBWCWbAQF8qR/1SKSeIPVIt3hIb2t51l60tZ1F9ylamdN8/RaS8DkiYuyvuFnp687YXRK
cCVC8LHn8cuL8hotBSKqXX2xHJM8rjfnNdmhv8vqTB1kIqujLS3EnuL43v3nQGgN7vvEsFYkvnnQ
ffmpGm/1/+m7TI1YsW3/8x63S0XmD2c8+Xbq3rd6dXarW2o/uUuQzV7fwX9e6Van3ky2IL3s40L4
T1e/tJND45YIbcWOvEcYFqN6L7b2k1/IXZsu4PeLp8CDyKlVnf9al+Zjjf3Sg04i9VX2xhIuXpdf
hrEIXpeol1viLh7fAa22HN29xfJ/Z67FYPXSXTQgOOpO6dAa+MaIH6rRQSroOeJxYc1912ZOjQ1b
zKOO9zrHaJWzJQMFlkGV1Sky6eMZROvK+5iCtyLC5zufxqsqQeV8KUp9fPgqCZvAlj89fpVc71gs
lf6kSkFGhMRFN6C0vG/gz6ENj93yoA4mQNhdGVk6EAXqysb+q6EFUYnliu/vOt3pXRj+awuiKmHM
CHW83aFBJ+AhjcWhzBPM6P+5M+T4YFdaoC8DTDihOxX2Du0x97EDdPNoV156nG0PZtlQAy1ZDxZR
kfsC63kzYjfCqpS63ooPVrtMLE8pqb5pYpth6ybQ1bH3eewxTUq16U5P5nFbENn6iQpPY7g/W5T2
tnpWmHeWVnvXeSCtphoa2Ob4duqfw+jA4Vy63xCy/MMsu+pcYNaACODtNAWefSatK5dNGpvVuTNc
vLsmLTph6UDMGUKl67T1qxiAgTPDtyeCe/VrwQLn0GKFvVWtBeTC+3Ys3glG592mH5fQ7xP5XK9J
VVRmltDxcHEc4gBTABhS2Ir0pX6WRrR8HbJy/Hfxp7a4BUK/WnwhKgQvZT2Llkr8q6ga/lOXr/1q
v8SCVl1iLN2OscU5tsCBJiHIeMyF2HlCb2HFJumT4bQwYRrZ/JSD+xpMuvWa9ZN9zDw72uf1EH3T
oBFMQGl+NguSo+Uwd9dUL6z7iWznpmmn8mFKhC4PcQwTrQTlhR7GGJ0MmeEVKc3o0VwP7Jqa67gS
2VLC/TswsCzS5YhrDI2qG1P0b8LX6VndQx2EmwACj/fQUsGlCXvB2xwpQ9uav1t1jdImiXRcofr0
kAwgwqPBEdcUHYdr1Qg0X2XkEomgeGsQa7GwO6BPFiZMtwbNdZp7DeCm15Qo55bS+7DiCK1l0XoX
F2Lxt7H/6a7VER5Qp34NDpIlaEIQzPHRgOuKAtao4Y7qaneQh+3dGBckftYGVadaHYNtLmLt9AEO
22zQIAy1YvEegg6EuO/ZyU99zp9l02ivNdCuo1xsc583pfZROtpGdZhx2N72TWbfqSujEqiOsl7B
ZuS5MHTyu39ZQXROzmyXWQ+p65gPRCTHfVxoOIj8U6fO2lQ0mzWcsZ+DeYBDyM5omCefPybXqoPT
5uY1qF5VwaoYIMIC0N9pqrxfXjv32Y51d76zYfBtb1c16/WxVQ+hnCPvoBrUW4nAPmDhEyMyv7pi
e1DxtV6K9xnP94ehNuKQhD4B53aZD14jvZ3q5kekCFw7YN5dW/+/r3KGpHnrMV/SLHN4RJxoeISN
gNSHhU8ymaS7W32flCSKl8VnO0g31ZDlun5HiPWkLlL1fF5EH7pxDXF51gPZbiLso+9+0x39Q4nq
pMEB3QHvtxZL5PsNv373pOZuhwB8nRWL7iRxjDqCzLIenFr+dTXf6Afo4T+tuP/N7eL7L50/pQDo
rdI0wsHFKYkw9LxJA6qGbpgeyjzTt2ZuAAaW/v1soKqmFKnSwTzEeuLfq5KqX6tUr2AR0eEr8WuW
FYA/2xUv9WxGT1rxDEgYyst6WLBk2qbNlOxVEbjoaqPczIcmXRC29Ps7aXTzg7MUCFmSdd9AqVpO
qjHxpnmPC3O5U6343U6XosSHR7W2BYpeMzgu1aiqYFoAtbXnB1VyImIMkbyL2N6U5nb1m85XO40B
QOk2B5C+UcWbX/WX0Y0qT2sf2WjdRnla654/wY025hffR7bT1DAyZcm7vGiwethMTG/zWlJVumm+
IxOb36v+kr/sAZt4Zp21hw+M6GkQNgF8bhZApkBkA6SYiY2OmVyxx2IJODH61PnTrLusHu3knryU
vuUNjU/I2pksbEPGzaepHWrAlWa2mYsZvz1twCWg/4g7J3jMzi6DzZMHtzufZ7KteeEdbKLre98L
3L1d5R91WmuA9F1tI0hPHknHnhACTp6CiMHdgKP43SfQbXcoNBumbaFxYU9XdaY5wI2aGgFH0+Vn
TbWxwL69XkWPgw3xJ2ZpQrFEzpiSRz3C7VhG9tavTKK42YokP3rT0xysK6IAad+Y10cCY67Oltku
mzczgeWNfMaZ538KgbH9USGx91zrVnyK/eIzGOIfIo2DQ5QYwTGLNGJbbIeZJRP+Rcubk8z5wV3R
DL6cTmlb81nRz/ETbIptJ5yRk3qsYSLuBbIHWQT6vDFee8v4HhimH+ogwrZ2HxHt1LywtUgQ6TPA
nzHuN8PI00OUoMRzqsO2C80Q/TEIdOTPyROG5iIgAJGI2AF69iCe1pPckunYjWPPvKzn6WUCthiK
qrvvCcfHROx/ZU6JxGxjdbu4Mpp93WlFONoATM182KArCdAp+TTcfvnRNf0B/8KTXJwHq271SyDB
tjI5DbsgacvQSOY/o/5HW6K+zN73N1LYfBfyE5XBQxqU34YCMIlZ91Bxq2cTtFo4tpjLm9q3uMw2
TtswrTQd9mPC/pGXH+h+7S2+mTLANG/y5G+dZcLWsd9hAzRnIMfsTjB7Ce10IGSgaePGXMocgJXz
3UzMBcA3a8ogqcSGDp+QSXd1yQQ7F5hNNXV2TVyQ1UtM3s7J8CiYqv4AWvSHNpblax/92SChe4CE
9qYRHWWdsFzriQBSkayCU1PO5LF4W90wr+Ax+SRLgyoT4QUgkuPvPI3bqzFbmKHlr/0wGG+Wdx5A
UG60SLwa8EK2FcoG24kxgIinfcJe/Gov07kSOk5cWXEdOzyfDCgyuyXjxyDROxwS8KTnJD4FTbfz
TMwTo6rFIscen3ojaVl8ds0hcREdHIb+EejH1m7nERSyfTYqXwv1JClA2vUv3lKRsJyrZdtHZXsW
6Xhqe7C5SC2RmgW+rvX6cRzhmFV2CfAVXBey9WT7Ew8LlZo0UdfjFjfgypBE7tX3gDnjmiP6xj10
fYJ2ZqJvXBCQAumF47LAY7CxAAqNqDTObMv9zdhrLN2j9kQMO7SbbgbFoZ/TQMAPb5rE3DVzI899
hnD6gzpt4L3l4b/aFlOnoqzc4SD1/lTVBLpAR3KVuouhmr9uEOMRlEZmWEzLeIDsUcJ2ttsQq/cJ
HY1FnkWQmHun1x90s27OAMkXnrDExy6F/fFWzoBMenP+zVzlQpNZgicpVjV5VgYhs198dk3EFcp4
E9UeHlS5/+sZP6fP1GcDN3tNEpbmT9P1XkTUhyY5vVMMV3XnpcMfteTnEcHyWNsuAr412s1k4Kty
Fckegoc2zxL0gzFedcVrmSzNLu8BIrf978JDswSgrodsal3vFi3xH4Y2OhWLr71ECPxGc3IxrP6t
dLpqj3LJZ1fm2s6LJD8ewo6o/wz3uisGUvgkqg1Zvchk+B63doeSYeIeMpeESj32+2hoyw3vN7sU
xXQIEr6QokazxSyc4b6p+LKMXLwWI3l9s2HrEolDlhb7hYDy0RXyrigqpH2y6m2s9Y1YvWHwqcQm
Cs80MprZvquiu7ZGVSLjYdSN4bGOjI/E9AjVyPais9/Y9Msw7GAuOmfN1AQx+8w+5QKRi7Zr/hRG
VYV4Ult6+ycqPWk42SnW5DLHMDV+6krLOKLQ28a9s0UBufLki56L98bWkzCwJra+fnFNPDfet9aI
vnAMNrUNipNpsEjI/Oyja4Ml7DN/3njyru7y0HdnNxRBieF7Ufv7inTPtQey2Mayu5ZOTzQXORLE
1OBhdUJHk1L2b8T001AMzodVxTCyCDk9CD04jjmaJ748V9r8O/DQv3KCT2cssP+0xlNJ5ilMBOli
JudpMzvA+Soz8DeEoacjO6+c7BpqNnnRXNKxYwz2J3uPeYYZ9qvTp5Ub7xC6J7Cr7Z09+8E2rQe8
MzLIqWJML+owCCe9kB295EXrQh12C2C8w4ufQbAgshQWrhb2Xftnajnvzjj/0ZodObDEvgOMfalh
IXozcUTb9ZstOgjfJGajO6/MX5EVd64T033YtXl7rGNZPBYzODwt6Z9Ev4R2X+S7gkXd1oSYhShW
isOXMYKlLdxNb+Cs3JjCQhDIz45t4cd32NJEqP1YyWUJCucUsVI7iyQzzulowdBMyuVSpdl4LBFB
vgMabh0MIeb7ISliFrPQWoHHNPthxBiRXJOxq9PMeyy6ONnF7X3TQ+uxhUsyFQNItDNYEpcNPocJ
4r+bFQW56TKdvLkNJN4Rwnl1rQC7wEU0b1IeB83Fb6BM/beOpP2m9Zwetf0EjeEeGJA1Y8mERL7+
bWnYORnNUH1oDTnRIOumU+3YzhbKqww7hsuPyYHpk8Br+YBW3AFOBvsAThXXv15YH0xgOCtC1fqY
3L7Hw1foeGs6+GcQF/mIEUQJGdbHD+LpbNiyZvgwgmgIC1BSH4GDFJKz+O1HXDFEoGPYfEAhmxDV
RuIt1qwzhoPmFf3JgICEF21VMRWLeS01WERT8rF0Wb2Bl2SD6Y67fWNPTLK2fU5c9sRRbA/XDhHX
q+SzXia/3QM4Y6/MBLStgwKqZe4596y1iSgFj9rSaq9dxlc22pvB5V0iMZQh5T2NaCQjCtPH1hoF
Rc0HaBSw3xgHPXeyjY0LZHyv65rEOEX+8IecFDPaIHD8qxdyOvN+QE9kC1LI3eCGZYWDYeUPjTN6
4Swya5cRAg4tZziYVRbgSZ6O+6W+DlkzH3uZRteFz6Kl7h2Yxbc8icQjgdQ+RJOKKavV9Aek0FH0
K5dH156ZsKt23hBIAF2HcjeJKXay+pD2G8gM3d5aTVD7Mt3AiM8e3LGvTsGC0yrSjniw1Mv3qq/w
GamWQ4Mr326ug3fAwdu+HVOILzz/0QLid258wUdxwYZgONwtoLU9dxdlSRxGOYFW2aKDIzjdpymU
IRGh8WWM+aOrZVdzHbrjnMCVW/Tttkc7VEOHjYlbQHwgIIAWa+Rs+qDwQr2oSEQyPXRp5D6PdUBQ
3Sn2srfqcKwIalRB7G8zDOBCSWZ5J5Pa3c5+O5wR6nDvU2Gk/OkWcAuScJlhM6CWLKEfvCq9K60G
kK51NyNNtxucOb3A7WgOLPwd3tkDumnN0UAxQ2gyunQ8qohD1X/Y3tJjxCac44AUTZKkhJBnz9h1
XVQdqljkGzt9k67RPMbzZIZE1L4zepNhHsV8Lp1wmIc6TGSsPbi17K+TO2lhSbr+XopRbNBs5oPr
wTnBeqOsCPNkXftItBtwQw/wp2pRoCwdDLQ9w0CZHs3LEFFaXzeyK/TGPX+J6dpJso3YKAbnOPJx
TC38e4TcD0Os5eHg6w82AZ2d5c5zaHTauQuqNyFc767stN/txA81OYZ1b9dNuZNz9kta4HdaRMVx
znms+ja9y4dxCrV09sIJl4GOeR9VCKYV3S3OGHlHuznCPUgMMKX7KMJ0DekO4Wm/7ckeL3YEfGuq
k03ST85GCv4nfW0WZ00MUEAtAqPzVJ38ecAZxK+aOzTHrnrLlsoCKmJhiWhiuQFYlhWZKNxLOwU4
ukwsnox2kAdItrtk0qCsNWI5Fk4ugVbWr52snjQdwBsC2/LgSflpiNzcWK1h84TlPHyB/bD0Eyy5
JT75Ma5Fa0y0H5Jshxw0K/jYmLc6u486SMQZjpJO9mr5LqUFVo5lwZaHAg4FPuubZZpwH+qDzzwq
7bDzBmIdyDRNOdrQ0n0gVTpdJ0CGaBbJfe7H7x5iNbspMHEzFflumWKXzfDAFzQMYu/Gkb4TXv6O
IdC0bQiZ7ZBc1Xd5Apqw0mKEVsz6rpzQw5IRU1Th2lboIQm319LB23RF2m1ElByIweXnDOldVzfd
C2v8O8wuO2TM00fLMLRDzYMURvNjDoBjLFLxJNnPxg6JZssnbyLglXSNZMeqtyYrfXZ2tRVPh6J2
jW0KwCYUPnKy6UMsJofljRw2BQjJreNlT0kgLq7jt7sOiVzy1oW+H6DjHRdPD2D8InLCGA6VZsiK
fY/w+9K7FXJeKV4M6Knvo1nfSc9vQ+jK+T4KHEaSSMQ7VJ4+DXR3dk0vxxejICxUwL5pTBOrryDA
s9RC+KuJ0mmL+eMLP5VPjMX/Qfgz3wsNp4vZ2no5GJmYoBxofa/F0aRF0M6MCmA+k3hPiM/Ac91o
YAMBtXftZmBJsW8cFMwblCBAh1fdc5ND4bJIBAbk/NsJBH0+2XOos5K2e6zBGH9+IrMwXkSaP2lR
s2wG3YjuhbQ+XZs8/DLU57TPxKmcGa5tDThXRTaj9i4eu0yopxe8d7cGLnSbpjFQRKoiqHMROKVM
njuzBOQ15Wg6xk0YIbB60DX2LEPjtF8HZwEFYVcF1kiu8xQF2bKHo4kZRgYhtV80dupTkQIECJoT
lpf9eRrFcFZnt0Ps2v25SIFOwalhpvYIt4NvP8xl7h/4ceuzlev12SXete+W6joj9ntGEmk5pwWb
tgBe0kbdze9IBvT5dGhIMCJDcyF64YeE+q/CCNpz1pTvrV8QQCntsT0uScEWOYDV7OczssT9fB6t
Hi1zT+KF6xpFEToO6ixmaZ8GbTXEqw/TvJRnZpGSTdAU7Zy+encTUAHdEFfcn1CLxGe3sKuNllQJ
eyk/OqsDy1fWoUl2dQi77yNNb89L36KXNTqHluHw3OoZ2MWEZWnYtNVrmnV/yK7sv74rdaa+pmRx
0D6fo8VH+aUXh2h1o1T7DHXmr8XVmo/fe9vW5cSb5uBO0Xh24zdITTUD3c5A6p/dBVnZwEvfrTIu
jY3Um+zUdQsJ92VrjNmToQUpbvZ8MJJvDjKUKEGwgpcyijYMUusbaB6GSl4zjeECCd1Nks1RESZ6
FB2WvDmOskFYocQVMU1OYwcvUWOxBgx2ss7qHSDmQV7YW95I29X4VVj+slGn0khqtr+RFSYdIEqk
QqB/v1ZlwNZqtInXYEh1BuhgngUc803twWNrfvpL/pO4i883G6EhN5iOz+6YMh5Y2KAm4qR+q9qc
qnO7HlRRHWzEPPibrz/l/2qOMKL/V+/RC+R+HgXBxfJg1OMGs+VPNif9Rtqowu1czUZgpMyOQ1ME
JHXoENf4f1d+ilj6HLZBCz5TeA2QOw4DiL/9/EvgKUEGcDK07i7K++SUawVy7g89NoH7Phmeyqi+
yxgHzqhk45BWFz+Qk4sJlEtoWj0es4v5INGGJxyu+Tsva7UQYDTphDhdnqOmKBm7l2JvjPGTR1Ys
Kl7wXX9rdd86DGuYQHec4jzFyES2rXmZDaxtDhARvJe+5RkOBh+8ZFG9BooGif1AGUOkHMaTVrkZ
j44/X8WMIJvjaZJVE3HGAPGGZsjPkS7Q5e40llWQsS58NSe0YDQnXMg6h9oESMu3zDALYvsFxaOy
rrNzUC2/+LHxpwG0erLHEm9NM+22CSkyc+yC6ygW60BQuYY1tknZQmydVlYPegGpcWAbtRF5nYZ9
HlcPTkrGGSErRPvLA0T7ZUsWJqAXgs/WhLItHjemv2QfoP7bS1Sm9gZL5HIrtaW5yxDOsIxKe68Z
Zvfe1PqnHF+iJ7wzyUk7S/fHlImDt3R4z3f2i+eJ6sAjUB4j4ujvVRmhmJBqP/rIrjfI0w4gRkV+
1XT2PTIYdnWeiB9xnbwRSdrgwG1/DrF4QhDV+10I4mnMC2apuQ95xPKljNMmbHVs22zp/iQy7xML
YIzy9K4/Eix5JjUIx6VvIFoRLdlWscxOJorzW6+wlyMqpsthIXWwBaVpbRetkzuWj9uqHtOD3qzx
joCIVEmktRO9ewXoj12hGJ5L+CRWWiWfkVa7MMFJJpgvWa1XK3kl2emWuzzLUf/spPFRjl2DOjmE
SbL95GHwakn9NEAHaCy3aC5nTyLNCsit2cwgtevmIr80RT1enDV6NwP1Ha22OQZDq71hfb0TgUVI
FcbeNurz3RSn8RtIwZ8Co6l7uzW1V0t3NOwz9HHn9wXIRqdK9nk7+Z8t8es28MHWy2i+EPiMt7mN
nNJABvmIIv/WR8n9hwxGa+NlnvHADsA6tXUiDxLu2Utid7DeyYT/bpEPdoL0V4shMetpw3oKqrxe
vUfsY2AN4slqIkIbmij/yOvfyAok5EiTOlxaN3gBbRzt48SDMNwseGwt2fJAiOHXbHanZRbdyyg7
/6lH2CIpwTNjNN0eUAJnOFL575w3e1Y574xcWh7eyl/NqqeqVGV1UN1vV9/q/uctVLO7RGqcR6xM
O8VEPmF/rKbGX6fViN2xKqszNd8MiU4nVf7X6a391l3VqcN/6tR9VN1sdOXW0uspZG+Xo/1WljWT
6nqqeyxhCKf+XWsNNguCtT3XgOzu8GP7q/x16ddRzKQBNUfbx5lozupQr9PsaFeIj6myLee/y6hX
s4oc0rtqNuNnx9B5HPzC2gAiip9VXV24jO6pPR5UnTrocNP1ZIzuvqoKN3uMGcZuF3U4N55s1Py/
6lRDKZeW/M6qdbze/Ksu1WRoGIN+utWx49wgZm89VHZu7BK/jg9OjdR4pTXOVa9t/RoVQcLUN3U/
Wt94LwAiv5i6Np2XSBQ7FwOip2pe2D7Fc4jEW/WZgLg4pBhAHkmMwFqGnYjJ3tYwg2E7tDmxlKi8
d6tB3tlpfvCZYy84ebJEWrL8BHPskLHlv5RIth4Qd3kr29y7Qj/UdxrbLoaV2L0fuyllha/fZ1N3
RgyluODeK7DUAcgNimrZWYHhYnpSoB9XLT+Eh+wkX3TwQkD/vuxa/RO9tXIrRrfc6YvxSLq5Z4vZ
I9NYZdNGom54sNuKTI+OIJNhQpRj6b3NhkF/a7wRwGiXrWwKIkk5/lBYUMXWR1r/smQv2SkDaOxj
530Z7XpbwJ17zhNECuqp+kksf76oqjY2+2uQFydVUgeIwvFeQv3eqv6qruvNt8AZ2jtVGpJqIcM0
3XfdHIBT68S2KrLxuRRRCQ02GXdaPI7Pqi6pWOwCjrqqUoAr5yVpit/I0PzVYZmQqiYqCQZlvYc6
FOafyeiIJ3WboF6Sk451YXjrMPTYPdham59UXcNze9dp0TWQ5PDnaoteYvxoLIWOiWc27z0/XsMT
DNuqLnaSp6Ikg6qqnGoAdZtXf6hxXVUl4zJv9NowD6qYzrJ6nomKf92hxALbBKikMK8K5Aoc9DGt
U++YSsZXJFv+Bt1+dZEL63Mj+nar/28/QvwlcEjL3Kv73ToORvIykY1jZ1OMGxScqnskA+2TNa36
OU0yhapOHYZKr+679RCnGnBOc15WzSeoOf803Dob2eIda1N/vFWpszmPqvtbnZ8Wv/WgZfXTJkHo
tzK9r0xSxgKz3q+zW52rdYAI2uCsemhkmL66lXGTHzUTMExnojqe1jZmKHrRvcUEgnYRa4a9Khqi
KnBD6OFde458E1G0gnzWWOHaORlFcUyFAFS9FkfR1zgGgzNBqom9l3DfrCAH31bZRJjXok1S/WhK
kPvd2LtvU9mOR6GxYlOt+SSzY9fW8za24coPneudo5ZFiZsRndM1QyCSlruv3lCyBQvEuyo5hZG9
rHkCVUr8yH21bAeVpK54UlVVH7OaKOrlThVBTNkbPBw/G3QetubUBK9OMmhIgiXazgkC/9VgaXTU
SxZ1qlgh9YL+Gosc1dliuHiEwXBRjRGIjtdvJn/rYTPOFs9VXT/q602zjuVuFwTlneqILTFrurnH
GQnjwlDVjcw8OyFRoQrY3wdJPUCiYcqb1MSm5ibf9CLCnWsapxugi2ws11yOXi73whtysJ9xcihR
C3mNx6e6bot9oGEMnY+r7uXovhAkcEj+Gv2uApX1pmUD0alc/9bHGbP7XBZvjjHNrPMZ5TCNyVmL
W95lSaA7oyOavw3aRLIliN6Rg8aCY0L8Oejtgyo19di+etaJ0THZuXhZeqCCzp5pBtC3MqSoy0i8
yYlIVt6QkoJGYx6NMvY2gpzAGuXzNgNIl12S2/2eMNYaG/NZzhcvc2+VG9ss4mNgbhEf9R/d/8fY
eSxJjivp+oloRi22oSMyUovqrg2tJLXWfPr56NFzWJa3z7XZwAgQZEZSgID7LxY/GCn09GSYyqOR
1186XcGKx62mR340MhzFSLw6Ze2iGNAiY5LH28AuoRrqaAiimlV8a/P+yfcr9Q0nQ0HcbGrT818z
4lpJxVxdVSquz6SBLloK2QqXOYZdmPdBHqS3Jm30o4ti9C9xk/4obdc4NdhYPIQW+nATU9y7rMr+
Yu7d/HDN8KEfM+0XNhuHxGssFkuPzTRvmJDn5LDbFriElWw8xJW/BAv+OszrTYA3xrsZN+cIIO8P
LUMYTnlKsTF50e3iDmXe/FBoxGlzJc737hCXJL2jL0z6qmPvQmQIWy9Enz5pn8y+qAkE2NGPOvym
BrN99BptQefn7m5SiRHmcVhgnO0StFVBxtqz/jzHQ/42dPHCLkzDi1TTCr1RQBNXmPf2k99N5KG6
oYKrYYxPUW0u/LK4OYAKjk9NhUaIpeQn7J4wcUjt+kTQr96bC62clbnxwtSfPz+TgyRBsQMEtY8V
Ev0ktdJNrLcRwRt7Y+rPuA6+BDMjkMFQewh8vcDtOwf1pWjlu+60aNZm+bPFau29n13tuW30g+xD
+tS76/DQ3oz2z47B+d0MHe81K5HnxyLjvbeMCRdtTJiXfSNCcMSacTVdaip6iy9VT+R+qfUki19y
nHilhh5w+dJ4ySH0S+u9LSrMdvPsKPs6z1KfHb8+3WqlWT23w3w21URF1kI/JVU6P2RL0arD3Ry3
OuEaamXX9IfeVWy0jHT7YdQ1hzXvlG2I6KAZII3Gsie2+MZMU3aX6bX9oA4ae/2pnfdmFPUI1i51
2SUFCUxsnvoHqdxOlVWNRVK1IIyaDeFp6DPCkk2IYZpr1SGEIZTDpFosf4AkgM3RC+yZrAVwIqpj
q9N7dtX53IXT260qe7S67C+RlTxkaf+XWcTFOSPi9dD31T8FCpjOHl+5avtpx6B6473OT1n7toaj
GZtm1KoNAHKkRZazRC3BoFGPEQww/eDRSNzxEPaQKbVUDR55kyAJ2P08XRcPI2mTfi7WQI9SdSvz
CcYdUYbl+LV9rhrki2pbQZcxqJnK+dounPwQxilFHrc5AGMolkNakkRe2iKT0RMhoAA4h92+ZVb+
XvpV+CA1z5v8BVqJI/myc2hj5agMdsxCOu/eVDvX7218P0CMtIBe6FEBS2Vx/CqVsCbHhF79fJWq
1gLlgIyXHqVaTnl89gcP5PByJDKe2eM8RLc/LE22NW2jOg1epGZlAyHWAU0UqUZ4v+9tcwlEL4eH
tlVe4GLYG6mmumM91VBwpSa/rw30U2pn9ZP89mzBeY1WrOCnufzuBVg06Vq5l2qJuTyPZo7bjfw2
O0MGKUYIaqnJ2SK/f0pLQrwklkmtWVqubpWqqS82yQICyVPFWG0WzUm1yQwFmH++O2MxbeIgcL4B
IL6r2cKTjvepsebfxC0+JiKhf5cddBGS8uErPt986pkabvDoLB9AcKSnsrD9S2vM4Z3vK9GJPGR+
KhDxfNSz+CNFnu1nOzkv5oRfu+OWP/OssLFcTsaLVmJq7Magb4j9RD/PJOIbIvgsDLTAjR/SMY9B
4gTBHSnSYzzOb/acGxvkOIFvlKl9385dMW+ySuPx5k3t0+xRCsW200eioUhk+98cFB63fQID3R0q
8mlB1QO4AnoOh05FY7ODxeK14x1g+flcN9V3bDOVs6Vl05vVVTx245OGH/wHvms/8tndkqBHubv0
D6Ed/qq6LHmM4gjd2tRRDtD01Y/SijUmre1Bc3X7PbSPpMTSL8Y8DwdDieK9q6R3geL9YLquXsw6
+mVGxfduDE3SO5Vz0kCMkmVzMc5CaGys4xQFJsgPXmgkXweSROlkuUCRKpKVDi92Uo3eTg9JL1UA
AV6K4khEPiblh+l5m8eYv6BOTJZA+1LNgXeyPDKfAN/TfRUij2k6gJUGsPBN0/tX66sL6/thyLUX
Q20uENGrDVmo4KAWRMQs5C4JvIzEe1Xm5rVjPI7jVx3HE+O5aG33NGUd8ocjAOV6S5xROWkKeTU4
TdUB7ryOPIhvXH4A9VAfUiJgO/SV7F1u54uP7Hzm84jEph38XWVu/TrrfLRp0h8dEveAu52QiCmF
Yo7hdfTiH1OO6eI4oJ2L1eLvGRpM2eoeboBBs7X6sH0measdrcoKL4GVE5WPSncX5KrxAfLz+2DF
5W8TFUxyQb+irqsgf4cE64sScYih7TYqInVnnPuGF7XQoqcKlIrUpKisVjtAnCc4tvSQwi91kC6j
d+dDVnlBRkUD9hefwEbsY7wYHnvNVF8nUqt7TyfXLVULIcWHLEYLftnZgy58HQzI2KPdX6XJgH1w
dCK72jVuor16vdGC8gRAtNSkSTMsBN/aNLnIAcvX52zwZWbuEp0KzV/UPsvudfKBtJpR+Sw1PKmC
fer6WOgsO0dWNuSr24vUPF3rXiMlBSHgIEkvbToeIefey21YNBwgBZOSA68G9qLLAYGrTPukSlTQ
CPRgVh0/dTrZh2WnshTjQOBPgTRwlh6EuoeLX6ACtZ4ycNML4qvJ7Tdn0VBsI296nWLCHZOl6a+N
jzVaXoeXNAv50hVt/NtubXSlmTu9OKH9kg4/Szxx34hpbifDGrEmyY23cix/hAlCE7KPEK26RZzS
O4EYNd9sDT9DpfeGvfTNDT24VNjUbGXvoJLpwX7dOvrmE9/7EjBMPWUXL2QGARUtepECcZRiXyV+
sU/+06ZPUbYJKg/xbluPXqZgBOXle2h/m8c0jIxXt+iM12RWGPTBtJylGited9Zm4CHSRRts45UP
2ORk0a1/3pBGHlFpPdnL4VVQH4C7+wiiw22rlM55kSKJG0a7ZhjPThA7Ly3a6A9jrEAz1wGgFWYA
OxpHmqN0JiIYPqMlx5rGb/MtqN9mzwUa9wCb/zlf3f0uMsXfw+wHGIVtygtcOh2Lu6a7VaWtNetd
rfE9kxompsVxrgDY3aq6z1FzdvQBbjxK02jMpPO6WMXWowpepW2a/YuW82JIrW6V/tRadUEP/qgU
vT09loBD7m9NsCBxtBq8jeHk0ZPj8pq3aGfZk25uyO2SKTaG4EUKTw2PamHMD1Ibfbd5iGr3WOhp
lGznZokC15Wzkb1FxFc+tXRCZ00SH9Y2w0t+earKR68vm2ctglX2y8FbdGzUFyl4jlDw6MlWr22+
ObzXkTpeUfRRX/rAj6+1Zv+1dkhYp6C80TTHtc3Frqwdbydt+gHBCmSEttZoT1c9ip/a0cse+AZm
D6TQLz0kiIvUMMq01Y1semn4orVme/6jTQ6zmuJ73frBTiurDJBP7jxL4dZECR0IATDUaStVBZAu
uZh62CVwVF/r2C9f/aQkvObF0VHasignVhkDMQ/zotxOla9uePb9s3Q2DTxaC1SKDRP4T6lih5Uy
zO6DLqpf67l8aQkU3qP3Wr8WCSK3Zqj4WxU6KF4Pw53TmT0XgJ0h8KkdiVSQUppdv6pTHT82sXuW
ndKEz5hG8L7xzto0lA+TOd7ZddhzPwfjvTGH8uKNdQcqaAqy+zoo93m5V9Sh3DWNU+80K5gBHvnN
wVQM575PoGjEvZ8s9mN7fNy+NIZfwIfvr37Z31t9gGJ7SE4KXsJ3v4sPVojgQWKx0imYAXilVp3G
yP45uzkItvqs9gHMCSUE0632+q5lDrJtmH3kHv5CeraZQQlvx0iBSOrzNZdsH/gY2PUmGHRVGS4g
Jt612omOAR8EAtwqkHRAyn2v36kzWnOtphgkF2AnucoxHfUP1l0MNqAXdqWhPmRdesaMWrlWXQk9
th/cc9ZDgDOM97gZYpZ/Lutk0J5ZH7qvc2Zpl4mMNvGOlmCiUWyyfGrhTG3UESdd1IlJ3064AXhl
n2zamW8ki+F7tX/WwsZ7WkT4JkgM9lSZ8B4D42o2sXpQMEbZFNHHPM9vZIR2UauVh8Ju3bs+ww2G
QACbazENKMDbRnWHaNkXEBYjLnRtfyidEB9XXfcf+vwnpwkvyK0YG3Sfh61jGmRuC0W7ZsxVM2tU
n42UMw9VNt9ZCM4GISCRTMFyMdHh5E3JqdGG+lJ3fr3HPnLYNY4TXFO3nndqq38JRvwDQEx1+2CG
oqHO5bMF/OO50s13JY6qU4Za4xWZRHAlfFP2aeO017IoiJLoA/yt2d8G1dRfARKcuhpBxrZOtnld
Hr1s9M65MVW7lHkDSysz3Bi4aW3rvjtZ1YIIDDptbw52cgAg/B2ppm+LmejJJEu+5Wr1W+Bw3RZ1
NiJ4PDd2owDXS9r2TqNEJwG4FloSrNg7g6+9YcO2Ub9XiT7BqzPruwGgwVlZAh5G8ywzam2ZVjNF
4THqyIOkIcIseYJkRDS06ruefett5SFN4fkijrJN42fQy79n16gu5N9UvoRJjeaaepmKSnsxYXiY
PPake+16SMDfONXWyMPo2uVVcAlGZhiZxvs7hfjypF2J3N6wPL1lRsjK6dGkcKJ3jHqZYCbEUO2q
ro+hPX13TdW9jm7SbgkFtiGh0BvYAW81cku2cw76EEeIADKNlmNaVtRLpOQLRIB8O8TRzyYrccmO
zBPf8j4BsYK8VX3ggv6uUyxiRsLwZB8w5Wgr64nAiL6JQZft/Lh59dwGjpnb4P6mGsU5rBkHY8Xc
zkPfbMuOmECdP6Fpql77KNKu7VI4JoaVDiTMNN+EeuDvzQ6kXqjprFAUp2PstZp9kCTuFlDWISqC
nwqZB5QYIhSFCGX86K2h/GiRNeejfepybOwcF06THpADUUfoqR7T4/ugAcgzP7MiabfkPavSfMDW
PNvgBvCexmrIn3esBUK9myAXP44eAfZa7yaywsELwip8PtsKhJKvduDwzfg6grzcYJvFrIJFYZeo
cHjMluD1nAYH21vUZ6v+Z+D6GQJlBvBGV08BMZg5wEP/GM5YNeoQ5jedBpWp/TVAGoyA/e4bDzhf
bTtEnZ2NmbfqFqHpYq8WHQjlTsGARVMV5CPRiwkCn8RC6b5O1fQyhnZzJdSYbeduQhQtax9hL78Q
aW42FnryZ2/SQYHqvnV2bPei+L13URLfvVgLTqeKu2+N613LiGHWbBSGsbSqTjMKS1iofh0Aoh6r
rvuK94EBJ9gO9kqZTPcDXkVXh+BxsRCIg1R/TR33DvzDxCx79LmCw9eRVTvRjQD4UhzvdaPzN00B
iSKLKwIVbWCSdSutU+VWxcZK7PYIdL0AFOdZgG74GBwgM1+cnKSUXqC5hXTsa2l1LlGeQtslcXws
p9Y89nXl/ZV6b3CZOrX1f8x2vYPzzrfUWyAyyo/I6Le5lQUXfQzwR6zUZsdK3Tv1AM+OFjhQcCek
pBSfxVsH4d6xCoIeqrljznjvjdbwlA5oFDnUEJNJ9q0ZvOWZYt+tRTUUzq1qM/M/2zUUMWy+Hiyf
uaM3WOAY3QygZ+V5Bz/wvW3oob6mMfRtWTJvdDXgVfRN426uY9KmzD5+prm+z4Nkuqgz8k0IRT1r
cfDLWhyioOpc0S2Wh5HVGR/ipVjEc8x81K6qWbfPQ99OD228jNzUvDJon+uIqW5Vp8cycNRwmzrc
RjBhZ6Vl/dH1KTMPK/pIUh2dQ7N4sozRPox5xPp7KXz3fvY6eGitFu+b7jl1muQSsjy4pL4T7YwC
AgBs7OjOss1nPTBgb3gjTxR2jwOIK+J78X5Q6ucZg0oCeyzOukXgTMtOggGzl4w0VGFgiaa1eF2B
wPxPoXTki3q0TQsPuwwjRFLLL0FqjJnXEmbBr8FB9nxJBCizvtd9bF0x3IIjgRmoB8c66EFjTcEw
seL0OZbQyBVB6TMPanHXmNOTGs4j1A7f3o2o0mynpYpMwbTtTW6WmboAzZwwhVfSIT05a6CLPLO4
A5FxGiYYKcCVHjqze1Za/J9yM052Oiaa81Ywc+FC4LfAn+2dYcrhFMzuw5hqGlPBLnv0SM1d4qb6
mIEbveO1Adqw+BYOUfqu5rjEeO1Pt/B5uCVK4CyhgnrWWemkPFCO52r3Ukx8wgBYecrOl95ogGOv
VkqpAPb0QQpMdW5e5DS4Vr5FdZCfs7hkyB47Z4dhN/AQUgqA4Ip5W6CYFjmFzXthb02GvPtBg9Jb
AxTAf204JA1/D8kR/z4mwHpK5vAjRAoO8dHDhLXcznFGCO4L3giA9i7RuLvo/6bKNu3r36xr2rt2
yI71WPOZBBWYOFhaqwkkoRYeZ12fnfDvIi+NL0jIo8g5vuhJYJ3SQXmZCQIs9Fb1WJmL8UD8Ve2M
U+yNIdn6nRfP3jmMrIeYVNo21ZFVatUc4T8DxLh955r6dNXS+G1UWaWGVYCMYghleDFpqnx0bZKG
vwcU6OOmABFkdXewSXiD5Srtm3BEOv3uBkd7BbbrIo2tTCwETMZpbcHV52nf7IrU9p5gATiP6vQ2
g+B7MgAj2HnQHKo4+VIyMUC+MgJaWZJMleqc6hlzvjIDoKkox6RzQ+ZPRgr8xdrlQWdsq7LoT7Aj
irfOrJvTCFtkK1U9cRrwxrWFX6jS3DNd5v9pO3unl8HPyVamYxGn8x3CH0/9DNjbdO3kMUDK5TFo
tJrMMFKYTu+ke6u2q2MJDdwIYGcoCRJzGT9vYWq4A1LBTkiSsQg2zjxme1bRjwZxDkbxXZY9diFg
sW+5/YZpWXvOFsxMueDqQhAWZ9N5jBbcaG1M6hlgRLggSaWY9OhDUQx/H/+nSdqle7a8dvWlDLiu
XgudbpMVKaUAPRsd5LRWV8HOP0w4Qp6s8C1uQAr4r2MTpIcAOq/dGnCLhvEVoXLUDfG8u+lqCEZI
cEOZyYLBjR2UvBfBDdnR+SkkyfH75DbBBVyWNe+ZrPJLZFPeaKuCS3aSzWQmggQLi39vqAvQvm6r
oyBUKsdpgRQyl80uRQ/cOmjwevA3iaItcQRaA7BYe7IqfztKvkvUAIfcn2Y/gGJeLlyznFG2Vnyi
rSXqvBeoojSOczZlJ+kZOS1XBlnE4J/j2+Uk0ksL1WljO1m6k1+ZoDVNAhbhs8XV7xg06lEURhxv
C8l9OIPh/NEt9280I+eUo0YtOWApErn+shmzRCalhfGdVLOsOoalouM/s/ymHNxngHfGSf6k/Ayc
l8OoGhAn6au9V5Y/5bh0DOCYL7fxdoelUfBSuU/WxVpIo2vbWOrdEakVPJkAfdywv/I0QLslQz1O
6bhX9fqb4IGlGIBRdzX8OuKpSI5k1WBjRlQ5KWO82+wl6X3DeYVq8LWHubj3mpA7aiMhemiT5lXu
vZ24jwNxn8NcGwzr1hCht8fUnfRWcUkdln9tiGbbetPADutAqJtgJ7dL7oZslXh8JhvZlKfACnWf
vHK38Yo+v+Dr6IE+k82lgIjAs6EcK7zeGVuGZAaIAMwZq2GMQP/YlKMdHClAIrtGfrltzmkPGsqO
TvL3xqYhRt3s4jb5Mo/6Ra7c7SpBLd0UVjrt5FrLVUnagvV/qyG+smAA5J7IEbIlbbfHQepSGCmO
IU0XAtFE9HHoXuTG3x5NuTTr0yB7aiKfmwoM+04uhfxIva+5Pm1Q6Fsi6Mxyrep7u9iGIHd5u75m
7vQzwCvjkDEb4Kl71aq8hWkbHvIZonOrTy/6MnTIZzuLbec4BzNIYOz4Nip0TpRwG/SErCQv/p8/
/MdvkE1sryC766F+63m7e6jJ4FDaG/pOhgD5vnfIjZ9sAFnjSwqX93Zxb3CKP96aP0AVn6+gQRqv
iGBNzs3BCHNt3sdu+FXpMnW/XmEGwYvuuFC618FF7Z8yTCwP8lt6v3pM7Vk9oNHYz9smC6/toCvA
PJZxaHmt5UjZ+q9tXlfOCAeEyU6ehD5OD0xhWLosD4I+Iu1kwrFeH5+lg13NdDD17YAE20me4LGz
htOUWyxLqn3uDBgfuQu48r/+XbtIz34IVtjLDeAKCyBlffbm+N7VFwCjUdj1Im/D8LYMy/IkSXVt
K4j+LCOSpc/O3neqAcxK+uQECmOk9JdifVv/eERvm7J/rrzh5DXmVp6E2yHYChyVj7YhQSBjIQv2
5ohC93l9w9dnWdqkGixPodr3hwaQ3jF0ooPsM+Vhlx7r8Z8fQanLXZOt2zFSv21+2i/VT223x7as
bPufoQdbORL8qXkO4MptUuAxRQrIrbdBOC8fDt2DaBroLFQn/YAPBXl65gVyxwdbxxjUeczn9tlh
bsD68KoTsZjVAo/t5DkHlDLU3Z21YFXnsXzOB7c7mObMVKLR1Z0aFMRuegRmNiR4D8I7mPLFLtKc
h3oXROWjg3nxeuPlr0r19jqtdWlcH5NPhxRD2p567AflYZSiXoZr2dIT6EtmDOdJrr6cpADPOIFZ
4bHrfWj1W3lLYLXTKpt/tA6u8VduIaIk65YJ1+A9pLq/beFShFywLlbSM3FwqCHxgm8YE/096oG7
I2Oyl2sshdz2eJmeIJTLGnlKv+eTfvFiIzuo83iXmCUCZV53kkFGY9Ru4eyWqOfuwiK4fQGM9iek
/OwsJ5Q7L1uM9O3ChrGj4ec8eE+Yxbk3zLKf2K8+nmeHXJ6IdTBQNdU5c9z6+/R21Hb9BPF+vYpl
5jCSJstnJnMza+db0IWEVAIv4C9wyQYzcQ/5UelCbg3KiYEuyqhZ+5uOmUy2wOtWx8l1zhPAHPK5
R+iRaBRH9jbDMew2u7qtoiItKMi56dptEIZL/VAbiXGQ88vv8u1oPLf642zk7UE1jWe5q+utla28
637ExhRtxqJA6R8K+T8LtHXgUOTbL/XbxI7laYkjDcsHMP57LbNz2PltPtwjyG6egKZVF2HtDFFX
XXgWfpdhlt3ur9yJdYxZbwwf6F8p9Exz8uqdBUEaWQzHwOGk4CVwGcF3KATuSy6Z3Bl5rAOV2KMF
PNgv8A35z2AuHdYRfb2Ttwd6Ge/Xi7DulS3p8v8/FXO1EfbS/TrUy4+R6m0uvtZl69Y4R9h+MKFF
mEEmukpnn1Q8FqWL/NnblEs2cdjkVbttktf+B1Z/+1DK7/xjlnE7tszdLbCAKwlB7DH40Mv8leQI
oWt5TeYCOZhtMJlf0Vohnhz2yalowlDdS/fbpr98QSPAIF2Q3uZx8qTKjG4t1rZpzkg5aChFasDE
lkmY/DtrcUNJSv2Puezt15fzCBPnfizQdevZboCnH2yyVPMWvd6CJNR3V36IWV90V1fPMi2TSZ1s
SXE79TItlCqJIDSvAwgga2fpslZlay3W27i2rX/j07FR/t4h1MEYxpgpA2cHECA/SV3ePK54wjJ+
2X/78XOpFZtIGdQ/ppFyC29P3vwtgGh/lsc1QkkX0PRyD8KuQ3JDnpR/35Sjb0MVoJzm5Jbp7jMV
JIApsi7hPnFChOAhe9cd6xpQdkix9pPq4P8YtDo/33798iTfyB7rO3Obz9weZmn19Lwjf/Kf9062
br1k83NdDrqd9Y9en//A56MUjcRGa79pM1KzMq6sswc59t/a1i6y9zbPls21kPuxVmVLjvuvZ/1j
OSO9peOnP/VvbZ/O+ukvBcuAj9Fc3YUw+pZXHA9nchXVfFurygsvBaEUyJnQiFi8L2G2tVjb5gxP
UOh39Klag81bJxlu5eRr1z/2yKZvBiCESMHfnmh5WeQ9WV+W9aX6r23rYfLeSb9/a/u/nsqf84Xc
X8Sg/cadi0Mb09plLiwfrrW4rWTX+h+xin/r/qnttp5YTnv7C3KeT31uf2FIvKumDL/Vzgu3MjTI
GlS21m+0jCFrVbbWCdna+VPbp6r083sEA/ofWo0kQlLYEPl4Ocm9M72VR/i2Ka1Snwlls6zOquyg
e8XrOrwDpoI2vtaVeaGRS11GfuZCARElK7PcW+jID6x23srwQPQfSdYGZeB/6Gq3QcNWiSHI6FKU
MyRMxN92/zbcro+CI4v+tc/6GKxtnx4XqcreMWhSQhYuTK9Bnc1d5+jpvJX1bwLAgHBRMr4F7RAd
bm+8XJS1uA2ra10u13+tyo711ZVqQCDln+Fb6p/OIG1zloCd0BJeo3Wwv02sb/vl/qxHNniVsHjL
zhaBEWOJkPyxcly7ybFSyMRgrcrWp34yiK5tf/zjsufTIYNXKfvZuAcV+FRDpcA1QHoQKTc0kBzL
h6vEEa99laHLz5IsO8mVKZM+z06z6myazLFO8rKvd/T27v8RzPxjqrB2lS25vVHRE9G7dboFuXIH
0RMjjpBJ0dHKHmavJB2Dmos2PcgreotTyhMwznrc/CUv8j9RrVoN9lhnkzppSA7meXZOkAiGJQ5p
TYq6IVu5Weu+FSjon4XWplx0h53ZwoCMAXmNfFi6FhxN3b8TzrZFAiBS0a6Rqyr3pc6gMulV8VbG
8EyET64vN3huEd1pb/HMT5dfLuoft+i2dL1ddVmzyObtNY9ITs6eOe3lKsufXQv5AWtVLuynttuq
TvZ8JnOuPWX3+i/pYahvbaz1NtgYYhUX5P5HV8Tj0UAIcK/DmKUK9QwB0uKMzyR7LZ3cmeEg07Ps
9TxgnnqS4N1UB6+Rlh215RxqUmf3ZVC3G+k1d9l4UubS3Kl9BkhvGIpNE/GqS+Flrrm1PQCeGpii
a5q4BzUKrXyPZBCGy6zs90QlQQ1PzrnRg+YRTha5ZkRjIZ5nDu5FsXpN/fFtQbS/BMjAvsC/qXeo
xo2oclCVtgzBoywhPVGPqEDEdpW+xJ6DsqDZ3U8xWggOsIWDTm7/6Fn+/JRWzQ/4jqfe1MqPMTdx
1Ur9r3nJlLzGB/7iBypI8ax5673Z+uYRrSez6wckHLQWdZxh2ARNXX+pZzC9LMnLd11N7S2KOsCr
ImS71GKxBTAJJc+5VaHfpKq7ColglKFKcNwYMVYP47KHUBJmAgOOAmGiHZvCLh/mKakeZEuKrCgc
dM/yHGFhgvBWEQe7skJ+yJ+Gv02SZ8dWXaT8MrUysCNBiWO3BIA3rs/KLS5iVK9VCJ+Gj5GoioLh
rs0KMEFeO7Aebgr3AlKD9JpHsL1F9Wvqp+hpWAqILtGTryZfkdVUztJUZph0o7uIKleB8Jlhka1x
gqcGNewnlUzoU6po2nYax4AVBDti2wNaldpcyxxLUTxkN9MwdA9a0nmP81LUGbA9m2cLdjU91h2h
nqVbrXRwRRvIzpgTZnPjqKML4/+akmh+uNVAc6D86/DMrcdXkeU9ojITbauw3aB7auwdzTJ309Tk
aLwBpi8MzbzYDlBnYK3aTrf1pN1gBY8MBg7gpReW1wqq3bVZirXK83lMCmKoA9JGNty0Ur/ks5ka
W800tIsUxRT8b2PRV8p28mC5e2FKsBlRg7feBzDq2mP/dzLkfxmk0sGFQ/fn3TLhM4NMBK1QVKjE
9PMv0p1fwjzR/56aBLQCgjhvwZgBu0YH63HWyCVbU2LdVW7eX/Q+bk9pGhcP3AINyn+rvjSjwsOV
pea9avRvNapB926UPA521UB9VeqXuCdx5CD2uJeq7CAV+o78er6vx02PccdmWrrHWoopXwyWazmO
DDZNjgLtljFj98fBVv7VSWfzTk5VN6b24HjhCXIYTp0ZsmgHPjjVbv0FbZD8DsM5uZ23Nub2sena
fa4ia7P1sVjug+wVo8KZoH3RsFa2zTuIFs0L3PP+gdDxWWoY7bYvmNZBhspGxJqWHtLmGOXngxL3
TXXR48I1EKA2tB8iFsumAoPuin5af60HwsplitqJ7HBQsjgjg5mAZuNS6KbSHhHb1LZSlcuTpery
qXLAhC3Xxx5HgC7VMtGLj/b4+/bvpEnuH+2ihnO2XD9Up0HkZZOHPz3PzDiYKKfIphRVMMNwX+vy
tI0tEpJ/NMpu2dNB7tgNjwBnQOAFwwZcF5YKZcWgpNd/1XUQnnp7CNB4D6uvZXmQ/fEQ1odUR7Wp
mhWHgLXi4hZOPPDcBFFw7ZZiSNA9cQ3/+MeOvk+xk/kIfDveQ2GI78oxw8NwKWRL2kxW2Vg22Ciq
xVrU4Df4XzrKIbfe69HdiDng/+WQ1B3AV6ja8fNp2q5A5PZ5fChVooHbT79OessfmYpSb65pu/Ao
SDuaVgsDFkXK+2gpcgQm7qU6+T6KhZE/QF5XY4Lry+5SRbl8s3aSLRz07vjwdeSROTh2iaqEZeXh
iTEpysX5sIDioywlez8dKlX5wy2qoycHIfDbofLX/jgi0819VwLQ+Lxj+VVTGUN2fJ4L+68Ue1KQ
S7Ob3rVTld65YwTgREN5s8vIM6pkK/ZJEWqvahkOV1evv+ehpr4OdqG+6mH90DHAPpCbhumC6CBf
v95A/8upW/3OBlry4WacimROeZ+iZvARVcoX+MjBo+w0y+DeL2L7SfaBFN6nEOpe8qXnWH8kg2a+
aX5UvGvJWbrwzcle1aaBfvkQ1ul07QMtvR+XAnE/fdiYSc2m3cwbxmzQeEtV+kA0JZHju7/UZMC9
1CV2CXMp/ci8Gh1tzWi3UjX6ZjgZuKbuStNCEX9jW13/go0V0kXWqO8jCJUfTY8tggpf77jwKz+A
gpU7O/PN04hl5lNpj29AaLq/rfLb7DbuF0tx20tWRkgn2Xr3dzMDpFAdK39CRAct3bD/HTh2+zeQ
LX03x7iI243/pgE+Q8O2HcB7shWH7X7GGha+8P82QYv8Z+enNt1yQMVm87UcvHqPX1uJwpxTvGWK
ZV+atJvQ3O6LNx3G9AvW7xvZqQBjewOB8QUmr3ovTbbfkF9wh/Io1RE1ibPmTclWqnXsmk8zWTqp
yRm7Qb1X0XrTYUTfBdMMLqGwQuOuRisGWnTto8Jm5/cE3eNuBxYPWU+kZfeVPzgX2dO3vrc3tcHi
ucPtZPYZeRCMiT56teq3cHyii1SdSLWBKUT9nVRtjIjwgdT9q1RnZfrm8s1/kNrUZ0+M1/mTEYPv
8cfgFEaD8pxmrXof+dCIQx+7qiGvngD67JGd6J9Lr31P4la9A6wwPOt6y6sSoypfJe5VOkg7uoiH
UqmzB2mSwkTlKLIhMNSdjuFqgXtsZgfP0j2GjvaUm//D2HktR8pl3faJiMBs3G0m6ZRGypLXDaGS
Sng23j39P0Bft6o7+kScGyIxaYQwm7XmHPNa13LrtE5JYGG1AWNeHK3RlseoxSw3w4KLo6IyqdvS
ATOrjl7sdkDHrai+DTWbKPDRfIAQlr6qZulu4GYW+2UWjw6Sel0+FWIASWl0aAnmzbRu9Fcw/VDV
5APpymqDULxMX1FRZzvs+PZWp/fxapnGMXcU816EmX0uEhOBxbxZM6p/RtSSB25t2plhnUYaEa+c
eTJpqb+mglej3/3Xsp9Nllem0vwpO13b/a/36w0CmNaKb6thqi+DUiKXlg7oO1RdgjvRn1z1H8XQ
W0+1PcAHynV5ykLDgmxcpiji+um5K53rsulgpKcqMtyXqs5Vz6li85wWLgEsVQUtBS7sI3akDwX4
1SaWawfZ0EktOKmcIX5vNQRipuHUt65ogxvFspNdlIbqPVSVarV8vD29qIVbf7T0jZARiRgO42js
qdkWUHcL8+paMMc53W3Allq+SrJKQsaFUXUquKaerCL0Ol+Pbyrg5P+s+N5mWV38LMVHgvgZjL+n
ToEae8v6EN3jafm02HZYaJXYCUtbHL5nl9W6qyXDllM7+t4y0PSrKRJzp1o93u2fjzBtcbSQl9/Y
oalsUk3qxFL19t5E73sg66Y+aYawt1aSjXcjOS5e16j1I2ejivTHsd8YO19h8yhftfvg9AlD0kGa
2+u91UjxgScRWKTgOs/Rx0mbJTYmlWDaVGVZXWK9qfbCKPubyGlM0n39gliC1oaPhViVCx/OTL0A
i+V3/mscDI9JJJQ/CkrL7y/Kcg1UnDQ/x7R/DxXFftGsOoN2rE33oQUbnCFKcIuF2tllM1RcVfz0
2KWxuaMckN46WIHQONcm9TMuZJY/ha9cgN8wHyqfekAOMuokRtgMwpPAEX8yyMh62z0ERHPUza+u
RbMMp7h+cBueCduu1G7RbbTIc0hYwndlexTXfH+v6wYZVIM9Iw3UlLQ4rc2OyyvbrmgBgkA4twlY
F/Jrfml27z7kqfuijbFyFp3rsg/A91ZhWt0ss60BeS634/agxx1gKo1x2aEtkLrJ2nEfAwzpq7IP
1XNXFv5jVE2vuhnol2VumhXgtm7eLpu6mn2MNNO/W+bCLtg1aZH+ElL3H/2JXqI06/vCsO1Hfzf4
mf0ac6vcNYPa7OymD96kvqv6ynorUGQRmVNW+z7o5Qsxd+vOjJxfPEeeCHmQl8pXgOcHmDfaLtRW
38vmFZGk40yy7uxkGXbAjkZOIsBrRmT8WeIOTWBqoR20jz8b1EZleKXVmtueSMFLO084MEavJhvZ
W2aXFTRs5aWeSNsisvqI2IlvDtoSdQOBoytqd/JizBMLFO/RUYxzbpfTL6oAL20RjW9jNAs9Gvwc
cKBA7qX6Szz149tQReZ6mJdH8/L/3N4BufSzve/4fA7ytHUdOADf/vX5P8v/X5//n9sv36uXPc5t
V2xEbsbrngf2a9GP1VW3hb6z5mXgMqrrsiLn4fd72bIJoMj6WszL/uu93DnBWSnuLta5Jy4Tc3Zb
umWtbjkysn+WqcRHu7nY/my2rBxi111VFX6DoLhVssbEMInna9CqPtjYnOteB8fGywZN3i6TQfD/
kt2TvtLqcqOHiXoKSox4XKSWGQjt6qmZJ8usZSiY7r/ns9LreFyD9fivtcvyn9nlHcsy2HbHPELQ
9rPo+5N+5lMuetPg3BbsrveO+A+IZO5rgp+Jg6rID66Pl1Qf7F+j1bnvBgA6qoVuf2s6DoGjCbwV
maoR3VfcxBiPD3WhbA3dnZ4hMvS7lk9dgKdP2LIOy3eEGXK+rmzMM0nY7sVvNRpd82cTXnGrs9ce
0Y2YpA4Yxlavm+FGr0KY3XPgzpKo8x2uY4YScy4PX8uKZdLB6t44iKxwonf2QaSiAK7T+NfMTpQr
gOjW0/cuMWLJNMF0MWDHACG3xYohCL6YeKh2Spl1Ox7+wOIbX6Vo3kCM9M9RTBJ80jbdbVR32l6N
m+zgD6m4hIFOJoZSTE9pmH4hOsy+eHNIHPyNIgR0LKJ/r+TJ7IyhDS6lrOurnCeGyvAwlOAS5w0M
fbYi1Ug2zKa4aCm+eJDJ6qZ3ZXtZtl82I+BpQ2jkSAAacJpkzmRHMk+WbJdcA2Ad5KrV6R3QIQIi
TILRjFYdtuSgVRczaJNdibXmnGSYKoxBTCfbQVmMO9462lkfHSQo46MrIvNA2UPeuOPU32TlMBwU
NSqOmSEJ9vG76JTUPoin3nZOSTGS9VpRJInaxN/GTaOSwKBWW8eVA0ZXoMsAoLo7+hPFJo3t9upD
e4IbjHaQKw5qoLLr7qeWqB/CnYeHyASP3IpV14YUpQKpPtb0oNfhoBpPg+PA8oZ7+kz2TLcqo3E4
++RQgaDOU68cwwgSFvw47k0YPvx0+p3UzsYnj+yF7nUN1yaavfZTdI+W9Cuy1Om3khi/KfxiLzcD
CuWBo2+zhpuz34tdN3+CE5PfgQ6sIOJh4IHKGoF0IjH5LdEl6q14d9Ea8AiY9UfYqMNdRZD6TOOf
gK5VZ9ccW1DInAE8GRX7rNYAyQDvGy4xtBYG5cM+F0r04CuufbE13LRLEHwoOix3pt/vu7QfX4TF
s5OmBQ+O5EzRxlyCDVCHlwgB4CYo+m6/vEuPk0Nl9NpNbmu9Ry1R3uAIinlUnZXBpksgh9+svheJ
ESDissny6q+F1rxmWfjfa342H7KFT8gX/HzOsqwsHXxoNPDWGYmBF7NoiHJslPapJcDyZvDVDHwF
uySDt03dssfpMc9CtHM3YyPJuZxndTFiWhKmPCyzflppK9yJ8YqQB0xyls1DwTzR85C8p0KMxXFw
k5IEC14tk59tllfLMpLG2brWkSj1OWqs/4/3TQCjCgzq//HZy+xfX22TI3BgJLT6a9nPW5bvH6Ji
usnSl3oMwweuuf5KxrZ50H28FV1u3Kuu7e+MPlTWU86/2XZlfGeVcr/MLW8ShnvftJl7Nk1lD7po
urhtjaWwyZvnbrDLldHbwXsTKA8YitxPoWnb3OFyAAd8HWi5HrEBUN42i78oZtxCB4l/l1EVc9up
m5c57n6dmG1xps59VIG4nzEKlOdcK8MtONNplQi1PP+sWNYywPpnO0Ekj2zstdo+IZEhuXn+hOUt
y4Y/s5012Cu7r+hZ/vtL/uujlSHBL6T7TykaVYCZ85f8fMAym/bqnuZXfOM5vWKf2iEggIjoUBJf
lC7EQqLbdwKS411qzVdfTaIwEKHzvQynL5FKqbO3KRWcbZXgklgF9f89Oy8jqbs/R/NkWYYEU9uQ
i0YXZF77s2LZbllWVmq2FT2pAMtsYxn5JgIL47XxSHm/rH5HGBdcqVavWjBif+uK8ckueGivxtq/
z6e885CKdVe9jaFh2kN26xhAVWIgbufR7Pq9RFULwTFCs09s1cFMXZgg81W8t9Xokqdquc141r1T
Ye1SMaB6nZqVQmFdZo/8unBNzdt5TiwIKOYkxBuZoi9+nVofhenfqBQyA0g4+JqSKmEo/SiLxgLf
R5GBhkb7NYzuyc9z+WHU8bsiqFJztURAj2rINDvSsASoBROkZzZl/aNf9TVMcx4glrWDHRbHMMMK
uKzNifA8+d1Ur5a1cRpmZF7ClFvWjo2VXipFvCXzJ9HxyG/Tqrxf1sXCoeYEaIkxeXRbNKpyiUkS
4nVgTtHt8mqZqFnwOulqefhZtLwiDTX0YnJ8vt/1s1a1M3sX04haLcvsOgQ36dT4ToGDrn+2+/ke
tc/OtZDWjT/pbDvFpFLhRLofEregReTTPNFS7eg6rXZU8VHhWY+0XTqBillWLJPBgRq0VuZtKkUZ
y+3PezRf+SimArLdvz/mr01MO8ZDtnz4z6d1xHSsO3ssvO/PXVb7acxX/LXlZCnKmjgs4RmWixFs
/nilr7AI4mD9643Liu+vXH5gmKn+1hXi6XuZsfyCny8f3YRD0Ldb9VCHjfc//6afrf/5XO0zC+A2
fP+GeS8sr/76sfOP+/5Ny5rvL22L7DYG7IpVfGc2jnqU82bLBr6oKPMsL5c1y2Rcdv/yUjgt6Ib+
t0tH6Ky0/ZbRBnFqQ32uk6hcVwRYBBFWs6DO301ZjzD00DR26sEK/Wlnu+0fZLmjlwJWVKOPTk+I
jhQWeRQufDC3bw9h2nxWme9uGTMdHRCmUalHnmaNM8rW/bAUIrLjdqVUXMgBzQpw+I5LjbEm3cqp
kieeM/eY8B5F3bmrjtMOrsf4UPkl4uL2UQsGPgybH0Ts5NKp9cmO8V+WqJ4o6GxSqltS6O+h7E8K
Xc9REok4gmAo5oafVGg6JPh99/iIeUx1k2OkaNeqSZQ7NeaRtyDP6K70j4KxCPFy86J+6LBJpcn5
e5lGiMtqkn12+HlXQCXPyyqQS+SmKnfLCjxo782E46psOqyc031d3tep6O96BkKNXcFCz3kk7yck
I8DLYn5I8KgUhKyQkEPsQdnakB2aYTVgNRUuekMzvXTaQALYPBlT/1r1+PgzebSD3kT1z0RSLV7j
MRu2uoQ1tizLITDsJlLWKJj+a1k7MZAAaarvSlL0pGP6t9k8AUfhFnZ511jgmtIGLs7AGOZumidR
ahR7Z7TH1TLLFcS4i6FRYBiqvxf9LK8t8RyZjXGzLHKUUodLNkzEhdZysyxbJobu67SJYDYum/y1
AmKeMdbfX7wsNnVJf3eU+WH54mWZH/Yry20MrxkrOtbzj1xWRomaH00LAOG8yKSsfrFtxeuDML7K
YiMxBN81mhZd6Zl/DVHpH3rNOAMiT08DYVV3y8SZYP2DtTK3P8vSscsJcYPMn6hKrGBp9A0yr9ub
xEzMO4r95vd728jaTNIn/ShsalK0HB7a/JSMocksnN33PAlJ5baSqVij82V9WJj6cR48x7VzO7mM
DrqppFdUtuLOdRPl1oyOwTxjRPE/k8GsXluqljejSOfHQvw+pP8hzPjZbkigHKUTl97lg2xVWmRX
RHcE3rWXQo7e9xE1FVGA1rhZQUWub2WVBVdBkeyqx/K+8IPhuGy2TBiS6StigYr9Mrtsq0FZ98wS
5fjyrmUZjooUS0Jy5hluWLtq4N6lueHeweWebgyjfQv8CkrIvFy3s44kqXjlxw7O/2UzCJgHOvfh
edmCkd+dGmnGMZo4/uQYNXslcK07zKL2HQli5UYLHbIMhsm+W1ZoDXBPtaA5s8wuKwCmiEuZMmAk
eUOBHBs2tJINY91FXH+Tzjz9bBtSOyXMrLZ3qV7GW2dEMQHOMrwWuCE84lmSjWFDRlvbTelvDdeA
HA6/5QrqObqKpsYbaiTUDwbqoY6REio0Z5ksE8YuE2lZpHnq08BoowiIw1MIC/FnUp8PePifV/Ms
fL3nvCHLj2wNF/3dHK3iEw59s7wirjmjf33TzC6hdpYwLq+WSb8IJecJD7UIJ5eFoGvbnavT8R5i
gC9yfAi/hVezzltl2F29qPpEmaXhKXY2PvxMGCNjdVjms8X10InsWczGo3Z20lTzTyCbCOeRtfiP
zBKwGzRIigJwd2+WiV42w0TAUTXzN/79Uk/djyjRYWDUOdjHZXXXTThEl5cx2BmQ/0lMmwNwPk07
KHvfe8wZiSBJ4IzEjkULcdmL36uBvRznqswO9glxBzjMsC+IjTIaCha79s/Yik8fWkQqy91A/Jdn
avcBuY43su1ebHbrMSIObNto4i0chbsZZlVtwsdI98gVJ9ssf+/P3l5eLf8BeljhRgTsK4WUtKPa
6l6VBGLfENR2YxmyOFg8JCRlXK0Utd31wnpM+atNc8Chj6lD5T/MIaBVjMkdgPSTYnpxhYl5NqXl
s+Lanv9Zy6sMaMOmBAvCfbfTbmrIFkFp0egyCkh8STqc/toxWJTZb5Zbg1C0tbWiZD71fgpuZWh+
iCxUNoZ5kn013NSh1X9PDBENN74+77lsfMs0vbzB8lveuHkJdHx5mTtup22Wl0v06vJqmSS2X6J2
cqFhzNp5OcexFEaJQYdBx/88sArXzg9RBghg9ojOf+YyWf7gn9k2MyDLaORm+rOHaZo1isvukIvn
dHnZTBS88swevZ//zHKc/swur1ytJ94KAy8XbwknkIkxy/5+JmYrwl0rzGMya++X42CZRPNsT4tj
O0X1aVlU+CbhDoHDaGSJNeiWRANL6fj/dlL+SrW6In3UyPGAza6x75d2q/eHBMgXJnn26cyHKAUx
BstkmY0jKMRapHxVDCn7I8GQzWqq7Y5UFCUejrYjPYOYrkYO4yrIiNYNyaf2VKfkKUZX/R21n083
HR60YgbrMh4hN1YSOIeVfqR1vtGzDt9ocs5kGa5glNEonYrwZKGFOQd+u6bfXq/6MbtkGreI3C1N
z4WyelTLZs0lo6CFTmWxKNsDuIH50XZSr7jv9f3UkyBkOWTS2s9N1eRbQRMGFXvbkcVSB9uoIYhS
5Culy+iPIBP0uOFy0Yhvha5Z61EblY2vNMTCdPoW9j94uunREOkhLwrqd0QSRbV4LfuSzMIx3YJf
ijYmRj/ZtKcwqNQVN0ecyaGUXo0hI2xPgF/Rk8S0dBWV1msQU1TBS7UGyhZt+3LOiG4MVLiUKGhO
r6dC78k3dmqvAFFRO9Qau+GrttkxTucSlcL7p849BWMSryMCtvw8VuGaElEaaZSrOxXwrRFDxyc0
s+y+Yh9HtoqSaj1MprPzYd0oRbNv9JCdAIcuEhZ7WoR4xeteoIvpn1xnLl0SBMl4rP60uXXP1xZN
gx1jW4c82RnKiBFYQe/f9sqOEcW0pv/4xuA53Dgj/v1CsRLYRMh0nImxp8Cb44BHQ77JHx7k7rhP
nOsAAmlPx1M9IaYlPcMhgUHN+UcXuHTxzLcBwGAncFSytloBcwrXU6h8NT7ZMtVwno8gPbaacxpO
f0xWrvOaG2XJQ7Zi+xeptx9lBh1J5xRda31HWNPY028MbRJz1Fh4FERPMqlJwLXwieHg9lLKCYbA
FD4larq2mhkpAmt5NejNs8/9woPyuiKXmXzQjBaOw3dZpRvBhJi6NaqcEaKXeW5LZZsFtX8dIa5P
pfO7SEnVC9TgfeyUbePwINhrnTcPADvLCI9o5bamG34qcFhXciCbWBumF7ekYEEBUlP+2EQkwjUy
ooOhUclzY/UKccFZG2Pq+WH3MGrOliBc5CMhUixFqHRbeUJSko+k1NrtVA6tN4ZpsVWcp1DJ85UZ
Z/6mSnPqM12+NS1FnqaQD+wbKoORpt0GQ9yAphwPrfrOk3+4dke727TVfZ0Q1VqR10U9f2O5xavW
dOBZACQ5BqHHTfeEItcAdhSHa1I8sxWjQW09wV9duQSmrppxyFaxHe5NoairDmSXFYsnQGKlQCQJ
5itlfFSqXh6TvuJADFW1dq8Zgcm68Tlwu3c/KCugTvIznl4mPQG+loYfiHMzr9YfiVB87NBL0nWB
ltofXZCpc2+jGVrHo9Y2jK1NyQwRsOXrX5RvQJhYr3FvXuRA0z51T0Jns0zrz4bK6J9rerzpSB1u
ivrkTy0Bsvm4I57XIl02D/fjb5KzqVc/JHn7prUEyqvNeCdiRv7tNON6JYVAotFp9Amu0DmQyRbN
MGDDgGNiXckWIFj83rGTVlVBKLBiKIdiYJAVCq1cNzv2veqlNgV/IgWORrGtMtO/km3YbGjtxOuh
tB+tIfOMvOVCoIChTdMXMu5TT3NpeNdVE63qOntGL4rJseEZekgi8pJQb1oVQcJzTizK6GFTK+kT
MP8r6DRnVT93FgS6Mkrw3fcHJ9I/pZJ8ZpH+UZcGYYEVZH6VZygq3Lu8b8etk9EsiDS07E6Kjigc
gxeNKuiQAfvrR3mvxuWlnAtV+Tg3Yv8YtU30Qs8PDpHK1p1Ywb2rNoNizXbn4rYL41UkLaols1C3
DIaD1LgpZGiELOB9sF64alrBOtYOVRbd2ggxVkUqL1kivzLDPpSl9V5HPHgN4i500swTarpHqEI9
yG/Ia+l9fPVOf9OQZhaAqvZKFOib1ogh8vRd4lkKafS60owrxcwHzzeUDweyUeh3CNEjYyMIldIb
29qNQ/VAzBtt6EzsqALszIlKZpg/5oO6FaR6b53QQj+MZiUyOcwU+eKqMr7p1kHozAyxX50RQhtP
n8apST34Mw9hNX3IwXrW5XjtrLWeWeXWCobzBJozsSDP1eRPapZ1lmCsHVnDGZQ6HTVRHxLfR6Zt
7fpI8ZyIrPvXMSre3CB9sIr2NFhoGtX+KWzSfY0GJxk4JuKm3oJkA03TnULAgQjaAKNVqeklBU/g
SuUZFecnVHkz3Ze17CnijjDj4EMDDSC7IjDfxmZ4I5s6W9mp8lg7gGyaSH+ts+SjB6dnlMMr/rI/
yHbRxRq7qYsOrcgeRmzk61SVv4oWeHkEh6lLUFSzP+4FIWI7SRsAzZ9B7aiedjQgganVh6Btr2Qa
kSHoUB/vG/tPLWrQFNxhydgm6j0XIH8BKK8U0RN5qeZgm9KT3uTXBDTPSpt6cyNcdzdY7uE1qwH0
QRs6yMFs4O0niOVH5BEhOZqksR8JxZAXfMNI+Gyw6TpnZOFT2aEq3JgfatacErV/aflRPPo9R4gw
IH2mT26lHLny3SMuK1Zta7Prg4tGMr009V0T9/tB+tt6X/f5tma3cJHgyZ/e4bCitxcx/u9BAdvF
JaJKtW/IU1NrgsUG95RIWJ+tkdBPybd9xNnbO/6fNCVCOUGflg/Vs9U2J91t7lonXZPncC2a4M3M
eG7EQkZ0Q5++2njq4ZPKbk1rhpQHQfTnxLFBRwBsfM6wodJ6RjTDxjFUBMbtTvCccXB5WpbZhejR
inFApFKr4nRpn62GovKUOsMKDs9tGg/1qrQhAqoCwZGRBQ/SSv8UzVCtsibtvdJtSYzEdFiF6qFT
3V+2wSByDCFn50F3NGpG2UXrv7UN593U6lsLmLddd2eD6h3klMQDcWcpKd3Q0gclinYK5O4zDEKE
TgElNIPaYdUZ7GSb3UjkycQFXcu8VrddDP+Os+riPvOy+zqDEdUlirrVDZgNdRX9IgC+8WHbc4Nj
JHl1P9WhbU8aIDKexsy94zcPihjBbrrtm2ggjY9KhO6lfatqdxt0IEXriIxiN3G9lBJBRYMjRRjv
5arCycMgrBTxugyoCLSqmlGxTvbZ1DkHQiaf7Qh4D3fwtis+tYax8dhzekr4OnF0EookYa6HoRhz
uJTRL43Lj4c7CVUT+T1TVJ6CSH4RMhquhNbSVjIe/dohqCT/rUGuc6YKl4RGIpgfOeRz5uc2KI8W
g8WgyS+dS9OQfBFQV2cMRE+MtZ8cmhZrM5izIvThYzR5Akicbrg4Lrcaa/QSp50TBrmbWwRIxTUc
1fI50UvOjn5tVZN6a3bZwGA8TVbCYQxmpeg2guiro57dHE05E7LMAd7b0D+ast9oujkwsCI0I7Jh
O1jtndIPxSFSkjsjYEBOJm2um/nOoDJVllPPgDbsdpi0jdrKPApCj1YY/IZvBTs1QbMXaiVnAAeN
8kXR7z2SycG3jIFk4IZu5SUrwJiBuBerFLXtfjKDyqshYrp9vI4n81y1LtrU9o+p3BC1fIoIZs0p
QgN8RHuXFBusjHdxJ8RWzctXIAs3bT5BfJYzovmtFARXD66GWV+Gj4WwGQmhgXIoEqxKNWDcKSMw
k0jQc2eHaMkkGtLu17GFuccacYWY73ELArLrRzLbLX0rjPFBV61TGXMGhuzhRBAqQVfyj2n7nZc2
EIezTahZu8ga3qbhBuXMY4oidUUuSLnJNPYTUeIXnBjIRiae1y28Ss04l+DNZwUy36xtW0MPedHr
o6JtLQKPVq6p3Aspth2A2/kiJVdwULFCjQiodzNdjvSPhAubYhxBB752ofFbt5Rx6+sdsGQspBAN
eTxNU/B2jAhNl6NfKngHGJgQmxjiX2GM30QhjKTE+DKsJl9ZA+V+E2oS101KiCZ4QV29Ro6qQ5Wz
vYSU05XicpTYpv5OweUPGcrFsUvoWus07keiihJd+wWwL/OQymCgNDRPTaQ5v2ETUSP2dJ3GvpPs
hAmXVhuGva11DuOAuFiDmquhpzQvsVaCo26OSsTRJiuxqtPiMU5z7EjWDWBMb5KMn/vGJdWXIsXK
SsNdT+I41M7pYiFhL8TnqLkfRTbFHkK2gsO0vdp5/2rX/Qck0f00jmtL197kEJnQknsQvZgv/KEy
4ZP0+Zo+iFqI+y6xr23tYMuIs3PntDRQSpVGtvsamw2J9pnx4De/WqGC6oYhSoIYiTuq7XtDmJ9T
U5yEZnHqBg15TvQxKtW+LXjq6GTee2Gk3hE48qh3pGK6bb4NwvFX6JsdWkD7SkOFAJfYh9k8vTju
L8dSEInoM4sva4Z108QMsBlggq8LvFiX3gjFlpjzVVe19BvCnVLk5zx9BJvn0uz09xyT66oIjc0Q
azyJdRqb6lG+UXTLWDs3dQCwk6If2gWywd0WzUlub/pSfVHSlFZLq+/8Aebe4BOGl4JBK+12HXTN
R1givTeNA+OLOk8ZYPT2ymRUydNXf6smB0bSJtThlJSqyF1rsrP4GvIQUldZ+2hz89LQ1o4Tf452
+BLSpxzHNlsrHWzA2NXHgz0+SxGlG1/fpYKGdI4PFQ9qsLHIgZGifUnyYK5Q8+Tvx/zXXKtac0Og
V1JpVFrJq1N2MSbS0Uoeh4G7t0mq97boGXJ0VkObsKY9HBIS7douDOXPwicjIwmLSxOEW4Mgka07
Dsci0X+nCobdMIb8PvOGyuYDRdIjDXG5VdCorErO+I2r2DwbupxKfV9f8nHrQgEeR8rt6LlKz08C
6GwSW2CJEyGlqxXXeP9Sn1pIFH1KPz2ptgLUPC5IFvJNWk9RvQ8BbKwQLdmrSuqfvQF2Kn3ULDvf
BVJ7szVlb08D9RMXNY9RfEoJ6hRe9ye8mXdG1P221MPLBHIYsm+SrEmDhUIw3VYhEa53A3dTTkUM
h/k7khik390X+ZYX3yViOeIapRF0nnX2k6sNx7ECRgJnjix5o7rtKvGe888CiXKNElffKXPkcliM
p9RUob5HebuNIp7TVMb+RdE/cY4iA0FUP18OrU0VjDveRxe8DQDfhgdihR4TTVc8ErB2TxhJ/VVf
+qiHPt3huXSMZ2rbD3bWMtpEmGpOKM6IrsY6cUwTl8dULlG+wYCXcxORLbXeskJe86pa+lupoaXK
0ExQsP0l2XmrvDeuSppQMhTGS0ffUgv6ziP9Z+apuMEpNMVDMFl7LWWALgJC+bg6MQKAtMczrKPD
bi1bA6ExJGEKVnduGFyLP1x4fTo/Pc7KIeyuqeBJzarw08Q9sShCfQkrghpGXZIH1T8AIE23aLju
Yrs70VbA6KekF5EGjcdD4Kmfya2jca+9B7nzbrf1U61yYCbmE9kX97qVeyIgp5AIYCjgBMmON3XF
2YKtC4X4vjbUl7Yxfyt2R10ZpVttkF0XqxRjYu7/9hQZOCa6Q9lekhIOOBcAZHAzvFl79eeHV0cJ
ThOkQpDap0S3Jgp39UdRDtvSVp5SIolXdmj0614y8FZN1Aw+RwujmDaXLlZxoa5Mkd5Iv/mdCywU
YTsBpUT+VLX3diqORmbVa11pGVPlyO9VANVDrCiemPN5W1fbYAUnij6WH2EW7gFX3FRRuFUT8zN0
KupUFV1AklSJUox2+lhcEotA0apMD0VHZGqrFhtU4e+JViMX1UnoNqNNnNB4jhv0b34OONjc8BOO
bXhrRzki4f6UKxp8J0sLV5ge/d745TdYKHz/a8qVB50oocGS4YOSvMFMzM1JXyuBihqr1y8j7DHP
aLQPu20Ouhvdy57OOg7Az8afd3aYvo1a95zk+KpJW4B+Jfmbo/4yJv1Zxsjz/OCdIcQ7warhypbd
1izGt7aYfXkqN3Ilc1EEThL2uI7ajrH5XKkcdnTxQs8YKc2qkU4AvE41IXxzTRIpkjo/ZSlxStL8
lTm9oIOuvE5Bf1JLENJufta5hAvb2TVSOuusB3KXN5uoj16itBLrr9IsPkwj/e0XBVpLXV4zaI2N
nXFxsSrSlswGPN5xyvuNT348Kie82lpxxGd0rysd4nScv7gs9mMPljAkGzSOVYp6bd5xNKI5n4Th
qfRUYXAFeEHyfq2um2mISUqMku0U2EcclO+WKN/Sabrt4HzRVrPOnCHPVgKtTWk9N5doMJ1gp1fx
2u5bBMcKaVHxdMG8dAO1dtqVprExwRtw/9HIo0zXjs7Z1U1qtyfTAYo+MvDBaYGs80cVhvtrsCne
2NRTVgYjOo7i/GykT61IPAJU76qweQk7WuDzITiNREwhLFG3gcWBgn/iMqX+jor4i283Fyq3t/7/
0XUmy40ja3u+lRNnbYQxDw7/XpAEB5EUqblUG4RUUmEeMjHj6v0A6m716d/eIIhEAqREMJH5vRNG
+awS0KFlQvNJITpmZv7QRPprPtgmC72IaS16KtfD5clseDAW8cNCFQhVijIUj6s9q7EHQrV/VE3y
i9XvIyrQ5oBtPpnKU7BB9/LDqk6yCl6ZHsDHiJiiBBTqTwpAjtQIW2lHK/XdXN/DMqKsl4wGUwYR
kg+pnEqnUm5Za74MObXdqXW25GUXm9Kye9b0g7fNJ6xoJjNL94U8F6UCQMAFfDdVfrHuXY1oIcw4
cPfDpKCbzLGsJCQrHNzwpot7Fo04J4DtK+sqsYgtHq3dWOfajZKBYAmUCCARDgs1N1KRZ2i7cfTE
AXlcvJIjGUyDZuT3ylhjGu+k9W7Z/WrDhj7hd1lnwcZBwoERf6XzrGoIG3fykiyDOf1p+OGaMWbc
BFjYzjCuhTceSgdJOiKnnzZ1ZM2Ef+oYrbLn79lOGhPV1gyo9GFiz9LmecpkveuYocueZ1gnKUDG
zQP5wm9tk83KLp4+k9IfTK3zdk7w2yGzcz1m2hs8Mp41NXS3RDVDco6zV6XFULU0mNrbvfYZFC4/
GmbYeRC8G4nZrikRuRtsA0zPwMRZLfibbIYlV9zE/Txli5Rj5MDhC5xfkaf/6mro2yODcNAGB5yY
MUinYtV4+ouXYvptbatROYv57eIZgTFs6FM9zvee+4x/HraHBckSU7HuxuQ0qfZ9Xl2qxOxWSdY/
FCHoc+a6B1mZlDSdS6qjJnfcDzlYmPiH4jpa2V0yQweeklM2HOTRVMN+XUuDX4RHCjyqshvyMYqN
CMUAht9smFz3/KyNQ9GZBOpYrN72RhiZmE3A7FBtHAk0p8ITNTUcHBpD6SdWdZFJ92PI56DFIel2
gZH/7uOpPjc4bYSUt1WLlbIRejxgRwN8wDB8L1J/xKNz9sLfem2AyUry0FwWnFXsFgyPyUPePwdG
jLuQyxotCo1whcR6NTR4OQzlsHa9hLWzY/UrMNVdEqvaS+oxWuMdy+qWEsuQkw+lxUezpfpid+Yt
a+xHW81f6tzNfEWaMUSL8AceI0jYXX2HmkldQ/RgGJxJhw6xQ1QOKVK167ns6Xc6YnWd71if0dZJ
IRjSStMdQaacpR8NsLCt6tpvE0r+vKdUGXSAK1ioIHEHce+bgTWcQu6SW2TuOrVtDUVT96hlGAKq
BpYvXVlBq6JgZVUfaSLwfin6fTZSZ9Yyyzvo5qHJm3Y1hgBT9UTxyXHSt5YiH0+bUlkVkB7qrIwO
YdLNE2j91ULisqJaGWJ3MsirmucAK7r1Xs7QU/BTUGFZa6nC3LU51dQsocnKmxBpYMtk5C6wuSuL
kmJnq6I76W479HVrOCqV7xUWLukjsIc9J9a0gopfPLU9eBk3DM4I6U5GuFQwvVsNMm3vBJnpm5p4
o9mQ/0hd/hxaYp211G0GHDW0nrImc6nqkHQCxw+eCJEwg7VoY/Xc9Oo2Z065Gh2U0/FEYrmpXrzK
NHam2ootDpGHSSTOyk4LP9IJbJlCHg5haNbHnnp76kJwT9Lh2S4gmarNE6gZ338xQf2hIhvEdXKT
lZTVWbfiU5vYRK90W7wYcJEQRXxqHPBTISnaV8agIIrFDzLzcn9qDB7Gff0Dix6/sOb5Z4k0buoO
VspImsXlc2FPxt7RS9jMZjnemPWMCUnoNMRvwOFzUsm8NiNPHO2Gb0bcFkpvIsCuKQTyQ2OZZVvP
eSbztaMVwRrLlQIuJ6rXKlkT2VZgADX/JC/ZwFukIz9hI5PW2jTNOU9BnCwzeWls/reB1tj7JE4h
MPGzR+bzLG3+YmHxluiJqMSENsMakIztdi+WZ0EsTvMTVp/DMSzvVEoo3FHFKuBb8aO0xu67liz3
eG+tGrcEjXSgzsyyHLAe33arcp2E3d5k4U68cE7EamsWO8BiA4+Yrdedy4jwFrSyb6ptNve5Hvhd
Mr4YParLzume6gCtJzQguSsIomGIbi5DPNFJ+W2SEkRZJ3yvDLvdOG57E4KhUjj0dIxRwpGyuV19
4N/Mv2hMrp3aKoRPuyhgOpfYjQJhgqjg0+pU6HTCRloSNgvuZCvAbo0fEqr/6myODcPNUOgHjErK
iWmFxT1nVtrHEFpvqv67G6YPrGcIt8Ao3BLXqbZVnHEC6tDBG+ZbnG3q9lbNUFAAGeJeUyMyoe6h
9N1tD8Zsk+KTRJ1fR8qrJ03XbzVJ4FqclmeQP8fPJpd0PBNMB9hrrWrMdFjnIO5lxsq6doexj7nG
EyPd8Ng+JEYw3tiBCrbB0scsoOQ4YTlsFbzg4SE/NEqmbqV7xeOCiaE6PneDtp9qlarwIJ+aDkTE
7pu1Hhb1eug9jYliNvHpw3NUN6+ZDURm/Na7+Oqy2mcRzFOx6waoRiwH2gEAOvIU5ux7iW78EpJH
opSEWRPutOlr5UOW3asRkuuVBee0hVtpth+9S0G/SijBw658bCgKkPfm4ftb2BQ/jKcuYHmY4N7g
I9B5U2b1WuSMx8EhuiBPkjvFrHDPt0ZuuakqVyVUlI3WseZzZk/8uio+VaN/bzqVGYvd7zXGnt1s
ut2X2TvcDdIrcT8F72VlrDvynr8o4a6KEsovVraLsMCFbLhJlWSfqwQ6y8C4itpLbsqae9sQm5B/
8mqsPOiBgOCa8Cw/avr+tnJ9A/bsxh1M0jbat3EsLzxhE2bBxsqskM/JsoAHUm3HZBbsNqw7CG2D
ID9VHwkiK5YKyYOuesE6EpReo9KKeUXhJAvL9lLYKHOVX9Ta+59KuAd9VbF2Mm+7GphtGopfjjN7
s5gsjWQNsa7jW9HUaRd6U32J541F9S2HSXuzNNmZIMqIykOV2vy19RxBEwz7HPojnFydsZRgdVfx
cPGX3bipBONwUGmPSRsn3AfqS429xEbTdWcdGnvXtq2NOXkvYRyZqNyoaZd13vsyYCGT9+ggkpUc
SnEQQ/3YOdW00xMj9juZ3Q5QxsCOQecMmYkdPx6Cjd02xUd4AKsFiWMKxxiLSh+bCqrDviHr9rar
3Pus4B9aTNkqrzR523hNRYb31uWh71Z4sjTAG7iOXWQwUuSnzNhEw3vfariIO8DySas9GzbMwqr+
WQmcXFB0MRXKfU86lxxEbFNNZr1m0uoHSAc7IFY8c+agjf4zkeMmsLuG+MKbVLbDFuNvmIvBrTeF
59BmrcKybJvqVbTulZR6jNbfaOQPMMkZPhlyMY9y3KtmyDvRppRh7PA5G8E/TZ5LIQ7SUhl/D+QH
J4Gh3caW0W2aIg+3SkYygtDc344FRzNvnoemC1YmNshrZ1TXTj0yPhvThzm4e2kQk538dmxu0CnP
fokBba3qNMz9FEKMijE89kb1JFPIFA03l14/ouM4ehKGTxhEfhBLXDxafeV45q9ZccJEHHeS2tON
daA7Jx3mdQb+4nehffCg/NwgVHzS5pjxsFJA20v+AY75UWeILdERlRRft0PgYmqTZI+eDU6tO2QU
4QVyY5fjpTNADywzeI2uMFAYVdZBP/mtDnW/k+exTbMdtIzD2AUX4kKQvlCLSLUBqo7DNcNxfMkL
61NOw9k02wuzVGyLo2Ma0IO7U4EQVG9Ts+Xunmdn4CgXO4lMprN1TuXE2AurOWgDOej58KCMk3Zu
4QLp8IC3ZbzPJVPcxjM+9dRoV4VdvyhlM1HnSnkY8H/TUWYKSE/SjY4NWBo1tzfdbJqTRlhsErnj
Vmkab1NP5dozI+6W+C7DmWEdMtaXcoet0gHOJI/yVNXR91c/M5s4sWAwSJxWPkOrfUvN9L2R0cTd
r+96wfdixoQXkre+taf6Z2hQhEySWU6fgKAZZDzppRuuTSzKqDCA2Fr8mzvZbSE+McLeJE3yxPd/
77zLSnqbkHoBZVqK/rWnrpSeZZUVfg71cF/rzmeVNS/uWD+AQgRrPVHwyXcIzvJwlBIBywFTm9k7
4KgKqcG2CSWbyAN31eaTYMmvgjo7gXHEKO1dC3p3LQp4YjOaVTTI81mpZRtidw7dYGP+cDMa487h
F1SE5S5n4A5s5YfRxr8xNyuoPIthV6rQ2pC/R/KzcOoXcqaoRhflRZhbLeDJyZiOu7K3z80O9+Pi
XU9duOmD37oxlDrVrMhlQHdazfEzygjBLtA+HP0TQNP1o8k7D1DSNoWGNQLU61iocHq96GawJm2V
xNG5KhVSK438ZKNWSwuR75rRUn1ocxazi37dFvZO64cQt7FKEMEi7nUujMMaP//UvJEsSkMUnaQ7
RgivPdEwwu/GKvmMSjGbTjUHo1D4u0nlNG2qOExvWYTNGWhj/6xNkXeksrEearLHXSvW/MEpHqNK
Xo2WIAhsqvkY8abP4bq6VMvRe1tnO2UpJIDL1/GoElxlpCc89e6gf2P6N1QgVgMgxkC4E8ypnWiU
yu+rSzOp2rHIu21fKOFGpEzKqnpfFhrzVmrCcRHz7Q2F70bTOc4ZgIJIFL5aNTehS3B7qBK7AONI
85Ta9zIFuXL3IxukL7uaKUATXhWNSX9flB8hgJ5ICKP0QiXeKKP+ZjfiYqrNPvey0W805rtZk9rU
gwzEQhmOLEF/bULjvTKPocGoSU6gAxz224PjUJoWMvfO+yQj5Y3ilyncZxCU3UAMHJqWo8GiNAqZ
RgyhfkGwcol69RL3LWwP7VCFWb7VKA/YuX0ddG+m8jAdrQRBiiNc10rqL/UQP8KwZDqKD5XVdAg1
Cvu2mIyHwEjuTcaUreu0u1ROO6/SbgKe5IhF120JQEY0pZ8kVCNJ7ExiudLFYGygUbLnhkx2Kngx
dU7VHC13XEa7sdO2TtMwK6HY6JFZsKqU7GQO8iNIuo+0BqtIppUm7jPRtvxokPwF5Q89sj/iwfps
uxK/fn1jqFm1w/wevGzEWEGwarejd0qyAPZVISmeKRejnB4jy3lOnGGv6sZBRExVlUY/Yb+D3MOE
o9PyQLRqt12dfmum4gu14oGBNUTnmVtL8IRV+3dZYBuYvpuGSQ5beqCoe2c7VOKypnyZAm8jx8nc
RY325JHDKoT3GrUzIz6OTkoPkQKiHSkQ+XCycnJPS50Cd+4+qbi4tUF5wfCog3nVPYiOWkwTIoYt
HfuMcIxAu6C6zxEyrLxpPBWtt4knixQluoCYnAx8UoBZ3a3lynvDyt9kTVaZojp47UNIU7tHz6S8
bHjICiz3oW80JmzWhiEXBBqPBGi45lNKQCdyE+zFLEO+FWq7UWCpClJDh1i/2JpDZii+gQk197YK
9vMjD1zgZSpSa2VGBdp0pD6BsO6EUd9acnDXYI0suwmtWynCuGatXfsFnJ7ehfk4NEe9BQ0OgVOk
8gsnB6Ieqa2ueomDJLxU3eGr7cHLs0xjXeocKMEzNsZaxXNt2rVa+5yrlMBwRZoV6TsFYXft2UxK
mCj2qFVmGBA/qRjbCTUcKQ4w+w3qn8LVtq00T63j4IdSkQyZMmZjaOGUFDTb5txXZnPWyrg9U4CY
gPV6ZQ99pF/VSjUc8tqs7hNTSe9ZVs+vl4ayRv+ITxGPTTvACzKIQm0tLbXe/XGYjsrQ+cQaisvS
BB0AHMIyX78vkvRhwjjuDr411dU9dRhxD13soVIx71iaDOJdb4Wn7r86zL0yAky3fNpo830hCumo
9HtdOSz9IFsPd4Mgvn6+6rJBW7KPEFQCW/PJlrbarps1DDsLG5c/27LYXWuY+lyWHnh3jbBdEgra
VtpfzKH7Y8Pa7s41i/7mH+0mcwOsdHoArT/7a8LGxcI8gZPqt9/NGdFqtyEMo+WiS3tWjkRPRdaV
tci20kVwTcj0fBQBxKmy6pubZdf2ynTOgJv8eEjaR0+G2VEX1BKLsG95cjTuHRkI6wz5TbMunOHc
qwy+y6mj9Op1CFnvsOwmmZfsEDaYm68Lh0F/IquQotn8tjLDdS7Vvroub+V61Quoi3le3qmPiWyc
AjekIEH3vhX5nuW0sl52Y5Sn597Tn3Kh8DlU9WIIrX5YrqNxJqUMKU7LhawCUp8ovGC7HG0Saz3C
6UVVk5V3y8bKhNymkp8WVllRtG7tEq+LPq/Xy2EYzeUdbxjvJRnMjOJznzyeIlhXgFrf10nrcWA9
UOwoUujbpjHiCyX2aFv2Q3YFgp+ZA1V1h0WdsynDuLtPsdTc1LgqPIxS2OsA9c0jcy+5Dns7e26o
vvG7s/qXaMLPzsks50cxWMUqU9rypymrT0JlkUvK4sXtkvzXUBXIBhPjo5ggsmdu+bsZmFHkYCog
HOW6UysGjkm9BgMzmpU8Ua2CkpvjQmPaCfQDoomZ7nT0nspdBBbyCRBxNJpJfGTSuXNg+L/HffLq
FpF8U1kTMHurvVcd7HaVJtm4jauQaBRPE3eEyeOrmTkMQXPg8tIWphWSyklh8tMJcbcc0ELNYZAI
Kn/ZXQ7ImOJQEmYK0x0u9dWvCgffhmK2WXab+QKlo7t+N7g46v31HmQ9l9CnwdGsXpTRepKOulUM
DRfiuc9yfQ9McDcIq/v6qMuBog7aXVGDaS1dlusPigrPv4vA+0sBnw1F+n7qUuIigUAvpAXl+1ZY
CZGgVXTmZ6b4jTIkD5gYxGupWc3PPFNudavqQzDiu8kNot8it94geHsvva27RCA3yGZ7J6Oq4omj
UpTG0dF7d8viteP3n+vg4kb3ow+6H1aJlUtk+agH+IKmdLornMp+HWy9XIdhP917WlxuPTvHbiev
uxvY/e6O1ObgQqxpvTFEqj7DKEwwTIquQk3vi0nXb40qx2jBsHugCbDANo3ELTcOQFFYprcpS6ed
gdfCOU3NbNcKXFKyAoArT/vxnFpGszMKWAWFCfjfmlp+1tpR3+FsE541T7d3/FCcU5oiBCgZcPmV
3RSQTnYV0v69YSXRHbMRpnSaY/8Ksxt8JeyPhnX4qm7C8X7pGluTQlXmz65DV/+jq4HM+V4l43vX
NRajb5s+wJ5KTmSf7foAb1PclilnLG0UPHedqPrI74kL3VRSBfUL+rtcr0lWToLJ1+Opv1s2xMs6
awM7ie2yq839tA4lbmhU1q5iaCO4O6GWjatPeNBjMXydFyUUlV09kDeA4B8TaX4YVVHph+t/bSoP
2xt0SqwG3X1Jigocyx4xMLqEOwNX4Q2kncFf2vrSDe6Y3cPRx3ETTIh+S5vTG5t+xJ5p2eujIL/F
omy/7C0XQp/m7RPS86Azc41lY5lWQHAzv6HvNvicEijX1g/tX/3APzY61naXpany3AJLN7kvJRHq
Q5Y1G1XvYVdQQGm2SmLy3REHGfmoEdFjKlNKLUuvLw6PBYgAcyO1yXT9tV8LiQEfddyvnssuxvmU
mubN9yWWA6UVNhcbSB3PaRcbmL6+aMGo7pfCfaFkfAhuzP9PY2jZ6l7RKPEvJy4dl81yAB0qcPB8
8jRV0MdTzz6E8wJURNK47aj/XMJcQGvBNfAnVcMakMcqr3qFUYU1occpWwBHwyk+C7307uIQ4Y0n
qKcv7bnjPWD3oT5483RXCGQxStTSvyiPZYUrlDWSNh2MhfCX9jZiRdS31QsojoM50UC8agJ0mVtE
zmpRrxxrh7tptbxsRpJLi6HDytxSjkuTTFKOLvtfL5fW7+Odh3Aty5Xf/2hfdv/RZumudshF6vcu
NVRyr8ZjpI9/bFS1votb/tbJhC+eR471Q0sQH6hVWv0EtPuwzMp+U5ziudG05mDahrlztSTyvdzA
9QMP+Gez1IDPUHgUust4Gmr4MsksfiHxklBjBkxYGYpfG+PRxWUrGBNjAyuc8a8Ybkch8s+xwtSz
rfUfoVWrMEhLlxV7r9z0L3td67AVVYHuV2pvhPsgL1haN0i7XD1/qzztlXxy5R7D7PJY6NgMxs4E
IWFotyKvspdOBUQblUzbKki4ftrBmgvkfvvSybC60YTMtioCsUPZhvmzO44HipHFm9YbJaqnIDjm
UZfcB2b4e3m7SXf5BsVQXpwy726DEJRhmE+YPwcMSjCtBG5gYYfmDjvJ9wRL0vOyMYqhPQuzhV5r
uVgcKKzSBQTJs6HH5rBa+qDlnF9C00YDZx7/2P3rEkv3vKpe8jwr99+XzgxowabSNX4rkAYMw3TA
t8W7XfaKFAGa02F7v+wmEhYL9NRD79a3DoBgc6ipgMAOU+N1KRT5MnbgqklhildnAreOh6x+K7P8
BZpH/4uI5nPLfPSz7mwkWUVIgn05rUoXmcBKYSE/l6O9EH1LPsCQcUNzltvn6MQbdMqzuVzpCBzm
dK1axURL75bd7wNppuTkIMOz7Ch3X+JnpSNG3MCQ+uTakfC2dQXFtx/s+hAZ7c2yt2yWLtbcb9kV
s7rI7EPqZY1zFw+qcihcdF05KnVW6R0mCjriq008H176SCVQ11lGTVRaFn14rP5iSa/cfJ2ia9la
6qF1+erM93SrkSxhScu5QzDERf56j6/z+yCX3Fm8Rw2l4DhUTb9dN/Cw78M0L+6DeckRqxKuzl9t
bt02m5QSGNQdLOFQruhXqbruSeiJPKFleWFNbD2qyKrwG7OvVe1gKZvAJ3e4EU/LQQtX+w08kGqv
VvAEm86odoUD3zVrjPApDkrHrzrMEfRkQEeFvJPwnA6p25Dbj1MGy8YrQ+VzC74WfBYdU1JDNtZj
zrV8CLLpabCMaFMlGQIimAIPVDP9gWtdDcuwHiYZUDh1dFaYiOxYm2PqbphNslqOOgZI59g4wQl4
HoPROM5uq9qWtw6MNSB0Gb8LJ7+RRWI9S6Ny0FSE2IFMefxSKRQQ5g7Of54JllpTVHejd/giX2fa
jFjraqz1K9gSFXdHZI99hkIJA8/4LgkCfKO0pgQiyZxdP9r6MeEZAR0mb0G0k/LE+Nbsxlx1bk3+
P76TpsZdmRF/F6uK8zjMlkX48a6EMN1d3QbTuMrnDIbWGbUzUGdG4RLXrbmpgMF/rubNV79GmiXZ
FsofZyxHmnEkIbk3AyIIEbeDcfswEtt722ijh8rGsyLG6M1fdpcNHUzHbu+Z2c8qIIyHvjssbXTQ
TMqBVED6Q+C1Jsm0XXi0i0ye+6jP/TTPmmc9Tn4tX7Vm/I6tPvpIuFcppo8EXcznuFgVHc35nMyh
piATs36ejBk+6INPs/g6p/AybaW7+R/nCBteSpoVRyRV3lFrRu8I5Am+1esAEiIpwm3Ks0GShs2h
Yjn0z5dMgo2N0sbbbBB5S0iBiY6PVN1VzV+PyzM56mOICcPKUl22xdzwvWmymABgWK+PE0Javx1I
XK/jwTiVhZ76sZUoL4jkLz134YcVd1ez7o0XdAsFsHj937oGeXtZpq5mNFwrL/6j6z+uak4qGeul
SCkjvumyMJ7UQFaPYfe3nbh70zpb/zqieX878s9zKq/qd7UMIKFMoiNZvFYHnrEo/gFEVdNfXqYa
hgDxvKm8BIdJ96Li23WU6bxeW14WeNAqZKr+Z+uyjzO8vJkMStbeqNwUVnhEMmLuMqDiG1B55WZp
R/hO8XRp1PLBxRd57g3o5xWrpVdra621XzrUS+vyctkI1wIrc9pkVeGc8Uf/5ciohT9bT0bHkXH+
GvLT2GcDhTktF8U1KLTiurxiFvrcAKbefLcPQajtXQPgfjn1P/vCNv2jb4N37wqPgxbbYTc8LxsL
o0/uo9z0HZHjXdK0aL+Xl9996hG44599lsO2amHW0hEsE0MzDB8VzN+PRdGo1Kfnl7oC42t5tWzq
kGcX9KRo9d3W6e4ozt/7qT2l2yTHx2w5GYkjTk3/uA7lSkCaurYZrlwwsr9dg4mTsy7GQYVfU6HV
wq6v8+IrRgbFNVSj4iqy0UEjHhgbb9Tzvx/YNx0Gft+tlWE4G5BWY7OcuGywVi6u9V7OPZeGuocf
ZjPl2KHTyEmaeZmAG8+EIYjVsouUqdzVBk5Ly65uIhlV0Gqelt3Yjjc8IPXHytP1a5qbj0tzH+Pd
2phkyCVjMb7UGlAvSwjnsBxVLPVCkuZ0R1C2+VAX09elvcxsj33SVvgpcRKIx+jjK8R6dP5YWoab
YGkpxm1PrtKLHpBM8t8/rTl/WqZh0RYkaXj5/rTLJVM+bV5j0CxQ6e8WJ/Scx8W2KUN40bNZ+pc7
+uyn/r0r6gglmgeFZjm6HJiGjJF92c/U4jXTsmK/7I25ODJUIvHJNN9LmOsiC4zjK95uw6amnu0P
tTNCZYrydYBRwW3JVIjopMACfpDYZy29v050jAjutHDnXI/4ail1fIVvFrK06O9S8i9OGMgfW2Vw
X1Sdtx+9AdWR511Flz7Vc3PhobORKXB606buy9AYyZpCfHxajjZ2QibGmD6HGuzpxiRiZ+gV90Ui
GtsWMhm2y1m63lOObJPk1lMy73lKTstbukqnnnB6BQGc3ypIEoBcWSi7ZXdMx9eJ3Fk8rOrqsQ4D
f3lLrwEb0yaSr9su059NVGNp7J6bzADxUFXExQRZnUnKds69sMBeEs0O4IWaD+OYmdgN/XV4UOAw
fJ8yTdPIIIrFvsWj1bBQnUTdQxi13QNBS5QOM8ihQcguljcEyPTj23cPrQ2e+sTIzkt/Uk/qndEh
tFx25XzBGcWdr7Wc08vcWuMp4u08w9o17SgvQ4HengkAVHup8GtVMclsDTv8iO7aqCs/yHDK4QmG
c9aAidp2alyE/n3yZNn1u2coxUca6NBfbPHD0C3hNzgTnqhG2udq0gQZSJ7zM1HEZukqXHA+vVfd
+ykjG25UY54kluzvp8rrVsv72YgUs84Wb0EFVVERA5MxJbWONaJKv4xt9wXiwHnp2iT6a+eqaBB1
W+NDUdFZ/oYy6MXaYR3159+Qsob6+hvKnDnV8jdIVENPcSHeoe9220Ck5jZT02kPOSDf6Bh7PC27
nUyLjR6p+pPZ1H8cnbzQ+NuumupiD2iUb1E7g5MYSvKskpO+UUdV3kKG7w9CS+s9tsn4iCpxtnHw
zfsxjt0LFGjzt1sf60yZPhvBMIEJeYKgnLMnL5C3NfXMssVwoTeKtz4X0Q6/rBz7u6yvTlTmiIya
X/1jt8XkmZhhs1mzDqC3EP2IOoIY6KDJ7dtMM/xgUOITsJG7zqi7+ku7cHW4QAidi5NhlX7Z9ERG
hC1nGF5M8Is3uF8X6A+GY5Kqpc3xeo6jnkwTLui8J5IQFk8px6+DnYw0X8oOR4L5wNJlOep1enkE
QMBFPwGgwglsm8nQOpvUN8/2vFl2o6y3jxPhksve0r700HLwI0AfB2fqIkH6Pp/bl2QcRVa+jUi9
WS8G7ChdnyqM/h/iEMJkrcGzWIzQnal+sj03fQBOj77aq8xZt5pe/8RtA7V594HbOM8w6C93YWUG
+xDroJ0bZcVD2gNyNIrafRi9usYAun1TcW3aYOOo3WKdSgJam8XbQSj1s1S1p1CmPZY6BGWNhfdi
JWSoJJqTntpK9GSAGCOu/WN4ZY2BGLsI75CV9ydDb+w7a96YOrxFq7wbk9ieHcXaMxTMI/o/uJbS
TOVBn5hWfPdv6zreqg1LtqVtOa2LYOGPcZvvlt3lgBrLT2zrrZvvbg5MKqcu8wviTfsuE0F9cTtl
/d0BZxmmZsn46/syteGIXTMh6ltOWg60bTxs0iwKkFxwoaVNa4qBsOs4Pyy7XRnY2yKuYEOoZON4
ofXisqQ79h4kgGW3HsfIx6lG3S+7Tlo+NcBdV8RUwQMK9W3dtNZLNYYI2Lx7bUjMM9AFFvyh+hsa
lrpLZMWSZmlbNnFc1Cc0V8iW6atOpbENJlkdmq54hQuM9NwL9I2musl9PxbW1dTfW2oLCGeIqzhg
Y4bkdT5YyjK9V81Y3aigQ/7S9nUgqF6NUdeOyx5WitbVK96X7ktLbGnqgUnr36+TZKUKK6JRfOl0
HULSpn4N0VB9XYPFBXRtMb0ifnHX0gOZToD+tXkAivF7ffjeC4KvvWWsGnC5+D7W/cfeX+ctg9xf
PZfzwJz6B70Hq54HwL96fr3ffGw23Pl/nOcNIezHsD+E/ZieUTamZysN7tt87PbYsaTn7/bl1Veb
GADMepgNdP9uLiQj/WrZr6fuVxZCzCef4RzkVnleXi2bWox4quhZS4DYnwcCTY2Hv+2bTrwv1TC/
SXpyKL8u832FrlZGX0tm7775+stmuRaTgm7173/9z//zv38N/yv8LK9lNoZl8S/UitcSP636v/5t
a//+V/XVfPj4r387sBs92zNd3VBVRKSWZnP819t9XIT01v5HoTZRkAyV90tNdMv+OQQDeoV56dVt
pGjUJwte99OIAI3Xy2KNupg3XHQ7RSkO9eI1mKfM0TyNzv8ve2e22zi2ZdtfOch35iU3e6BOAVci
1ctdOBzNC2E7Hez7fn/9HWREZjQn61TV+wUCDEmkZJqmyL3XmnPMZUCNzezRpfR3StexdiGGgRsM
8tp1k3Xh5LWzLRr0vvVGiUeXgQohAdkuTFLjppGm/nWRS+3G4NJ6ojfMsYaWZNygyq/2ihb2m+/b
rSvouRGgWcYgk6uYoqhZHOrCGa9mkU/X9ZH+16NlC8gpBcM4dKcRU5NrILRjF/flfRUjpQ2M+Ydn
bqEezcidd//+yJvur0feNnTLMhzX1B1b6I7z85GPzRkdXxjbfzTEuF4tkZc3Y69mN6RbLI9xb7f0
N5ZXat+cSSZDtjGBDlkW315OGhdsYN0GV4XmppcbqgnwZmrv3dhuQCjw2hRYJnJSdYhw9f35vOqb
1zpretJnoqcauf5tTDf8SRVPWdr173VMUw8pWu71VafvkqsWYDFcn2YaTZVJV4DnL+8x8R74YdY2
mPd78wmtRbaVdpGd17VFmf7w+VP1w+crunoc+wajZaCRehoEHbCOdrhSff73B9rV/+VAW5rKeW4b
joblyzB+PtC9UzgMWMPijYrICC+G47ce4TB3OagmKAuMfdDy1mP8ffVYgkVti+L0dbuo7XEKwxE9
RYZsLpR18MOmnHC5NfeEZi4vDs6iH14fBoGxPLTFt60q03obasZddVi5R5hVuj84nXzuus3cUg+X
BMTs1Fz0xz43nEcz0O7W9TmzHCrmosLJGVg3DXjjbTs48jlo08eJGvMj14BfPjBDfvCgujpCw+2U
wS2V5nQ32HZ06cfquj4DEjjffXt9uCPnGQLfUBXBZtAhPyJz0b3A+L4Jb+2M4utbhWI0nmR8cigT
VB4R6BAQ9vH0oAb14zxpGgFvA7Ukp1t+l1D5aNv+3JvqJxX6/wGxkPX1qTXHNwUe1ne6Q0hQXJo5
gam8++8+dXl7o8NCWE+N//PT5a9dL4evZTU3cRh1vzz9z8cy599/LO/5a5uf3/Gf1/i1KVtEAv92
q/1befOcv7W/bvTTJ/PTv+2d99w9//TEL7q4m+/7t2Z+eGv7rPvzMr5s+T9d+Y+39VMe5+rtn789
w8+izEo4a/za/fZt1XLZ11SVL8lf94nlB3xbu/wG//zt/2bPL8/587++5e257f75Gw7L3x3Xgd3j
OhCmNcc2f/vH+PZ1lfO7gXpKtzWHyQ1LLmsF+LPon7/p5u8qcX+266i6YZEqa//2jxanzrJK/V0I
+LeuaaF4V3VX++3P3/7bTezrn+3vb2razzc10+BjHIK7NIHcTqj/cmlNtEoYrW4oB/xf7k6QfLYl
2BDwxlgeqnCn5VVxAAGmEl68SCBBHGzlEKRfz66fTq4f761/uxu2q9vUMXTVEeKXK7yElDkPcoDT
UwGknzPhnBkiv9gtJEtYw2GdCFyMleJTSbC3HTRmLxKT/t9c/zT+GD/c4tej4WqarhtCd23LMJfr
4w+3eMfQktYd9OCgNkblBRDxFvCoOCrBVidWh5zqj6kV3Fmx+5ErBxDnsttWWo4du6D20OoDBhwm
pP4PZ9TfjDw0w1jGFt/HHsuO2ToSE1PVuDLrtrr8GX/YMWTzZg2HITgwvqfVpPbl3kjqW62MnAtx
7O5mmozJW6unjRRU27k+eFMioKLWbU+Nb7BK37QMax8QZjdUpXvRpqy52PY+RTF/gWglD6ZLLGIp
jMv81yKrbJSb5ki27ezMfjGWJoOaaLqlfzefYmX+ENAKPU8BOm09VsprOKOSskr1Takd62Tcm+FD
TQbP1p3G/bwQZhQ5KkfSOb64gTPhNMPZi6DDb7v2QD/lGmhZ61uqHm2ZtndXNW//GCbCGOVYbfm1
i6uayHcO2oKdMr8GYYdJNyl3U+fbNMiHsds7dlZ66UwMZHrUHMoNw7DtrFzf1Up9Yyd/EFYJI3CM
IEZk1FDANG90qpr0d8dHbFqwn/ve8lv3TMNlmwgm0plqWDvNTfqNaWNDccZLGafJsYkoXQ5gcdPZ
MXbIxYB3HJ2IsnPCbqX5l7lWSRioSLzUI/etW/4gRYT0Lf6Qm9a8n7o+92Q44CUBNp0Cot+OrXFy
kfp4cefsIfwG+3qO3+hBhBuqMz5C7i92Ie/IK7qr4VgnRiA201DfJ++KrH7B9txwwyOUISnRwHI5
uUVctoH1PbIV1oDQnLemjuXLRuoKOHYPKQARck+fSQGlpDeQ34PmYBcpdhnXfKcxKNsLLTmSS5Qs
2ZTjpsKtbubje0eApiK9ofeViZpNNdUvjCzIQrjTpP05tKWyq0ycwEoUfEB5mgEDgn3NQOa+m7ob
O83eNGM2Nl1Os6DJpb2lxosFeBwir7A/aRU1L/BV+Anj20R9CYdKJ6oFRx5C0ChP+QJMKiiq8W3C
b2pSZcJE5oIwo7W5SaoMSazT46supms/ayilw16/M/IC0EoDZMSZkXI14McolL/OoUaBjr7dtpzH
L5klSPJFuLPJeoKNAf0FHlZCorZBcuwIgbW9xKjMaxE0tBrHwItrbBuVht7FzXRo0rrpRZZBBpbJ
ArPdQiRfHhI38uMi7yLTqxNy+9YVilm/zHEmfZipHUczurXC1twhIyAldnlpCJknbdbn66Lri/eo
pbCD/LXJ+ihdNl7f8X3F+tr3p+ujxpzkPlHMwwpJZuoRSyJcjQ/YcqyvgO8Vbr2uXaHfxpx9gFqr
SfRqkL/H2CgBZywk8HVDDccNHmrb+spfXrfBNxdJ1JBszimDAJtD2mwhbCCyWN749cWvy3Wr2E2p
RY+outenvyC3pdU7OkiC5a0/7MmsqtEhmDW/a1Ws87VGPMryI7/vm4NCEtPyugvrq/O68+vH4/1l
x9aH9bq7XELg9OGfMKwMfEnivvUo5xEdc3oqofYypnjEBB2ffWh2TPbguHVR6OwgNd1BetiPowp5
C5pZMzUocafhMTbaP+j2DUhTnixLXIrcAl9dDPfkAD4Zeo/gcjyBz4Qta8ItCypifZmi5QddElnM
90I9KlzYodOEDqXI5hCo4YOhWMI3Y0Cdg508YNHcJJZ+G6Sqe5jr7l6EDq5qRDO4iX27j/SN1TaG
Fy0wIjOsMI84JLgVc3Apis8UNq5T5WCHS3CqcP3GhudWb91gE9ZlNYdCxwYUiAZLk5mAcVIJDivU
eF8O1Y0yBdFJRtnRGGb5KPRyHyjtKz0G4tqoejXFOG2Z26dcnuv7gsIzMWGwfqvI6NGo4UnHn2h6
qj0rm3iuQm+WlFaZYQZdnHA5UFtMrMTBIRIBSDUBsIpnx7fjXHD5lbc4jt5qvr+f6v7WivrSixVd
7ro/Uju0LjS4K3Q2RULtd+r9vltuWrj4e8sgeNTB2dv2CHmw4qrdLoexSw0hhqxXTu9nS+N2Vohm
NzDAw/t3bick0LYMD/SbA0/g/tjF/R/NmL8ZUr4MavPeVJriQRns+iAU9+Cm3OpCGlG3cG7hdITt
EhSVlGfjC+M9dxMANy1BRGxIjM0QhAzP7URDxG56bavbcenjJ8O634hzlFJlcNUTMkwuAAABhi4s
NwNGIUXCr8gx+24I0x2gQHhk4DkqVmqhIaqvquhLXA6nvNbOZlP/oTnVuINW7lf1LU69jzE2O0/Y
UJfsuj8BDvEhNuoQLJ+LIRZnzTFxZGT1dEBw8U7rMagMBgpnLcZUpVkvIq/fyKwX+A3r2qd2jnOK
VBevrM6aNV0zx5Bb8BI3UqFoIU1cR0IBikVVYguNbOOqnAGi1netrR+1xDzMprik2QzRtjyosIM8
TuxbS0TzTg0ZbxpWWB1EudMEXNB+mPxwjkAwdsSvlIxmjsP0Jkkj2KRBKHeoMndYez/HpSohJGXz
Jozuszh/5St+HChnxqmd+3ZlQjfKPfAj74OuSBjNNY8WFpThwSHo25kwjwd0mpVGPDdDddAjxF1K
RecndqKPelxtLdWBJFJIBNzVbSKhDdQDoGDBDWoKtqlL8WYgYugSN+GdGqF7M+XDYOkPc44+LdCd
re0QmUNVaacMob0V1h0jv2NKMCJRCOVBiSPCxsPpodHoTFiLG0iR+heK3pxbNGxKTJuFnbv+UMGP
ydXPU43TMHKrV6MA7gewpNusQu465i6Wxu/QvhMdMCCDQLdsXy29up0SKCLcfiK81q5PuUjZTEcg
LieRO3eOXd+1FqC4SSHqZ04/TcF4VQ37qUm5NLk556FyIv0OStk4301xyIGenfugaX1TGx7R74ac
Hth18QNA1VDAjQY4OIIowrwQog61AZwlxIHR2xSHyh4+AKcytw5UnkQHyDFEGWbKetcVUGFhH18s
KAo2bhVriIGizRerm+AwKuqlyDCmyaE/N/JByEj4jkBBHQbV50oHC4vO+CnByoMaRn+05dmJF8JT
EF1VXPRzYr05k/o8T9tUCd4rkXVKDZIjGdJG5KGQYdmAkJ8vhuv8UYz5h7LSYfzFB/c8k2JK+9oG
wAQv5cYGoa1uaJ+T/11buh8XM7OpZc362tfVWmYxlrJoLpfVY81NBgWA+LhuFVR541c9Uc8zt/8b
XKf9XqicNp2g4BwGWCDJpStuJAz3i5hI4Iry+QYDqd8JJfczsk5gV7kLxQdUetxUfBsF7m67dgF9
0QoAndlsA0f9Yh+Gsp4vOhA/P4oLFD9wBtF8XfVO0PzUGOmVcMN3NtXIuMrE1pLc0gK8AFdNeYxt
m99w2RND7aRPQnPOVdXm8A1q6rsg9gi7oyPQmxAa4i9hJ4vbSS9ZQOokCmF4Jqt4AA7hktBYkt2V
OlOwqJxgsvP3lvxf0ovuBFlkbiXehDtSklOmz0qlexkgGqZIwSXpJueY0+RtYxADRYEFxARPK2R/
4+Rp7ANO+qIo1m0K4vYku/B2FLrOTa/TbzRwDHaQZdcXFQsDbymPamkdRTn0p9Fsrga4HWCd6r2Z
CfVIUye/VHPuRY7S8l4bFM/yR6zynEwVWiRA1GB5za02+04Nx7Myh+Pc2D7BO+VGwXLaG7V77OoK
zhrU4RsUHGMRpDdw2uuDNtcvcRmedAPepZuM6cmd5EPQE3aKx5p+tV1TVku/RBb76IL/bwd+TM6Z
lUqT8qaZXolzX4bg5oe64LqPrOegidojm/CTY/JXARheMffDsyQaoL+peuC+NJ8ih5i5VAvQBjfN
lny7gFJVbXLvx3WnESiRt2V9dufoWHTOeJMtC1eMb6g7jV2ucqJbZL+6c74xD3immAx1jFwMO523
KiVKkFLxixtO4wE2VHqxm9LLMxWFrpDkfUx3pvuCHoLTYjyti2F5pJRI3ehu87DtNalt11V62Dvc
pJjRRfWpAs5wWh8lkVVmm+/P1xeNNVVjfQgonvVM5L9t/7cvtobrpTpI1qIvx20XcbStJZJjfRQj
jvyvn66bQI74tvH3965v+/70l49yDOhbE4HljMn4QesHcP02yb04BksukLJGAq0JQX8t/svXnGJR
Tvzd+2ocPLFVplQnZfV1i3Uzm3YtPtq/Pjqv8/a0Pv36Wd9/VLwmyKyrjOicB4NxrAHGqjb2leXt
P6wPjYXXt76artk868N1sX5e30NpdmYB0q/p6LguPzOtEfH768NsaI9ZKN6TXMWoIEhuSUrIGHjq
kN5MzM9lqN3Cq3c3XTqDDGSKd0xCjHJFSrIEGtTAq6kSIiOlv5JgqJ5AeDaSs7qnuQQCHsG1UcLe
7W3EJFhddjX+7SvK4manRC2Ky+XpEGrZNVaAQCuROZEAPRoXrdWfEtU09pJklk1mBgI2JBAlD8TN
IS4a7eg4jn6xaSdLtXlHWNUYGcmhR+l9SaI4u1RRs+RQcg/TImsrx3Y4Oo16m9gu5Wxpzs1lZvcI
qBDRbgbH2cnyQtzTeybi8jIUirysj5xGMEgoXe60ywptWRQ61FYGD6is42+bhVKTF92acaZpGjRa
HQs6eyLNT3FuFdcEDPNGzswJWpILN5UeeBTWNV/t8HDrljgNWRBeumWhUbtok9A8JnWtbSJonR5c
SkW5CmYqpxBo61lgwuXGxjHiA5nOc3uR5XThaoqzNswfa2HaXJfZogmV8ZIqI5wlUnUQJxEVpcCv
Y5qeUWGY4idbNBWMfcysyGjxdBvFa+QCRgh60mvdtj44EaJ1qZpntOiHoGaCJzMorKWb5Htrip8D
hPO7Lok/Nq4V74kzUS9q5hAsvjxaF/o447kwVbkVGdX7BLArtR9F508wyBSA7rpVNbsFyqMcVj3t
qHOdF9bZ1DXQd47tzZr96jKdv0CVwJYE1VdZnvXLmcL8gjqlYQ3cqf58LbIprSDobYfxoULksElk
blzWE2t95AxjuEtM4KDIFmYGjh1th946mLnUL+7Y6fs0ST5IFxaOR35GamoXe1m1rrfGSr84KKyi
jEGf4FeJR6Lg1FIesY+dqrmEn6wCfrdNmD8TX5KLUHPlsj7KQtR9hJpAvc0rnPUXu4MzG/cmMh/d
VAo/y+oPMCZPjQUig9B55GbpkF4skaUX3e5oMexdY9J266vojhvP0nMqPKWTXOy/tlw3Xxe2c06s
/pFCZ7rr57Q76UPuesbMnRixvnqJFqmLsxzDbjnp14XWxyXxJVrFvbViImgmZxmN3xZKHA7Qm5bn
Xx+CpZiXWTtsWEU+rSv65S1l0vc/bbiuWj9tXb8+xaKAvyfVta8/5vuK7z91fe37U7erdQ8ZOfLh
n3ds3a7S2/w09x/0xOlK7F5x+sOuY3hkCmC4u3XTr/v3/Sd+37163fNsoHIW0AvYrmtGTi5I3ur+
+3bro19275en6ya/7Mb3QzB08Ss412tD5tg+NDKV+y4ADrNK36XkJzhjRMe0IbrDoItyV1JwPuiV
/pEwQ9JoG1FsQyo/yMaMeEtmmnl1wR+NRE/fBMSn6er0qjZKtZXofDco+3uvMDPtVGZCXCg+otUF
ssuoPpo7SezZh9ZW9xk1C1806atgnOs7lutykWKma+A6I9aAQK2Qemyl6uoytyTtrdjHZWZjQiX8
fBwneTJiAZ6pqziDhbY3etrvxawiTMo+Rsxr9lQ3mI7qRInyVBzZCfhOLcNB002cnaIhdpzDqwyK
z7k6Ox+G6Lnqol3VTBqw2E3eDM1BaYb7As7fpqMhTnoVZW7pDI2fFumnSOG2TKYd7uWaQtLY66+Q
DV7TPjOOS6UDJhmA3W5KkD4On9rAuctN1dopBlI/GDmJ9oF5mnnO5swny9P0uZ4DFi41SqoOmLva
gf7aR+67wFTFtkxmrkS5QwNggjENd4dxP5Ac0lpk0DJ1co0X3BsYy9XxWPAVfBBlalJBRwbaoW3a
uyocggq/3NTwUoFsjGrwtNUMlMmyx74mWvVlrNvPnWpqOwhmHuAyHevuR5mY4bu8TffQu6wdJ8l1
HInmK43kbkAMt7Ob6RYXyM0wU9Dhq2ycsoOcjJQpGKi6zmruVbfzm5S4mH5QigPG0fFsSsJF4lvw
Su0e88CpdA3rMjmz9EBb49KFE3jTfU4Cy7mMw1w9dm586ihfHsshMQjRCNotxS9zF2Ea2mpVad0a
PdOlMjeKjdHK3TBU5oOWhOhMyR8bSus6KqN2DchOS6pcP0F9Io8qiJxzHY9vAuLFngVt6DmbD1M3
9j61sxRskZT7IBcKUbYAYcHZKEcGJOAwCNdLmRL7aq522wSg9y4yBvChs1Tuqzm66XHvHa0ip8rR
WwsStxKHck6+ENid3qpGSZgGZxSVNtC18binb93vXAWQN9J70++z8YVZH6YnS/qpY4oj/Ipjqlnd
/2/6/s+avmhN1B96dP/S9T3zMf1rOv/U9v36pj/7vtrv8OI1YdJHNC3xQ9fX/d20hU0vT6ffRouR
Vt6fXV/3d80QLi1nlc6K0FR0MH92fa3fKS+4umtqdP1VzbT+N11fXfzSTnSEikfXMV196SoKwS/7
YztRJ/mscSQCjXHyE3pHNLHqSvN6C+dWWQVXgAsn05bNKbMNHFoIWiT+/YM63cdKdkqUcWJS2MDS
4Y6xI+6g22RuOflT50IfHBtwlTrndlfl+N4mx4vS5F2qdKY/Tnnm4bfkywW+c3Rjonjr8a0Ru1jr
JV32vxrxf9M2FYb6r78nRwq7jiro22jqr23lqTVnMxWOdWS8rG1LgNVTnOaMH/9MXo0dxISdS1tn
DRMNNaI4wxIYpk2qAbZ9JiGa+lQEJBubaoVGnqKoTJP4jJ6IiQXuNhevIHOf96R8QnLry3eFor4Y
DGfu1kWWE1dmuZPqB8AkqGJ6kxiP5C3tMrsiGqHAgZVbQ17uZpmOZ/ASRy4SzC1wgRNWxvBNhR19
dtt0wZwbz6le1QSMkuLBDOzRUSKYW8vCpemBn5DWeKGe1kUL3PQ0p6V95KLz/WXXpgYj87DwwaB7
+C3lQY8Jp10XUcxMINBcum19Vp/WxRAjLNODgMjAUtsB8Yqh+1iUPspA/4RIAKzVUOJxnw34EMgb
QDPN9cdSjV0/iUR3inqOWeGSiQGUTj1VShjuC8u9YS6CaxIgFvLVvja3oZnJVwqdsJjK+yyd0pMc
I2cX59mDlQ3BqSrz4ISDjlpGyry+WJ7KTnV/WKyvKRV1YWMGupMX0T7W27tp2arl9GvDsT+IKVI8
RHCAHTM9JuZibnxbY2NSUObwmDb2Nuhd4wTg0Dytj2YpCVv9kCr1wDQOUrhlBt0uLIDvkkdbhRIP
5PekXiCHnTcqE8hhClN0uOVS7q+fRdoz06pDjoimt1j5tHskvsBQVbGD0t7jp2B2KqKBpMZlUcET
pnFQxudBIQu6L9tpl1b90/rSugiJRj8POb1WhHP3UmXSTI+tV07ronK+aBiJvaxwiY8xPldpNhzL
8WKZnFS1OtnAi6R5QlbceMZoIg4n6E808hzrbu8PTPCasrlk4CC3Viw+O9YntW9TLIQqgRZLyq6i
8mtUeMVgWitPpcK8rRqt5NhVtEyymFlNxa2tkMmpGc5rPDF9YZzAg6NBeHLJOUry3Rqg2QJY7HJp
MePsojOMEEIb3PgxTBp9m5kZZOy7Ptdi8P8p8dJ5vK9dhotT7RyEC6SZ78bBXmS0SjaNOaggfnRs
KRR2pm7eK7iFMpXOYw/+aKs0M0MgAq6MXmNw5BD3Yw7pvg9xrun0AU8TYlPoVQxqSwgutO9LnHAM
FSMFvJtVfuD92OJCpkbSAlXPcHbyozqbDhDa9nR1jVPi8hXNBwRzJFDMJ1EjKUiMneFODOPbc1qX
sSeq7qmJu2dLZspp6mGn46JfBBFFbw/nfozghMb1u7BCyGDqXjVAlFPG4j3YU8erKnXBXRhkI9sG
Y3LHN8PRJQQH7fIY6TtBkK5dmy2Wk6jZRooO7YNDxFns7oUOUJ3fr3giZjrfTWkmj0P4Ws6WfaqX
ReY+cOGY6ULIaovkvd1itGtO3DDrg5EPPmgp4uWn/L61e9sDYEpFhWmQnxfQedp6mQ0h0CmhoKcO
iMyONPUtzQBlp1fZrYJP/1QisT264Xs8SfppSouz1aVf3JA0yZm2bRowdhLDW1KqO3i06DFEgrx/
jHb4fz5GNpxiPAg0hbInyoTlMRqpicxB7TmOrW9mMwpODC3lRiTWc9dSi+4rfThFNQH3SQ06P6zw
WunvC5Gd5Owo+66vgY6RjZOT5Tbb74yw+IyVovaXbuRyms9ZccpiKPCWk38uoAX4NcnrIE7BGzWF
PXp22MLnbayPiiXZSzH4iW0Q8koPd4M+hOiESJQnWGJCWC2wPvEUkOx34DrxYOtPrdaE3gD1c+eW
5AFzQjwMtMGFsOE9Cyh87IxfFWpEkZ8phaIWR7fpD0mUqp4bqLZHbr15Q4rV1iBozUsKlSigzJv4
41AbNg9xVUt4fRhcFd3aFi6ZFc0sDrXdwFvoOb0K/SFbxEOFpV7zSP9k7N0kwR8YV28WQ1XDUTQv
bBOLjnZ9dLUCc4fJjDzvyV7p+qV4z8i24h061lec60rk6zGNwCCFKSaahsAX2rg6tvydM9n2JsBr
s8cp9jIh3CFfLLint9Bv1FANPBfoaGWHzBnJDaI/sEssAIoyAIEK9++ASunQzLuxq+ZDklM201wA
1UFGjnBcfxDIDZi90TzSZyh3McOXaGhebBIb6MLoiFwmoIO5kpBxQTDEMVXgVtNVJMKEijpRYZsi
6rVDGcgrvXuCrMAReiasJaRfW70CsiIVl+uRzPa0p6nZ0S/eZm49bhdX8yBzdmNW3tO9RXRTKMq9
1S7rE+umzMVJYN8gucJTrNcAS73HlcXctsLwIKkTWtdVZE4QTH+wa2ZCKcjDzBTt1kaX2lMl24IL
/xSrjMzGh4kvMxIrvWbmGtwBBarfWVV2NejgdvT7t41jAEDUld1yKdvpXXk7CSt/T0hpK9IPTKUZ
7VkjdRdU7P7QNHeyhC5XpieIUVT1U2a9FQhVW1uYjf29qjYZwImqPPfDZ7Mzn+IMTnhogGwzY05L
zUgVT+2AGFTk0JRhs2njHp9Xx59/0Yj7cWfRZy8YFKouHdK5TS81IzaoD1BcCFjpxtsxdD7VRUsG
nMzJaG02aTkiubI/Zi5yJaNQGkQpsEHE7JB27NgfE4GcmyYJpcnc0u7QBYu7PCLsuAw+RjEUo6oa
HyHzQpscjC8ZsqByJrY7JakjcZcA2b4mlreEU5dp5uwRiGodmfrhAPqipJ1x7olmTLpg3zmmRuql
7hdFXhMdZJTPZatjO4fIyD1m0XeXYPtxStR7pN3w5RWGwH1A2SEMu4vt1txCHg1B9IZV5Wju6qsj
ODBxUrtb2R6dUTtoE2FViFfGz9QnjNEh363Mj87UG37XK0gYWs5TU3qDVdlnuypPpMv+0Tro4UiQ
/GiYtP6rFMa9UWJl1IwNSbQF8gunPIGonYm1iqxnkqNgJy4CBqR9p0JQ827SmiDZkkhY4qP3DP+m
TY/EIEfjsVGqJr/akCq6/iNutRckrtHWYeyetJjb1Xd0nu9TE1GKm+V3BpmRWZaTpimIGoHTmCOI
eo/fkHFemBwAB5JhRPQ0vaIXSal1o6XRvjBR5C1ZkqFxb0txKwtbAw0NORTyExE8k3sbBsWhlMy6
e7hLWQAX3C4Gh6zj4o2GllaH1r2cHMvrC3GlKHJ1rLTZlV3j0MZByhr0n6fMYSyVfpyzinpz8mx1
LfHv0O0Hpdt17LKXWgB/wry900pyBugZm15G5jqAGrVHynIs+gCFSCxiBg4RcUcZVmLRlB+6+Y+5
QBsQAuWcaxdtRAHQOunr9xSsnqYJ6FoVvAM7LjZuN7x0lmLvbJmjEpueqsLe25PhHPQ52Mdwi4uk
j7Yp2RN2c+x6vsGxXkCUhDqut1SPaWBTDjGIBmagH/N16nYYIhJ/JNjZm9oOUHV4CPkr7wonK3Zw
WNHLun4fGERImu1Zl9lTXVc3tm4QTSXoyWqh9I0hvhhAVraQ6AGootYAZ/RW9s8jUc7cb/a6S9iE
ZfZfKkFElJw4X8mdJR1CNkfGnF9syhCA4oqzPgLuViz3CvThrKT3kmH2Q8twDFiC5RWxJC4zfkia
PNhYKtE7kfkqi09V38FICRgGDYIgUwamoVk9RATJwpN/T6IxyeNOcVQFaCy1Sj7UMH5LIiEQRDjy
WCw5FDMQo6iDhdKrUuCQJMeUcJFBk2fu+9U9HVbNPJJ4llysSn8ZtfShsXSKghngksqMrwGSVgrY
1p3ojJGqYc11uEa0GDF+UuVIZzg8YrmsDxJHKwVNknhBlk/0VPppAxMI35KWLLFDI9zv+CjS2kW6
XGu02KG466qGICkcfPzY9UaERDBOKgNJwLXvayiCujmOx0a7G1PG4w2/s9nogEkK+wZmP7FEJb2O
SvwBqgHG3zKrMulOT/DoAyuO9nZLTx801zTpGJNlovlV1H60yxBFB+c+ad81wHC/ifilp5yklZJr
YafKDEyu+9nQycppw62Uo9jkpYswMrstpvpJ5GFIIUshRys0uZJTGuCO+UY8zqy7iICLwN33S8+t
6jRiyEEKFa5CaKHaYJacnb3iNvlO2tBRmsZ4TOvlkC4lWAcrRlDNG5cCv13QyEvTvN8qhQXskExr
3Bmx17fNjdNnGDH6Bn5BLAg9Q+ija+KWbEaGbal2rhXzfWbpV7VxUP+O93YCYMjKuEoYmcj8NH3F
l2l6Q2x+AofJmYNalIHVvIUbVZ7AJ6Rqg4xNFocez3yok8NXgRXKDKvcMTdD4mcMN1wcSalJN6Hm
eE7c3WSFzlBwrrbK9KWf409jjEQuFBpJw9RA5vbUR+MrItTqqMwHvCTx3h3NAG5zuPVpSRFKAlJ0
o2uGscF4+tq30cXN3dcyoOXQM0UsszL0SiwgI+mnrgKh2eXyJzTAfn1y1MovY9bOj5BVS5QGQKja
ox52jLhzq9k3WflqBubop9Z8pyCcpgIA8K8lazYyaTtqkviFSRINzvV97kXsVYEEQNfHxqYJnMiL
k5jszhhrvjpgvHMB1FK0Qq2Dhnpr57SpdRM1RSrTPYTEbj9MAH0tF8+UFb5HGuiQ0ljST0zpcFVv
5Ga8CeYiRt4Inwxue/48TK26aRObL/34Oesdcpk1dEPpjUgG9iFrAAGVRBIs4DRG8Cr6z00xkZfj
BsrHDMM2adm3SkZGlPH/2DuPJceZNMu+yrwA2hyAQ21JUAfJ0GoDy4yMhIZDOdTT92FUTU1Z92Js
NrPqxU8L8WdkJEnAP3HvuW3zxA+mbMKJvOn8/F10IyGoHbGSUzuRfECR16s82fY9qgvVf6TFWGFq
nI/mbFgbLmMC87hXkQHr5nhtqmhGeWzFpCW5E+nMZEQDfkadSA7GLV55FujQVUPQp+TuzvyVU7aY
UYTFJIQKKmwHx+HKcqHDq0mDyVzqZxFX2dYtLeJggYbqRFMDRsvl9l95KII0QGhFEGNS1fm2dz6Y
IPJ2ZQvRzwBINAXJrJcD5r93ZSB+Cgx1KvyGAF7O2JpFH1jRnIqBy4GyQEM2T3VYlx6X/+2JJDX8
zb8b6oUnAzs/kS104BbjcJFjNXZQXvaMHklwtT7lkqMbyIsU4l99DEbR8COCv8TCPtXptk6Kb4NZ
QDM5Ny2WBQhQOveOCBBKDMjsXHY2K6sUB2r710x5O9+JXgI2z5sp8J8risi13RK/najowWg4yCYi
6h3aojVX+LVZ/D+46MV6eQyGYK0zANazotwYyaAQQKqpQrtolRKks5aFZO2/F9ag8P8jJ03tr9RE
0KZw1hAM3mj6f4te/pbLM03TPnJ53qJRcLGRakf8WrQeZ4lD22KRjYIJMXzjOttF2+lWZra3Hp0k
3kVdsKntUqwCt/4NTSSCwJeC0uKKRKJPYkOdIdTT9m6GCY9kiAMpe61j+UqMWb6DVHdXj8bXiIIf
I/5nmixhWnt71Q9nYovW+XzmHjJo48lBy4koiiSZ+Fq7QHdKGFbREPC/jXtLR5d2ihjYjdso9+1P
UkHJC1pylOmUFonRPDqZBhWJenuNp5iYhEkAbvcR9xsEMQandly2s80TSJX/MpnVsZMLrDQOSk49
IjJcXrs2xpHccxNlN9StUjqBosEq56vZDMfoL3XVcEFh9tj0Ubwv8ig/lkEQwm876rbbd4G6A4B0
g7MN0z4wlxci5p+iLr32vhSI35PvGmSmqwjyAfv4CCf3VSbyIevWtqNflSOvnSDp/OYmoqbwpuKE
ZugJOAhYC6r+pLQeyzbMAUFvKkJww4gcwACdaUuSOGEQK6uIPiK6G0hOjKqmk1ORvJD034jW6FoE
Ok67PGil97i9r+J2rdnqu4F3qzx6CXZPoUNq7aIMUPumRTANsstes2Aegv65rayXyHwyXBJDpDL+
dv189mMfqIOh5Zp3D3uhsuTkbacvkEjkroK/H0zUAq3xC/brbYdoTFwZ9m8KtjVCKyLFu/i9cdPD
rFOPJhryVD+AZNGhm7l/rSG/3CJHwGMS/2gH9xEdZ6rqq1tJ5Gvlk7r9m42xf3EViBws7r4Pbxs7
GQmSvFJrjwRRnhN1xLp7tgKc8QnOTdn/MeV0KHgWyeQ7T3FqHeysPmBVhTHW+iTcVQHUdzERVm64
W4J8xu10iyllvk8HUkwOCaqI+Lo5ZYSY+ctxppJsxmLlIHOz0n5gqt/j5DGCp5RewW4Ep3T2akTm
skdxhnYYiXILJ3rtlrM+TO3ir+ruBmbIxZXAnvXgle4qkip0+qghCXNeT1a8RiRJeEoOiH4qW76v
+25bLFgdZ1D/YFGaXV5XR5BsyT61IDZMojtFtwhHSmxGmMv4Vd5gsIMm71DBmKtHenO39FtGBBnV
Kyu+/jLK5jXfmjV8bkJyLDK15StgKZPsB+GupxofcR4QI2ksv4t6MjYzb6NVOlRyZdJKbG+C1zQl
CiJY8rcua/3Q6B4beDpoQZPiaRJHbkTupuiQ89+mT2DD1Kfqy5egVWqbzOqPpNZdGw+Fm5zNGkb6
XLVpmPTDdOcn7R8MBcFaptLcqRmtYGPn3jmiyKfWWn5NZTAdoqyQF+hglKj+fF8ucjkFYxwapZWd
6xpMdRtDQJk5Q7iDlr1/TZKcFgOD4cqzhbcDKppuCpu8vmgx5327L0psOelCvM1i2ivYo6QM9WIv
Rnm2dF5jf/lrJ6oMCTaW62JmUElSSM6/22Zo28N9qaeMeppxM4ADosvUsyVA00ILxDplYHMph+x+
NoJbOO70PCKaC5WZQqy3l03E/oNIsNlfNRV/rh5Hghujar24Q42HLZjC0neeAqtMTikxHEmWHeu+
mk9Uydy+Zo2PyWt/p+X0p2Ysc/Qq5+jVBdokE3fEMtRbUGHOznNdckozwkgg3HSoYV4r3754sf49
Mfs5NWqZ1+zFuu00kptBAtkqsgbN7R6Hkt922bmhRnKtibug6n5lORahwZo0gdbRcgcI+TsjEXFD
PKFaWT4dgYx8Z23UxUMHVJZ0DOZzjK+3eWYWO/4p+34q6scRZOZqcu1DOjTjRRjJa1QZ6dGvp1+o
HZq7tvKpe+OanNvJKUOvR/xgwC1Pxhlj9G1YKTUBXitku90GCRkhoy1VnA1/hNBpGwgIGdHwWTDQ
mUQuaK+h3E+CjRwtvc4yOT8SIWUMCZFqotYPaSU2eA4OHBNN6IhDUknnULV/f/RbvHh/xiard5la
WGYEBjs7484TQ3ry/HebnciuyynxPaNZAHk6L+ht1TWoL5VtEdOrqcPLnRCsE8o4H2AKs2ryk64+
TkPLFXpt/KI/sv7n/u24d4xmu63to9zpRPPH0/NjPGeP7M7P/eK+C04Pknbec2Nyds3IK4qRh057
6ndu+t30pXyoLf1CuxwdI//vgLajgBiycjArUAATywFP/RiDRN/MKWRaY9GPUsX3jI7G3c0vd1Nj
PlWDEW2dxX8mYiqB563Gh25Mv9O8AnbmGCDQOOLHXL2OacLAi0vSDLpfVW77u9u2MEzHCYSiCN6R
YT4DT+mv0QQZuEBzoO05fo8jOg6RywekAhVLlgSwsGNJ+A3pW82WYBvPb/GSn5BoRNj4vA9t2o+I
hvHxEBRtF0RN/1BRqCC0T20YV968xn76kNlipAci4sP0hr2F4vQwjEi8mGMWgArX8HRI/4q6IwTK
ZNNac0IIYHKGYQPKCYeIX0OQStWSbwoE+6FZLvubXqTumzhsi/EyWgvXZHNxjoYM0lUWNQQd9PSc
lufd1eectcRjJzHUeIzA3Vs3meQTXsdarlEkEzWcdN/S4PdMsnqLZiMi7FqeW5NpKH79L4THq1z7
yd6O4O4GzbscbX8F0iTTpbtVoKS4J3bJXmr33hlnxXIJOhdGRZdFngkfKKcqT6p85dvrJVZEurZw
MUX0F/0Mtg92dqaWM/O6/BIt5RfNVULIZwwaNfg11TdXTK0sRok6zOI0O3jtdzEOWWikKZYcKyBp
0JDexYnu29KWhClXj3lOg4czjMszG64+ieoxRuqhI7BmhmnWlMMvlYzJXc62Owwytp0IcLY2z9ZQ
Ni17j5rhTi/QxIPRJnCi2UCqAFVEipeNuXGw+/kA0xO/xQ20P8rp2XM+82S5pCX54azf9NF0ZLni
KLGIC9p6cPjWtnDcfVyylra7botPczz0S12FRa2etJG+1nqEMYALk8FiEeIJXmcl45nsFq1uLVjm
ii6RW/jqZJFPVR5+EAms3pJB8qc7vWkFnLkUbMGlFPV46nsiG1qC65LR5aQfm02Uq7vSHLtwSRVM
XXSkoZWOj2NOmlf+3BekRWT4TtzRLk8Rb5It6Ak8tvitwQ0RZjkHL3khu/2UtlZIRBKhUbPaWZZg
cyNSCLrREvY+EkHLsx9y7A2ExmX2KjWpQKDB3HJWYXMYI8W9EzTrcdEta30Mma3K/5CxZ0LqMR77
AjBgTxl3jyt13PgD6ARAyzSmD4g13euS1ta6WrxHVEe7OUiXi6Qh5Kat14P0vKP0rC8IQ3k4TT6J
SpYVv+X9tdV/I2rzh8WqgktnLJvKjnp+bfx1QAXX2tK83QgjmJ7sYW72fcRYbozt7qqF+bsEN7dJ
c+PaaQJiqfjvDJPjeSj65NzU+Z6o7FDIsXltiZ8z48LajZWJ0YxkVIsMbjwUqQ6+8+QXKaCHUnA1
1bIhtbMWG0/JfTxSA2pzlLvZqtoVd1qK/6z0diY6s0TmQdirzA+l7IoT0eNb/ZYt9d+qJZx16Avs
BPZHQGDnHxszjgPuem7VOUu8DDWd3nkQ43akTK8ShMcnHGphbcBDXByPpiii9EZJyjNFNCi3C7jn
1FxkD4eD8plIIwkrxvFRRdx++gkBm4PlD+0nNyM7/u3NcP/7gTyaOlvOBAoyhp+DfJvO5LK4MTTL
qbzT0L5INmbWyEC7DUFLHYpaDyfzFlajHZBd03tbdR1mCoLCeyPdkFIk7vJSxWs4vdOqVuRO1dKH
YzUYCS0p+DbsiZ+MjOVxLJcHFwtoOIzLb6oNY9W2v0jUydb9eNsKVe4xFml867vHEOXiLpcZh99s
lg/2rb5xQfOLrk039Zh5F5dxeTRz4GWDXVynaPGYMfS7Rm6s3N2zW/vK2l5tvBYVWxYZjMRoP8xo
idfAJo5eJw+jZBPMX99t66p4TLvlnqyJ4aoNhhTS4+XMmuU368qz5xQZBjlxoMfjMItBZ/OvoMDp
HmF03Ym6C2vH8X5nmMQ5TPKDK1R8wbjM2bdMt5bR3GS5vRWMis6cGqDlF1j7LhmIi8klnSMeReAn
ydJzO+GHDAmAmVsaBH7C6MTDmIk/yU/3Q1Tv2bqzNLaYalcT1qGAKxdT8EeQVVdHodXvrJblS3ZX
TGb+5InjAij87ucBjW95R2AsncVghQm+a7Zz5LbAj2ArmRehDJgQVGmmj62imccomrI58tVp8YiV
K7xhSwAGvkCP3W2y2PeBaLhrsldENcAmomvEqZ+c97ivTgGprgTrxdfKyco3YjlWbc/yvXLTgXA1
Bx3JbdNpsq+ybhCom6R5vrasCLHwU3DN2PS4M3cTP1lVJ+26qyBtnm0NRLmrAyNkUlfq4GhggKSh
t3aN49rrcYAokY7GGvUJSU8wqe9za1nbE15jR01X14eVmncklQf2SI7RfKCI+56qhb0lc8xR34K+
A7YHbh0TUe/CAKxNwm2TG3mxZUIkzRHpZUpqWIXU1xoyQur9x1yUTK3hb1AmBwzuesnwy+1R95Au
hNOVIRkRUF2dzxtN9kPQRc3l5wEvyCZNycBy7PQga4mr1SbIHTMSLfHUSnRhWfuWUFHhP6p2ImKK
02BH1oSfX7To7Pup0NZdggU6txm52gMxOVXUjwRogpp37ODOBsoPXqO9jweY8ZN7VC6109SzAZnj
vV9V1tZETzDHy6nPite4cZw7K0njHZv2ApZW8ct3ZLMpC5iahR+TqjkHVmiN2ZtisTkXudg0g3U3
TdyYVN0cjNdMot2AIUlSM+FV+7TjcLfsiItsGZJdYWJp7uroHoOYicd3ABMQDMujjUNqbaLOj3Xu
PeHC+/LJ37Pka21T1pJXKaoaA4SrS6xr/lGTxOzbebBL3bJErezdx/QIreU3OOiI+jSawtg7U/3X
ztM/XiP8bSNI7oLHIdGE4lYGfsQlsKh6B9eOaZjzuygDhDYlwmiUpfcgxe+6FilKFXsHP3c/qjRl
utQHZ0IT46eMxWNWlWvKYu6MxUtjduMF8ZeVqY3lxFc2IXR0lX+g9+eU4cbPGnYD9RK1d30bFqp5
S5jOtO7KbF9bvOgd3cKqGG4JGi1/ROOKtyYXk0V8r1mQMb4jTnjXNcgDq5IFR1Nd2tGd6Ta7U7zg
9WBYuNLgt0LiUbgR9zjWGXcXtm/tjNkrtpae+E2JJ7XK+cAakGU15YHBZnfbqsc4xfUbpKnci0qb
JPxVH67/bJushgTOBTjr7GsqphvM1YPs4EA5I2zHottmBhT08yMtf3ToM7Yx5Kiu5zbC2xy17aPn
k92edQemLXFoZiPPmeUcR/AG+M2dF3pkpLq5mK/44ANyhR9UV9EpTckxQc6HTcJmwo3xhy0oTa+L
3s+fVotrwu3MxByaRf/h5r6xFw71g06Na+OQmBY53HeXkrGZ8N2NknXyPLgEEPr18iCnLt3YdoQK
Uw3IqB0Y9yXUnlKn0f428p7qLN2lvYR2Qm9fBNV+GMnRqCR4br+Y4cSZr7mZFVsa+PkY3B5+PpJC
z8feTVpUjgIyCWb9kdl6F2LbQYNxe/hRYyBNGCB6iokldILGqLUzNPkWKiX8igMLn1RRsCb0U6jD
qh60CdNo9kJ86+f7Pw/d1MTb3vBf+NVZ+Wa8ongfK0afZnef3D77+VLMOLoZgnGPG8I4phLhUOGp
rSwWllTcMxjE52TGjO5mAXvCTbk7LrcHNIUIQDJH0IfZdHyzHsAsBPofD6+EFsxHv8rEsTKyZ6/V
/TYb3OUfXwoCc1z/qFH/B6D1fwFo2ey1UD//S7j737TUz9/Tr+7fhdT//BP/FFIH9n8g4GWoiWLa
sqX9bwAtU7j/4dqW5QnftMj+u8l7/7eU+qaXdpFMg7NDUG2il/5f/5RSW85/+LbjSKbRwvf8QPw/
SakJPfovCC2TFY20/MCzUBgTUGPd6IX/xmYSvUFkrFLiIP8nOfL/d3LkZCUH1xsZ3dqjNxzN9qgG
DzBV0ZQnQn6IrrRiGARDbJ1L4mNPXkaC2u0zOTXW+ecjE1HAoRDiTGS3eVlmFqCVSoOdymO0ANDR
7vC8TCcWLG44TwtNrBsYFIWMiyKbs41km12lRhyYs51t2qKfkLE1Av+Qs2DUhkry86lWUXNPs50j
jN7ajFw2qZPKZ2/oLMbZbELBQyZnmLoweCrjSjlabzV5f2vP8KPrzwMGWuNaW+ppsH8zBfb2dAw9
0/LCZbcYK01ahbWrZcnXRNtsjIh80Cwlcmttl7WLbr1TmPuUjecQrdwJHYrN3Me0aINynDQV44h2
dlC6TvXJGSYPC6Jqw4KfEyKYS+6n1ksv6VisGegXPpoHrdetsKYdR8594AqDMeesn1gZJLs5Tjvy
Wpz+qWIB9mCKyxAcEmm2L8JQPAjypBcgwLdPLKfdylEN9x5LB0hC7stQ+uQEGem7KLwCNSCHTe52
2ftSM1abmWtsss5+n4hxe47s/nWI1PCbg5m7/CLlw+BG2MuaCmEusZfICYQ+zaShegb5M41rEH06
1ZehQSs1EFy3EexsjwGGoWfLtS/IkvuLK0bymVvraaK8+OM3JVjcms2bwjlKxFfyoUYEnQDE2lyW
jGQm9zEZ8+zTBNKwGk3lP82ZU+PG9JJtNwJ88SsUhwUMij3DoOQBXxkxNXh3PgndPdRDHv0e2EVF
xnRFIjG+dJ5a9kkyGVBq7O49X9SmiFzr6tygs2LEfTkZpLMF8xi/5jn8sbpU+OSmIH4tmT9Sj8di
+/PdYLR2jLtyaGGev0dAPr95nfk25wbkBInNbwKUefAjJ2Y/3MHM/mWYdfSIisheT35zKkrinrqJ
WWJsusGumFL/LkHQQzkIWz9x9c7J+KuLzgQbkC3DM8vGjhxw6yWw5FnWRfyrNNKGFlIu98oU85lV
BBVXiSHL52I7NbXtHSefXDkKlelJseN9qixrrx34qCO8/C2ZoNPTmEBP7VNATz//h9e1AUESCI4H
HGvskuYHlPvTgyP78Uyle/w/X+K1zHe05afUdVEiTFX9Jlj17hZfERx2+3SeEUfUCR1iSTRNi4Ht
zTHza6Ty7sFZdP4yI9F08/HThX5PNkBSPXdVcQFGDVXi9hmztRjMUBHvc66JaZ78Z+5AWAvLOb6b
01y8lSIOfXJPwH6O+r51gldYf6En3OIRU1/x0CsG9WyP19KdnY3IivIs26k4G/mwVrZGBh1b+J2R
TKenyEJRaI9HlfoeNXjkPNWSmI+5iJrvBH1Okw13Q+NZoWvUqLaKvDoTTdNeef2MVTzQw3gz2jr6
0tdYGt2TUZkljAohwjJKSYiq63Rfg5OKme3/8X3z6qOf/5q22nQPpHPOb4Zkx6IDfKI/n4ZqSGTY
6gYqE2PfdxZLK4Ja8zcZBMHJWwjNnMvSfx+DhWqWtxdLZ5LHPTdW73rDkd++I7eKTgUkIex6/d8B
aMaj5ZrXeiyHVxccPys6szy0Q+Rsg4A8MBkb0UNlOopVDfL2qPe8EB2yvAcmQxyn4BJmH4qvOkDk
N2jAia5M6leS1dJ1idf5NKUV7tQ6uDIWLIHRgA/kV85eGJSgWijmdysK2q0p4/QJxoh+8IdbPrVI
npoRGY8TuTWJG6q4s7L+LgeBcy/z2uAyz/Rb68BpSVWFMUenL1MHuFeieTrUTZq+WC1ReangX/Tz
3QpNYW6QJV0uhzhmZYakv13uHVc/INLTp3987fZpNdCYYah6jeqlP9MF9Oefj0YyHVbj4KAPn/KB
FAdrYITBR3lx2+0u2LrKJEJGFTNAnSpuT6Lt2O6lGJ5TC2M5SJkSDFfZkOYy7r28+4tBzdwFg67X
hbSZOcObsjBWH9MqggiKDBRjq6TNCpAwQvxd88YH8N182K45HvI03ieF0IeSBcZsZAR2wUvAWEI4
Vx0xFSBf72Id67y9JyGufDC4y650nBOi536bC4k9kkNhVwqs87nVNachrwuWI+JpjNjAmVlk7hc7
coEBEhSi8vpg280HkJ4dVBdrMw35uHfGFrkf4XFk9qIjnSWMRaXfGi/PzoOcfoFjWUtd67XncD5o
9hXren5Kh4LotiGS7DJ6/tp2WnlSMtbxvhg9Pi9Zwx2V9EpUmKuunR5MB5lQ1zZ/IwI6tG5F2LgI
ALrevDf6CN2URbzANB/YhneMOk14A4aDmhRw597HIrB2ZPe+BBhWMk2YvCgsNhCE7yIaiFZJQtYo
JKe4Q6bD1fqKfW6B2LDB6oP/JkaRkgavdmN9maVx7j1xMUSEnld++HWyG03/QStsfVkxfuPTYIlM
5BW5aO5LrLvX3HN2nRu5u0Yzc6jnb0Jb3ZVDrJPupzcnqr/wxA7AkOMTpYZnj+YtCCMEKQ7eInmI
F6SPzhY8G3aQIfpUAWqz6g9SNt7MPazPtu52sWb1L1pz11tyO4+smJyCPnVI4y8rx4ImSucB/hu9
4Veate+LdMKlGHbVjBdgBEgQmcWxGZFPLI75pnrxFHn5o9IBMbOYqjzxFy3qOM6v0WxvagtpYuzs
I8s4xgNrtsU4tgQV8W7aLNR/y3A/dSiHwdLzZjUeB9v4lY/dg4jFoctZ8+AEmD21z7kT34RyzzhU
4rUyWNbl5AfcJhTsKZa1itF9DsUjro9nEl7Bd/om7CfymLn6p1Xgu18uu0AsK1ySbYaFwUG+y5QX
WxJXtu3eNTl5SLJ5UR4Z0AFnvX1Mbzw2ZIcMJBGozzonGmjlJRHjKHO6WNUYhIVkiwIxKYkc9MTA
o3dJ4F07aCA2DqnKq8iKavjoFtieCm4wZfzu6Ki6FMHwgYbvpJbqC3h7DfFzfhZcj2GPWoan0d6X
1gKRoolWTsOFGCDAphEjBCqY7815FPz6OXNyP4L9ycvTJvppzstTKbJsVfmIKWe7rlZRa255qwMR
810yAmPxKpR9yW/sqimwIc072cfSoNfqsJL2nc8EO802S2BhP+2GV2LBP7rbzyEOheiE4mLrCDeQ
n6dIer8byTViG83XcNvMdrpjD/8C9uzT80nB9P9wAtwzp+FXrVEUNOOq6vy/EJJ+S9e6s3owMaIq
8UGl+h6MLiO4wmVwM/8abP91NuU3Y5XvOW3uZP3ddVKsS1WijE4OTsdL7hTJV+KkDz0zbnJV6l+m
ctWdl8wcXzP0Ts6iIa0/3Yz3MucAOrhpD63xTMH8bo7DW6ydx851L34dPBTWfK8U9qu5nD6Er8+q
6Y6yMU6URhbWyeQPzsDm5w1YyhuCVHXbQWegZWr32uZwpJZ5w3zeJQ079oqQnQnJZhiwRsQ8YbEw
4LJv3gRjvKVl3me1/HQEqU2cv66BYktNi9oOnb6LO7lvBjvZgM5Cb8ferrwfmMzvNCRWJnysyMry
Grtk5cE8aNsc8aNO4rAZCWj0P1kRFatmWb61P/74CE6dezHKbJMAbyEZLvVRQrr53sbDjzGDnbw5
3PuzxnDZfkaBPijE+Fs5mESaspmspvSsG5S+PSGw7O8ZsslGwLHEsGngt6hcfZDeZK4qYTgX+v2t
jGsAm1pZVEtq4UjiOWBNkZwljJU56JJ7UMnPqWr/ggti2DxgWLGLbSSl/xU/Zk++tp/QgqbPubLf
ooijPYYtHRrReBycrtxSZXUHJ+AtVQV62rPEu7L0ezMTSRRma2G4SGekHOOGDVNDK4fUbDx3TSYe
jeI5taHUWk4tmVyCvtPDlc5PhvHM3SQemAE20ArkjEXBdPE0NEPm7IirYCUn3dcEBcvGgcwFRivb
DoHuQhF5p5xX7WTwL+365EDOd7ypBaJYY7TCxvGvI0yufSxgBGZBRtHSBmENmS30ufWvbcBpbuvp
A30i6QwkusDZKfegJD/STEF4Kfs4JMX8j9mD3KsLww/HQJWcNTKjIJ63hdk37x0ye6wVm9mZ+qe8
ZAcCY/8XRLVxHSvufZ+OATkXSs+y7336ZpcXny096ylFgmkyR1vaWn/dtP6jW/KtuLUJUXA5LlsE
XwZSrxiZUudUDzN6IGRggmRLY9hAzfFPgXEaOV79MuiPPoE5yM8xWnXRjGArSMM2SN+dAuovGsrz
WIm/yWwXHGVptccYE2MVkTTWMQmvmgFli6zomBVJAdX1X5//fBGv/BvbFvYzt6+PZVXf4F///f/7
+XYm0iPdGMvO289r4UxhE0kO/+VH/nxTsN3eyknc/fzIny+NDePgxltWC7SsdWTH1Ul4EJSyEhms
JKbRdg5jqy7ZDF2kGr+TkmK2n8U7A49zeugMQQiX0R9U119l3x7wU6GFQohVafed+Mnfeb18e9n8
3dgomTTMUvwCB3scv5cc2blSyTOHGAnE6wbVDJsoagWkJ9BUpPU9z5hwkIa3tXlmuK7Ww59lUd62
gM2BOcC8a2o3lGmFRVbbYu31QbLGj2Ry58SnkN8ehhvi5+ejBefOahgb8Jba03s9ivDnmz8PSd9j
FxidF2wVxmaw0l8I6Nyj6AsG1rKhXfUQ7uC4niySizMV4MyRsQjNCn5Ywz6A49rHo/nzeU2Pf6z1
Pu8ZwTsmC4kMB0TVKYiTN41dkCTHHD7QxnaozhaL3GHEsUylmTQ3i1lh/8s+Fz/pV4MdWycx2OY/
Hqx/feQy/6OUYonUTCUMk8HKDzMGVCRWT8VNK9/ZYBudP5Z759jiqbfi12IkMi8vw55Uv8Bpv5Iu
wiI47XETOdZ0wWMz5uXdaIsNfNSjNPVuYLttmyN8OGndxUazkQ67X80cWw27FMDLoMMCyRacF/T6
7Trgl40UZoOutjalvGWnpw/DzfV6C3pxvU0fGJ+NiTFv9KpLOgV/YLkfUgTWtxLBcShn2yj0guJB
m87Jq9pj3zxMsT7XVXOBrcRShaGHMD77aAxHdsN5SsyKGlaNTj7NRZzt5gbgBmW+rnXENKWFeSLF
vY90J0weq9yK9sSJXBDxYu6RN4vrdunkadj6LqbL3KjvpMh25cTWQeOemX3remPA5fHUsJ7SLjbb
cUdMJmC2FGE5xlk2SGTvKtSwt9Q7hy7Kh+M5Y5uRVvRG7DDerYz+YjoG1lV67bgVRf878lkzQKxw
0GYX91Z2sEVvIkGs/6Jbw+tsoHwlyc3q9RGkx8TMhuZnClDQcuNfTVQtjq8OVsWmsKiH+tChfpj8
emP0+q4poxdUlQRKyfyaNZ5ao+GdZeXvWvlBZMsTav5qzdF0JPuScDcEqx3WlcRJHOpG87jofgeg
nPqyy7ajKt8i7W8mkyxBcmeXNeaz51rudOnhKUbLwZAKYSAE41XdPi2U+ys/6NFIu7G9An7wgg+d
+8iAtdhoPhLGDj46SzomwEXdl1TesZd5s8lI6s0U3CA3p2JFZc5a9CzzgmwjjR2+481ZxS1qwXrP
UihZl6SorbCt/EFbqC+ppHq069WUc4wVfvCW5ViGIq2fs5Q9O2gnZkTje1Ok66wvvke3ezPlvMvy
5asPsEppI1dbB8nY2opGLGVPhYXQJxDaWMuJdbcwXnwPNYpM1DHBuoJpxTnBnS6K9LH0EBGzJKyI
CRnI+zuY/TuClb3Rv2kvPdpJjTSuOYhCPmbVrNbCMy8jPLF10aTd2h+cv61hnw2YSqrJrtj0V1To
5yLqzNVizzYzlEtXDN/Nkn7E2b1tNrhVSYSoYH5STbr2dnS5o5HmvR2QdQVDFH/gkP0y3fxgdzDW
pL5G8avPhWgPVCH4wRDdRQ8mxp4Q+f3WNbunphNvEkAZMZZPsVWGJAByRgMKY13Wtd5TmbUH2atf
eQNrSKSIHpQNyqHP9Ucig2RXL/J3lLnlyvtPws5rt3Fty6JfRIA5vIpUDs7xhXAoM+fNzfD1Pajq
e+qicBr9YsiyAiUzrL3WnGNCRvKhbD+i8n0o0OrEnCj0ufmplQYWp7jLVc45jnYau9ChhfmJluIT
zOe7phU/rqedkZocJsd5n9L6vZ891pg4cc2y8utqTFYSjMQG95zvYAJC+LzS31pzTHfQjx47V3vI
G98MsT24ylOlDne5677X4ZK9Q/QCigRPYwPnM6TjnTc99aiR0TXixVpK1bAuf4QitqreI2INjaeW
S0AfaTemB5KTlAsE1+Wmmp0Nuc8INebozKVvQ7ftjjH8SrG+kNIype199uA3Q7v0VG/2VF6qGbHb
GBHEN9/bJkXZTKe4p+2Buh4Bz61ZIdFNmLWOojh0FhpfzzwnmjquEsN5aFIUPe3EjHgI6Pi6dKe1
t0H17uO4xr+X6GhycHFEQPeGBrGKk/Nxq3zm285S+iETFXS+tiMKHmCId8tX3Bf1I847mNGcETKi
d3URfymsy4Kprihz+AjxW4pkPve6MhCTBlcu9Z70UTsPNr8s5H2Ilpw9i9naW9hu3eRLwrc5m0mM
vNfCK5Xkb4sfi6WVF7hz9txGWHmHp6GsNJ6W3FwPJJGz69c/FB9PRYLHIhpx9RI5vG7c28ZujEVT
Rbdd0XUfGDXrj1ZZoX9/cUj5Bs1Jza6AFqMjxWUym8+6xrrIzk6Mx3gtrCQQ1WgPWY2vkxK+jXv1
M4zrAMvvbTJon7njcpL3mttIExz32LemanHR63yBBIGvEfzCYZkk6IxIw7ap0hDMvAv//b0sS3Rq
Ee0QZVQx7Zq0jTI+YOQCD+fa4duODaPYerIawtmshu6O9hQymPfl8EON+9znD1YvYQ5MbhAOdhWw
b6Hyxv2P6SfmupK4StCPcUQdOR3CFjELi74fa7BRiAzuJhsRIUNRgbEi+03dw98YdP2zcDFadcMB
/Xd4tvr+aYB1XaBavoCbz3eiQzXaqUc9B2qW2yy0PUwURT9ZtFypSzuaT6q7iqXWXawZj22DRSDX
a45TZCeJrr3N2gdhrc/TIuwrspA+w3KGbLo3GDMftoFQE0Df2i6kdnJz6tDcXQJpWjZvhHjEeVQQ
bca1VY6YsHXdNFidWRjlQNI3juYz9trYPZDv1sJ8K3OQNLS0IzptbhHAvNPwKCOOBIu9TiakxmB+
XPC47mYgvn2VJvFT2+MX7Np20wrvZVanrTGIr75xzdVozhPHXHTj5N5dp9MlFcaDaMaX2vCWeDY2
tlFe6dhaaDZWY1yVu0KhRWkvdtqSC1qSTJ9JPIFDajIsie3PvHg9WtS4KXM+UrDIWxUOF4LBS9f0
1719mHzStnc4hGaa6SBiDf0NSiqX7Dz5Ruq/NguHf1ycZWsAJzBfnfuVjYVhA6TjOTb7dSXYABmr
zkq2dJVnYDga6sCTYrlB77GLE7rDXFBGTdAUAFZNaUEF8r4ob55gBmJHmxUiV2f4P/n0M8biq2jN
jUgcalcv0fEM2ywgwWaVRnXRRP+M2gTrPey9Ys2/9+hE9JOmargh9QFQu4xK1ikewv7syZkhv8cB
xVJvXlBUjEep6nRpo0oDoEn2aEp+x7NaQ3lvhshbM2EraJB/mLPdYGPrD04oz+VoJoHpznxxMTad
udtweibVZWCdzgzq4OLOTZTxEcvg2Yk453kVC7QsnvaOV3+YOuOkONqLYqSJJX+5tYqCiXWTluqr
QSueRuSRm6RB5CrjdGPZ9b7M1HldkSw7Vd2vUmkAD3bGxqTPr9XP+G+clZ04NPOS5JMkoa6QB1eq
W6XewtW8sYtMpzJxf6Hio//PXK+kXa0oyxmgMI86pAk2jdzeBkq7lFiKMnRBaR0lFOXeiz3yjbeR
/Cgx7oJhWnsaPF5h9Evqq7ruOueOBe1jHA5YGlxnNQl3bRCCtxWq8dYWzoSos8fhNbbvXU5/S0t6
kqfgF661vuPipN1YDAotyOjAODjzGUp2VhCsyDEGgsQ+mTFNWeshl3RK9hroi8cQp7UpQXN3V8/g
ZXoLg4vE7WDb3+g5WcE46oq8hQ7eumYHqQ3VRXbpN6qn0R9KtCo5y2adToDfEqaysmkC8s7wRUQg
GXMhgenerTBGK2dQGIMPAwGB/1pr5+dIUVDd9rrqD+6Q+HbpTkEPn7N3uMsq9FuXpB/fHQ8Rk5eA
xhj3jvekWs9rJ47RdldH6XW7mhhTbOiu8DUNjW2BG6HWFYkXZr6fOi8ElAt2vm5KsQa+VgRDot6h
2KeYtF5CxNommUF+mNAlJIYw8JzyrYoSKCrPfdqXQVx5E1D8UDuSOaGVTrMx9Z7a9tGpSVmSnGAO
xQxTX0CNY6xvX8KcI5nJk7EDtWgtHm6SiAxpbEDp09m3W0RWmYZvwya9BMsOZGEEYzDGcfIORb7P
pukUD92wK3L88XjB94PHJS4t2z219F3VM+whMeqsQBXYJ/m4TzKPGV2u7qMcrfnsUoaA+vMdlJoj
skhoKVlgpfhLy44SwWxHLGM9+rdEkM1ksyCfO+WVtJxD0oTZpq6DrqmOalSPvhrRUDFaV1sTIr3w
mCVKsAxhsKy8bjOJ6VMnNvmcE7jL9AyWXnGfRJhBGwWLGNgYhrQcGBGJKVWancoweQCSQuEBNoX2
LF27BSPBqHaXgGhNmU5iFevvWcfCUFChOKdMamXp5AdZVts5OaCMvYUMP1K9uj3o0fx+kJH3gpad
Hk5VW8o33bn1LOwtKQa+NnGZMb3uJtRdGSipTLa830cs8WNoErcyLh1/NOtqY8jyU8XJUmHlDuYY
dI2mGALgHV9XlF6sUj9wCb2vHXsvnbLAI9ijuTdxQEAEgolkI1DlWTTbIDJrarmz+gK/aZy6a41r
FO5TyOJ6yNBh6eQwj4wc7bNUou7Y1wjssvYYO86TO4HnDOEH3Si4o9t8U/ORdlEVxXuWJUcF7zHz
A9ohSCP2WaP7SI5mrFLFLSZtMMjkWjHcWamiuy3ajFGHMa40HW2xjlSV+HIcTvCs6Ow6Mwa3mPjG
0vCbqOy3eVKrd24YMUpUjCdiae5lLHqWHfHi8SC3N0QuZ84gtRk6grTAnNF6w3qm579RuwK6Ejlg
uQKRW5Rb9ruzkSkXRAUoP8b2oqMC30+s4fwezTGSPeWjidMn95WG/jFXngcMQQZxVwG8ExvxI5ce
9Zcx4BwTXf4MvvbaC2LiQCw2iy+7xnGDvOEOtmm98jL+k7MxUrm6hb02bYXxoDG8SN1l/FYagAzr
BnHLvEun+k5OEUCNCON9VgicaZVNTHjuXmLwWZvuGlZTxueizZ2LkjnHKLXcjWVktNb6NzIIky3Z
uJjZi5BGxRmD3BvdQVYiGBwx4/mZ3rsrVhQLGyAGrkfubY5lYuhJmHKBCheF7hcMl9FTE9UWCJ1O
Npfbo2RI59ed/LQrU1khDy7xWb9ybq+ZT2rfWuc2YFvx5hWG6q4Lrz8XWzeUwdCSNaWUCCPxUjIb
klsIaZh1KGP7hCUVTfnGKHXIkfhsWNN5vpeZ4VrLOGNb0LtaQm24Jnpcn8NwuhglyOI0Ko5jrclN
1sPlR2qyM53uJ9JS2lzZj1lhL60XLxPBMWu7SQ49khiuAxsnNskMG25IjTrgfVrDMuBRiXzCvfGA
KRjt8wCofx6eJj6NLsX7lHwIS9SwvUFgxSrqYdspN2ZZ5mvstezqclj+Tem9MAp7W6D/0bT+NsT8
XfJfY7lfPGTmKFY1Qlf0vDifgS1860uwjYrDDcPLDtnEW8/4HU8+JyKv6T7mNN5RSas4pXd5JJl3
V9UPg6rnGWO7yurOpGu7CqP+2dHGczdhTSYpi4QMCTwUoKPfJ/mHPRng22z96Onqd2iTCDlS+1Pf
uo/S3sbSwBaWDrfThCzdw16HAmmHsKbHW4rTeKj0butm3XemDRmLTyrgXHWau74xjwnhietCZJvG
UcJDrukPQmBSKEEex2rKRTt8YTAFYkah/lyMP2alp0HWgbYruHiadDT8ZCzebdcR62q5LLnxyHnf
O6Rcx/0+X3JCZLdesFDWyHqytsl5qoruF6M4WC4GwiuIEXiwwFFMXn6INONgj0y2B4ZddDRN35bs
cLw0ZwbCerbt0QZOusN596CQ/Y74ovtG2sUiKocorduT2E6G0aHmsWOOY2VbJRSbmvY8q8p3G43m
oaurfat62b17ch+1MS6PXYS/rkpt+p3Rg238svO0u63S+S7qG4LxkiAc4/EyzhiLlhVXR4yMAV0O
NTuuWbU5Y6OT50oQbewateonbgSWgLRHv+mqF8tV1Ve7s+5bw/qsrOw1Kkg2NNNJ3XBWk869RYMV
3FCWHpFGNUxyKDirUgCaKzhBZiaGQYOBj+qgIY8sF3XzC/lDuKAXOKNqNZ9VJ4GfkhHYh/2tqA3i
F3VKzIoQe79ugYe1AoB+ZG1jYS9BLeC3m2YBZeWXkLyzvSan6UZzcJxEoj2ECTEp9qze0Digh53O
W7JLMNJ00GR6vFqm1rEuGdS1oEPvQz4p/GjAscQPkiHT8DsuGLGB6FintrdV7BBnEPOlQNWJL23G
ATJesh2t8KIoEFMHwpQ5uNPLNNkPmImNexMGrDe05naMtIeEWdRuVMGRTQIQtmUvKYflQTLYP5BQ
cFYcUBXqqD1pdAgtU84Y9lTFz8pBO5Ck/ZHWtB2nFpfgVFgMDzN7VWmSVQvBPZrZC453KJ3ou7Kj
pybP2tzFQeiKjw7sxjbmTFPaShFMLR2yEPpLZuDI0nITzRo40ZUFW3SPDmThPrznSCr8YiiVDbP3
FvYbYyBuAeVP1NuuAY8XDpo/9/mHtBrtRsOqMhSfeLOzZxh+d2DlPq0cjHxdKDRjgfu34RqkEpT8
4T5nVyDUW7SBcl39KkHo2N+iFS9K02NDtEuyJ0nuyPFBbBuuy2rdfttRQWHqYYA0RX0zCJ0rpUS4
X89rCdqJ8xSrqTJ+GVKFs6+BtK/wwu24rDi/E1cQb5Qkb3XFdbmgXQ2NBLxqBw2DnXpnuOZBRZm0
N3A1cYYZ+6BdOwblE0aUd4PF8Ogwdq3TbK1WTDES8RrqGL+8TLzhbwr9kBaeT4X8a2jrHEsPDmMi
QbrAS2jaNSUFMhFA5OY5m0Jhf52Hvttgh+PM1bKx2Ar9KIFfEJcpYwjnWHOywdwH+aBRX1Sq+8CR
8lGNWgEigDaxWSV10FfisUg82GcdpJYyhCxqxT2WbU5OMs3Cw0SGPYy3GDwmGdN6ZaKd1Q0Je0Mp
N2rMmQ8tSbMGpvjRiuJHZGONUMq5rVoV5Ach2YAkeDjClecsoQQc5vK5H/jeTKOHMQWMQqoNPV4d
7T5xdI+qlPMOWKoGstLgHkycJNwxotrHRAfxQcmd8Yqx4Ci3isP1Fv0UxJr//306q3eCRP554LS8
wp+XqSmFfLuJMXphg2n86wOvj6kbG6Hd9Xf6+C5I5X/eMcxq/nT9PZli/nR9wn/d/PP6v/9Csmin
u/v/cyt+b+Tvd+R61xG1cd3s3/dEZpgGTkOIzdFuIRFdX+b67r835PpuOilHBd6R/3w/tZJRQlwf
2mT23P7+/n6/+PXeP69yvaU6oDnWkp1078n3aMkuJRen2pfFqO/FQs3S3KQ+XG+FaB9+3/pzH+6g
ZAlL+c9jUkRWdNX+eeT1VrScqf/c14W5P4YpVtTl/t+vcP3r7yf/ea8/z/vrZSzogkSDRJqv2fTR
8SHDhGUgdvNnQxpdYQJxfa3/ukl4eQuLe9m864uXbRlt9NF6yq5JoBIfD7he9YajsCTfmB/pNJfM
H/jx131/fr3eKoVD8knpwTT9z1Ovt67Pv966vsifX2eqUNY+paDd8p/3+fO4v+67/oohG8jyn8f8
ea3rff/2FGJKmpXWWbjqemYv/3yM3x/3+vt1s8oeU63/18v8ftC/vez1OdmM17Hra2A/tjh0JWWZ
ZiqS1Re/OmHCGG358dev6ijIz/vrzwNcztndpN7ScVHb/33S9ZnXH3/dp1YSq/1oghb+5x3+eps/
z/3rrf7tcXBk2aY/r4W+kGSuw3y9+/oEsx6YAf71ov/197/e5Prr339WyNrZTWm//tev4N+2619f
5vrAP9t6fcz1vhgF2XpwjF99AqwInS8yQhLpkUsMgtGHVhituI3EkGx+ny4G41mxABTP51ivn65n
g4oWHqapqtqbUGdiruB0Hwr8yJlCS5Elm21gmfZonnLAfQhcB1umv+1xQoZ0tJZbdOtakyW2jVtc
y6wtn/miZ7TOVLd4VMNW3XmESWcE4zZ9QstRoaXplDhWxw71X29H4FrkTadVZyh9KMt6auaumG6n
Wn6bYRhkMXoCIxWsPZjD0gNsFrnuBPytQZGmw/cpNELj8/FRqzGHxw2iiGKsEBe1MFG0MFnrBVVS
lJ2LCvpAm+DJL+c6PtmooM7RMofBtcsUpLgUGloAhthW4NklggBKYabo9drMRHhXN0CNVHyYzjCr
d6Zr67t5YMtslquj80JpwtJGZBoSdgod3e2iTUKwY0sEiSJBCfR8p2T0oXvR0htT1zDcAqkjQg1C
19KPwdSC0H9+Msx8X9ZANYqi9pPOfGuG5lBVU76hgErWFtd2KpRTHDGRSgHXBazYsVCX+ynuT3Ql
WGOktAEVtQILmkJAM5gChMJMNkPDd2cJAz92HD9GzBDnWidWJnQxgzOG6dzpJpPjD3Sd4uxK742Z
OuNR6Z2iKUt9GM/+ld6u1fW4ZXZ20qUaI3pKWbe08Usjf9KQAlJVqQggELrbcF45Sg0ZW2f8rbTu
NjExwQ4m7fS6G8w1tfEzteS4wYZd+bnovp3ktogY2qML5Lk2reStoUzTva5EqFoGhco8B5saZu+d
9OI14/tiVys0COo+bjfurA1bU+QbF43GGmiZ8CN0jbvMJcvAa3dux0aPM5pPor+Ug1ryj643RuyA
pGMZBnjHBUKacywJnZV9rPyIkHDNdjwve5AOJeecx/MvRtiUyR3jgcZ8F4oTXiq9/2pI4fZ1Dj8f
GaDEfohULo6d2jfV1GQ95ZwYUwzQfYEldoD5iAneGGambOdMRe8sIMLQkGWGo4uXMMkQ85PpiWYN
4GSB7djlvWyUZEEpZun3o5wObW+ho1M2RdSFd5NGZkfjftY51KpIjT4mEOzCVRR/0KjLNKI2bSM+
QknZWF78rSzK12qM6WuP86vXTCrqk52m/HI8QK56grvb0FS8+ilMCxG6vgFjPIzl46S5m1j1TuBa
ilWl0HnNJHw8JfvKGq3fzA2FMY1H6PXuM/kEROCmBakZedkHpizphSjVaeaQ9gcx0BTXtBvIKWJd
MH3t1Q+rMSl7Jkeu+/ahy5onxPQ53FHoIF79pgl5YYZWgAQWm1zI50oNDd+EkOO3oQpfLpOsN6Dk
rrwIa7GYGHekTryDDKpSJ2v3dmo+A3VtTGxrZLfmm65o1KBM64PhatFa1fqdZiC4zHNAPJ78CKOG
PNSk+k7n11kHWO+gDiU5jNm9/uQ28ZPEfXAsE6FthiN4NdWW3ocg4iKgXYUB1fFTAjJWdqj/EAsN
i9F+SwcCh8f5RebeydR5GMSUs6GivxOzma4lkhZRd6cQfQitqWmbkWoJWo0wlunTllsZ5o8ZOd9a
XzIXEtOtmSrB0M+b2KaTiEmCc7fJIKyRJSIp0NpoYYKIfcJvIeTVWfoBLwL9T40QBpvFHuN+vMKm
BX+DNWKsUrM7+H06Uo3rTVtY4R1qFLEeQi/1lxGyPcJ2hCyOZY2OQ56/DlGfBwCqF2U87YiuK15q
SzN8S0xBPmZJAOd/DuxWpSEDipH4gHENJ+3ZTvU7OS7N6RdpM/VtEjgnHYKIRP+G+PNdJPpX14CK
peHq96oVrXqnwDHTU64BC/YJ9AWNlzPViqEDaKgUxgJdJ3SgBzVtLk03QQ+Edd3T6IT2DeqZDY71
jddhvVOF3q5HxaavqdY3zK1WSWWbgQEUpmuicV9pXBQIMckI1EIvQntU2JGfavuWqbrTOZiH8upS
ZDS2DGffNPZHR55VNZrYmPMiMNV8F2tOQ4QvGWr9EKL/cIeDYLIe2aUZNFx1170BcNQcZBaQ50If
RxEA6y1yqEJD+XIbBnyhHMF0Q7qdBjRKjr1l6v1oavPWgXe1rUx9a83DOYvLp3IEvarlCNHJvsQE
kb8lFruZUr16cIAPYKZiFxZWc48G+LGw8udpFrAz2u4xbuevarRf9ApdDa3hAtu2HY1EMwZORsNV
65CyarZ9rmpkNNWCYKkYythmt89CFCok8Q6JgrsEpdobU/t3L8of7bo/jTZ5VeqAwDVfgK5v2cg+
kQL303tqA0Oe4hkR0YTPTW1pagEyvSUkITBajs8MOW2+Y9WN+jBn1pcMNhJ7oL4cm++TGN+jjpmg
kyMJdcH+iISJb5F9DU7yBJvyTTbzr5QhrYyM7SyTfW9C36w4j+RqdV/3xQbPPdPxTOOHET+YM4KU
ak4kmWsGuXfdvDW96KNzIQD02HLobq5LF2jYIJxfHXFigeAKS5YZEoaFgMCVlmMJzGxTqmUQLh4h
Ud5lkcoqCWHEGlPUdrS9/VvRpUuDzN1XI2N6TGqRr0wEXccJ12ZFPzZ5z3o5RNAOY2i36KibGkh5
7UAEs77UAuOROrz2bNRerV8S2IgrdcqBEitHznwPycJf7XuHrz66aKBtKyAjIh12YxVu4HjSQu74
WjhJIJVIsFytBsaE75BCEr936kviLuoFAVeum+xg9E5ZVT3kPZAOhkKYVDh6ByIz8nw8VNlg+cQI
v6AKOcFSuAVH5jv9cFeL6N0qEBP0Hm2odMjfHA9u9YzZ0wdeDyjHpDc8s29k5gIFpRnTtBrh02Jc
u4Z64pDcElIx7z0gqVVxwRuA2gYzEJ4ZDpf+xRa05eYcoEIXVTd5SoMElw/fpome0yiix8rOf9WL
caUQ+YD0un9KaMTv2pipCoIeB9cCHgN052Ukj0i34hUaxndsMAGnXB0uHTCtTp6N1juLCoLIgqxX
8gTPF6N1Q0FX0HcvRYY61Y0coGwz5Chp8CU7fI2Og4OAVI4i6HXHW3V42OmzMFktHtBT1+xziJnQ
UK8smED3Qq5FaItHLnBUknfetzr2/UmbhN+Jytq5oXhUzInVHHgxNL8A/hQAb0P/3nbeJpIuU41k
4q9I5nKaNC1Tkbyq4H+oCgcPRViDJrCJGJ8x60OQWmS7Ypbu3p3zF4eivuYK3ssaHTi18TRweFbk
y6dg4vFjyWi4Gb2U3aVJ7sGmkrHUc6wR1sqYsDlFSfXjdAntcY1xeWY8hZ17QXDyqY2oUua2o/TG
JBQm7oZx77mPmqNNsQhnB18woCEPeH5rnfUkIxaofHZtA3Z9pKGP1scvulIMW1w5XlyPS409kTnS
f8CF4Gpu3ylRSnvcbpBuNwvv07dbereWLJg22Tk0a4JhQISbG2BuP3LjmeJoVVq7Yu6uwKgZnqxq
WOPxB49dKFxbHdbBdn+LDZVhr5LdGvTGmbl+0hIrt4zZbppmZoo5x3KLLtfomG9rbvmEguiTlXLj
W+DbglhbmBfsNMqPHuofZF3tQ5vpIKDaY21eilo1fS9GTAyzpd3NFunqXeb6HqacdLbObe89Fkr/
i9GO4ZmnZAzXSN6DCac0Ge71WsjoFno2WPeyeSNU/dCX8/1s0JyR9Xtjwh0dPURjZJo81SaS0bEO
n9wBAW0D+hraLL4aM8UA7qLlUC1G8c7AeGXeSXAsSWl9ANqLV6C6fDOy9Y1pTI+6inkp5QiM+YYz
M4kWydkvUEzQYYUDqGQdazZKkPF9Hg/MfZ5yh6O0KODAFRrfkzmYJKoTwYyVeVkk6ZRj3bnLrBdl
CNEPEptOMPyr3h0JS7TVkTGApTyYFcEqJssxTlIVxkAXHyjxGIt3dwghf0P4rxXjaMTdm4yNT91W
pg3YzgcVNOIkwGZNUZ77SUtFaHns/ZUykX3cYniAc01BRZp1gqSvyowfg3HFyh77Xwy1r+fNVdJY
uj/p6l2Cun4VN06QeczuFY+9xLH0D8t1fyXMl7AKVntDH3Zy0kmN0bX7xvKQTmkeomID61y2IAgt
fQEliQAB1m50Mwbj+uRriCIdDYJQhJ7X1zwkPIg7XlOt2bfEwSsLDKZC9Nfl9VOal+dYtQ+ybYK5
on4eiL2kma+DY88Xy18arCoyV2kFvNbm94QkqS7mNGBghU+s6++ccnhzuuErKcRuZqht69o7+k6C
P40hA3HXrELSWTdYcRkIsPPU5oPMnLueYehqSouzxLGkMKNcVan3llroT9A/PYbivjdVBqEs3VeQ
hXNGfWHAUOmcW+bJ1Jh8ZgQl2/OIUUN1bmpWHbICjxYzFfDM4UmXypPq9eUmiieSBCwQsqNzB/mZ
QXga7llqvbrevUuvHZFJ4cAOWgwLIqXApsC0HXxJKenN02AdkI2tZNtvhROjH8L1DNYIB+hBTcMd
+6Tf1qTKjimBLcjteKhO/rGig91yD12E6VLr8PlFybz2erynpbMeGvVVyWEGtb2+DcdpW40hwMoc
00vj9EiqxFdMUOBkGXvqCzzhFBgDuThUlay+hpslxsgX1l5ZlCcygVNfSZu3IXcn9xR8H94rSdpo
8Nz0e3Li11jE64ncKHwtvQFYX0d0Nb1UZgJZVt/mYEhWpSyhwONqsVNGeyYM1JIJe8i0MwgJQFY9
mGxcEAbcjhoWTmfHw9JFfGVnT4RFULtWCFrrgZJD2gKSXFevGAIQBO14B7P6rkOy07O4vgiIekZG
SrY3jcc60z8BQezCOO1ZtKFHbsRXMkxPGSq2jVJ53qrhiF97CnhPA0ow3szuUk6bJTptmpIIrSdM
2TCLGIVWIbELIYkNcJRTTHaEu9ALSZLvKsxPqoOmiSWYxbLeAkdMLHU8VgIeWEeITaV/DwamjvxJ
Y3a9Rfj27qBmceaR/olX7DOj/iYj1to4Vf6d5lh9BwBmjR5f5gihKmEgmd8t83t1vmljb+fcjlxN
ORQvOJU/Ej3c6Jb80fP6Enr4vBLOUZrTrgvpPHvaeJxaUI5zwyqebJMb2Zroypj+OUyvMg9K1dIK
j+vplCO6XOdJ2W8SBIw2w+ZVXQ/PHKOoQbQakctg2uuWXFmetypmkINZGu81UkDwoCpBwvTv2dTR
jgxNeCfib298aVzjBf3Mo1P0VJsAtghoI4IrDJMVog4USWgpHVYLFLwcm2h2q2bbtCTpvam2jv/D
eB6LXuELbe+hUHEcDcadkkMBFKbxKuF+aLDMAmJPkEjmXnTCQvAYkcysLbo3M4o7SuEVFYDNnsW/
Q0dz1vQGAcIVrkep33pxdFf/4sQbRoj5GuM0xvIuN1mp2QtXPB0aJATqa9x2+mrSq4uVD48jOoXN
FCe3qSNPhoeOzGUmazKGhQjbnAZs3uNkPGgkgbgfDs7lTmXHzKxn0m4edJs0hyg5x8ROZQILCmCr
ruVoibBOu+OuM9TXXlifioMkhM+1x1S1wY1LMybl+k8WIWkTS7ZNf8ka+wzSDRF4Uvit0N7CZfHq
KtFpbtFqaNUp06GKK7L7qptx0Qo8k5eNliFGrjVUFN6qhVgkZG+hiunLytvNKm4qiwlyFYrP0pR3
ddzP8AEs1jT9g5ObR0QWnc+QgpoKqb3LxJINU5TALNJfFAAaQxldrMy0+orhRadWBlYr3qiZ9R27
LX2qtgULnWtLLijBWPUlszOIWE2+r+WIn0St101lfWRad2h1JrGelYBwxH+bCuMzDsu7Fm4fm3Ds
YxKty0s3D6dSgX6T2Ug3EvAXg0E6l4I7I/yZS+VRXzxrOHYelYxQj01pESWnRGpNzaWj7SzqwBDa
l9OLve4lDxBxon1VZt8iXL7sOH+fNPmSlVhVSgOncVfxmZPhMmXDuUqTBywUH5QQH+oic3YqubHq
6b2vAcHDIE19pfAyH9qd6c+6g7y5v3Yqx+3IKTMwJlqzaqIfUK3TTYjfPSxBy0z1RLDmERX0feEO
5spRlbc5GiD2eofYK886p3CgKFtRVUgMBrDlCBaTIXlN8tb0fxqr/rKM/DOsazL89OquUJoVEjZO
LjbuGJJQN3ZzJNVkHWJ7teno5ZlWH428eEAMuSodNCQl6pdpwMIUa+FLmqKKtXrIL/PgHBMStBlT
I6ZXqmgLDW/wVV/MZEo6DqDwmdiDvCo/bLN5Rzp+I4vQXSfspxwhL7gdnLXSg/KszknvRlu9XXKI
iGF0oJoa6XxRwvJQknIHVpIM6R7SD5c8ZW3lvqtzdKGilDtLojBf9NSji8Vu+VC14d2PDs0bh34K
iTX2lr24PBv5MwSZIM6rW8L0XmOwoTDRCRefGn1VUh5tIpsdhV7+Bbvflo74a+gIyJLsRF2oskrQ
B85O2tpK62NuFg8i1t+K0SaSW8SUtUO9db0Z9qzgwlgmD6gXuA6rNGVoHtc7VmMPYipea5F+sfp9
HFwh9g5+EKOcwwCCwKtVn9o6fKM86PdxTIkS0qg/Ka65hp2KCocUYFBM+g4wLW29dDIoGZroVEzK
iVQI5cJa82Us6O3OvbNp66QMUFoMrOkR4mCooTNu5tmubM9lpTAg4AXWbqZ8se4lU0c+mkno7sZZ
IWqhEPuoyGhiutFBJgOLRqXdGIAP/TpFdF8TEjp1hXZQyA3BdQgBL8qItsldAIpFqG2nyWv2luIi
x4cg6uMAK+6VqUNTA5lje/31931hsUs5Lpd8SSf/H/bOY0d2Jt2ur3Lxj8UGTdBdqDVI78r7mhBl
6b0L8um1yPq78+DoNATNNUkws9IVkwxGfN/ea4cxWuBC51rVwBG203ybBA4UffnsiPCCxk+7sWw8
VaU77HM7hZnn2K8WdWQNA/XCNsh34v/ZjBoT1VYQDpFq6ZKlzeOYVPW2Y4Ze9VzDuooCZNjcFTJ/
axsQUKHF1Ye0kr3QOndre9+2TWrQkNAaKqkbjzXhVRGOTaSvyYvSDg0WJqb2Vq994QbmpGGGnXre
uxHBUKRE5KygKgn4l4tARYJVWQxLTnnAOTIVzxVEm87O9uyPwNUxv5BnMjAIe623N8bwpAoqVo2r
P7kxgT7gygflopw+Lpw6MIallQhEX3vXeXRg4+Lu2wn8N8tuiE6jat2mxVURgWFAWXOX+TjcMTLt
q0JQ0rSv8DAuKtv5rKRpczGE5GUmN9HUOnCVlLKhrI6CBD9cEAZnhJvBSVWbQ9uheyz9Ui7yAcka
QjdOa2OfdeLLVU1Wb/BT0ImXcUAl1PLahWYXNUeWYS/0AeMdCKmrKuqeZVozHZIRtkYj/e7Dsb5o
4mbrU95WTVbKhk8uDwcl/QEDb2CgPgMIvXD9b1RQ0VGtJi8CC84idDKGx+gu7R89A1tK57BGIzMN
rhXWb9kQQSdzlBluxNrZRpYHQwYyuqo9xS6jdQy734wpsUCDMrdaeBQt1RerI4rCce6JK36qUydZ
KxUGg04DQeErsMKgd4aTFC5CkcmPOGG51Z2gckiRCp0mZU+Mv2NCrwRLc0EC76hYl9KM4y3KIF6l
Hw16YRsomG8jhsS0p1TpdTRXOp9X1RPjrZGs4RQDwlKWOMvYsrQ1MNt7LcmZqBolzmJIPwuDgpVZ
fMZReV25Wb9LhsldlOAZ0cW+SZsW6Q6NqXqk+GTb8VtLkY+rTa5gNqViluTB3p9i58xcfzEt/K9U
K/0tz66uySOgsaIjb5taT95rSYUF45LC3LU5YRzANIih0k88Kmtde+OBeQEyR7GzVRV32112yoSg
Sdti7WZmxZyftofV9c6+Lan4hWNLaBUYtY1r+EC+g2qFeC5fyCpub8qUJlBt1vw0PUljbnThm3AV
Wuo2MkGO3FPWZC5V7KMOCw2rqW1QCrADbaheNLTdcZQyiJFYj8cmvMiESmSDMLZCbctNN+T7sYww
aMTZOtAhu47+FLPki/rYU2+PHSwNUSwfrQwfqNo80DXj98/IhhqpyHphHR2SnLI669YU46t1rIgz
ylSjmvJMw1Nj0z8tK4r2hSGVY8VRDAMsRU+O3JMFxLPrZuvMnOafeUMcbrc3Y0bSJMwfM2s0dnjO
IoawfDiIeuoJVSowVC3Ft2UT3dqIxFzkLWU1EXBYKL3Qj/Qb04YTjWWWZT6mCbYxW8u8pUOssA4l
wuzJySIgEraZM52SV4nkI+KBU9hISB4TQgBSN8sT/tqnxmLfelpDPGcIzJ6TfVil8rGy+I/hzMM4
jzGYSd9iWKMlYzndk+maJH5j+HYoSh79/EalhMIRRaObX2UdxKQmGSAR1h6frRXDxigZQrVplmXT
61lbzoTp97udYOG+UJVUWeutyLY0i43AzDYuMswAbnXdlm+qJZrbVPfWXTQ8gWM4FZ3dQU2ISODA
fAlqhxbRCEBAhhCiO+VbpOQmEwDxXhhWu7Kd9uDTQ6Vw6OpuBcCCsrlVfOpNwi4aoutucuo6nvMI
KNvZ4VPq1n5ZFIsGDepKL8tdmx2rjCPZ9HBNcSJBZikuxNAw3BA6ubd1nJ1MK0yOOVFon9I331T9
u5PjZ0uIBYlba9Msr8faUg91iLG89t7Q7vFqoVsYuu89yFIrWTBkJsx4LKXvLnt6zBb+qSjo1nWg
vLiVcJAqVOqS8Q5JgVDsdTI6H0Es6OnQ9iI9hZkO6xxBhDvvrZZbPWesTOUQr7hs7yPDGw4WVpxF
yNJHZC2TWT+XG6VQtqQm3TVKom4q51oXChNDdXjsJICqWqUqLKsHkp7I3+vx3flZDQYI3r0lk5Fv
718EdfOSEElUG986gVAOq30WwVwVu04+CZ3lQItfbRGQY7WIdlVuBld+jishN2gbMFfpa/S8efcC
PAJNt3cRt3G3EO1n71DQLyJK8J2v3DcUBcghdQkszCyKH8ZD57E8jBJipdGCvCks3avAHiCHhWKf
RtGNIgogNCZ0G3skbhLOMRXOjjUf1DiK/0X2pRr9e9OpzFisfqcx9mzjLF/1efKOo9zjtZhLFIeV
sW5Xt/xHEUcVvqKqMIk1N1IOqnIVK9GO9PCMVq1xXdZudMjRJS+NEj4SXsChcI8cR9lSK/HaBE3f
XxZYswSJoo4EnRW0bwPZNVxhI2bBxgJTSXiqcoIRnGIzRHl9wllG1d+Nimt1LD6jGi1IE0R3ukrW
YFBSeg1yE0JfSeEEA117RfRcmCof1Nr7V4W0dBEhY1fEZVfTZhtl9mHb8EFtwdKoqi/hs/OraOq4
9aHaXYXTjUn1jfxfm2xw7uFT+ehMKg9FbPHf1s494AK5SxGIL2IkEBSI4o2juJAFq25YFSXjsFdo
91EbRhwH6lNdBP1KA3+79I2dY+EZE6P75IcBUJmKmnZep/26IpvmIu1H5kKLSublvpT1fWcX41bH
gLTugCnJmDAzBjkc1lVSbjl5cBE7WJQaB++vRieOKRxjrIXKnpVXnK+Nqm4vu8K5TTJ2aDbiVy20
6rJxyYeKQ5CUvB4BvELS1pKQ5avKGyjyU2bEUfjetxpMUpu2fNRqj4ZV2qg7Xosy87aBxGCdgy6r
7KuUjtgKCztyYpTzXqFsOlqsGkHoqxxoWYRpy7NIQ1DhTlet3JBmCjzMuwRKduFbrFVYlqGDLQKA
bDH1GA09tFsUTHLkF0MuMDbbudaM6qYkEWITWpA4BvqfguuSnzSsBPBmet115OEaD02jWzVZ6pMx
D/6t1JxvmyRyK20eZYPSTFRMN2zCXOwaK75hjJ9COrvKgM4afdsWB+iYJh8Qv5HX2A1zPwXVfzb4
x94oHqoYMUXDwaXX9zKuj26Fwgef5hqd+YMWwzWwXfEhOlIxbUMDLefq5PoR5KETVZ/Qf1l3vrV3
kfwcikg+aCMWPh+cvJnk7ABbfMIN2LbECOMUSTbSI4yyj5J7CBH0TW2c/MjI0eANV51B98AU3ktw
jQKFUWXp9eO6JbJB6aoLwGPJFlnGfui8q6KmQWxTi4g1iVTH5j2xQT2lmflVjfJCgDdglroKvOCI
ITkjaMAihC+pN4QycXRPszP6KFdWFGDpjmsMm52xK81mr0FMalN5pwyjdtGiBdILk8tAuINLYTJ5
N7702IBfDytCIUGcOlfMxYD9ppfLtET0VDnBsaGXRs3tTRdNc0L/yWhPkK/SNMQgjvnSFQFHS3hD
pqy29Bnr82pbC21vdQmX8ljV14lWvCZWiLVOYlfSlS/fbN9iEb83hEJw9OvbvuR3EWG/hIkTb6yx
BldLETKK0jUZFHTQDPx8eg4SROBio8JAx9ZkN3dolhE+McIeSLB44Pe/JXEMv+TKp15AmZaif+2S
ZNOzrDL9L1nL21q3v4qkeXKG+o4uBBTSiORaxW7oO+MuKz2WA0Kb1Dv0URU815YAb6QS17yA5E/0
lUI0MrIj41iU2rvm9WCWMnRiUzcra3yEL4kDLCwr9h2pqF11GIxha3MGZaj3UgZuz1KeCaL9rnSc
2LCs5TZXkbV5uOerr8yun9zCpxqd5Vdk3mkeV07G9AR+3S4V3YUEKIF3tqd5sm6dEEmdKoj5Y6Ja
FnayNiebC4PPp61/0dB01sHoXpCqjHJJEx9J6t9gFg4OMIQO0hxnQ/lFASCMiXt6sgAFkmeUbpvB
VNfI5kxmFxAbM2ur9dI/1U1Rbvy6vMUHtoafz+kfi0PFotRvSmLcWtADqVs2jPAYyaKvAOIapoVm
b2QK/zc4RWFRxWF6yyLM8tfK0GOBCNwjlY2lrLPpOhhqa2ln90FRXRutsZJAHfga4arHR7tyqJYv
K2p+FsDcRUm7fBkOMPRsIz5FVnnjw7pd6LKgYyVpYsiUQPoh2ZaNAqCkuGpGVYPa3G1wTYBXi5mU
FfUuz0B9tNSEwwzyTiOztROMFyH86qUXlNlaLUiDdqK9R5Yi9m4U7AAYyXVWnkIWi4nE79LVTAEa
Hw4ck34AEJ8+Db0yAqzg+kpIOIL+ZjXllVCbXeomw7rRmO8mDe4Q5tUkkif5BuTfdeMb74U4+gaj
pgxJHxj0bxeNQy5MiJWd+2UPzRvFL1E6j3RQtjLz6ZXER4NFaeAzjZC+fmVHksA6JNV9i9pD2xd+
km40ygNWal1LHTMc5alqW5TqAa4MaLNKf6olvJuSgqmZgllpOnKRM+syG4078vhuBWPKxrHbbVwR
ZFKQHsuVXDjRss1pkFkgk6KIaiQWuAiLhF5KY4WMknuOz2SnQBdTwzNWm3Qf5qCqO4IwCVWnhUKG
XEbiYqEkJyGrTy/qPuOaXkU0kgx+m5Rty0kzYIXJn9Hdf4bS/Gq7fO2RQ2OoSbFVFUm/bABkWLJq
t4J3SrI07DGQUTxTrox8vA9M+zGy5U7VjT2mzHKlNPqJxJcJL4tGp+WCaNZ4bU/faKnXpVpwwair
ZeeKjUnqb6P270jWr5P4XRgT4CDeU9S9wRKm8/vlTyOJqRXoA6xO2oObV6iR3JegxXVOp/OkgElY
ILRrEc7Kk5k6d3itKHCnzoNadafWy69mlP//Tz34v6Qe6BrJAvOu+pD/7X/l/0fqwQUGtrfs7dfc
g79f83fugaaKf3AMWLZgBaIbqrD/+q/+q27++ZeiadY/VFPTbNUQrqZrKp/0d+6BcP+hYtRWQec5
piksh0iEv3MPhPiHYQnTtQ0debdlCe2v//U/f77ddZ4Mfp7Vv93/L5pX13mYNfU//9INjS9Q/Dxx
//nPv0zVtMhkoGxmGCbRC+Qp8PePt9sw83m+9j+KMacq5g3BlTXUNxT56abEADyycpSLVFH3YwYz
LkoMYkmcaJ104atTO+B0pcXwRhypWQbHVoXvDSwAY1H27RQksReN+aI7za0oppJ2x+kwMIveaJSS
AM2R217aj7VJMb43r9yAgzfGQaLex0PzPuLez5FvrLUwAB5cGS9BLD8yPdtaIm2u6HWpN6ymgB3i
KgR5v0iAbIGyGelxCbnuaIQtenjJRnwN3RJtfPpkoLHZ5t9+n6/7gbR1h3myxoJ7E1QEipWw6ZY+
/j7g8NRSg0njFvrPyeRBDu3hUwqkhOw9OmaCFQV9flXU4HzdAUztmxzV+CYl4Kt1aTLVYxWdKMMc
ieMUu3b0OJ/bAXN8jyQsdMPPsnWOWcfA7JpoWztWBrW6VZ2cnrTrLkMwJamo4yXPkFudXlaJ1++g
ApQEFosGHqfqynT4z8WkKsLaDDDX2kxaJoLhQIC1fbzWzTygMj5cB8kmIwL4qsR6r+P+ppbiO4Sw
YTkNwwy4jHrddLS9WgVNNc52WHXFXc0xsFYmpbYukmetquW61JM3raUcYsCQ2YQuJcWgYNHgOQ6d
uJrIL+CPXHGIem7Vg+7m/akoA4CeYh1p9KEp0MDrsWjp++wBssrBfUj7VUu6WwvSPxrsySQs/GGS
zKOuH0fy2pGtAyqtjqGTfEexolCudMQKy3vQuGI3dLzHGFePdkEjneqXy9CsvxETKXeG2bFCDrp9
gopypSY5aToQm/lh5aViTLXssV/JkFUw4UMm4FIHOI6d0hBXLwixedf8qN1asf2ajXhf8wDpcDeg
1FIvg9KPlswG39JGkCTZoDsAHXtZahV6z2K0NtI4Gbp1UABvLNwKCb0DqQwu0rerBsU+SNtnNUxA
QJGZw5wEFQM9MzqJNAiRoh4pQdX5RwxPm2gfHSATJJ2tMMzhpKp2QDy2fuPmMWiNqstuA1JmA5fY
7bLWlk1o9nyfAFoD7YC2hqpFrSuS4S1GT9UKonUpPsxym4EnWKkVQRToBv1ptoCDPkg5v21tZbJA
WMTIDQLgnPvByZ8o4XMZNeMVlWKaBy7xkWRmvqWV99kwgC3VkZzOaoDgweKyHugli8H8sjOJ9jnj
vaM+XqRcbqdZB4d6R52gq7WM1R36A42ZdMdab4coCFIO8n06+hW+aQDuz/BQJc0hY7yuADPKFlNS
hdtzLVJnXYXAyIiZqtZjlrYrdID8apBOpe1v1RKRGjE0r2HYrHIUwoNjUM9hKQbPkT2O97PRtWPM
pKjBPq05/LYNeXJ0QMnvFHs5NZt8IkstGgBqrh/jsH9LUE/ldYsvnkU9OscaSpUKUr0N6cFgce33
kR48F25wqeYOcwQHz2iXc8iFcaFOobkGJe1x5eZU0RL470ODjUQVmdwWLiIRKMkbV4EJlyfPSCE4
wjIJkaj1rmiBBUqEar4e9pBzjQQ8iaZ2zYYy1ZtDTylOgjeapFdZaphXil1hRPawo4G2vIlaMhoe
QgKiEw1yStQ0SzlJ/30EqH2do2oPna3OWrcZWm8HJmvZF3KltPvWTKqrINJjIqQQRGZtB/IgI56R
XsrYV4cwJ5Epcclm6oFtbF1fPZ4fmp+BQlDVy8PPa37+Nr3wl/t6QPUbwgTHqKN0B9RkYFymLa03
rukcfBqxt40CQ9vqiUralKyKg2k6xWG+O9/ElZWuTV98N93YU8Cwa0lPzr3S0GlD12PtU0uTc8Hp
/at6rPeWTl2t83qX5DpxGhmoV1Zg6zRSbeUyYH6v0kzFEU71ilJZdnAaGC2LeXO+qYsKTyu7YTlO
Ls35Bns23LnJWHp+TGuktsqCnmRwOdo3GpdRwidrtISMhNFY3RqkWxep1218fbzPHQSuce5cEjOz
C+iv7QZW5apiaIf5pjB9/YBsYw8Sz9pmlRYfSvPIcRUfAtO6tnz/CTfLTS3pBvsaUsjcv3Aax90b
tgqgrCp8GMGxzspg+uVMrYTu5d/R/8/oUk+P1VO+VlIN/b5vHlLCBojOWjExH8icDXeWjq+SoM+3
BklMExkEifTmdz4M5lpxrGgb2dTLRi8/SApuP8liqn2JD2zEeaZk+U5n+2DrHy5pLjt7yGkx++MK
AgNyCc2lmTLduIpaHdq05gvPm1rD8Fj5ebMujcHeKRTSy4bQDxuK5xrOKqUokTPi+gq/UDvt/may
XhpxHB/EjW3KO6Gm3SEFOEm/lPYmoAsPk5AfW92ek/NV1dR8kzbWPkRNSRVXo54H+Cbta2IWBKak
zou19c8RYKh01RvRgV5KnL8/af64+ea3x3S/RQLa6+2CBleKodUnaw2FuMSUBRJ43ktVCEsqDcuv
ed+cb+ZctfPdn60IYLNtqredwE0534woLldDWNHiHBFCsmjzqWhQdipEb8lim0LXxZKa82szp5pv
DA+NiK3pz1ksEU1zOIxTtJoPM5Wlif6tDzrtXlD/KtW93gG78R5giSHxFXN0Oe1fOR3yTuilh/Pd
NEbDtpv/Imf38fyndPZdj91k27aHGFPz/Iz5b/TtN6KrqSHXA+jyf79xl3XpytIR1s7PNabTb976
eZufj5i+wfmtfj5mvt+m7aSK5Tj991Pmrfltfp53/qjzc+bHcg8lP9nO/jaN7Nff/vgf785/+O09
f77qL1/r54F5n/3yb/yyOb+L59BSyqSM5SmplPyXnTX/+Zen//E/+fPf//jUP31pOxXtgg7RRiRM
zEvSuI+SStgxHzTpb0ryQzxolbv5D96gFdbPc1KfLgwaAJ4+/8lMHzhJOOUD886uE2o5o4RAlziT
J++PmzXwGbIxIzKZNQ8Fr4uqn3TUyVE8uY4VPaHVPL90vj/faEHW7SpPW0mt06pdkTjNqqglUITy
mPXTPyFGVEy1Dr2Xy+gaIbJbIsQFJcqgfhgoCSQLwYVo5YfFlZ2WOGQ5oGevLK5a3OHTXRmqHLnn
+/ODynTkz1u/vQT/CZyZhmlRjjVrvqkIWvnZ0uNIrkTEPGA25c5vQjAueuJ5s/PgGS7nj0/nR+fN
Xx7tHeM5M5mQWPVQHgYsF2snL18sbdYnIrFoIyXZoxVH6h45rrKmvvoQdsEbGUOsg6bTa76ZWQMR
k2Gs0bDs9CF5zwb94Eb0cNRRHmNRIORy210wjRia1NGfu6DCigaIm09ZhH1jNJ8p1Y39/IYsTNOf
tybzt0GGsbfC/nPs3Wv4yc5i/j+82LrD9BJvsnlAmB/7IRVoqr3ndefvp09XTJrUORKqf+3FIsUO
SmcaqHfqpCZAUGpX1O9zLhbuc6epxIWMU97k/BQx/cCVkTwXUgPpViX1CLKBMZBKTrkdHBuMlnGL
wh5giyaBeFvLFFnpTk5Ger0tMzzzGvk4iU1S6fwtAXxcVgZRyfP7z9/Ls0K5b/SrEestszfj5ueJ
E5pi/j3nu1nbfkQGkEKZo1oYwLdNyDY+pZ2uUN20pcz2//l+PE69OA23ax6DzoA/qq611AL1YjZZ
f9GqttglbVIenGnu04dteeBY+Mbikf78vvMvUc9vPf3c5x8mdIyvpAPaMtDzpZGHPbVEPRbhJQC2
jh1pBRByXbDL5l9mPqwJisLNxfLCy8XPITv/bb6ZQRjnu/P/+nNAT1OgP92dn3zeMefX/vZWTdZJ
5h4X8yk3H2vzl5nvpnnCFf58f976eXAMY2TSU37G/OG+0lo7FdvO/JT5Y1lrcibPm3I+1X425/N7
/jbM/P51AsbzB52/so+pYgn88QSn5l5M132Em0wnFA/l8HyaUDZBZwOF6jWvsmLrBl28y+sgmGS3
PP1n05tOlHDpmS1zCtweOQnBHKnz1vnm/NhAVv1m0HTSnoHk/ntMmv+n+aZB/TegXGM4AhT+r33z
8+2LUV6ZEYV8rNId23U+oFaQRBgTQw0KxBLvzvxFRHUA8qbu553tTqfcvHXe9+fH7BzEJrxHBYEE
o8D8h/nTz3fPr523zj/j+Q/n9/vttWH20NJTZQxj18wDJ2CaKtvN9+czjz0eN8f5/s+XJwmLQopC
/sD8XvNvej623PENOCau+XnH6+oEl502g7ZlKjMfKX/enN/iZ6iS+VDvnAIo4DR5i6abeSyZ785b
82Pnu/Nj1jQL/n963vzk3vvotSrbz58/f79uPkDnzflBz5kO45+DeX7U1TNAnucX/PKsefP3+7+8
6897/eeX/vJ3RavCZWPdkwwQIU9jH86XkXlrfsc/PXZ+yvxXfZ4Fzpvnm/n3ON+dt+bX/cd3LbDf
owCbvsN8Mz/xt4/602O/vetvn+RPA75U11UbYGKfp/ZUEgxsptv5XD/fjNDQxmU/XU/OD85b58cQ
SnGKz/fLxmDz55nzcDu/+fmpv/xl3vTERCM2dIbk6bxGyUuZ/3yi/HL/Z3M+r355dL4/P//X09O1
lzKEPhWPGiU9Jsflh1qvLV0V18mIlMHym42ZFe62KSm+uf1DDPRxqdYt3oUcxZkrC/uGujC60rEt
H4q43guCYBajZg0vmch2QMaVB13z3OtOx56oe91dHMHMzSvpIs6Ngz2pRFK1zNtMAhXWDDCeOQ4o
AlYR5tp+E+1TkZ5GO6TcSJ1kGQy1D9M/LbeTSFWjy0kzeBrjfv+Hf4aTMcO0OS2qxlSSKdOz0+bL
63xhPd+456vtL5fcefNPT//tsfnSPT/28wl/et3PJ/Sxe7LqrQrROJ0uifONM5+75/tEcDDDpHRO
WWy+bk73++nA/nnwj3//7eWWiQfftuxioTTToDa/PHXsLLqan9nFJXZsWd7MfxjmU/DPmyEqwEl/
8KGFlYWnKcR+i2E06dFQKiR04/QNPuzs1CoFP3T+2JM9uguz5zjFhhnW1Y6CnX3oVdrYrKMOndOI
x7oIr7XKOpFhChezewsdwggcxVjrdWq+mK1560n1o9A9EyWFaq9Dpv47gi8g8I2oeYmj6RdjNhI6
i6VxRdJrvSrrluadmSarNII9CgNAbhulPVavlh+YG91nZlgqDpDi+tpPVH/n9U28RiYC5GHEqd8H
hEuhati5HgJszYyPGtdZoFX8J5Y+ksdimyuIyo9W2774hLUu6WzqK9PQV5I6G1W+jioYhfBF6UwV
eG8gpsqeBNcYsagUDJcdwZM7xcKVlalpvsEeNUXOJ+uhYMtskTX5PQqjekq8BJq1zjBoKZp7JRSB
xBJ1jFUo38ScDOtU0cN1EfDNE/MxsXBV2xTmyiK3r+EZvAVD5+OSMnAkIAEmZLilOe3QjXYg/i4T
i73akdOhvxtu1lwi1B6XbqluzAhNW+VZ6yTNPgenQJmOZysPpNywSAYnEWfXZa66V6z7Pmw3AKKS
20i08XaMOvVrrU/EHkNHASmDOm9WbEpcMfVoRRvdy3BOOQmeIiVZs2yjco77riTua4f94gA92Nqk
Uq1IQ0EGrNJEcIEpbLSCnj4eu6xzlG1Mzzkl7wrnCRVPJTPuMOM4R3OAUgBUaFVhRHVHz1jZNjh0
4bh3kWxIN1Lr8CYy22dSFrdxKpX73AWTRZrfvZJD1rN1VywYoKJjq3kX2VhlRDFD08QoucStpB7J
NB7XWaeZQPoE3oXyDbpijpwJTkshhQMYM61Ptlb3AI6yl9bBCgeBQodps6AlQaFcsx/SQXtj9cmq
EhcPyNBuB6bf498FjeBllJlaBaWmBqS2R0vqivzQJQouXKPfGHYR483tFqjpGPWoN6FLWKLeoSab
ZKeq9bdAPNp906PYglGo0koGS/4ipC83MQXWsq126ZVo6HhjOCWYRqteRqP+TF0TNaVm3Qt0x2Od
fdqFFrwPhvoeFcSUVF0cHYi+xp6VaysOOe2yGaiV029ZigrmyRg6d32inVCPMPyiA8l7/ySrrN71
JteVnA4bThrEGO2Xj+noOu7jT4fY0bAmRyeqcppzjXUJPmipW/0doUfvI+ilC0aKmAoCMmguQ7Aj
oOzrBcN/VZbPSWSKNTgfe6lU6M7raG9OmV1xG7zBpYZXbCRMPxOiuT3xnG+QodZIxOtXq6eVEA3P
fg+icqQJb/X6K6pFl4DhkPpth+D0dig+stIMbiIVvHxRZBK1Ccp1E7lVZ1TViUgdoFBW/6KTj7Fp
qREPId5obJAfmhdYm07BDGKZCaVEAz4k3r+lodr3gy/QVNZEZuSeTMA+gJauGTF0iBFVhNa0m3qJ
SYHmrSjcz5RSWyr7beEN44kcoRu7jI+UYyed+j4mjSbWkic35GqI0B8P7mJQKuXO8fkM3OW5Prlm
TXML0utGd5CcVuEllz/LJDYPed7e53dcD+Vdrlb6h4+Hvsuf+izwVgJXCjEP3rJO2JGKlhz7qMNj
xsehB3vEKvnk9qmygb+1hlPEj5K116mZHnvJQGooWL1FgXfNwdiDJIKzthUYFGzbfOzMXD2U3tNI
oLqZ2GsjrR8F852F7troIEf96FRKTBHEu9FhduWVRwRyCx+zH4tjlUxFclVhJ+TahdOGO1EV8lJI
xVuFAiFZOHBdSv1yxGFdDSfmM4uSHB6RC4vgwwCdYrgcvcLZdgb01lCD8CTGbN9UFS6+vs32pWBF
aOnEQdCNN4m400hg0Id+2/CjDmXfE77boA6iybwpaNqEblHtQsJDFljnqa+EHWdg29PPprALbD5i
dLEJTyqlaFaO+0KuBtTsilYQbKZvxW8+/LGDVmjcdD0IGSPvUk4ofUPSALY3uEWZGfgXxqg/mCqy
mmyI42OrGAdAnCXRhZcJnPmkCJKLXsGghIMQqbxNQcXEEiMjsSVmY0uhANRaitOenATSH6r6CLPC
XLTU+58YH4+Wm/pLH3U+JGKxaA0GK11DqGSQvEo1ftUQ6btV2WOr2HAjWAjBa6SRUecAPIFlhcSk
InM39vUL/G/X42TRrhjeWs96Z8W8xQyUgje9oCmuA5cANUBbj0ao51/oll4sSQy5hF0bwr8fSRLt
NLpVlrwxQ5OsI+CyS+w6OyPL3ONBK+gFS07Ho6o8JBp716dMv3A9i6z78Emte2edIEyiq68AnN3I
iIl16Lc76AGdapH7odyUhPYcdNO6wWG6pTEXY4TBDeHB/dKHk9tzipcOtIBh6t7I9pXuNieoxxvl
COV3XqIB6NIeQNs1N0TdoDPK9a0T9Ps2YQ9lDC6VK6OjhttwoYC8Kk69rN1bP/T7PZb+PEyhfVpT
ALQkJikF2ua5/S4i3SCmo5yAco9883qwwo5h3IhXXKEOOgmIyz5hPt7haMt0svmKJpVISTWGvjG8
a3UAIUNqMZsuFXqY4M7Iq6/9ta5YTNLK8sHTrm0w1XGPpsp+NdwxJsK1o7Sll2sjGOVatdBomoFp
0ouK8IaHJJGWEsg7VMGj2REUUcRHoTwPfWxviSvgrE8UBEph/TL2YJ8rY7yXg3Id1iW7IcMix0EC
Ej1RtpmOaa93zJcBpYZMi2OvJNo6IbBiYcg02YVd/+jUwU6zs3LfRJCeLDKnuMjtPbtE4OoE7d7F
XGC6PhPmMLAXUrnGu74AtM846a8MvNW3kbGhMpwEisCuol7C9ZaXHu5jN6b5pEdM96vhjUqbR5Zh
8Flk40kaNqhh1J6DEWqbAIucP+VWdldjikbZuEMlAZgqNJWVbLigJla18BGBr8piPHBVohNMXlii
hwjD0vq5Q32x8s3ixTG7vdsi2FRrUi7c4Dsd4heUJtBrqEucqqy51QfD3QRmZ+6k77wHaXxvQrMi
dCBCM2w7zaZOJNMkzbwL7KeU9Q/taCdfVUlhrbUiPKXmha282n5QYrJi7TAoR6XHyNtPvapBsTZ1
zrzFb5iKMZpixw1uw64+2kRq7W0P+yf6RGJ9GJRLvUzI7cAekfQ4TgAgkDGlG0a07/v2EbLed1Va
QPNTy1i6HV7AYLhAIo7MpsSr5DTDFntMH4zIF+J2Iqdcu7pVLgeLa7GjVwQqtASrRzjQfWnt9do1
TywuWDOkYKS9g+Sn2iUOvA/lOet1Juq5mx910luy1NlzNRR3IaOD7UwS4ocUHpVFmQpv23UsVXeT
pP3H2IpvL/Nw7SMBIlM6WqbiokkI0h6LDgxC527KKF9ZLXiU3MQJ2XvepVr/b/bOrLdtbc22f2Wj
3pkiudgCtw5QaqjOTdwnfiEUx2Hf9/z1d5COd+IkJ2fXtoE6uLhBINiSTEkUubjW9805ZqvCtNmZ
U68QzN56DJpuk4YFvHEfAa0XEI2ViGkEYvATVfe+6QGcMA9iVgXuocLYx47kuCeeIZEigmv6piVB
XN72YaJd4NNA9EIj1N/apBcQb31WQXs5q1PiF3q/lM5jT8FymjqGn+NtnyxblpyeRUEPPnJamnRE
EQzWPVEGNAgFbKPcsAqOfuvGR/pMbNuud/PLEHBqpmgbrcUeRx5TTjG2Clex0Z3E6bj2aEsSJaPe
DgVKXFxcq1wPWSyYsMhyXSTLOAk3LBs+FBnGd2gy8Ahxp0sRmk+SYiZ0VbG103LTA9yDKkHQw9Dt
1bG56RAt7FMyDWV02yRg+0srTY4p6QEAYEjVsBGg2qAZMGbp7YE6vLFovR0RWljI1Ho8s7FLIwt+
0C29+5CRIlhMjKdKxJ+DUDJWboMjnenuthccX7F2Vka6ehuX5l2FsocGqbKuPbLpR1IX/BRnjFRX
pD1OUVdu4W2VNLzNaxzH1YQXTOIEcA9ipzCQbtJwCJxKRpSdDclatqiiE7J2Z/hlsZb72PEtvktD
DzlyJnQmosq12ze+YzAfKEktW1kI00gR2g9kgLeSOOtEB/RLIAPNB4iPKZYBCWJ9p8bKxjPhThpj
uGhi5PKl0UxyTyY6at/DEtFl8GpliE/Ru1C53jiS2dGHibnkRmi+cOXKlDcRq4DfHFXPyUjH4HJW
u4u+qDATVC1TDt+M1h3VUPzV4b7shm0X5TWnPpikoab4HFvwwiCeBjAR7uAccnmhlZ+hSlvqZUke
DxK2sUUfbSGM3YpAlxclbbG+JOnFCKt2BVcSVF5SntfhChMTiw9Gsjiq9ro56I6fxC7LRJJmy7Ej
4cbHBGhorJJbq9okAaNmkgzboQovEoPYOd/ud5zU2TokBwgkgXmeuonrWD3qY8PAaZGX7QVpuIwN
iLd8U6NzUqJOk20dd8xYc8JxBDrkMaXIf5De+7bwIUDHt3IoGOa5aHW+IW1sEA2LyvLdfZld9l11
awWXvlbfhnWWQvmMsmVkOW0aGju+jdKrDHCpSwn4+NIkI4ugBzJRjKbghDbFQmSgOS3fvvUxSKzp
e18oqmdsUJQRwjLBVJUwWjUlPkllhGSpEE64Cl0mM0qpYlP1wC/6X4hWAMUFiGiTB9EjLLtP9O83
01vchUZzr1PlIlspvin7jmrYUG/12oOiGyYLy0VH3DUQ18kFN+2TAOyXDqIuKjBHfoF0E+3dCb7B
JeJSZQmyEF6YE5aN48UlF1Qf+UpzvXVYV+DhrPyzJiNvR+9JU6MwjAavbLgMNDej2nxIFE89y9h7
aNTLMxmLIB2BDJipnlbrqImxGpbiKgRKtgAm4q0UbC+JNJw38IqcShGk1Ra4clMBR9MkNOJgKfXi
/2uL0zqoh3+hLRZCVvXfaYuvH9P0saoeH79XF3/9q6/qYkt5Z+imKdOWRAaIUBgJ8Vd1sS2/E4ou
TEO1FFOg7FX+VBcL451hKbJhaSyzFVnRjT/VxUJ7Z1vCsKEE0VIUNmrgH9TEv1UXyypv4Ht1sWap
tm0otiYjMZZtyHgv1cXmUArJ7/R0R6lEYgKOjmsWc3WaqHe1fNtM8qNMqNR/R9kCW1xkuMGnO+dH
5hspmbRns1pp/r2fxCvfHp4fmO9DqhYt+yZ2YW+Q1DO12hhT6QJ7Hl3P+fenHy3BTCa2601quNSp
WNHNSi5z6nHNP803eKvpOzRNiCupEOehRTMathRN5/nHzs2gXcw/FtOrRFpIq00RNNMzHVwEKT/N
3u8kVqFgRtXeiyhdRbesCQqk+kjfdOZ09Yi7LGIWjbyHxjjD8ehy/SFjWVlTiwAvAu8gqQo8pYgZ
Qs1WHVY4R6WHzTT0+Q16yQ61m/mALUGTPyaD4Z8NarjXqWNi4xrdLRNo8jwwJDh5Hp/XcvseVPNU
H+3IUFG4AlFlWAX4YeMGe5BP9hx6w3Ajq14AYhfRmNcHh7o2HbtryChJETqW4jD0XuholiB4ORsJ
GIyDgySaiz6uwEHX+pLYE8TXjkpfwW8xcsGAarqeC0+XO2qi3clGfF11pJcYEMKCIEZ8lfaMS0ly
MVRwMCqTKYgm5bpDtc/yyFUKGc/AAFsf0hHQdA5wVndDsRqgFg+YWOmiW9JWpuO+DqoKJyHoHacr
WcUjM1nX9SbM5PFG8i+7OvzI1XudBiR5ahQuC1zBLIWxj9g49EnQ1pYQuKFMWBLyQbPDwadfJaai
beXJhmIF55HbaI6JyZF5JaYkJa5WqmWngLutU63K+62mKV+klHlPGqj2vojz94IJ9gWSSp16/HqI
ce1hwqZqQGonnQUWIoOqYaVS8PtI46VpV6XjV6yqB8qjQWwfvBqDeV8GTMBAQ6lBDp4RY5zTKxZo
SJbm3bQVYzhFc/IhdYt6mwfMXoQ13geuGqDFnkIU0PuNVyAQiIJR+/dymkMlQEIJxK2DuOxrD149
reepFEAM5rBxQ3Ifg1TdDAnmu4a8hxp1s6JBL0him9pNd2nLmNt6Ej8AkVtcKTwuIIT29Ki0yaO2
oq3XIlup8anJbeDoZbcbjW5JdmJ/EkhWsnIvbDXa6aSMpFZL1EqpX6kE38eYLxGIZhd1DW1nElFK
jcr5o8gOxiJE4GLE84pawoWeJShhkpZeXaZlB6e6J8W3pygmsfgNp0RG9kZqIC4OG9apuPyWERa7
A7E91yUc9XUgkRBPgImmfQ4QgyyTKNG3RibjPaaMVmm0dPoALYUlsk8cHcxUmi5Yy9QCQU0wmUmL
AYuxvVDFQKOgN7H9lh9aWu0HLQZgR0aFkuQQ+FONMkIHjmaa8dQN9omsRwU+NkALmGzQ6lpXkrcJ
RnsbC1jvcHk3hhyz3onzi6ycsDPDh6pjEl5qQl0P0xsrUlhKjUD9OfpeRUftOlGM+8h0c0dxmPyt
EDjeGxWG9VQBT2K7uBeIvT4VwnxsdLPeGhZC/rx0gXCpGkvSqLqLOcy2pmgrspBGRijkv1IqA6Xw
u/XkuMrtU0S2fD2kkrZ0ZMA0bRCWkPRp2xXl5D7c2CWTR7NTPhcDIJ3yQ+Q1+lLJRbhlAIGAx6nh
wyklofbcmF4kwxw4tpDgfdMgFU8+lRUJdA2sFVYk2udYZ0ylAtcE/fu+DeqzIaYt0palt6vsK7e3
vdvK1F12UNBvRyXdlRxjcjMYzhhjgPdVkE/Q64ZNCwWDPgBoP/CqXSs/qBG/JYDVPYTsU89rglu7
Zbq0krgFjX45eK6ETJqRk4rTMtfNYFXHa4KgOBp9MTB6EHmpGbeixxTdky6EWc4jF8ViJQPnFp4s
BnopNT3HTJkwj12xM+hqLgeX2ldQdO7BV8lqpKiqdwMMlc56xNoBL9MY0AJj2Vzmu2ZoI5yu6S53
uVJZZfJB175IyRRkIOntso6DnZsB58vyL1ZG5mLktohmwZ57XXzdJxj3e6nElBi1hETHvvFe97F1
p9WqiiR3h4Z/Kzef88Ibt+4obidQ+6qPFGmqBoJQSm11zVHdOirDVK4pay+GZ2hehhaAdomkBUsh
SoscMXDcFhChdKizBeSh9mQMP405NLhIMLNlQp5AsGvbglylkJ6Y0lB6aQTJY5GPyTNMP/V2d+wH
J0/AtzVSf560eYMjjxA2v6gOwj6XTcQfhFTEUCfcjyU55TuKSVxlfGXnJv5G19XJTJeay1iM8VaK
B3dTxj5dC40etzcm7+E9YN/RtUmh7q4TM6t2/gAmw6+RIfcHAitAhPQGyx8/vBhg9Syr2zJpsZQz
B6EzRAOww3fb25QPXL2A4ajbWzGtcLJiGY3gBJF+w9aM/Osi4Vo0qp27IRSAZkXKoNFFX3SvTddJ
R9OUXhIoeblRd9DStXxrt8Np3uQMNMOwMcD5QvvRl/gnV7FmTvOX9Etq49C2WeitU7+wVikXFa8a
zsGxXpdGVTuREQ4nLdZypg0FFXGhXXoKwDhp1A+RPx4Yp88CI/ccXRS3pZ1DH5cNoIlOS4VqI1XY
O8MpWRcVxFpknBNQFgN8V8alJOlbWy9ocWaqM01f9hmLRLK5DuATzsxUv+LM+cD6e9gXU5JEGfl7
ghTbp5uIiURUEetpqpc5fChJiwqqkx3ThxZkL3mZFdlsKmaRLtvh5pD32XQjfPU+4ZIODsI6xQRi
rvWIQX3EKkmZhSPPt+/bSQyXR0hnWUUR0Sb3jHVaAdUq0a9l4sYXyCw/ymSzrTvNXkmWTx8Hwpe6
9qz0ODlR9s0sro4k5Kd1klyS/t46LHGXXmh4u4AsURq/i9HMCse1P7tDVax1xa2wc6HS6jsLB1qf
binZf2LMr7ByFOdeDancKxj6DUkTS6MjJSwidZROTjwsyoJ+N+wVDtNh2VBwRHFSXaQB0WrJpOjE
e63TRpCn8Tsk6OxJ+KimbeEUFQYCm5SmLlIJaEpa+BVwf8WqE0ytI0EYgu6t4BAJLhJ5gXPM9XYp
r1nJqbzHptbh4ufM2xh6dx7I1coUqN9nqZWcptciVIwl4/9pZwf9Hg9iu+mh/9A1xRrf++e9wKgx
kHBASGxdIESL1W1W5MvaN4u9hlLRUWPrMq3qcSeCq8G/9UoMTjLu2uX8dgwK3xwn/s60k8AhHRih
R9ETxexG+7BEDWyo6h6iTbAkQJw5oa3GiEDya8q9fFr6wYbT9NLpaEf6DuN2x7hHDb5Db+HlPuE0
Q0L0Rag8FrpUr6PE8HcFasrCLKh1FIqLVRDAZh20xUoOSBf3XaqZwySrJCOH7EH3nv78TQjOwqm0
hEJ0cSsL6zKpRbntfPkWb1flAL5pfURh3QRta8C8LsA31NtQIUG3rX2nLo0PlldBu0lN+LgkpC7K
2Bv3mSwba9NK7pOgrDZjjGlEaqo9MSUYvjikvPS+aK+S0HrsAsYLX87O0lCBDqvS+SzETe+B7Sii
66CQ1GVLQNu+oZC4gLx1JG0OxrZOecS2+ObhJheroMuZm3M6KV58S/y5whvXll5if2Ae6Du2Gp7Q
pA8cnDJOrLaPbeRKGKr2LtEOy0H2v9R9fFCaTOxz+Tq38Dl7tRj22rSI0DKJaAo6dPEEEGkyTDFs
xlymNm5CDiNdg2GYkgoBfjg3V2kfXRAYXmz0pF2TI1lsJRnbhxtnpA+0LXb/FINTYl+Wg2Hu8+mm
8x5iUtt2I5mUDkTwWyFg6OHRUcgzjLxtIIkMbKVfLq1CrzaChZvW+Vi94vwjMwobxzmDjamt6loj
yCSXx0U5lZu9Pr0pGGwdA+4FBb5DEBRXbYdBJIPpdZCsHvuhpeyGBp1FLEEsqo/MHm7jgvhMCcym
bvdEXIeak0SO3PnDXjUAQUR2XqwaX9f2QAo3AY7SbaU3/TqlaLLIkximZZRRq8/uAjo465ix/Omk
1rrkQi1UWvc9rLpwOgrVEnqagcFl08f0tF26lg59ADMsONzzRCwTmUYNAR0nMSqITWhINsMKbFbM
4JzdVognv2YXuTAWFvYQgDihp5I0SbBhZXUauF2wH+jvxiTs1mzOFPD1B89w6rDGypuMxq7Gziel
obx3jTBxbN+89YCaLH1gq09qZh3wezqG+yIFMhDw2k2uLepmCHeey5o5q+zbIgDcA0msejrMB1CA
eG6raG0bH81AvfcjnFbtkJ+E+PEMIRqIHeMhxmypd/i2ghyDVjiO+r6UmVJj6qFz350U5FXufO0+
IbKSVl3SrgrrS9I00n6+QX7FDIxExIsuGTlGp7Wr5mVfb+K8uW2zqnegfHy9q4B3B3OrpT063biG
WS7S2GtwXOJWZpK+HoVywYW02isYbfAYcZdUF0ddjPbCDlCS9xKdP6TH9SpJi3YfTNl78UhkCAjW
bEsUyNJIqHv6cdEvY6lonfouYDAi01fW9kGR6E8/RZ2x9CICLVOuQ+ki0qtyTWk3WKRSA2u996UV
Oo9mWxXaFFnKslIr3tup529kuv/bsTAIGbTtfTs99u1mvi8Oad94Ug+YbnpKkSXu3gjDy5Sin9MP
WbQXwYWqJQOv6A4PGsWV5dBY+j7EbpqC5bfPCqL6Nr4hc2W2IYPXhUo3u6zrvVZaFlla2YdOiWqu
DaAJusyPlkogP+bb3BUf84ZaQRJZPubL0udgtizcic+q9lna7k5XScVnthsW9bifb+SQVMkUOoeo
JqefBcGtN91xP99I4wX6Q2M3X9a+3Y17GBINZolEl/fydDM2+XVaa/aasAH6LIF2dKvIg3+idocR
2xIuKgbfkaEYwxucvDHqDqnRIuNq0jBd5z1BC3S/HDttdx65S65qE7WEbjRKiPARfqK9n2+wyn+S
m+xKrwkqrW3lprAF5DXDXQelvSBpKzhkpY7jW63zTVmp+55J6aYK440pFUS3ceQtNcUjwTpStBMZ
Y90iDm8jSBof+/SS+JS0qZENpplHGV0JjlrbIMGK9ergju6Fn5bmVZ4zNZCtJdIqTnVyQQl9DhhX
/fhzXUob126tfZDjZkMWQQOtD4e1EVE6r5lFXDe+OOgmmJlIY2HQo+45lOr9KCc7K7KbjykhIwtg
iVkeCpBWIVgdFSRsj5nxQD+CneVBKAkrqC6W3O90TX+sm/jalxN7qzekMdKc3fjEjcAez/rLMQgA
C6RHN0kUpDnZnqLA3aAm4rKMDW+lh+TpqJ7q7ztrQvB6/VkeFJ+JqEWuN/UlslpDKFSE7aHL7J1e
q+ZpK9eY6pMBaoHVUVXPPyFbA6Zz3seJdskKRF2VWdI5uIdXGrmkK+Tx4BQRsK28HE4qOdOQ7zzm
EwNaJafskLKxukV8lhbbCGUAHOvePfG08FLvjgMhW/eqRltBhnYb9uLasI2jdUcb0D7jquitylpX
wITQ3QJmukPlwMLZJ7uojsfKGSVb35hDZZ/4WQT0q8KGXSZiZXuJuWn9fp/nOp6YPBo2pvhS+ulI
myXsNiPTERYglrSOK/c6GwdmsQBTgXFq/WlRVcNa1EaLA7mD8x7gzUyrOz8Di+hPPkt39lnanrmi
ask8cLoIS8wo90MQIYiUK8cVjbJ0baUD1MLwH7XGOFHzayeTwuv5LuZCw/59EdsNdS1u4Ny3+xCa
OxqZUUa2SY2pneq39XQjZbTMK52Tz67g56JSyBQOwHjyX4aadxNNI3fZopjw6PvMNptZ3TuoJUh3
r3u6S52Lrrlq3NQY5x3VbDECTzfydGMRbpSBD8a7yxWn8N9XQTbQqOYhwZV+Dzw1wcDsM1dI5D4n
MKFicj3r9WcN/3yj9pgqXQ5fWW6rRUP7MFnoVBD286THrfjQ80+oVGIH/PXtvNLJWNaYia9s+l5J
tz0HiqGQO19YNJqDZJe0ho0udGLgeRU9xpaCoU1ZBdAM5ZYhDbe5x5fX9vEkdcaAxcejKEKqoAx8
xnB9xg/pfa9EYgntT1mN1AsAPxiP7dArh0GzDiQOYDZ2xxztebOOs0vfC/HPdy12t7BZhG50DZcB
z7pJ9ThQEzgWrhKRC1ichwWv1RYaKrVCf++pHvBI1wBbM3TuKUdrvkJCyxCJ6MNHkhaQRDP658hs
8y5tNxlWYGSf4GQpslM+6sjcm4Ya730jzCnUhGjJCCRfoUKIDM3LyAu/UNSKNnzfEbrT3JdLEI6B
vxzy9iYKky1rNjprVoMfSqdmUPIVLMC7RegaUnVtVcrglOFNHIjHZkhTFkdYEDvPP7KOP2+8fhPZ
EZWeyq0R7IRLleIiw2OL7p1LNN5wYiE2FDUE/XuAgFQX27XQ3R7SYt/twbMwlltDuqKZx4xoRPNi
VpimahE0jtAB/dN2Jdto1YzmpzSyd7Udn0Ay62hp8PHt8U7vzD0p0YXaR+cF3XA+gEImR+UX5Les
coq8sNogfIHz4K+baQwbx0MzKNHGbMarXkFpyeQ1XIcB1esKmG9ciPxEjRJKmyQ2TtrcVaJKHKBW
cCLYOYaiMZQbaufQzkDJYhenBrXSWAofe5mabmcXJz39AIRYyX3Q2fpWTQg6kuN4NdKxVyrpMAhL
gLuSrij0X60Ll/5LrnxAfJnjoNmgxT7KrK4XoYqGMhmDDx6zosuK0GVaNMCUtDqh4MyaIYi9KxYC
oTitB/iHwA2vqhG4nYZtj3UJqVJ5cm2o3qnJnLitav+0n77oYtCKExNbdEa7UzPUB7OwRiBOt6mN
vDFOzBtaP7e6VilrH8HCxqxRxpmUQmzDJcPJys8Kz3JpLJBtrockp/iuuat8Rd1CKjuNQ65mqRRB
65Udq+zvgOmaO0kZri0Ie9gY7FU+Ce6ytjwpWhCkQ9NtSUYn3MVScgcB+hL4wsQOMS5VlYZA0Nrg
Sz24I4pxalCKqyqZtkmSl1i8oaLSOr+I3NNmkEBJq6WylumayC7ki8HQ0tVAIrjRER0m6VELsLRG
+kurJ7GFvVLFo2TXnwWcSTWFf+ZJBI6FKnJ0hFGeuxsQCVM1BGzK9ICgDzD4rm5SPDYIxKu6E9jg
U6pbtwYDHACIHAt2lsyg4u4tqbzXS+0LCB26hIvYS0+lQdZPEs+/S8MHVqqwF3WEnrhYmylATjaI
gkvz90MgQEraVK00yYFdnV9XGgeIOV4VKB1YLwlyG7T00AT3E57X6TvDXY7Gh1DpOsoDgnhySJRh
5KEdjI39xM+U82xw2o6SgOYrKZcucnVcyizlRGhDxl6qH7IwbFch0VNarX4KBEzUogPoQGbAbUrC
BpImVL1g7Q9oEjOn7tFhRFQT00G5pkNflIMDlJGcjka7dpETb10iKZIsugZpiOIlHNOV0TL5SWwC
L8MBgXKQHgEnLNpcN6hIleNS0DmBV3ppUhhBKLuoaqTaBiw1tBo3kUZ7KMi3UJHalWVKl7Ls1le+
pt5lg/0xjXKQiYqPq4YhvfKNM1SvX7yQzKKho3dvTbAaK0TQo6RcjXxmUKEHSqiykE+ZMXOPavD3
VUxPYa1G0q7pqBvbA+oYQ2TBUoK8segUUGtc2BClBtKnSqo2Onm6uQJSJJzIAmavQGsE3r1Aj8D8
44GTHWIM+ictJV7Fl1UW16giTfVcJIdW4UwrwpuC9RkE0xwOkUyzovKUWzMGOsSaeTda+QnijJ0W
9FMBL8oIIypPInusNx0Cm3Q4Jx2dMFDEurLwoYqWpyOrO3ZEdFXkYHHLcUtnjfdvdh87k5wpwDXN
LiniU/+aOBdGw4Ohp3SACoPdAFmEAktenAIGXhAqeS9HEZOVoL6jiaCjH1fPQ4qDuzCTDsAoYc5M
4heBcCOO6/PeR5LLBR4laAK4alznepDBRiCOhbO+LH3g8mYKeQfaLDlfmUOEz0NNkjixFLlx6oUj
HmdOqIoakSuR7mZDCsaA4TQ6gV0R14nKoNSbcr1c6KoH6LNnDTo0FWsg/CwWlOgudZs1y3KOQsQp
sXlPdfMBR0Tp4PRc9N3OVGz5GtsJ7aAYecc0SfTEQzDUh2jI5B1jzWrsk50h0yOyTW9tfTY3SopN
K05NcyGFU8mopcaOMNmX5fNYDY902AhmqUmbpHoPYhY8fJnBAdQR/RJnSpxTT8Mu5ZRe1eOQruM8
xTudRg0CvP5aM6FUJCXa7KLv0bPRgfQh1yQV1CMSbRhUkSs6OqlitbUc6RvtvdJ0YtMlx2xgXilP
8Zd9smX2+6GI9UkvbRDI2iqnAQ3OLk6P2kOox+JMzVsCBJBnl3qm7UCHTRkaBiGBBlD5tMrWeg9e
vrEqYjuoJxUoBUkkbA+1R3ehZ8zYKC2VV39sCIKwP2WUqMyRVnDYIcs3rTN6uQaQMUqHWavh6d3U
reZv3GmO++0G0ma5D9Xwp/u+PUUaFZJoWI4RcZTCV5oxGuls7HvCaszGPqoIRJx2br4cZvsfV7Zs
LyYr4XfPL12V/ncS3+Tzn8/P+e7Hp81N5uJsKiYYKqfHDBWxRHOO/gjr0vTgfDP/7bdfg/lNfHu9
7zb9w9OfXo+ADnlNGh9DtRt2y/kPu8mR7k2v0OnhFNE8vXvF8CGijDIUE0+9kUcRbExPJgjbqx8o
ig3bps7hgmZWtk2ZXa/z0HgwhmjbtncBwqF9QsCrD5b8zDRhyxTpR4Bbw70/SfN80zyx1EbfSiq2
AhZLtF06m9nQjz+CC632hcUCp25QbU9LlZkNM9+EFhRY7Bl8j6gOyNiZf/RVu6DNM91byWa4T/Be
uK22y5LDj4/P2zNTKtZPW4mnV5ufNN8Yavi8pac7J7KEb8CcybkGf3vet7f1tK1vv//qOb+6TyMo
fGdWm2IqoOsT56Gj1Di5vsRq/tWfjtPqz0fnn+b75kfnX+ebeQPffv3V3/5qU0mTkRko+C7KqTlC
o426En0Dj09LDXD6/Zd3irxkzfHt8Wz6o+DbH82/zw8TroN5wtp1U+ugbDik6Vfzo5uZw9cf54fm
Gz1YUSKTdt/+/IeXmH8Vcif+H1OhfUV1TgDK9awuu2gey+HysWowmz1LtKZHZ9LjNSq/SYL2P33S
7zf0x+Nf0bUBuRQ/6trmNzW/md9tI4YiVTefH//rP4T9TuiGBhZTyPM/xGukJKGmmR+e0ZmGrgtb
15Xnx//zH//nu530z3bD7z/h0/78/XN+9wmedtDE1QT5qfCmeVPfyKH/472gv+MjClOnxT3/A935
/V4w7Xfw6TTFREo+/1O/V17+7mD46V394oD5/XP+2l5Q4LA8vam/vxdU6x1xGjrwVLSF3398S32n
0c3SVOvrQSL+lz7+Q9ak9XQyEo+bfi/WVDVgqn/lEPhhCy9OBJ3TyZQnjeb3H96GEKtYQqVb9nRs
/G99+COZ7ekqYCYYPNTff3gactqrxwHlnWYIoLQcSM/n+Q97QQiBlxAr7/wPeem/1zjwK5Xv3xgH
kOraqIisPz/l93vBMt4JBF+6NhGDp3//fuOAKst/8VT44Xj67lRQ3xnIiS3r+bv+YTS0xDtN0wSg
5a+j4b/dGYEM+tUnhPZOtYVKAYp8+enfDztBUVCET3hoA1jt9O/pGvSXLox/4Ul/zjSWfhB/nucY
wWP1q1nGP3vC81Xl58e/XlHmiyfj5osnTlL6p9f+NgX5x4sjZb72f/fg81xgfp2vf/71A/780i9e
6/lTPd+5DR7LY/ngD/MDw9e3eXZMmKf8d3z8dEyO3w97DFQceN/eyX/9x4v3+d314F9suIp+2K4m
v8F2y4BQ6Zcbno/KV7/hMjqm1bF6fovT16iQgvX8+y/NEH9eGn+3K5bHOPgCQyt48a513WY68Np3
vczirDx+zp63NL1r0xBca1+/ZcwbD3Xw0Ly4KJr4Kl6/8dVjfOyO5QtjiIXW/g22/PVC/kf25Q92
TpN8ernbpwn561/FYa8Hn198n19niq/d7ZvHrPRevmXl6drz2i1v2eNB8PzZ58NbMMg+3/H3j+/d
56P/4gBUNFN5gyFkF5NMnQUvz0jNkt/g+Nuln4MfUg8UsiGZdrx2L8M5e3lYaAjWXr/Zw89jk0Hi
whtsmA/cPETD85bm44JpyhucJCdZE1Q/7Wab1c7zi/39Y+70GKQvRg8Fp9cbvOfTYznEx/Tz8zuc
dgces7f4Ck+PVXV88JvqkfSdl9vXtbfYJcGDH3jHl+s3RbHf4Aw/DSYjX1a/OLJx7ClvcMKcYmaa
/uf5i7FJVfRpFfDa03HaekY5/nlL8/epsBZ/vuMVh+A/T07551WmvzRhOHv8VB5/mD0xY568ka/d
H2eP7fHldetrtev1G+7+2B4T5ADBy8s625/m+G+x/f1jWT2+GKlIg5niYN5i46ePffDw4jLGxqfa
z1ts/GNWRs9bmg9BIsvfYPA+y8ra/2N5LDOulC9Pzqfq3avf+/wCq2P047kvYA49f6C/fwqd+8HL
Pa5xtLzBZqOYGcnLVY1K/eENBtnz8pGAoue3OH+Vmv4WX+V7vNLVELfHH5YJqg42/vn1/v6evvSz
z49/7Kqfrm0mi+3Xb/4KfcSvD0RqaMobfKVPL/DzgTht/g3mg791qr9yNL9+7F+uKr/WFV97bt7U
R//5m5sORIG+6A2u9bePZcKV7cWWuRS/wUB4G7Cy+eHwFjpZYM+v9fcP77sj153Ug5XxvK15j4CW
f4NR9o60sz9++eaBzb7BwXcXVA+EngUv37sB3eD5w7xixwwZ1W3veUPzXjFs9V9eM39VafqzPfVz
/em57fSrP3tZXJue8RA/Hst//F8AAAD//w==</cx:binary>
              </cx:geoCache>
            </cx:geography>
          </cx:layoutPr>
        </cx:series>
      </cx:plotAreaRegion>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withinLinear" id="14">
  <a:schemeClr val="accent1"/>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31"/>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34">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330" kern="120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cs:styleClr val="auto"/>
    </cs:fontRef>
    <cs:spPr/>
    <cs:defRPr sz="1197" b="1" i="0" u="none" strike="noStrike" kern="1200" baseline="0"/>
  </cs:dataLabel>
  <cs:dataLabelCallout>
    <cs:lnRef idx="0"/>
    <cs:fillRef idx="0"/>
    <cs:effectRef idx="0"/>
    <cs:fontRef idx="minor">
      <a:schemeClr val="dk1">
        <a:lumMod val="65000"/>
        <a:lumOff val="35000"/>
      </a:schemeClr>
    </cs:fontRef>
    <cs:spPr>
      <a:solidFill>
        <a:schemeClr val="lt1"/>
      </a:solidFill>
      <a:ln w="9575">
        <a:solidFill>
          <a:schemeClr val="lt1">
            <a:lumMod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19050" cap="rnd" cmpd="sng" algn="ctr">
        <a:solidFill>
          <a:schemeClr val="phClr">
            <a:shade val="95000"/>
            <a:satMod val="105000"/>
          </a:schemeClr>
        </a:solidFill>
        <a:round/>
      </a:ln>
    </cs:spPr>
  </cs:dataPointLine>
  <cs:dataPointMarker>
    <cs:lnRef idx="0"/>
    <cs:fillRef idx="0"/>
    <cs:effectRef idx="0"/>
    <cs:fontRef idx="minor">
      <a:schemeClr val="dk1"/>
    </cs:fontRef>
    <cs:spPr>
      <a:solidFill>
        <a:schemeClr val="lt1"/>
      </a:solidFill>
    </cs:spPr>
  </cs:dataPointMarker>
  <cs:dataPointMarkerLayout symbol="circle" size="17"/>
  <cs:dataPointWireframe>
    <cs:lnRef idx="0">
      <cs:styleClr val="auto"/>
    </cs:lnRef>
    <cs:fillRef idx="1"/>
    <cs:effectRef idx="0"/>
    <cs:fontRef idx="minor">
      <a:schemeClr val="dk1"/>
    </cs:fontRef>
    <cs:spPr>
      <a:ln w="9525">
        <a:solidFill>
          <a:schemeClr val="phClr"/>
        </a:solidFill>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35000"/>
            <a:lumOff val="65000"/>
          </a:schemeClr>
        </a:solidFill>
      </a:ln>
    </cs:spPr>
  </cs:dropLine>
  <cs:errorBar>
    <cs:lnRef idx="0"/>
    <cs:fillRef idx="0"/>
    <cs:effectRef idx="0"/>
    <cs:fontRef idx="minor">
      <a:schemeClr val="dk1"/>
    </cs:fontRef>
    <cs:spPr>
      <a:ln w="9525">
        <a:solidFill>
          <a:schemeClr val="dk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ln>
    </cs:spPr>
  </cs:seriesLine>
  <cs:title>
    <cs:lnRef idx="0"/>
    <cs:fillRef idx="0"/>
    <cs:effectRef idx="0"/>
    <cs:fontRef idx="minor">
      <a:schemeClr val="dk1"/>
    </cs:fontRef>
    <cs:defRPr sz="1915" b="0" kern="1200" cap="all" spc="0" baseline="0">
      <a:gradFill>
        <a:gsLst>
          <a:gs pos="0">
            <a:schemeClr val="dk1">
              <a:lumMod val="50000"/>
              <a:lumOff val="50000"/>
            </a:schemeClr>
          </a:gs>
          <a:gs pos="100000">
            <a:schemeClr val="dk1">
              <a:lumMod val="85000"/>
              <a:lumOff val="15000"/>
            </a:schemeClr>
          </a:gs>
        </a:gsLst>
        <a:lin ang="5400000" scaled="0"/>
      </a:gradFill>
    </cs:defRPr>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50000"/>
            <a:lumOff val="50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34">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330" kern="120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cs:styleClr val="auto"/>
    </cs:fontRef>
    <cs:spPr/>
    <cs:defRPr sz="1197" b="1" i="0" u="none" strike="noStrike" kern="1200" baseline="0"/>
  </cs:dataLabel>
  <cs:dataLabelCallout>
    <cs:lnRef idx="0"/>
    <cs:fillRef idx="0"/>
    <cs:effectRef idx="0"/>
    <cs:fontRef idx="minor">
      <a:schemeClr val="dk1">
        <a:lumMod val="65000"/>
        <a:lumOff val="35000"/>
      </a:schemeClr>
    </cs:fontRef>
    <cs:spPr>
      <a:solidFill>
        <a:schemeClr val="lt1"/>
      </a:solidFill>
      <a:ln w="9575">
        <a:solidFill>
          <a:schemeClr val="lt1">
            <a:lumMod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19050" cap="rnd" cmpd="sng" algn="ctr">
        <a:solidFill>
          <a:schemeClr val="phClr">
            <a:shade val="95000"/>
            <a:satMod val="105000"/>
          </a:schemeClr>
        </a:solidFill>
        <a:round/>
      </a:ln>
    </cs:spPr>
  </cs:dataPointLine>
  <cs:dataPointMarker>
    <cs:lnRef idx="0"/>
    <cs:fillRef idx="0"/>
    <cs:effectRef idx="0"/>
    <cs:fontRef idx="minor">
      <a:schemeClr val="dk1"/>
    </cs:fontRef>
    <cs:spPr>
      <a:solidFill>
        <a:schemeClr val="lt1"/>
      </a:solidFill>
    </cs:spPr>
  </cs:dataPointMarker>
  <cs:dataPointMarkerLayout symbol="circle" size="17"/>
  <cs:dataPointWireframe>
    <cs:lnRef idx="0">
      <cs:styleClr val="auto"/>
    </cs:lnRef>
    <cs:fillRef idx="1"/>
    <cs:effectRef idx="0"/>
    <cs:fontRef idx="minor">
      <a:schemeClr val="dk1"/>
    </cs:fontRef>
    <cs:spPr>
      <a:ln w="9525">
        <a:solidFill>
          <a:schemeClr val="phClr"/>
        </a:solidFill>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35000"/>
            <a:lumOff val="65000"/>
          </a:schemeClr>
        </a:solidFill>
      </a:ln>
    </cs:spPr>
  </cs:dropLine>
  <cs:errorBar>
    <cs:lnRef idx="0"/>
    <cs:fillRef idx="0"/>
    <cs:effectRef idx="0"/>
    <cs:fontRef idx="minor">
      <a:schemeClr val="dk1"/>
    </cs:fontRef>
    <cs:spPr>
      <a:ln w="9525">
        <a:solidFill>
          <a:schemeClr val="dk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ln>
    </cs:spPr>
  </cs:seriesLine>
  <cs:title>
    <cs:lnRef idx="0"/>
    <cs:fillRef idx="0"/>
    <cs:effectRef idx="0"/>
    <cs:fontRef idx="minor">
      <a:schemeClr val="dk1"/>
    </cs:fontRef>
    <cs:defRPr sz="1915" b="0" kern="1200" cap="all" spc="0" baseline="0">
      <a:gradFill>
        <a:gsLst>
          <a:gs pos="0">
            <a:schemeClr val="dk1">
              <a:lumMod val="50000"/>
              <a:lumOff val="50000"/>
            </a:schemeClr>
          </a:gs>
          <a:gs pos="100000">
            <a:schemeClr val="dk1">
              <a:lumMod val="85000"/>
              <a:lumOff val="15000"/>
            </a:schemeClr>
          </a:gs>
        </a:gsLst>
        <a:lin ang="5400000" scaled="0"/>
      </a:gradFill>
    </cs:defRPr>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50000"/>
            <a:lumOff val="50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omments/modernComment_167_2109266B.xml><?xml version="1.0" encoding="utf-8"?>
<p188:cmLst xmlns:a="http://schemas.openxmlformats.org/drawingml/2006/main" xmlns:r="http://schemas.openxmlformats.org/officeDocument/2006/relationships" xmlns:p188="http://schemas.microsoft.com/office/powerpoint/2018/8/main">
  <p188:cm id="{C9F6B0C4-794A-114C-A8F3-87CD9BE443AB}" authorId="{2A2A57EF-D96B-AA95-1446-31AD0F2C56F0}" created="2023-11-14T23:49:48.627">
    <ac:txMkLst xmlns:ac="http://schemas.microsoft.com/office/drawing/2013/main/command">
      <pc:docMk xmlns:pc="http://schemas.microsoft.com/office/powerpoint/2013/main/command"/>
      <pc:sldMk xmlns:pc="http://schemas.microsoft.com/office/powerpoint/2013/main/command" cId="554247787" sldId="359"/>
      <ac:spMk id="38" creationId="{73BFF094-C209-080E-4DF9-AED4117C4FBC}"/>
      <ac:txMk cp="1124" len="109">
        <ac:context len="1234" hash="2656275463"/>
      </ac:txMk>
    </ac:txMkLst>
    <p188:pos x="8431306" y="2879300"/>
    <p188:replyLst>
      <p188:reply id="{F105E977-C26A-4FBE-9449-8FB0015BCBFF}" authorId="{63CEFFE7-3674-CC26-8B15-ACA892679996}" created="2023-11-15T00:39:46.191">
        <p188:txBody>
          <a:bodyPr/>
          <a:lstStyle/>
          <a:p>
            <a:r>
              <a:rPr lang="en-US"/>
              <a:t>on slide 29? should we move it here</a:t>
            </a:r>
          </a:p>
        </p188:txBody>
      </p188:reply>
    </p188:replyLst>
    <p188:txBody>
      <a:bodyPr/>
      <a:lstStyle/>
      <a:p>
        <a:r>
          <a:rPr lang="en-US"/>
          <a:t>Can we add some supporting data here?</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CF17C1-D05E-4C3F-903C-D7CF90C0213A}"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7603B8B0-EA92-4C89-BF94-362E9EE2C3E4}">
      <dgm:prSet phldrT="[Text]"/>
      <dgm:spPr/>
      <dgm:t>
        <a:bodyPr/>
        <a:lstStyle/>
        <a:p>
          <a:r>
            <a:rPr lang="en-US" b="1"/>
            <a:t>Class A</a:t>
          </a:r>
        </a:p>
      </dgm:t>
    </dgm:pt>
    <dgm:pt modelId="{03DF795C-96C0-4C26-92A4-073C2C130A84}" type="parTrans" cxnId="{78D1E747-3E81-496B-BDAD-3B097530D57D}">
      <dgm:prSet/>
      <dgm:spPr/>
      <dgm:t>
        <a:bodyPr/>
        <a:lstStyle/>
        <a:p>
          <a:endParaRPr lang="en-US"/>
        </a:p>
      </dgm:t>
    </dgm:pt>
    <dgm:pt modelId="{1E4586BE-7051-4688-BA98-DA7A5EA85B92}" type="sibTrans" cxnId="{78D1E747-3E81-496B-BDAD-3B097530D57D}">
      <dgm:prSet/>
      <dgm:spPr/>
      <dgm:t>
        <a:bodyPr/>
        <a:lstStyle/>
        <a:p>
          <a:endParaRPr lang="en-US"/>
        </a:p>
      </dgm:t>
    </dgm:pt>
    <dgm:pt modelId="{D22FA7D8-A54D-4CA6-BCF9-068E5A85CCD2}">
      <dgm:prSet phldrT="[Text]"/>
      <dgm:spPr/>
      <dgm:t>
        <a:bodyPr/>
        <a:lstStyle/>
        <a:p>
          <a:r>
            <a:rPr lang="en-US"/>
            <a:t>&lt;10 yrs, Premium</a:t>
          </a:r>
        </a:p>
      </dgm:t>
    </dgm:pt>
    <dgm:pt modelId="{895F0321-CD65-47F1-A4C1-525C5F2A4531}" type="parTrans" cxnId="{4E254DC4-F523-448C-AF9F-CA31CCA73AED}">
      <dgm:prSet/>
      <dgm:spPr/>
      <dgm:t>
        <a:bodyPr/>
        <a:lstStyle/>
        <a:p>
          <a:endParaRPr lang="en-US"/>
        </a:p>
      </dgm:t>
    </dgm:pt>
    <dgm:pt modelId="{34A3BAE2-350B-4988-BFFA-1A8E23050E28}" type="sibTrans" cxnId="{4E254DC4-F523-448C-AF9F-CA31CCA73AED}">
      <dgm:prSet/>
      <dgm:spPr/>
      <dgm:t>
        <a:bodyPr/>
        <a:lstStyle/>
        <a:p>
          <a:endParaRPr lang="en-US"/>
        </a:p>
      </dgm:t>
    </dgm:pt>
    <dgm:pt modelId="{304B061F-13D0-4D30-8693-55AD3A51AD9C}">
      <dgm:prSet phldrT="[Text]"/>
      <dgm:spPr/>
      <dgm:t>
        <a:bodyPr/>
        <a:lstStyle/>
        <a:p>
          <a:r>
            <a:rPr lang="en-US"/>
            <a:t>Professional Class, new or like new</a:t>
          </a:r>
        </a:p>
      </dgm:t>
    </dgm:pt>
    <dgm:pt modelId="{16D7A28B-D621-4BC7-B2CC-400C0A0F0E99}" type="parTrans" cxnId="{6D3B19BB-FC28-4F1D-8AD7-A53FF13AFCF6}">
      <dgm:prSet/>
      <dgm:spPr/>
      <dgm:t>
        <a:bodyPr/>
        <a:lstStyle/>
        <a:p>
          <a:endParaRPr lang="en-US"/>
        </a:p>
      </dgm:t>
    </dgm:pt>
    <dgm:pt modelId="{0B0214C2-E2C6-4618-B507-7C14637E20D3}" type="sibTrans" cxnId="{6D3B19BB-FC28-4F1D-8AD7-A53FF13AFCF6}">
      <dgm:prSet/>
      <dgm:spPr/>
      <dgm:t>
        <a:bodyPr/>
        <a:lstStyle/>
        <a:p>
          <a:endParaRPr lang="en-US"/>
        </a:p>
      </dgm:t>
    </dgm:pt>
    <dgm:pt modelId="{39473E01-E8E3-4F88-AC63-F6815E6E7F5F}">
      <dgm:prSet phldrT="[Text]"/>
      <dgm:spPr>
        <a:ln w="28575"/>
      </dgm:spPr>
      <dgm:t>
        <a:bodyPr/>
        <a:lstStyle/>
        <a:p>
          <a:r>
            <a:rPr lang="en-US" b="1"/>
            <a:t>Class B</a:t>
          </a:r>
        </a:p>
      </dgm:t>
    </dgm:pt>
    <dgm:pt modelId="{F1342721-4F17-4F88-ACEF-85A3FE42DE12}" type="parTrans" cxnId="{99E0DEB3-7E45-421F-AD85-C68A613E9005}">
      <dgm:prSet/>
      <dgm:spPr/>
      <dgm:t>
        <a:bodyPr/>
        <a:lstStyle/>
        <a:p>
          <a:endParaRPr lang="en-US"/>
        </a:p>
      </dgm:t>
    </dgm:pt>
    <dgm:pt modelId="{CF1F595A-344F-4F03-8477-26D1EA632C14}" type="sibTrans" cxnId="{99E0DEB3-7E45-421F-AD85-C68A613E9005}">
      <dgm:prSet/>
      <dgm:spPr/>
      <dgm:t>
        <a:bodyPr/>
        <a:lstStyle/>
        <a:p>
          <a:endParaRPr lang="en-US"/>
        </a:p>
      </dgm:t>
    </dgm:pt>
    <dgm:pt modelId="{A4F04D8B-09C0-4923-9B03-EF9539A4982E}">
      <dgm:prSet phldrT="[Text]"/>
      <dgm:spPr>
        <a:ln w="28575"/>
      </dgm:spPr>
      <dgm:t>
        <a:bodyPr/>
        <a:lstStyle/>
        <a:p>
          <a:r>
            <a:rPr lang="en-US"/>
            <a:t>&lt;20 yrs, Average</a:t>
          </a:r>
        </a:p>
      </dgm:t>
    </dgm:pt>
    <dgm:pt modelId="{D21D45D8-2A6A-4A58-9B01-D671A8A311B6}" type="parTrans" cxnId="{0B6F4BCC-9097-4BD3-A269-1035B203F84F}">
      <dgm:prSet/>
      <dgm:spPr/>
      <dgm:t>
        <a:bodyPr/>
        <a:lstStyle/>
        <a:p>
          <a:endParaRPr lang="en-US"/>
        </a:p>
      </dgm:t>
    </dgm:pt>
    <dgm:pt modelId="{6532BA4B-38B4-4035-B5AF-A228EF636912}" type="sibTrans" cxnId="{0B6F4BCC-9097-4BD3-A269-1035B203F84F}">
      <dgm:prSet/>
      <dgm:spPr/>
      <dgm:t>
        <a:bodyPr/>
        <a:lstStyle/>
        <a:p>
          <a:endParaRPr lang="en-US"/>
        </a:p>
      </dgm:t>
    </dgm:pt>
    <dgm:pt modelId="{9B6501C0-760B-4639-B40D-8008D0D41FDE}">
      <dgm:prSet phldrT="[Text]"/>
      <dgm:spPr/>
      <dgm:t>
        <a:bodyPr/>
        <a:lstStyle/>
        <a:p>
          <a:r>
            <a:rPr lang="en-US" b="1"/>
            <a:t>Class C</a:t>
          </a:r>
        </a:p>
      </dgm:t>
    </dgm:pt>
    <dgm:pt modelId="{D0F58EC6-4FB9-406C-B9D1-CDF54B1BE295}" type="parTrans" cxnId="{F2BCF274-7693-46AB-B761-B2D5F7615AC2}">
      <dgm:prSet/>
      <dgm:spPr/>
      <dgm:t>
        <a:bodyPr/>
        <a:lstStyle/>
        <a:p>
          <a:endParaRPr lang="en-US"/>
        </a:p>
      </dgm:t>
    </dgm:pt>
    <dgm:pt modelId="{726D4E5C-A675-4C3D-84DD-59E16BBCAF2F}" type="sibTrans" cxnId="{F2BCF274-7693-46AB-B761-B2D5F7615AC2}">
      <dgm:prSet/>
      <dgm:spPr/>
      <dgm:t>
        <a:bodyPr/>
        <a:lstStyle/>
        <a:p>
          <a:endParaRPr lang="en-US"/>
        </a:p>
      </dgm:t>
    </dgm:pt>
    <dgm:pt modelId="{4515F123-520E-4773-AA22-28CBE2292639}">
      <dgm:prSet phldrT="[Text]"/>
      <dgm:spPr/>
      <dgm:t>
        <a:bodyPr/>
        <a:lstStyle/>
        <a:p>
          <a:r>
            <a:rPr lang="en-US"/>
            <a:t>Low/Moderate, limited/no amenities</a:t>
          </a:r>
        </a:p>
      </dgm:t>
    </dgm:pt>
    <dgm:pt modelId="{98F45A93-96B3-46E7-94D1-A0BD21460352}" type="parTrans" cxnId="{18A0CD85-CA53-4254-B806-0781CA3C2B8E}">
      <dgm:prSet/>
      <dgm:spPr/>
      <dgm:t>
        <a:bodyPr/>
        <a:lstStyle/>
        <a:p>
          <a:endParaRPr lang="en-US"/>
        </a:p>
      </dgm:t>
    </dgm:pt>
    <dgm:pt modelId="{CAE418EA-D252-465C-A9C0-0106EABE3C0E}" type="sibTrans" cxnId="{18A0CD85-CA53-4254-B806-0781CA3C2B8E}">
      <dgm:prSet/>
      <dgm:spPr/>
      <dgm:t>
        <a:bodyPr/>
        <a:lstStyle/>
        <a:p>
          <a:endParaRPr lang="en-US"/>
        </a:p>
      </dgm:t>
    </dgm:pt>
    <dgm:pt modelId="{14E10785-49A1-4C13-B19A-9B8089601DDB}">
      <dgm:prSet phldrT="[Text]"/>
      <dgm:spPr>
        <a:ln w="28575"/>
      </dgm:spPr>
      <dgm:t>
        <a:bodyPr/>
        <a:lstStyle/>
        <a:p>
          <a:r>
            <a:rPr lang="en-US"/>
            <a:t>Median Earners, dated, good condition</a:t>
          </a:r>
        </a:p>
      </dgm:t>
    </dgm:pt>
    <dgm:pt modelId="{3E4905EE-C054-4111-993B-89C55FA320A9}" type="parTrans" cxnId="{F1683FB3-03F5-4B45-8F97-B58DA5EDE3D7}">
      <dgm:prSet/>
      <dgm:spPr/>
      <dgm:t>
        <a:bodyPr/>
        <a:lstStyle/>
        <a:p>
          <a:endParaRPr lang="en-US"/>
        </a:p>
      </dgm:t>
    </dgm:pt>
    <dgm:pt modelId="{40FA3F1C-9E65-49A6-B2F1-9318FA82C067}" type="sibTrans" cxnId="{F1683FB3-03F5-4B45-8F97-B58DA5EDE3D7}">
      <dgm:prSet/>
      <dgm:spPr/>
      <dgm:t>
        <a:bodyPr/>
        <a:lstStyle/>
        <a:p>
          <a:endParaRPr lang="en-US"/>
        </a:p>
      </dgm:t>
    </dgm:pt>
    <dgm:pt modelId="{F8F77010-9952-4636-B5FD-CDED3D1F4848}">
      <dgm:prSet phldrT="[Text]"/>
      <dgm:spPr/>
      <dgm:t>
        <a:bodyPr/>
        <a:lstStyle/>
        <a:p>
          <a:r>
            <a:rPr lang="en-US"/>
            <a:t>&lt; 30 yrs, Dated </a:t>
          </a:r>
        </a:p>
      </dgm:t>
    </dgm:pt>
    <dgm:pt modelId="{A3F45F5F-B60F-4D0C-AAB2-2A567CD0B72E}" type="parTrans" cxnId="{3664FD6C-7295-45E7-A2E3-263692F92FDD}">
      <dgm:prSet/>
      <dgm:spPr/>
      <dgm:t>
        <a:bodyPr/>
        <a:lstStyle/>
        <a:p>
          <a:endParaRPr lang="en-US"/>
        </a:p>
      </dgm:t>
    </dgm:pt>
    <dgm:pt modelId="{AC2AC578-D0E5-4E69-9252-3E6649F1127B}" type="sibTrans" cxnId="{3664FD6C-7295-45E7-A2E3-263692F92FDD}">
      <dgm:prSet/>
      <dgm:spPr/>
      <dgm:t>
        <a:bodyPr/>
        <a:lstStyle/>
        <a:p>
          <a:endParaRPr lang="en-US"/>
        </a:p>
      </dgm:t>
    </dgm:pt>
    <dgm:pt modelId="{AD4503A0-FF99-4CDC-936C-30818003E5C7}">
      <dgm:prSet phldrT="[Text]"/>
      <dgm:spPr/>
      <dgm:t>
        <a:bodyPr/>
        <a:lstStyle/>
        <a:p>
          <a:r>
            <a:rPr lang="en-US" b="1"/>
            <a:t>Trophy</a:t>
          </a:r>
        </a:p>
      </dgm:t>
    </dgm:pt>
    <dgm:pt modelId="{7F193A0C-0A65-4E4B-A7FD-4B07E710EECF}" type="parTrans" cxnId="{134D4387-F7FE-4F90-9B41-CC6705A98DC6}">
      <dgm:prSet/>
      <dgm:spPr/>
      <dgm:t>
        <a:bodyPr/>
        <a:lstStyle/>
        <a:p>
          <a:endParaRPr lang="en-US"/>
        </a:p>
      </dgm:t>
    </dgm:pt>
    <dgm:pt modelId="{7FF09414-DED7-42FA-945D-3BBB625DE3F5}" type="sibTrans" cxnId="{134D4387-F7FE-4F90-9B41-CC6705A98DC6}">
      <dgm:prSet/>
      <dgm:spPr/>
      <dgm:t>
        <a:bodyPr/>
        <a:lstStyle/>
        <a:p>
          <a:endParaRPr lang="en-US"/>
        </a:p>
      </dgm:t>
    </dgm:pt>
    <dgm:pt modelId="{8FC06866-6760-4192-A2F6-1F0A2C4E08E2}">
      <dgm:prSet phldrT="[Text]"/>
      <dgm:spPr/>
      <dgm:t>
        <a:bodyPr/>
        <a:lstStyle/>
        <a:p>
          <a:r>
            <a:rPr lang="en-US"/>
            <a:t>&lt;10 yrs, Luxury</a:t>
          </a:r>
        </a:p>
      </dgm:t>
    </dgm:pt>
    <dgm:pt modelId="{8F05EEAD-1D66-4647-A1B4-D3BDB58DEB95}" type="parTrans" cxnId="{463FE2FF-6557-4825-A6B3-B8D260BF7012}">
      <dgm:prSet/>
      <dgm:spPr/>
      <dgm:t>
        <a:bodyPr/>
        <a:lstStyle/>
        <a:p>
          <a:endParaRPr lang="en-US"/>
        </a:p>
      </dgm:t>
    </dgm:pt>
    <dgm:pt modelId="{6E991211-3117-49B0-8D34-E8BDD9D30C2F}" type="sibTrans" cxnId="{463FE2FF-6557-4825-A6B3-B8D260BF7012}">
      <dgm:prSet/>
      <dgm:spPr/>
      <dgm:t>
        <a:bodyPr/>
        <a:lstStyle/>
        <a:p>
          <a:endParaRPr lang="en-US"/>
        </a:p>
      </dgm:t>
    </dgm:pt>
    <dgm:pt modelId="{ED6E7003-210D-4D0A-B30D-60860BDFB0AD}">
      <dgm:prSet phldrT="[Text]"/>
      <dgm:spPr/>
      <dgm:t>
        <a:bodyPr/>
        <a:lstStyle/>
        <a:p>
          <a:r>
            <a:rPr lang="en-US"/>
            <a:t>Top income, best amenities</a:t>
          </a:r>
        </a:p>
      </dgm:t>
    </dgm:pt>
    <dgm:pt modelId="{6F26A276-83AF-4D1D-9A78-818E2A86E2BF}" type="parTrans" cxnId="{3E279D04-E14F-4473-B6F5-E559C7CFD66A}">
      <dgm:prSet/>
      <dgm:spPr/>
      <dgm:t>
        <a:bodyPr/>
        <a:lstStyle/>
        <a:p>
          <a:endParaRPr lang="en-US"/>
        </a:p>
      </dgm:t>
    </dgm:pt>
    <dgm:pt modelId="{DDE0D198-B0CD-4D61-A9A5-C8A2F23942BF}" type="sibTrans" cxnId="{3E279D04-E14F-4473-B6F5-E559C7CFD66A}">
      <dgm:prSet/>
      <dgm:spPr/>
      <dgm:t>
        <a:bodyPr/>
        <a:lstStyle/>
        <a:p>
          <a:endParaRPr lang="en-US"/>
        </a:p>
      </dgm:t>
    </dgm:pt>
    <dgm:pt modelId="{D03914A3-273F-4491-B535-24C9F87F4F5F}" type="pres">
      <dgm:prSet presAssocID="{01CF17C1-D05E-4C3F-903C-D7CF90C0213A}" presName="linearFlow" presStyleCnt="0">
        <dgm:presLayoutVars>
          <dgm:dir/>
          <dgm:animLvl val="lvl"/>
          <dgm:resizeHandles val="exact"/>
        </dgm:presLayoutVars>
      </dgm:prSet>
      <dgm:spPr/>
    </dgm:pt>
    <dgm:pt modelId="{64BCF73D-8389-472A-85A5-EF92BB2743FC}" type="pres">
      <dgm:prSet presAssocID="{AD4503A0-FF99-4CDC-936C-30818003E5C7}" presName="composite" presStyleCnt="0"/>
      <dgm:spPr/>
    </dgm:pt>
    <dgm:pt modelId="{3C105B98-9EE6-473D-8F52-BC26ECD78015}" type="pres">
      <dgm:prSet presAssocID="{AD4503A0-FF99-4CDC-936C-30818003E5C7}" presName="parentText" presStyleLbl="alignNode1" presStyleIdx="0" presStyleCnt="4">
        <dgm:presLayoutVars>
          <dgm:chMax val="1"/>
          <dgm:bulletEnabled val="1"/>
        </dgm:presLayoutVars>
      </dgm:prSet>
      <dgm:spPr/>
    </dgm:pt>
    <dgm:pt modelId="{B1E84A76-49A5-431C-9AE0-A3F78546A202}" type="pres">
      <dgm:prSet presAssocID="{AD4503A0-FF99-4CDC-936C-30818003E5C7}" presName="descendantText" presStyleLbl="alignAcc1" presStyleIdx="0" presStyleCnt="4" custLinFactNeighborY="-2508">
        <dgm:presLayoutVars>
          <dgm:bulletEnabled val="1"/>
        </dgm:presLayoutVars>
      </dgm:prSet>
      <dgm:spPr/>
    </dgm:pt>
    <dgm:pt modelId="{599E3F7A-8176-4B7A-BFDB-AFD5C3346C03}" type="pres">
      <dgm:prSet presAssocID="{7FF09414-DED7-42FA-945D-3BBB625DE3F5}" presName="sp" presStyleCnt="0"/>
      <dgm:spPr/>
    </dgm:pt>
    <dgm:pt modelId="{10253429-C5BC-44E6-BEFD-8CBD7C54EEB1}" type="pres">
      <dgm:prSet presAssocID="{7603B8B0-EA92-4C89-BF94-362E9EE2C3E4}" presName="composite" presStyleCnt="0"/>
      <dgm:spPr/>
    </dgm:pt>
    <dgm:pt modelId="{5EEEF3A4-6ECB-43D7-9F30-7901B564D84B}" type="pres">
      <dgm:prSet presAssocID="{7603B8B0-EA92-4C89-BF94-362E9EE2C3E4}" presName="parentText" presStyleLbl="alignNode1" presStyleIdx="1" presStyleCnt="4">
        <dgm:presLayoutVars>
          <dgm:chMax val="1"/>
          <dgm:bulletEnabled val="1"/>
        </dgm:presLayoutVars>
      </dgm:prSet>
      <dgm:spPr/>
    </dgm:pt>
    <dgm:pt modelId="{3516E2CA-BFAD-45A2-8D6F-A42CC388E977}" type="pres">
      <dgm:prSet presAssocID="{7603B8B0-EA92-4C89-BF94-362E9EE2C3E4}" presName="descendantText" presStyleLbl="alignAcc1" presStyleIdx="1" presStyleCnt="4" custLinFactNeighborY="-2203">
        <dgm:presLayoutVars>
          <dgm:bulletEnabled val="1"/>
        </dgm:presLayoutVars>
      </dgm:prSet>
      <dgm:spPr/>
    </dgm:pt>
    <dgm:pt modelId="{83016CF2-FB27-408C-A7B5-422A1A4BE754}" type="pres">
      <dgm:prSet presAssocID="{1E4586BE-7051-4688-BA98-DA7A5EA85B92}" presName="sp" presStyleCnt="0"/>
      <dgm:spPr/>
    </dgm:pt>
    <dgm:pt modelId="{FD697444-4E13-47D3-A502-88CFC98FEEEA}" type="pres">
      <dgm:prSet presAssocID="{39473E01-E8E3-4F88-AC63-F6815E6E7F5F}" presName="composite" presStyleCnt="0"/>
      <dgm:spPr/>
    </dgm:pt>
    <dgm:pt modelId="{B1B9783B-9D14-4E8C-A8DD-B095C34FA9FF}" type="pres">
      <dgm:prSet presAssocID="{39473E01-E8E3-4F88-AC63-F6815E6E7F5F}" presName="parentText" presStyleLbl="alignNode1" presStyleIdx="2" presStyleCnt="4">
        <dgm:presLayoutVars>
          <dgm:chMax val="1"/>
          <dgm:bulletEnabled val="1"/>
        </dgm:presLayoutVars>
      </dgm:prSet>
      <dgm:spPr/>
    </dgm:pt>
    <dgm:pt modelId="{9C3F933E-BC64-458F-9572-8F71392E42E2}" type="pres">
      <dgm:prSet presAssocID="{39473E01-E8E3-4F88-AC63-F6815E6E7F5F}" presName="descendantText" presStyleLbl="alignAcc1" presStyleIdx="2" presStyleCnt="4" custLinFactNeighborY="-2203">
        <dgm:presLayoutVars>
          <dgm:bulletEnabled val="1"/>
        </dgm:presLayoutVars>
      </dgm:prSet>
      <dgm:spPr/>
    </dgm:pt>
    <dgm:pt modelId="{CBBAB4A0-60D1-48C0-B7DF-5248179F69C9}" type="pres">
      <dgm:prSet presAssocID="{CF1F595A-344F-4F03-8477-26D1EA632C14}" presName="sp" presStyleCnt="0"/>
      <dgm:spPr/>
    </dgm:pt>
    <dgm:pt modelId="{4ABB3553-3140-4FDB-9649-986C26D5AC39}" type="pres">
      <dgm:prSet presAssocID="{9B6501C0-760B-4639-B40D-8008D0D41FDE}" presName="composite" presStyleCnt="0"/>
      <dgm:spPr/>
    </dgm:pt>
    <dgm:pt modelId="{F42F4CD7-D3D6-410C-B318-6D0D5FDA17EA}" type="pres">
      <dgm:prSet presAssocID="{9B6501C0-760B-4639-B40D-8008D0D41FDE}" presName="parentText" presStyleLbl="alignNode1" presStyleIdx="3" presStyleCnt="4">
        <dgm:presLayoutVars>
          <dgm:chMax val="1"/>
          <dgm:bulletEnabled val="1"/>
        </dgm:presLayoutVars>
      </dgm:prSet>
      <dgm:spPr/>
    </dgm:pt>
    <dgm:pt modelId="{4911C650-5A3E-4650-8C67-A359882ED8C8}" type="pres">
      <dgm:prSet presAssocID="{9B6501C0-760B-4639-B40D-8008D0D41FDE}" presName="descendantText" presStyleLbl="alignAcc1" presStyleIdx="3" presStyleCnt="4">
        <dgm:presLayoutVars>
          <dgm:bulletEnabled val="1"/>
        </dgm:presLayoutVars>
      </dgm:prSet>
      <dgm:spPr/>
    </dgm:pt>
  </dgm:ptLst>
  <dgm:cxnLst>
    <dgm:cxn modelId="{3E279D04-E14F-4473-B6F5-E559C7CFD66A}" srcId="{AD4503A0-FF99-4CDC-936C-30818003E5C7}" destId="{ED6E7003-210D-4D0A-B30D-60860BDFB0AD}" srcOrd="1" destOrd="0" parTransId="{6F26A276-83AF-4D1D-9A78-818E2A86E2BF}" sibTransId="{DDE0D198-B0CD-4D61-A9A5-C8A2F23942BF}"/>
    <dgm:cxn modelId="{CE8B5B19-E6FF-4C02-93BA-309DAB5875D5}" type="presOf" srcId="{14E10785-49A1-4C13-B19A-9B8089601DDB}" destId="{9C3F933E-BC64-458F-9572-8F71392E42E2}" srcOrd="0" destOrd="1" presId="urn:microsoft.com/office/officeart/2005/8/layout/chevron2"/>
    <dgm:cxn modelId="{781A7934-001F-4355-8D12-926895536ACF}" type="presOf" srcId="{A4F04D8B-09C0-4923-9B03-EF9539A4982E}" destId="{9C3F933E-BC64-458F-9572-8F71392E42E2}" srcOrd="0" destOrd="0" presId="urn:microsoft.com/office/officeart/2005/8/layout/chevron2"/>
    <dgm:cxn modelId="{BA7BD847-52B0-408C-979F-F35D639D99F8}" type="presOf" srcId="{D22FA7D8-A54D-4CA6-BCF9-068E5A85CCD2}" destId="{3516E2CA-BFAD-45A2-8D6F-A42CC388E977}" srcOrd="0" destOrd="0" presId="urn:microsoft.com/office/officeart/2005/8/layout/chevron2"/>
    <dgm:cxn modelId="{78D1E747-3E81-496B-BDAD-3B097530D57D}" srcId="{01CF17C1-D05E-4C3F-903C-D7CF90C0213A}" destId="{7603B8B0-EA92-4C89-BF94-362E9EE2C3E4}" srcOrd="1" destOrd="0" parTransId="{03DF795C-96C0-4C26-92A4-073C2C130A84}" sibTransId="{1E4586BE-7051-4688-BA98-DA7A5EA85B92}"/>
    <dgm:cxn modelId="{F3153A49-9E4B-4B54-BDD6-1A9443933090}" type="presOf" srcId="{AD4503A0-FF99-4CDC-936C-30818003E5C7}" destId="{3C105B98-9EE6-473D-8F52-BC26ECD78015}" srcOrd="0" destOrd="0" presId="urn:microsoft.com/office/officeart/2005/8/layout/chevron2"/>
    <dgm:cxn modelId="{3664FD6C-7295-45E7-A2E3-263692F92FDD}" srcId="{9B6501C0-760B-4639-B40D-8008D0D41FDE}" destId="{F8F77010-9952-4636-B5FD-CDED3D1F4848}" srcOrd="0" destOrd="0" parTransId="{A3F45F5F-B60F-4D0C-AAB2-2A567CD0B72E}" sibTransId="{AC2AC578-D0E5-4E69-9252-3E6649F1127B}"/>
    <dgm:cxn modelId="{F2BCF274-7693-46AB-B761-B2D5F7615AC2}" srcId="{01CF17C1-D05E-4C3F-903C-D7CF90C0213A}" destId="{9B6501C0-760B-4639-B40D-8008D0D41FDE}" srcOrd="3" destOrd="0" parTransId="{D0F58EC6-4FB9-406C-B9D1-CDF54B1BE295}" sibTransId="{726D4E5C-A675-4C3D-84DD-59E16BBCAF2F}"/>
    <dgm:cxn modelId="{99350879-34B4-4BAF-A886-F38F6675F248}" type="presOf" srcId="{8FC06866-6760-4192-A2F6-1F0A2C4E08E2}" destId="{B1E84A76-49A5-431C-9AE0-A3F78546A202}" srcOrd="0" destOrd="0" presId="urn:microsoft.com/office/officeart/2005/8/layout/chevron2"/>
    <dgm:cxn modelId="{18A0CD85-CA53-4254-B806-0781CA3C2B8E}" srcId="{9B6501C0-760B-4639-B40D-8008D0D41FDE}" destId="{4515F123-520E-4773-AA22-28CBE2292639}" srcOrd="1" destOrd="0" parTransId="{98F45A93-96B3-46E7-94D1-A0BD21460352}" sibTransId="{CAE418EA-D252-465C-A9C0-0106EABE3C0E}"/>
    <dgm:cxn modelId="{134D4387-F7FE-4F90-9B41-CC6705A98DC6}" srcId="{01CF17C1-D05E-4C3F-903C-D7CF90C0213A}" destId="{AD4503A0-FF99-4CDC-936C-30818003E5C7}" srcOrd="0" destOrd="0" parTransId="{7F193A0C-0A65-4E4B-A7FD-4B07E710EECF}" sibTransId="{7FF09414-DED7-42FA-945D-3BBB625DE3F5}"/>
    <dgm:cxn modelId="{3F2C4993-7A70-45F0-92F0-45A0E5FA4833}" type="presOf" srcId="{01CF17C1-D05E-4C3F-903C-D7CF90C0213A}" destId="{D03914A3-273F-4491-B535-24C9F87F4F5F}" srcOrd="0" destOrd="0" presId="urn:microsoft.com/office/officeart/2005/8/layout/chevron2"/>
    <dgm:cxn modelId="{2EECA395-5A5B-42D1-A469-1CE85C54B034}" type="presOf" srcId="{7603B8B0-EA92-4C89-BF94-362E9EE2C3E4}" destId="{5EEEF3A4-6ECB-43D7-9F30-7901B564D84B}" srcOrd="0" destOrd="0" presId="urn:microsoft.com/office/officeart/2005/8/layout/chevron2"/>
    <dgm:cxn modelId="{217BBCA6-2637-4C48-AC09-F74BEF39DEB4}" type="presOf" srcId="{F8F77010-9952-4636-B5FD-CDED3D1F4848}" destId="{4911C650-5A3E-4650-8C67-A359882ED8C8}" srcOrd="0" destOrd="0" presId="urn:microsoft.com/office/officeart/2005/8/layout/chevron2"/>
    <dgm:cxn modelId="{BC79DCB1-F071-46DD-80CB-7BDF6428B518}" type="presOf" srcId="{4515F123-520E-4773-AA22-28CBE2292639}" destId="{4911C650-5A3E-4650-8C67-A359882ED8C8}" srcOrd="0" destOrd="1" presId="urn:microsoft.com/office/officeart/2005/8/layout/chevron2"/>
    <dgm:cxn modelId="{F1683FB3-03F5-4B45-8F97-B58DA5EDE3D7}" srcId="{39473E01-E8E3-4F88-AC63-F6815E6E7F5F}" destId="{14E10785-49A1-4C13-B19A-9B8089601DDB}" srcOrd="1" destOrd="0" parTransId="{3E4905EE-C054-4111-993B-89C55FA320A9}" sibTransId="{40FA3F1C-9E65-49A6-B2F1-9318FA82C067}"/>
    <dgm:cxn modelId="{99E0DEB3-7E45-421F-AD85-C68A613E9005}" srcId="{01CF17C1-D05E-4C3F-903C-D7CF90C0213A}" destId="{39473E01-E8E3-4F88-AC63-F6815E6E7F5F}" srcOrd="2" destOrd="0" parTransId="{F1342721-4F17-4F88-ACEF-85A3FE42DE12}" sibTransId="{CF1F595A-344F-4F03-8477-26D1EA632C14}"/>
    <dgm:cxn modelId="{6D3B19BB-FC28-4F1D-8AD7-A53FF13AFCF6}" srcId="{7603B8B0-EA92-4C89-BF94-362E9EE2C3E4}" destId="{304B061F-13D0-4D30-8693-55AD3A51AD9C}" srcOrd="1" destOrd="0" parTransId="{16D7A28B-D621-4BC7-B2CC-400C0A0F0E99}" sibTransId="{0B0214C2-E2C6-4618-B507-7C14637E20D3}"/>
    <dgm:cxn modelId="{9D0C71BC-B27B-4879-83BE-8A2D0239BA64}" type="presOf" srcId="{39473E01-E8E3-4F88-AC63-F6815E6E7F5F}" destId="{B1B9783B-9D14-4E8C-A8DD-B095C34FA9FF}" srcOrd="0" destOrd="0" presId="urn:microsoft.com/office/officeart/2005/8/layout/chevron2"/>
    <dgm:cxn modelId="{D4DFC2C2-D916-422A-B842-C3575ACE9717}" type="presOf" srcId="{9B6501C0-760B-4639-B40D-8008D0D41FDE}" destId="{F42F4CD7-D3D6-410C-B318-6D0D5FDA17EA}" srcOrd="0" destOrd="0" presId="urn:microsoft.com/office/officeart/2005/8/layout/chevron2"/>
    <dgm:cxn modelId="{4E254DC4-F523-448C-AF9F-CA31CCA73AED}" srcId="{7603B8B0-EA92-4C89-BF94-362E9EE2C3E4}" destId="{D22FA7D8-A54D-4CA6-BCF9-068E5A85CCD2}" srcOrd="0" destOrd="0" parTransId="{895F0321-CD65-47F1-A4C1-525C5F2A4531}" sibTransId="{34A3BAE2-350B-4988-BFFA-1A8E23050E28}"/>
    <dgm:cxn modelId="{A0579DC8-C051-4AA8-A134-519C7E59CF68}" type="presOf" srcId="{304B061F-13D0-4D30-8693-55AD3A51AD9C}" destId="{3516E2CA-BFAD-45A2-8D6F-A42CC388E977}" srcOrd="0" destOrd="1" presId="urn:microsoft.com/office/officeart/2005/8/layout/chevron2"/>
    <dgm:cxn modelId="{0B6F4BCC-9097-4BD3-A269-1035B203F84F}" srcId="{39473E01-E8E3-4F88-AC63-F6815E6E7F5F}" destId="{A4F04D8B-09C0-4923-9B03-EF9539A4982E}" srcOrd="0" destOrd="0" parTransId="{D21D45D8-2A6A-4A58-9B01-D671A8A311B6}" sibTransId="{6532BA4B-38B4-4035-B5AF-A228EF636912}"/>
    <dgm:cxn modelId="{8E8E68FE-C8D8-4BD6-92E6-C9CC8F25CE6A}" type="presOf" srcId="{ED6E7003-210D-4D0A-B30D-60860BDFB0AD}" destId="{B1E84A76-49A5-431C-9AE0-A3F78546A202}" srcOrd="0" destOrd="1" presId="urn:microsoft.com/office/officeart/2005/8/layout/chevron2"/>
    <dgm:cxn modelId="{463FE2FF-6557-4825-A6B3-B8D260BF7012}" srcId="{AD4503A0-FF99-4CDC-936C-30818003E5C7}" destId="{8FC06866-6760-4192-A2F6-1F0A2C4E08E2}" srcOrd="0" destOrd="0" parTransId="{8F05EEAD-1D66-4647-A1B4-D3BDB58DEB95}" sibTransId="{6E991211-3117-49B0-8D34-E8BDD9D30C2F}"/>
    <dgm:cxn modelId="{B53AAEE7-763D-4E95-AF99-B075DE92DB1C}" type="presParOf" srcId="{D03914A3-273F-4491-B535-24C9F87F4F5F}" destId="{64BCF73D-8389-472A-85A5-EF92BB2743FC}" srcOrd="0" destOrd="0" presId="urn:microsoft.com/office/officeart/2005/8/layout/chevron2"/>
    <dgm:cxn modelId="{1992DE7C-6C96-4178-B515-AB689F643A9D}" type="presParOf" srcId="{64BCF73D-8389-472A-85A5-EF92BB2743FC}" destId="{3C105B98-9EE6-473D-8F52-BC26ECD78015}" srcOrd="0" destOrd="0" presId="urn:microsoft.com/office/officeart/2005/8/layout/chevron2"/>
    <dgm:cxn modelId="{E68799E8-9436-446D-96E0-37256C02A3DD}" type="presParOf" srcId="{64BCF73D-8389-472A-85A5-EF92BB2743FC}" destId="{B1E84A76-49A5-431C-9AE0-A3F78546A202}" srcOrd="1" destOrd="0" presId="urn:microsoft.com/office/officeart/2005/8/layout/chevron2"/>
    <dgm:cxn modelId="{927165C2-C6F0-454B-B068-663C54E58420}" type="presParOf" srcId="{D03914A3-273F-4491-B535-24C9F87F4F5F}" destId="{599E3F7A-8176-4B7A-BFDB-AFD5C3346C03}" srcOrd="1" destOrd="0" presId="urn:microsoft.com/office/officeart/2005/8/layout/chevron2"/>
    <dgm:cxn modelId="{521D9CBE-C831-49D4-B4AF-688736EE3FC6}" type="presParOf" srcId="{D03914A3-273F-4491-B535-24C9F87F4F5F}" destId="{10253429-C5BC-44E6-BEFD-8CBD7C54EEB1}" srcOrd="2" destOrd="0" presId="urn:microsoft.com/office/officeart/2005/8/layout/chevron2"/>
    <dgm:cxn modelId="{E60E7A60-30E0-45B1-ADEE-AC870B5704D6}" type="presParOf" srcId="{10253429-C5BC-44E6-BEFD-8CBD7C54EEB1}" destId="{5EEEF3A4-6ECB-43D7-9F30-7901B564D84B}" srcOrd="0" destOrd="0" presId="urn:microsoft.com/office/officeart/2005/8/layout/chevron2"/>
    <dgm:cxn modelId="{F6EC5541-B14E-462E-B9F9-2D0D42589AA3}" type="presParOf" srcId="{10253429-C5BC-44E6-BEFD-8CBD7C54EEB1}" destId="{3516E2CA-BFAD-45A2-8D6F-A42CC388E977}" srcOrd="1" destOrd="0" presId="urn:microsoft.com/office/officeart/2005/8/layout/chevron2"/>
    <dgm:cxn modelId="{137106FF-BA16-4D5C-BA79-28F70F695445}" type="presParOf" srcId="{D03914A3-273F-4491-B535-24C9F87F4F5F}" destId="{83016CF2-FB27-408C-A7B5-422A1A4BE754}" srcOrd="3" destOrd="0" presId="urn:microsoft.com/office/officeart/2005/8/layout/chevron2"/>
    <dgm:cxn modelId="{027C4852-C928-4862-A89A-6E3316B67696}" type="presParOf" srcId="{D03914A3-273F-4491-B535-24C9F87F4F5F}" destId="{FD697444-4E13-47D3-A502-88CFC98FEEEA}" srcOrd="4" destOrd="0" presId="urn:microsoft.com/office/officeart/2005/8/layout/chevron2"/>
    <dgm:cxn modelId="{AEE2C17D-0111-4804-8836-869A808CCBCE}" type="presParOf" srcId="{FD697444-4E13-47D3-A502-88CFC98FEEEA}" destId="{B1B9783B-9D14-4E8C-A8DD-B095C34FA9FF}" srcOrd="0" destOrd="0" presId="urn:microsoft.com/office/officeart/2005/8/layout/chevron2"/>
    <dgm:cxn modelId="{D41860BE-8A90-4786-B4D4-CB34EE989C5F}" type="presParOf" srcId="{FD697444-4E13-47D3-A502-88CFC98FEEEA}" destId="{9C3F933E-BC64-458F-9572-8F71392E42E2}" srcOrd="1" destOrd="0" presId="urn:microsoft.com/office/officeart/2005/8/layout/chevron2"/>
    <dgm:cxn modelId="{9B29CA55-8CA3-42C5-A0E1-026E1D2B454D}" type="presParOf" srcId="{D03914A3-273F-4491-B535-24C9F87F4F5F}" destId="{CBBAB4A0-60D1-48C0-B7DF-5248179F69C9}" srcOrd="5" destOrd="0" presId="urn:microsoft.com/office/officeart/2005/8/layout/chevron2"/>
    <dgm:cxn modelId="{09DB5F2D-062F-4567-824A-61A7BB4DB76A}" type="presParOf" srcId="{D03914A3-273F-4491-B535-24C9F87F4F5F}" destId="{4ABB3553-3140-4FDB-9649-986C26D5AC39}" srcOrd="6" destOrd="0" presId="urn:microsoft.com/office/officeart/2005/8/layout/chevron2"/>
    <dgm:cxn modelId="{0B6242CD-FDF8-4C89-8FD9-1308B0EF2585}" type="presParOf" srcId="{4ABB3553-3140-4FDB-9649-986C26D5AC39}" destId="{F42F4CD7-D3D6-410C-B318-6D0D5FDA17EA}" srcOrd="0" destOrd="0" presId="urn:microsoft.com/office/officeart/2005/8/layout/chevron2"/>
    <dgm:cxn modelId="{CE413678-F865-431C-AE5F-484CFF64AA0D}" type="presParOf" srcId="{4ABB3553-3140-4FDB-9649-986C26D5AC39}" destId="{4911C650-5A3E-4650-8C67-A359882ED8C8}"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105B98-9EE6-473D-8F52-BC26ECD78015}">
      <dsp:nvSpPr>
        <dsp:cNvPr id="0" name=""/>
        <dsp:cNvSpPr/>
      </dsp:nvSpPr>
      <dsp:spPr>
        <a:xfrm rot="5400000">
          <a:off x="-101920" y="103269"/>
          <a:ext cx="679469" cy="47562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Trophy</a:t>
          </a:r>
        </a:p>
      </dsp:txBody>
      <dsp:txXfrm rot="-5400000">
        <a:off x="1" y="239162"/>
        <a:ext cx="475628" cy="203841"/>
      </dsp:txXfrm>
    </dsp:sp>
    <dsp:sp modelId="{B1E84A76-49A5-431C-9AE0-A3F78546A202}">
      <dsp:nvSpPr>
        <dsp:cNvPr id="0" name=""/>
        <dsp:cNvSpPr/>
      </dsp:nvSpPr>
      <dsp:spPr>
        <a:xfrm rot="5400000">
          <a:off x="2247952" y="-1772323"/>
          <a:ext cx="441655" cy="398630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en-US" sz="1300" kern="1200"/>
            <a:t>&lt;10 yrs, Luxury</a:t>
          </a:r>
        </a:p>
        <a:p>
          <a:pPr marL="114300" lvl="1" indent="-114300" algn="l" defTabSz="577850">
            <a:lnSpc>
              <a:spcPct val="90000"/>
            </a:lnSpc>
            <a:spcBef>
              <a:spcPct val="0"/>
            </a:spcBef>
            <a:spcAft>
              <a:spcPct val="15000"/>
            </a:spcAft>
            <a:buChar char="•"/>
          </a:pPr>
          <a:r>
            <a:rPr lang="en-US" sz="1300" kern="1200"/>
            <a:t>Top income, best amenities</a:t>
          </a:r>
        </a:p>
      </dsp:txBody>
      <dsp:txXfrm rot="-5400000">
        <a:off x="475628" y="21561"/>
        <a:ext cx="3964743" cy="398535"/>
      </dsp:txXfrm>
    </dsp:sp>
    <dsp:sp modelId="{5EEEF3A4-6ECB-43D7-9F30-7901B564D84B}">
      <dsp:nvSpPr>
        <dsp:cNvPr id="0" name=""/>
        <dsp:cNvSpPr/>
      </dsp:nvSpPr>
      <dsp:spPr>
        <a:xfrm rot="5400000">
          <a:off x="-101920" y="640050"/>
          <a:ext cx="679469" cy="47562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Class A</a:t>
          </a:r>
        </a:p>
      </dsp:txBody>
      <dsp:txXfrm rot="-5400000">
        <a:off x="1" y="775943"/>
        <a:ext cx="475628" cy="203841"/>
      </dsp:txXfrm>
    </dsp:sp>
    <dsp:sp modelId="{3516E2CA-BFAD-45A2-8D6F-A42CC388E977}">
      <dsp:nvSpPr>
        <dsp:cNvPr id="0" name=""/>
        <dsp:cNvSpPr/>
      </dsp:nvSpPr>
      <dsp:spPr>
        <a:xfrm rot="5400000">
          <a:off x="2247952" y="-1243923"/>
          <a:ext cx="441655" cy="398630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en-US" sz="1300" kern="1200"/>
            <a:t>&lt;10 yrs, Premium</a:t>
          </a:r>
        </a:p>
        <a:p>
          <a:pPr marL="114300" lvl="1" indent="-114300" algn="l" defTabSz="577850">
            <a:lnSpc>
              <a:spcPct val="90000"/>
            </a:lnSpc>
            <a:spcBef>
              <a:spcPct val="0"/>
            </a:spcBef>
            <a:spcAft>
              <a:spcPct val="15000"/>
            </a:spcAft>
            <a:buChar char="•"/>
          </a:pPr>
          <a:r>
            <a:rPr lang="en-US" sz="1300" kern="1200"/>
            <a:t>Professional Class, new or like new</a:t>
          </a:r>
        </a:p>
      </dsp:txBody>
      <dsp:txXfrm rot="-5400000">
        <a:off x="475628" y="549961"/>
        <a:ext cx="3964743" cy="398535"/>
      </dsp:txXfrm>
    </dsp:sp>
    <dsp:sp modelId="{B1B9783B-9D14-4E8C-A8DD-B095C34FA9FF}">
      <dsp:nvSpPr>
        <dsp:cNvPr id="0" name=""/>
        <dsp:cNvSpPr/>
      </dsp:nvSpPr>
      <dsp:spPr>
        <a:xfrm rot="5400000">
          <a:off x="-101920" y="1176831"/>
          <a:ext cx="679469" cy="475628"/>
        </a:xfrm>
        <a:prstGeom prst="chevron">
          <a:avLst/>
        </a:prstGeom>
        <a:solidFill>
          <a:schemeClr val="accent1">
            <a:hueOff val="0"/>
            <a:satOff val="0"/>
            <a:lumOff val="0"/>
            <a:alphaOff val="0"/>
          </a:schemeClr>
        </a:solidFill>
        <a:ln w="285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Class B</a:t>
          </a:r>
        </a:p>
      </dsp:txBody>
      <dsp:txXfrm rot="-5400000">
        <a:off x="1" y="1312724"/>
        <a:ext cx="475628" cy="203841"/>
      </dsp:txXfrm>
    </dsp:sp>
    <dsp:sp modelId="{9C3F933E-BC64-458F-9572-8F71392E42E2}">
      <dsp:nvSpPr>
        <dsp:cNvPr id="0" name=""/>
        <dsp:cNvSpPr/>
      </dsp:nvSpPr>
      <dsp:spPr>
        <a:xfrm rot="5400000">
          <a:off x="2247952" y="-707142"/>
          <a:ext cx="441655" cy="3986303"/>
        </a:xfrm>
        <a:prstGeom prst="round2SameRect">
          <a:avLst/>
        </a:prstGeom>
        <a:solidFill>
          <a:schemeClr val="lt1">
            <a:alpha val="90000"/>
            <a:hueOff val="0"/>
            <a:satOff val="0"/>
            <a:lumOff val="0"/>
            <a:alphaOff val="0"/>
          </a:schemeClr>
        </a:solidFill>
        <a:ln w="285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en-US" sz="1300" kern="1200"/>
            <a:t>&lt;20 yrs, Average</a:t>
          </a:r>
        </a:p>
        <a:p>
          <a:pPr marL="114300" lvl="1" indent="-114300" algn="l" defTabSz="577850">
            <a:lnSpc>
              <a:spcPct val="90000"/>
            </a:lnSpc>
            <a:spcBef>
              <a:spcPct val="0"/>
            </a:spcBef>
            <a:spcAft>
              <a:spcPct val="15000"/>
            </a:spcAft>
            <a:buChar char="•"/>
          </a:pPr>
          <a:r>
            <a:rPr lang="en-US" sz="1300" kern="1200"/>
            <a:t>Median Earners, dated, good condition</a:t>
          </a:r>
        </a:p>
      </dsp:txBody>
      <dsp:txXfrm rot="-5400000">
        <a:off x="475628" y="1086742"/>
        <a:ext cx="3964743" cy="398535"/>
      </dsp:txXfrm>
    </dsp:sp>
    <dsp:sp modelId="{F42F4CD7-D3D6-410C-B318-6D0D5FDA17EA}">
      <dsp:nvSpPr>
        <dsp:cNvPr id="0" name=""/>
        <dsp:cNvSpPr/>
      </dsp:nvSpPr>
      <dsp:spPr>
        <a:xfrm rot="5400000">
          <a:off x="-101920" y="1713612"/>
          <a:ext cx="679469" cy="47562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Class C</a:t>
          </a:r>
        </a:p>
      </dsp:txBody>
      <dsp:txXfrm rot="-5400000">
        <a:off x="1" y="1849505"/>
        <a:ext cx="475628" cy="203841"/>
      </dsp:txXfrm>
    </dsp:sp>
    <dsp:sp modelId="{4911C650-5A3E-4650-8C67-A359882ED8C8}">
      <dsp:nvSpPr>
        <dsp:cNvPr id="0" name=""/>
        <dsp:cNvSpPr/>
      </dsp:nvSpPr>
      <dsp:spPr>
        <a:xfrm rot="5400000">
          <a:off x="2247952" y="-160631"/>
          <a:ext cx="441655" cy="398630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en-US" sz="1300" kern="1200"/>
            <a:t>&lt; 30 yrs, Dated </a:t>
          </a:r>
        </a:p>
        <a:p>
          <a:pPr marL="114300" lvl="1" indent="-114300" algn="l" defTabSz="577850">
            <a:lnSpc>
              <a:spcPct val="90000"/>
            </a:lnSpc>
            <a:spcBef>
              <a:spcPct val="0"/>
            </a:spcBef>
            <a:spcAft>
              <a:spcPct val="15000"/>
            </a:spcAft>
            <a:buChar char="•"/>
          </a:pPr>
          <a:r>
            <a:rPr lang="en-US" sz="1300" kern="1200"/>
            <a:t>Low/Moderate, limited/no amenities</a:t>
          </a:r>
        </a:p>
      </dsp:txBody>
      <dsp:txXfrm rot="-5400000">
        <a:off x="475628" y="1633253"/>
        <a:ext cx="3964743" cy="398535"/>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E1841E-5CB0-4DC1-BF4A-C597D5C923F4}" type="datetimeFigureOut">
              <a:rPr lang="en-US" smtClean="0"/>
              <a:t>3/17/24</a:t>
            </a:fld>
            <a:endParaRPr lang="en-US"/>
          </a:p>
        </p:txBody>
      </p:sp>
      <p:sp>
        <p:nvSpPr>
          <p:cNvPr id="4" name="Slide Image Placehold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DE306B-BB36-4E06-954B-C2B4885C1C46}" type="slidenum">
              <a:rPr lang="en-US" smtClean="0"/>
              <a:t>‹#›</a:t>
            </a:fld>
            <a:endParaRPr lang="en-US"/>
          </a:p>
        </p:txBody>
      </p:sp>
    </p:spTree>
    <p:extLst>
      <p:ext uri="{BB962C8B-B14F-4D97-AF65-F5344CB8AC3E}">
        <p14:creationId xmlns:p14="http://schemas.microsoft.com/office/powerpoint/2010/main" val="1857439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DE306B-BB36-4E06-954B-C2B4885C1C46}" type="slidenum">
              <a:rPr lang="en-US" smtClean="0"/>
              <a:t>2</a:t>
            </a:fld>
            <a:endParaRPr lang="en-US"/>
          </a:p>
        </p:txBody>
      </p:sp>
    </p:spTree>
    <p:extLst>
      <p:ext uri="{BB962C8B-B14F-4D97-AF65-F5344CB8AC3E}">
        <p14:creationId xmlns:p14="http://schemas.microsoft.com/office/powerpoint/2010/main" val="141411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DE306B-BB36-4E06-954B-C2B4885C1C46}" type="slidenum">
              <a:rPr lang="en-US" smtClean="0"/>
              <a:t>4</a:t>
            </a:fld>
            <a:endParaRPr lang="en-US"/>
          </a:p>
        </p:txBody>
      </p:sp>
    </p:spTree>
    <p:extLst>
      <p:ext uri="{BB962C8B-B14F-4D97-AF65-F5344CB8AC3E}">
        <p14:creationId xmlns:p14="http://schemas.microsoft.com/office/powerpoint/2010/main" val="4092795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Emphasize why cap allocation being good is important </a:t>
            </a:r>
          </a:p>
          <a:p>
            <a:r>
              <a:rPr lang="en-US"/>
              <a:t>Founder has lots of experience working in leveraged loan market in real estate vertical</a:t>
            </a:r>
          </a:p>
          <a:p>
            <a:r>
              <a:rPr lang="en-US"/>
              <a:t>- General counsel has worked in Texas all his life</a:t>
            </a:r>
          </a:p>
          <a:p>
            <a:r>
              <a:rPr lang="en-US"/>
              <a:t>- CIO has led more than 2.5B in RE investments</a:t>
            </a:r>
          </a:p>
        </p:txBody>
      </p:sp>
      <p:sp>
        <p:nvSpPr>
          <p:cNvPr id="4" name="Slide Number Placeholder 3"/>
          <p:cNvSpPr>
            <a:spLocks noGrp="1"/>
          </p:cNvSpPr>
          <p:nvPr>
            <p:ph type="sldNum" sz="quarter" idx="5"/>
          </p:nvPr>
        </p:nvSpPr>
        <p:spPr/>
        <p:txBody>
          <a:bodyPr/>
          <a:lstStyle/>
          <a:p>
            <a:fld id="{64DE306B-BB36-4E06-954B-C2B4885C1C46}" type="slidenum">
              <a:rPr lang="en-US" smtClean="0"/>
              <a:t>5</a:t>
            </a:fld>
            <a:endParaRPr lang="en-US"/>
          </a:p>
        </p:txBody>
      </p:sp>
    </p:spTree>
    <p:extLst>
      <p:ext uri="{BB962C8B-B14F-4D97-AF65-F5344CB8AC3E}">
        <p14:creationId xmlns:p14="http://schemas.microsoft.com/office/powerpoint/2010/main" val="1773219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Split by industry, asset class, and region. Type of residences as well</a:t>
            </a:r>
          </a:p>
          <a:p>
            <a:r>
              <a:rPr lang="en-US"/>
              <a:t>- Dividend yield is beneficial with NXRT’s at 6%</a:t>
            </a:r>
          </a:p>
          <a:p>
            <a:r>
              <a:rPr lang="en-US"/>
              <a:t>- RE isn’t going anywhere and will see growth in general</a:t>
            </a:r>
          </a:p>
        </p:txBody>
      </p:sp>
      <p:sp>
        <p:nvSpPr>
          <p:cNvPr id="4" name="Slide Number Placeholder 3"/>
          <p:cNvSpPr>
            <a:spLocks noGrp="1"/>
          </p:cNvSpPr>
          <p:nvPr>
            <p:ph type="sldNum" sz="quarter" idx="5"/>
          </p:nvPr>
        </p:nvSpPr>
        <p:spPr/>
        <p:txBody>
          <a:bodyPr/>
          <a:lstStyle/>
          <a:p>
            <a:fld id="{64DE306B-BB36-4E06-954B-C2B4885C1C46}" type="slidenum">
              <a:rPr lang="en-US" smtClean="0"/>
              <a:t>7</a:t>
            </a:fld>
            <a:endParaRPr lang="en-US"/>
          </a:p>
        </p:txBody>
      </p:sp>
    </p:spTree>
    <p:extLst>
      <p:ext uri="{BB962C8B-B14F-4D97-AF65-F5344CB8AC3E}">
        <p14:creationId xmlns:p14="http://schemas.microsoft.com/office/powerpoint/2010/main" val="1163667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Say if recession happens, we’re good</a:t>
            </a:r>
          </a:p>
          <a:p>
            <a:r>
              <a:rPr lang="en-US"/>
              <a:t>- Renovations can be capital light while providing large future benefit in increased rent</a:t>
            </a:r>
          </a:p>
          <a:p>
            <a:r>
              <a:rPr lang="en-US"/>
              <a:t>- Trading down of class A to class B</a:t>
            </a:r>
          </a:p>
          <a:p>
            <a:r>
              <a:rPr lang="en-US"/>
              <a:t>- Ability to maintain high occupancy rates, with undersupply and movement of demand</a:t>
            </a:r>
          </a:p>
          <a:p>
            <a:endParaRPr lang="en-US"/>
          </a:p>
          <a:p>
            <a:r>
              <a:rPr lang="en-US"/>
              <a:t>https://www.globest.com/2022/09/06/are-households-trading-down-to-class-b-and-c-properties/?slreturn=20230928140612</a:t>
            </a:r>
          </a:p>
          <a:p>
            <a:endParaRPr lang="en-US"/>
          </a:p>
          <a:p>
            <a:endParaRPr lang="en-US"/>
          </a:p>
        </p:txBody>
      </p:sp>
      <p:sp>
        <p:nvSpPr>
          <p:cNvPr id="4" name="Slide Number Placeholder 3"/>
          <p:cNvSpPr>
            <a:spLocks noGrp="1"/>
          </p:cNvSpPr>
          <p:nvPr>
            <p:ph type="sldNum" sz="quarter" idx="5"/>
          </p:nvPr>
        </p:nvSpPr>
        <p:spPr/>
        <p:txBody>
          <a:bodyPr/>
          <a:lstStyle/>
          <a:p>
            <a:fld id="{64DE306B-BB36-4E06-954B-C2B4885C1C46}" type="slidenum">
              <a:rPr lang="en-US" smtClean="0"/>
              <a:t>8</a:t>
            </a:fld>
            <a:endParaRPr lang="en-US"/>
          </a:p>
        </p:txBody>
      </p:sp>
    </p:spTree>
    <p:extLst>
      <p:ext uri="{BB962C8B-B14F-4D97-AF65-F5344CB8AC3E}">
        <p14:creationId xmlns:p14="http://schemas.microsoft.com/office/powerpoint/2010/main" val="470868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By not focusing on turnkey, NXRT doesn’t face competition from big players.</a:t>
            </a:r>
          </a:p>
          <a:p>
            <a:r>
              <a:rPr lang="en-US"/>
              <a:t>- Higher than competitors</a:t>
            </a:r>
          </a:p>
        </p:txBody>
      </p:sp>
      <p:sp>
        <p:nvSpPr>
          <p:cNvPr id="4" name="Slide Number Placeholder 3"/>
          <p:cNvSpPr>
            <a:spLocks noGrp="1"/>
          </p:cNvSpPr>
          <p:nvPr>
            <p:ph type="sldNum" sz="quarter" idx="5"/>
          </p:nvPr>
        </p:nvSpPr>
        <p:spPr/>
        <p:txBody>
          <a:bodyPr/>
          <a:lstStyle/>
          <a:p>
            <a:fld id="{64DE306B-BB36-4E06-954B-C2B4885C1C46}" type="slidenum">
              <a:rPr lang="en-US" smtClean="0"/>
              <a:t>9</a:t>
            </a:fld>
            <a:endParaRPr lang="en-US"/>
          </a:p>
        </p:txBody>
      </p:sp>
    </p:spTree>
    <p:extLst>
      <p:ext uri="{BB962C8B-B14F-4D97-AF65-F5344CB8AC3E}">
        <p14:creationId xmlns:p14="http://schemas.microsoft.com/office/powerpoint/2010/main" val="2948299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DE306B-BB36-4E06-954B-C2B4885C1C46}" type="slidenum">
              <a:rPr lang="en-US" smtClean="0"/>
              <a:t>12</a:t>
            </a:fld>
            <a:endParaRPr lang="en-US"/>
          </a:p>
        </p:txBody>
      </p:sp>
    </p:spTree>
    <p:extLst>
      <p:ext uri="{BB962C8B-B14F-4D97-AF65-F5344CB8AC3E}">
        <p14:creationId xmlns:p14="http://schemas.microsoft.com/office/powerpoint/2010/main" val="45504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t>
            </a:r>
            <a:r>
              <a:rPr lang="en-US" err="1"/>
              <a:t>www.spglobal.com</a:t>
            </a:r>
            <a:r>
              <a:rPr lang="en-US"/>
              <a:t>/</a:t>
            </a:r>
            <a:r>
              <a:rPr lang="en-US" err="1"/>
              <a:t>spdji</a:t>
            </a:r>
            <a:r>
              <a:rPr lang="en-US"/>
              <a:t>/</a:t>
            </a:r>
            <a:r>
              <a:rPr lang="en-US" err="1"/>
              <a:t>en</a:t>
            </a:r>
            <a:r>
              <a:rPr lang="en-US"/>
              <a:t>/documents/research/the-impact-of-rising-interest-rates-on-</a:t>
            </a:r>
            <a:r>
              <a:rPr lang="en-US" err="1"/>
              <a:t>reits.pdf</a:t>
            </a:r>
            <a:endParaRPr lang="en-US"/>
          </a:p>
          <a:p>
            <a:endParaRPr lang="en-US"/>
          </a:p>
          <a:p>
            <a:pPr rtl="0">
              <a:spcBef>
                <a:spcPts val="0"/>
              </a:spcBef>
              <a:spcAft>
                <a:spcPts val="0"/>
              </a:spcAft>
            </a:pPr>
            <a:r>
              <a:rPr lang="en-CA" sz="1800" b="0" i="0" u="none" strike="noStrike">
                <a:solidFill>
                  <a:srgbClr val="000000"/>
                </a:solidFill>
                <a:effectLst/>
                <a:latin typeface="Arial" panose="020B0604020202020204" pitchFamily="34" charset="0"/>
              </a:rPr>
              <a:t>We also want to briefly touch upon US REIT performance in a rising interest rate environment. In a rising rate environment, the market typically expects REITs to underperform. This is true to a certain extent, and increasing interest rate does pose challenges to REIT businesses, such as decreasing property valuation, increasing borrowing costs and lowering investor confidence. </a:t>
            </a:r>
            <a:endParaRPr lang="en-CA" b="0">
              <a:effectLst/>
            </a:endParaRPr>
          </a:p>
          <a:p>
            <a:pPr rtl="0">
              <a:spcBef>
                <a:spcPts val="0"/>
              </a:spcBef>
              <a:spcAft>
                <a:spcPts val="0"/>
              </a:spcAft>
            </a:pPr>
            <a:br>
              <a:rPr lang="en-CA" b="0">
                <a:effectLst/>
              </a:rPr>
            </a:br>
            <a:r>
              <a:rPr lang="en-CA" sz="1800" b="0" i="0" u="none" strike="noStrike">
                <a:solidFill>
                  <a:srgbClr val="000000"/>
                </a:solidFill>
                <a:effectLst/>
                <a:latin typeface="Arial" panose="020B0604020202020204" pitchFamily="34" charset="0"/>
              </a:rPr>
              <a:t>However, empirical evidence has suggested that it is possible for REITs to benefit from rising interest rates. According to a study published by S&amp;P Global, rising interest rate is typically correlated with stronger economic growth and heightened demand for real estate, creating opportunities for REITs to grow their rental income and NOI. There is strong empirical data supporting this view too. Since 1970s, the US has experienced 6 periods where high interest rate sustained. In 4 out of 6 of these periods, US REITs on aggregate made positive returns, and in 3 of these periods, US REITs have outperformed the US stock market. </a:t>
            </a:r>
            <a:endParaRPr lang="en-CA" b="0">
              <a:effectLst/>
            </a:endParaRPr>
          </a:p>
          <a:p>
            <a:pPr rtl="0">
              <a:spcBef>
                <a:spcPts val="0"/>
              </a:spcBef>
              <a:spcAft>
                <a:spcPts val="0"/>
              </a:spcAft>
            </a:pPr>
            <a:br>
              <a:rPr lang="en-CA" b="0">
                <a:effectLst/>
              </a:rPr>
            </a:br>
            <a:r>
              <a:rPr lang="en-CA" sz="1800" b="0" i="0" u="none" strike="noStrike">
                <a:solidFill>
                  <a:srgbClr val="000000"/>
                </a:solidFill>
                <a:effectLst/>
                <a:latin typeface="Arial" panose="020B0604020202020204" pitchFamily="34" charset="0"/>
              </a:rPr>
              <a:t>Therefore, we don’t necessarily see the high interest rate in the current market as an indicator of REIT underperformance, since we don’t see them as negatively correlated. If anything, we expect the probability of REITs moving higher to be more likely than what the market thinks, which presents an attractive investment opportunity. </a:t>
            </a:r>
            <a:endParaRPr lang="en-CA" b="0">
              <a:effectLst/>
            </a:endParaRPr>
          </a:p>
          <a:p>
            <a:br>
              <a:rPr lang="en-CA"/>
            </a:br>
            <a:endParaRPr lang="en-US"/>
          </a:p>
        </p:txBody>
      </p:sp>
      <p:sp>
        <p:nvSpPr>
          <p:cNvPr id="4" name="Slide Number Placeholder 3"/>
          <p:cNvSpPr>
            <a:spLocks noGrp="1"/>
          </p:cNvSpPr>
          <p:nvPr>
            <p:ph type="sldNum" sz="quarter" idx="5"/>
          </p:nvPr>
        </p:nvSpPr>
        <p:spPr/>
        <p:txBody>
          <a:bodyPr/>
          <a:lstStyle/>
          <a:p>
            <a:fld id="{64DE306B-BB36-4E06-954B-C2B4885C1C46}" type="slidenum">
              <a:rPr lang="en-US" smtClean="0"/>
              <a:t>13</a:t>
            </a:fld>
            <a:endParaRPr lang="en-US"/>
          </a:p>
        </p:txBody>
      </p:sp>
    </p:spTree>
    <p:extLst>
      <p:ext uri="{BB962C8B-B14F-4D97-AF65-F5344CB8AC3E}">
        <p14:creationId xmlns:p14="http://schemas.microsoft.com/office/powerpoint/2010/main" val="14711348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DE306B-BB36-4E06-954B-C2B4885C1C46}" type="slidenum">
              <a:rPr lang="en-US" smtClean="0"/>
              <a:t>15</a:t>
            </a:fld>
            <a:endParaRPr lang="en-US"/>
          </a:p>
        </p:txBody>
      </p:sp>
    </p:spTree>
    <p:extLst>
      <p:ext uri="{BB962C8B-B14F-4D97-AF65-F5344CB8AC3E}">
        <p14:creationId xmlns:p14="http://schemas.microsoft.com/office/powerpoint/2010/main" val="309249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Worker migration due to pandemic has moved the labor to the south, and provided further business opportunities in the sunbelt</a:t>
            </a:r>
          </a:p>
          <a:p>
            <a:r>
              <a:rPr lang="en-US"/>
              <a:t>- 1</a:t>
            </a:r>
            <a:r>
              <a:rPr lang="en-US" baseline="30000"/>
              <a:t>st</a:t>
            </a:r>
            <a:r>
              <a:rPr lang="en-US"/>
              <a:t> image is top 10 highest population growth over the last 10 years of which the sunbelt has 9 of the fastest growing</a:t>
            </a:r>
          </a:p>
          <a:p>
            <a:r>
              <a:rPr lang="en-US"/>
              <a:t>- 2</a:t>
            </a:r>
            <a:r>
              <a:rPr lang="en-US" baseline="30000"/>
              <a:t>nd</a:t>
            </a:r>
            <a:r>
              <a:rPr lang="en-US"/>
              <a:t> is moving patterns of NXRT’s target age group which are also largely concentrated in the sunbelt</a:t>
            </a:r>
          </a:p>
        </p:txBody>
      </p:sp>
      <p:sp>
        <p:nvSpPr>
          <p:cNvPr id="4" name="Slide Number Placeholder 3"/>
          <p:cNvSpPr>
            <a:spLocks noGrp="1"/>
          </p:cNvSpPr>
          <p:nvPr>
            <p:ph type="sldNum" sz="quarter" idx="5"/>
          </p:nvPr>
        </p:nvSpPr>
        <p:spPr/>
        <p:txBody>
          <a:bodyPr/>
          <a:lstStyle/>
          <a:p>
            <a:fld id="{64DE306B-BB36-4E06-954B-C2B4885C1C46}" type="slidenum">
              <a:rPr lang="en-US" smtClean="0"/>
              <a:t>16</a:t>
            </a:fld>
            <a:endParaRPr lang="en-US"/>
          </a:p>
        </p:txBody>
      </p:sp>
    </p:spTree>
    <p:extLst>
      <p:ext uri="{BB962C8B-B14F-4D97-AF65-F5344CB8AC3E}">
        <p14:creationId xmlns:p14="http://schemas.microsoft.com/office/powerpoint/2010/main" val="41239076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Just a more specific look at two markets where NXRT has heavy presence</a:t>
            </a:r>
          </a:p>
          <a:p>
            <a:r>
              <a:rPr lang="en-US"/>
              <a:t>- South Flor has highest net migration. No state income tax</a:t>
            </a:r>
          </a:p>
          <a:p>
            <a:r>
              <a:rPr lang="en-US"/>
              <a:t>- Dallas has one of the fastest growing </a:t>
            </a:r>
            <a:r>
              <a:rPr lang="en-US" err="1"/>
              <a:t>econs</a:t>
            </a:r>
            <a:r>
              <a:rPr lang="en-US"/>
              <a:t> and business migration</a:t>
            </a:r>
          </a:p>
          <a:p>
            <a:endParaRPr lang="en-US"/>
          </a:p>
          <a:p>
            <a:r>
              <a:rPr lang="en-US"/>
              <a:t>https://www.bls.gov/regions/southwest/news-release/areaemployment_dallasfortworth.html</a:t>
            </a:r>
          </a:p>
        </p:txBody>
      </p:sp>
      <p:sp>
        <p:nvSpPr>
          <p:cNvPr id="4" name="Slide Number Placeholder 3"/>
          <p:cNvSpPr>
            <a:spLocks noGrp="1"/>
          </p:cNvSpPr>
          <p:nvPr>
            <p:ph type="sldNum" sz="quarter" idx="5"/>
          </p:nvPr>
        </p:nvSpPr>
        <p:spPr/>
        <p:txBody>
          <a:bodyPr/>
          <a:lstStyle/>
          <a:p>
            <a:fld id="{64DE306B-BB36-4E06-954B-C2B4885C1C46}" type="slidenum">
              <a:rPr lang="en-US" smtClean="0"/>
              <a:t>17</a:t>
            </a:fld>
            <a:endParaRPr lang="en-US"/>
          </a:p>
        </p:txBody>
      </p:sp>
    </p:spTree>
    <p:extLst>
      <p:ext uri="{BB962C8B-B14F-4D97-AF65-F5344CB8AC3E}">
        <p14:creationId xmlns:p14="http://schemas.microsoft.com/office/powerpoint/2010/main" val="3014661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Looking more at the businesses side of things</a:t>
            </a:r>
          </a:p>
          <a:p>
            <a:r>
              <a:rPr lang="en-US"/>
              <a:t>- Financials services have been moving with billions of dollars moving out of NY and SF to Sunbelt</a:t>
            </a:r>
          </a:p>
          <a:p>
            <a:r>
              <a:rPr lang="en-US"/>
              <a:t>- LCOL and lower taxes. Charles </a:t>
            </a:r>
            <a:r>
              <a:rPr lang="en-US" err="1"/>
              <a:t>Shwab</a:t>
            </a:r>
            <a:r>
              <a:rPr lang="en-US"/>
              <a:t> is notable big name. Still potential as vast majority are still </a:t>
            </a:r>
            <a:r>
              <a:rPr lang="en-US" err="1"/>
              <a:t>HQed</a:t>
            </a:r>
            <a:r>
              <a:rPr lang="en-US"/>
              <a:t> in NY</a:t>
            </a:r>
          </a:p>
          <a:p>
            <a:r>
              <a:rPr lang="en-US"/>
              <a:t>- NXRT low rents not only attracts those moving away from Class A but also potential for margin expansion down the line</a:t>
            </a:r>
          </a:p>
          <a:p>
            <a:endParaRPr lang="en-US"/>
          </a:p>
          <a:p>
            <a:r>
              <a:rPr lang="en-US"/>
              <a:t>https://www.fastcasual.com/companies/showcases/toast/products/reporting-analytics/</a:t>
            </a:r>
          </a:p>
        </p:txBody>
      </p:sp>
      <p:sp>
        <p:nvSpPr>
          <p:cNvPr id="4" name="Slide Number Placeholder 3"/>
          <p:cNvSpPr>
            <a:spLocks noGrp="1"/>
          </p:cNvSpPr>
          <p:nvPr>
            <p:ph type="sldNum" sz="quarter" idx="5"/>
          </p:nvPr>
        </p:nvSpPr>
        <p:spPr/>
        <p:txBody>
          <a:bodyPr/>
          <a:lstStyle/>
          <a:p>
            <a:fld id="{64DE306B-BB36-4E06-954B-C2B4885C1C46}" type="slidenum">
              <a:rPr lang="en-US" smtClean="0"/>
              <a:t>18</a:t>
            </a:fld>
            <a:endParaRPr lang="en-US"/>
          </a:p>
        </p:txBody>
      </p:sp>
    </p:spTree>
    <p:extLst>
      <p:ext uri="{BB962C8B-B14F-4D97-AF65-F5344CB8AC3E}">
        <p14:creationId xmlns:p14="http://schemas.microsoft.com/office/powerpoint/2010/main" val="6801449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Future potential in Texas, Tennessee and NC. Educational and professional </a:t>
            </a:r>
            <a:r>
              <a:rPr lang="en-US" err="1"/>
              <a:t>opps</a:t>
            </a:r>
            <a:endParaRPr lang="en-US"/>
          </a:p>
          <a:p>
            <a:r>
              <a:rPr lang="en-US"/>
              <a:t>- Income is focused in fin services sector, so further predicted migration of them will move the money to the Sunbelt</a:t>
            </a:r>
          </a:p>
          <a:p>
            <a:r>
              <a:rPr lang="en-US"/>
              <a:t>- 25% of working pop is &lt;29. NXRT targets &gt;29 too, but majority is &lt;29</a:t>
            </a:r>
          </a:p>
          <a:p>
            <a:r>
              <a:rPr lang="en-US"/>
              <a:t>- From pic, FL, NC, TN, and TC are some highest gainers</a:t>
            </a:r>
          </a:p>
        </p:txBody>
      </p:sp>
      <p:sp>
        <p:nvSpPr>
          <p:cNvPr id="4" name="Slide Number Placeholder 3"/>
          <p:cNvSpPr>
            <a:spLocks noGrp="1"/>
          </p:cNvSpPr>
          <p:nvPr>
            <p:ph type="sldNum" sz="quarter" idx="5"/>
          </p:nvPr>
        </p:nvSpPr>
        <p:spPr/>
        <p:txBody>
          <a:bodyPr/>
          <a:lstStyle/>
          <a:p>
            <a:fld id="{64DE306B-BB36-4E06-954B-C2B4885C1C46}" type="slidenum">
              <a:rPr lang="en-US" smtClean="0"/>
              <a:t>19</a:t>
            </a:fld>
            <a:endParaRPr lang="en-US"/>
          </a:p>
        </p:txBody>
      </p:sp>
    </p:spTree>
    <p:extLst>
      <p:ext uri="{BB962C8B-B14F-4D97-AF65-F5344CB8AC3E}">
        <p14:creationId xmlns:p14="http://schemas.microsoft.com/office/powerpoint/2010/main" val="8431472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a:t>- Greatest Holdings by state are in Texas and Florida, with Dallas having the most of any city followed by Phoenix then South Florida</a:t>
            </a:r>
          </a:p>
        </p:txBody>
      </p:sp>
      <p:sp>
        <p:nvSpPr>
          <p:cNvPr id="4" name="Slide Number Placeholder 3"/>
          <p:cNvSpPr>
            <a:spLocks noGrp="1"/>
          </p:cNvSpPr>
          <p:nvPr>
            <p:ph type="sldNum" sz="quarter" idx="5"/>
          </p:nvPr>
        </p:nvSpPr>
        <p:spPr/>
        <p:txBody>
          <a:bodyPr/>
          <a:lstStyle/>
          <a:p>
            <a:fld id="{64DE306B-BB36-4E06-954B-C2B4885C1C46}" type="slidenum">
              <a:rPr lang="en-US" smtClean="0"/>
              <a:t>20</a:t>
            </a:fld>
            <a:endParaRPr lang="en-US"/>
          </a:p>
        </p:txBody>
      </p:sp>
    </p:spTree>
    <p:extLst>
      <p:ext uri="{BB962C8B-B14F-4D97-AF65-F5344CB8AC3E}">
        <p14:creationId xmlns:p14="http://schemas.microsoft.com/office/powerpoint/2010/main" val="2752623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CA" sz="1800" b="0" i="0" u="none" strike="noStrike">
                <a:solidFill>
                  <a:srgbClr val="000000"/>
                </a:solidFill>
                <a:effectLst/>
                <a:latin typeface="Arial" panose="020B0604020202020204" pitchFamily="34" charset="0"/>
              </a:rPr>
              <a:t>Onto our second thesis point about value add.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has a unique value-add program where it aims to improve and increase value of acquisitions. They do so by acquiring solid but under-managed assets and investing in value-add renovations, which would then increase rent and NOI. As of the end of 2022,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has completed renovations in over half of their properties, and most of the value-add takes place within three years after property acquisitions. </a:t>
            </a:r>
            <a:endParaRPr lang="en-CA" b="0">
              <a:effectLst/>
            </a:endParaRPr>
          </a:p>
          <a:p>
            <a:pPr rtl="0">
              <a:spcBef>
                <a:spcPts val="0"/>
              </a:spcBef>
              <a:spcAft>
                <a:spcPts val="0"/>
              </a:spcAft>
            </a:pPr>
            <a:br>
              <a:rPr lang="en-CA" b="0">
                <a:effectLst/>
              </a:rPr>
            </a:br>
            <a:r>
              <a:rPr lang="en-CA" sz="1800" b="0" i="0" u="none" strike="noStrike">
                <a:solidFill>
                  <a:srgbClr val="000000"/>
                </a:solidFill>
                <a:effectLst/>
                <a:latin typeface="Arial" panose="020B0604020202020204" pitchFamily="34" charset="0"/>
              </a:rPr>
              <a:t>They primarily engage in three types of renovations: interior, exterior and cost management, with interior renovations being the primary driver of rent and NOI growth. Some examples of these renovations include investments in better, more modern amenities and overall aesthetic improvements. For instance,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would invest in building fiber internet infrastructure for older apartments, building more renovated and functional common areas in buildings, and investing in energy conservation projects. </a:t>
            </a:r>
            <a:endParaRPr lang="en-CA" b="0">
              <a:effectLst/>
            </a:endParaRPr>
          </a:p>
          <a:p>
            <a:pPr rtl="0">
              <a:spcBef>
                <a:spcPts val="0"/>
              </a:spcBef>
              <a:spcAft>
                <a:spcPts val="0"/>
              </a:spcAft>
            </a:pPr>
            <a:br>
              <a:rPr lang="en-CA" b="0">
                <a:effectLst/>
              </a:rPr>
            </a:br>
            <a:r>
              <a:rPr lang="en-CA" sz="1800" b="0" i="0" u="none" strike="noStrike">
                <a:solidFill>
                  <a:srgbClr val="000000"/>
                </a:solidFill>
                <a:effectLst/>
                <a:latin typeface="Arial" panose="020B0604020202020204" pitchFamily="34" charset="0"/>
              </a:rPr>
              <a:t>The specifics of the value-add program is managed by </a:t>
            </a:r>
            <a:r>
              <a:rPr lang="en-CA" sz="1800" b="0" i="0" u="none" strike="noStrike" err="1">
                <a:solidFill>
                  <a:srgbClr val="000000"/>
                </a:solidFill>
                <a:effectLst/>
                <a:latin typeface="Arial" panose="020B0604020202020204" pitchFamily="34" charset="0"/>
              </a:rPr>
              <a:t>Nexpoint’s</a:t>
            </a:r>
            <a:r>
              <a:rPr lang="en-CA" sz="1800" b="0" i="0" u="none" strike="noStrike">
                <a:solidFill>
                  <a:srgbClr val="000000"/>
                </a:solidFill>
                <a:effectLst/>
                <a:latin typeface="Arial" panose="020B0604020202020204" pitchFamily="34" charset="0"/>
              </a:rPr>
              <a:t> external contracted partner, BH Management, which is a property manager and a non-controlling limited partner in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owning around 0.3% of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BH Management would help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with operating the properties and would also advise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on certain investment decisions. Currently,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pays a management fee to BH Management equal to around 3% of monthly gross income, in addition to other one-off management fees.</a:t>
            </a:r>
            <a:endParaRPr lang="en-CA" b="0">
              <a:effectLst/>
            </a:endParaRPr>
          </a:p>
          <a:p>
            <a:br>
              <a:rPr lang="en-CA"/>
            </a:br>
            <a:endParaRPr lang="en-CA" b="0" i="0">
              <a:solidFill>
                <a:srgbClr val="1C1E21"/>
              </a:solidFill>
              <a:effectLst/>
              <a:latin typeface="inherit"/>
            </a:endParaRPr>
          </a:p>
          <a:p>
            <a:pPr algn="l"/>
            <a:r>
              <a:rPr lang="en-CA" b="0" i="0">
                <a:solidFill>
                  <a:srgbClr val="1C1E21"/>
                </a:solidFill>
                <a:effectLst/>
                <a:latin typeface="inherit"/>
              </a:rPr>
              <a:t>Sources: Company Website, 10-K</a:t>
            </a:r>
          </a:p>
        </p:txBody>
      </p:sp>
      <p:sp>
        <p:nvSpPr>
          <p:cNvPr id="4" name="Slide Number Placeholder 3"/>
          <p:cNvSpPr>
            <a:spLocks noGrp="1"/>
          </p:cNvSpPr>
          <p:nvPr>
            <p:ph type="sldNum" sz="quarter" idx="5"/>
          </p:nvPr>
        </p:nvSpPr>
        <p:spPr/>
        <p:txBody>
          <a:bodyPr/>
          <a:lstStyle/>
          <a:p>
            <a:fld id="{64DE306B-BB36-4E06-954B-C2B4885C1C46}" type="slidenum">
              <a:rPr lang="en-US" smtClean="0"/>
              <a:t>22</a:t>
            </a:fld>
            <a:endParaRPr lang="en-US"/>
          </a:p>
        </p:txBody>
      </p:sp>
    </p:spTree>
    <p:extLst>
      <p:ext uri="{BB962C8B-B14F-4D97-AF65-F5344CB8AC3E}">
        <p14:creationId xmlns:p14="http://schemas.microsoft.com/office/powerpoint/2010/main" val="17363157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CA" sz="1800" b="0" i="0" u="none" strike="noStrike">
                <a:solidFill>
                  <a:srgbClr val="000000"/>
                </a:solidFill>
                <a:effectLst/>
                <a:latin typeface="Arial" panose="020B0604020202020204" pitchFamily="34" charset="0"/>
              </a:rPr>
              <a:t>We think the value-add program works well for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given its focus on Class B properties and its partnership with BH Management. </a:t>
            </a:r>
            <a:endParaRPr lang="en-CA" b="0">
              <a:effectLst/>
            </a:endParaRPr>
          </a:p>
          <a:p>
            <a:pPr rtl="0">
              <a:spcBef>
                <a:spcPts val="0"/>
              </a:spcBef>
              <a:spcAft>
                <a:spcPts val="0"/>
              </a:spcAft>
            </a:pPr>
            <a:br>
              <a:rPr lang="en-CA" b="0">
                <a:effectLst/>
              </a:rPr>
            </a:br>
            <a:r>
              <a:rPr lang="en-CA" sz="1800" b="0" i="0" u="none" strike="noStrike">
                <a:solidFill>
                  <a:srgbClr val="000000"/>
                </a:solidFill>
                <a:effectLst/>
                <a:latin typeface="Arial" panose="020B0604020202020204" pitchFamily="34" charset="0"/>
              </a:rPr>
              <a:t>First, </a:t>
            </a:r>
            <a:r>
              <a:rPr lang="en-CA" sz="1800" b="0" i="0" u="none" strike="noStrike" err="1">
                <a:solidFill>
                  <a:srgbClr val="000000"/>
                </a:solidFill>
                <a:effectLst/>
                <a:latin typeface="Arial" panose="020B0604020202020204" pitchFamily="34" charset="0"/>
              </a:rPr>
              <a:t>Nexpoint’s</a:t>
            </a:r>
            <a:r>
              <a:rPr lang="en-CA" sz="1800" b="0" i="0" u="none" strike="noStrike">
                <a:solidFill>
                  <a:srgbClr val="000000"/>
                </a:solidFill>
                <a:effectLst/>
                <a:latin typeface="Arial" panose="020B0604020202020204" pitchFamily="34" charset="0"/>
              </a:rPr>
              <a:t> focus on Class B can achieve higher ROI compared to Class A and Class C. Class B properties sit between Class A and Class C in terms of renovations and qualities. Compared to Class A properties that are fully renovated, Class B properties have significantly higher upside because their valuation can benefit from value-add, but they also don’t require as much upfront investment in renovation as Class C would need, since Class C properties are typically older and less furnished. The relatively low upfront capital investment and the potential upside combined make Class B properties attractive in terms of ROI for a value-add REIT like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a:t>
            </a:r>
          </a:p>
          <a:p>
            <a:pPr rtl="0">
              <a:spcBef>
                <a:spcPts val="0"/>
              </a:spcBef>
              <a:spcAft>
                <a:spcPts val="0"/>
              </a:spcAft>
            </a:pPr>
            <a:endParaRPr lang="en-CA" b="0">
              <a:effectLst/>
            </a:endParaRPr>
          </a:p>
          <a:p>
            <a:pPr rtl="0">
              <a:spcBef>
                <a:spcPts val="0"/>
              </a:spcBef>
              <a:spcAft>
                <a:spcPts val="0"/>
              </a:spcAft>
            </a:pPr>
            <a:r>
              <a:rPr lang="en-CA" sz="1800" b="0" i="0" u="none" strike="noStrike">
                <a:solidFill>
                  <a:srgbClr val="000000"/>
                </a:solidFill>
                <a:effectLst/>
                <a:latin typeface="Arial" panose="020B0604020202020204" pitchFamily="34" charset="0"/>
              </a:rPr>
              <a:t>In addition,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can also leverage its scale and partnership with its external property manager. BH Management is the largest property manager in Sunbelt and can provide valuable industry insights. Given their scale and presence in the Sunbelt market, BH Management can also negotiate better deals with suppliers and spread costs over more renovated units. The cost advantage effectively protects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from new market entrants. This is a strong moat because both parties are leading players in their fields and benefit from this partnership. Not only does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benefit from BH Management’s industry insights, </a:t>
            </a:r>
            <a:r>
              <a:rPr lang="en-CA" sz="1800" b="0" i="0" u="none" strike="noStrike" err="1">
                <a:solidFill>
                  <a:srgbClr val="000000"/>
                </a:solidFill>
                <a:effectLst/>
                <a:latin typeface="Arial" panose="020B0604020202020204" pitchFamily="34" charset="0"/>
              </a:rPr>
              <a:t>Nexpoint</a:t>
            </a:r>
            <a:r>
              <a:rPr lang="en-CA" sz="1800" b="0" i="0" u="none" strike="noStrike">
                <a:solidFill>
                  <a:srgbClr val="000000"/>
                </a:solidFill>
                <a:effectLst/>
                <a:latin typeface="Arial" panose="020B0604020202020204" pitchFamily="34" charset="0"/>
              </a:rPr>
              <a:t> is also BH Management’s largest client and consistently brings in opportunities and revenue for BH. We expect to see this partnership continue and more economies of scale to be achieved. </a:t>
            </a:r>
            <a:endParaRPr lang="en-CA" b="0">
              <a:effectLst/>
            </a:endParaRPr>
          </a:p>
          <a:p>
            <a:br>
              <a:rPr lang="en-CA"/>
            </a:br>
            <a:endParaRPr lang="en-CA" b="0">
              <a:effectLst/>
            </a:endParaRPr>
          </a:p>
        </p:txBody>
      </p:sp>
      <p:sp>
        <p:nvSpPr>
          <p:cNvPr id="4" name="Slide Number Placeholder 3"/>
          <p:cNvSpPr>
            <a:spLocks noGrp="1"/>
          </p:cNvSpPr>
          <p:nvPr>
            <p:ph type="sldNum" sz="quarter" idx="5"/>
          </p:nvPr>
        </p:nvSpPr>
        <p:spPr/>
        <p:txBody>
          <a:bodyPr/>
          <a:lstStyle/>
          <a:p>
            <a:fld id="{64DE306B-BB36-4E06-954B-C2B4885C1C46}" type="slidenum">
              <a:rPr lang="en-US" smtClean="0"/>
              <a:t>23</a:t>
            </a:fld>
            <a:endParaRPr lang="en-US"/>
          </a:p>
        </p:txBody>
      </p:sp>
    </p:spTree>
    <p:extLst>
      <p:ext uri="{BB962C8B-B14F-4D97-AF65-F5344CB8AC3E}">
        <p14:creationId xmlns:p14="http://schemas.microsoft.com/office/powerpoint/2010/main" val="17363157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rtl="0">
              <a:spcBef>
                <a:spcPts val="0"/>
              </a:spcBef>
              <a:spcAft>
                <a:spcPts val="0"/>
              </a:spcAft>
            </a:pPr>
            <a:r>
              <a:rPr lang="en-US" sz="1800" b="0" i="0" u="none" strike="noStrike">
                <a:solidFill>
                  <a:srgbClr val="000000"/>
                </a:solidFill>
                <a:effectLst/>
                <a:latin typeface="Arial" panose="020B0604020202020204" pitchFamily="34" charset="0"/>
              </a:rPr>
              <a:t>From a financial perspective, </a:t>
            </a:r>
            <a:r>
              <a:rPr lang="en-US" sz="1800" b="0" i="0" u="none" strike="noStrike" err="1">
                <a:solidFill>
                  <a:srgbClr val="000000"/>
                </a:solidFill>
                <a:effectLst/>
                <a:latin typeface="Arial" panose="020B0604020202020204" pitchFamily="34" charset="0"/>
              </a:rPr>
              <a:t>NexPoint</a:t>
            </a:r>
            <a:r>
              <a:rPr lang="en-US" sz="1800" b="0" i="0" u="none" strike="noStrike">
                <a:solidFill>
                  <a:srgbClr val="000000"/>
                </a:solidFill>
                <a:effectLst/>
                <a:latin typeface="Arial" panose="020B0604020202020204" pitchFamily="34" charset="0"/>
              </a:rPr>
              <a:t> has generated high ROI on renovated units through increasing rental income. In the last fiscal year, total rental income on properties increased by $44 million dollars, which is mostly driven by a 17.4% increase in the weighted average monthly effective rent per occupied unit. On average, </a:t>
            </a:r>
            <a:r>
              <a:rPr lang="en-US" sz="1800" b="0" i="0" u="none" strike="noStrike" err="1">
                <a:solidFill>
                  <a:srgbClr val="000000"/>
                </a:solidFill>
                <a:effectLst/>
                <a:latin typeface="Arial" panose="020B0604020202020204" pitchFamily="34" charset="0"/>
              </a:rPr>
              <a:t>Nexpoint</a:t>
            </a:r>
            <a:r>
              <a:rPr lang="en-US" sz="1800" b="0" i="0" u="none" strike="noStrike">
                <a:solidFill>
                  <a:srgbClr val="000000"/>
                </a:solidFill>
                <a:effectLst/>
                <a:latin typeface="Arial" panose="020B0604020202020204" pitchFamily="34" charset="0"/>
              </a:rPr>
              <a:t> and BH reserve anywhere between $3,000 to $7,000 per unit for renovation. After renovation is performed on a </a:t>
            </a:r>
            <a:r>
              <a:rPr lang="en-US" sz="1800" b="0" i="0" u="none" strike="noStrike" err="1">
                <a:solidFill>
                  <a:srgbClr val="000000"/>
                </a:solidFill>
                <a:effectLst/>
                <a:latin typeface="Arial" panose="020B0604020202020204" pitchFamily="34" charset="0"/>
              </a:rPr>
              <a:t>NexPoint</a:t>
            </a:r>
            <a:r>
              <a:rPr lang="en-US" sz="1800" b="0" i="0" u="none" strike="noStrike">
                <a:solidFill>
                  <a:srgbClr val="000000"/>
                </a:solidFill>
                <a:effectLst/>
                <a:latin typeface="Arial" panose="020B0604020202020204" pitchFamily="34" charset="0"/>
              </a:rPr>
              <a:t> property, the average monthly rental price increases by $149 in the past year. On the right, you can also see a graph on ROIs achieved through different types of value-add renovations. Anecdotally, property owners have also reported positive experience collaborating with both </a:t>
            </a:r>
            <a:r>
              <a:rPr lang="en-US" sz="1800" b="0" i="0" u="none" strike="noStrike" err="1">
                <a:solidFill>
                  <a:srgbClr val="000000"/>
                </a:solidFill>
                <a:effectLst/>
                <a:latin typeface="Arial" panose="020B0604020202020204" pitchFamily="34" charset="0"/>
              </a:rPr>
              <a:t>NexPoint</a:t>
            </a:r>
            <a:r>
              <a:rPr lang="en-US" sz="1800" b="0" i="0" u="none" strike="noStrike">
                <a:solidFill>
                  <a:srgbClr val="000000"/>
                </a:solidFill>
                <a:effectLst/>
                <a:latin typeface="Arial" panose="020B0604020202020204" pitchFamily="34" charset="0"/>
              </a:rPr>
              <a:t> and BH Management, </a:t>
            </a:r>
            <a:endParaRPr lang="en-US" b="0">
              <a:effectLst/>
            </a:endParaRPr>
          </a:p>
          <a:p>
            <a:br>
              <a:rPr lang="en-US"/>
            </a:br>
            <a:endParaRPr lang="en-US"/>
          </a:p>
        </p:txBody>
      </p:sp>
      <p:sp>
        <p:nvSpPr>
          <p:cNvPr id="334" name="Google Shape;334;p2:notes"/>
          <p:cNvSpPr>
            <a:spLocks noGrp="1" noRot="1" noChangeAspect="1"/>
          </p:cNvSpPr>
          <p:nvPr>
            <p:ph type="sldImg" idx="2"/>
          </p:nvPr>
        </p:nvSpPr>
        <p:spPr>
          <a:xfrm>
            <a:off x="1431925" y="1143000"/>
            <a:ext cx="39941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DE306B-BB36-4E06-954B-C2B4885C1C46}" type="slidenum">
              <a:rPr lang="en-US" smtClean="0"/>
              <a:t>25</a:t>
            </a:fld>
            <a:endParaRPr lang="en-US"/>
          </a:p>
        </p:txBody>
      </p:sp>
    </p:spTree>
    <p:extLst>
      <p:ext uri="{BB962C8B-B14F-4D97-AF65-F5344CB8AC3E}">
        <p14:creationId xmlns:p14="http://schemas.microsoft.com/office/powerpoint/2010/main" val="2714655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Slide Number Placeholder 3"/>
          <p:cNvSpPr>
            <a:spLocks noGrp="1"/>
          </p:cNvSpPr>
          <p:nvPr>
            <p:ph type="sldNum" sz="quarter" idx="5"/>
          </p:nvPr>
        </p:nvSpPr>
        <p:spPr/>
        <p:txBody>
          <a:bodyPr/>
          <a:lstStyle/>
          <a:p>
            <a:fld id="{64DE306B-BB36-4E06-954B-C2B4885C1C46}" type="slidenum">
              <a:rPr lang="en-US" smtClean="0"/>
              <a:t>27</a:t>
            </a:fld>
            <a:endParaRPr lang="en-US"/>
          </a:p>
        </p:txBody>
      </p:sp>
    </p:spTree>
    <p:extLst>
      <p:ext uri="{BB962C8B-B14F-4D97-AF65-F5344CB8AC3E}">
        <p14:creationId xmlns:p14="http://schemas.microsoft.com/office/powerpoint/2010/main" val="455041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DE306B-BB36-4E06-954B-C2B4885C1C46}" type="slidenum">
              <a:rPr lang="en-US" smtClean="0"/>
              <a:t>28</a:t>
            </a:fld>
            <a:endParaRPr lang="en-US"/>
          </a:p>
        </p:txBody>
      </p:sp>
    </p:spTree>
    <p:extLst>
      <p:ext uri="{BB962C8B-B14F-4D97-AF65-F5344CB8AC3E}">
        <p14:creationId xmlns:p14="http://schemas.microsoft.com/office/powerpoint/2010/main" val="4238154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8222" y="3863950"/>
            <a:ext cx="9147175" cy="1371600"/>
          </a:xfrm>
        </p:spPr>
        <p:txBody>
          <a:bodyPr lIns="0" tIns="0" rIns="0" bIns="0" anchor="b">
            <a:normAutofit/>
          </a:bodyPr>
          <a:lstStyle>
            <a:lvl1pPr algn="l">
              <a:defRPr sz="4800" cap="small" baseline="0">
                <a:solidFill>
                  <a:srgbClr val="000000"/>
                </a:solidFill>
              </a:defRPr>
            </a:lvl1pPr>
          </a:lstStyle>
          <a:p>
            <a:r>
              <a:rPr lang="en-US"/>
              <a:t>Company Name</a:t>
            </a:r>
          </a:p>
        </p:txBody>
      </p:sp>
      <p:sp>
        <p:nvSpPr>
          <p:cNvPr id="3" name="Subtitle 2"/>
          <p:cNvSpPr>
            <a:spLocks noGrp="1"/>
          </p:cNvSpPr>
          <p:nvPr>
            <p:ph type="subTitle" idx="1" hasCustomPrompt="1"/>
          </p:nvPr>
        </p:nvSpPr>
        <p:spPr>
          <a:xfrm>
            <a:off x="458222" y="5293760"/>
            <a:ext cx="4728721" cy="429505"/>
          </a:xfrm>
        </p:spPr>
        <p:txBody>
          <a:bodyPr lIns="0" tIns="0" rIns="0" bIns="0" anchor="t">
            <a:normAutofit/>
          </a:bodyPr>
          <a:lstStyle>
            <a:lvl1pPr marL="0" indent="0" algn="l">
              <a:buNone/>
              <a:defRPr sz="1800" b="0">
                <a:solidFill>
                  <a:srgbClr val="00396B"/>
                </a:solidFill>
              </a:defRPr>
            </a:lvl1pPr>
            <a:lvl2pPr marL="502920" indent="0" algn="ctr">
              <a:buNone/>
              <a:defRPr sz="2200"/>
            </a:lvl2pPr>
            <a:lvl3pPr marL="1005840" indent="0" algn="ctr">
              <a:buNone/>
              <a:defRPr sz="1980"/>
            </a:lvl3pPr>
            <a:lvl4pPr marL="1508760" indent="0" algn="ctr">
              <a:buNone/>
              <a:defRPr sz="1760"/>
            </a:lvl4pPr>
            <a:lvl5pPr marL="2011680" indent="0" algn="ctr">
              <a:buNone/>
              <a:defRPr sz="1760"/>
            </a:lvl5pPr>
            <a:lvl6pPr marL="2514600" indent="0" algn="ctr">
              <a:buNone/>
              <a:defRPr sz="1760"/>
            </a:lvl6pPr>
            <a:lvl7pPr marL="3017520" indent="0" algn="ctr">
              <a:buNone/>
              <a:defRPr sz="1760"/>
            </a:lvl7pPr>
            <a:lvl8pPr marL="3520440" indent="0" algn="ctr">
              <a:buNone/>
              <a:defRPr sz="1760"/>
            </a:lvl8pPr>
            <a:lvl9pPr marL="4023360" indent="0" algn="ctr">
              <a:buNone/>
              <a:defRPr sz="1760"/>
            </a:lvl9pPr>
          </a:lstStyle>
          <a:p>
            <a:r>
              <a:rPr lang="en-US"/>
              <a:t>Exchange: Ticker</a:t>
            </a:r>
          </a:p>
        </p:txBody>
      </p:sp>
      <p:sp>
        <p:nvSpPr>
          <p:cNvPr id="8" name="Rectangle 7">
            <a:extLst>
              <a:ext uri="{FF2B5EF4-FFF2-40B4-BE49-F238E27FC236}">
                <a16:creationId xmlns:a16="http://schemas.microsoft.com/office/drawing/2014/main" id="{3BA54201-C9A2-1147-83E5-409F83DD3202}"/>
              </a:ext>
            </a:extLst>
          </p:cNvPr>
          <p:cNvSpPr/>
          <p:nvPr userDrawn="1"/>
        </p:nvSpPr>
        <p:spPr>
          <a:xfrm>
            <a:off x="461623" y="6855884"/>
            <a:ext cx="9144000" cy="0"/>
          </a:xfrm>
          <a:prstGeom prst="rect">
            <a:avLst/>
          </a:prstGeom>
          <a:solidFill>
            <a:srgbClr val="710F32"/>
          </a:solidFill>
          <a:ln w="571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9" name="Rectangle 8">
            <a:extLst>
              <a:ext uri="{FF2B5EF4-FFF2-40B4-BE49-F238E27FC236}">
                <a16:creationId xmlns:a16="http://schemas.microsoft.com/office/drawing/2014/main" id="{4BBFC286-AF19-3241-A93A-F1F3E1F155FF}"/>
              </a:ext>
            </a:extLst>
          </p:cNvPr>
          <p:cNvSpPr/>
          <p:nvPr userDrawn="1"/>
        </p:nvSpPr>
        <p:spPr>
          <a:xfrm>
            <a:off x="461623" y="915393"/>
            <a:ext cx="9144000" cy="0"/>
          </a:xfrm>
          <a:prstGeom prst="rect">
            <a:avLst/>
          </a:prstGeom>
          <a:solidFill>
            <a:srgbClr val="00396B"/>
          </a:solidFill>
          <a:ln w="571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0" name="Rectangle 9">
            <a:extLst>
              <a:ext uri="{FF2B5EF4-FFF2-40B4-BE49-F238E27FC236}">
                <a16:creationId xmlns:a16="http://schemas.microsoft.com/office/drawing/2014/main" id="{0925A7D1-EED6-434F-A52C-BFF21D9490B7}"/>
              </a:ext>
            </a:extLst>
          </p:cNvPr>
          <p:cNvSpPr/>
          <p:nvPr userDrawn="1"/>
        </p:nvSpPr>
        <p:spPr>
          <a:xfrm>
            <a:off x="306772" y="6736703"/>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1E641FD-2BF9-9D4E-BDA5-4147A90BEC30}"/>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AD45910-F492-2549-8E9A-5588C9DF9FF9}"/>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D3CD0A9-FEBF-5940-BBCF-6CFB037EBE21}"/>
              </a:ext>
            </a:extLst>
          </p:cNvPr>
          <p:cNvSpPr/>
          <p:nvPr userDrawn="1"/>
        </p:nvSpPr>
        <p:spPr>
          <a:xfrm>
            <a:off x="9614923" y="6736703"/>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16">
            <a:extLst>
              <a:ext uri="{FF2B5EF4-FFF2-40B4-BE49-F238E27FC236}">
                <a16:creationId xmlns:a16="http://schemas.microsoft.com/office/drawing/2014/main" id="{BDFF6C3F-3743-4349-95E1-0D7E0A7C3ACE}"/>
              </a:ext>
            </a:extLst>
          </p:cNvPr>
          <p:cNvSpPr>
            <a:spLocks noGrp="1"/>
          </p:cNvSpPr>
          <p:nvPr>
            <p:ph type="body" sz="quarter" idx="14" hasCustomPrompt="1"/>
          </p:nvPr>
        </p:nvSpPr>
        <p:spPr>
          <a:xfrm>
            <a:off x="458447" y="5781475"/>
            <a:ext cx="9143775" cy="1016199"/>
          </a:xfrm>
        </p:spPr>
        <p:txBody>
          <a:bodyPr lIns="0" tIns="0" rIns="0" bIns="0" anchor="b">
            <a:normAutofit/>
          </a:bodyPr>
          <a:lstStyle>
            <a:lvl1pPr marL="0" indent="0">
              <a:buNone/>
              <a:defRPr sz="1800"/>
            </a:lvl1pPr>
          </a:lstStyle>
          <a:p>
            <a:pPr lvl="0"/>
            <a:r>
              <a:rPr lang="en-US"/>
              <a:t>Names, Sector</a:t>
            </a:r>
          </a:p>
        </p:txBody>
      </p:sp>
      <p:sp>
        <p:nvSpPr>
          <p:cNvPr id="19" name="Picture Placeholder 18">
            <a:extLst>
              <a:ext uri="{FF2B5EF4-FFF2-40B4-BE49-F238E27FC236}">
                <a16:creationId xmlns:a16="http://schemas.microsoft.com/office/drawing/2014/main" id="{898849FF-2031-744F-8F84-BAEC2E2B14E0}"/>
              </a:ext>
            </a:extLst>
          </p:cNvPr>
          <p:cNvSpPr>
            <a:spLocks noGrp="1"/>
          </p:cNvSpPr>
          <p:nvPr>
            <p:ph type="pic" sz="quarter" idx="15" hasCustomPrompt="1"/>
          </p:nvPr>
        </p:nvSpPr>
        <p:spPr>
          <a:xfrm>
            <a:off x="3771900" y="1338768"/>
            <a:ext cx="2514600" cy="2514600"/>
          </a:xfrm>
        </p:spPr>
        <p:txBody>
          <a:bodyPr wrap="none" lIns="0" tIns="0" rIns="0" bIns="0" anchor="ctr">
            <a:normAutofit/>
          </a:bodyPr>
          <a:lstStyle>
            <a:lvl1pPr marL="0" indent="0" algn="ctr">
              <a:buNone/>
              <a:defRPr sz="2000">
                <a:solidFill>
                  <a:schemeClr val="tx1"/>
                </a:solidFill>
              </a:defRPr>
            </a:lvl1pPr>
          </a:lstStyle>
          <a:p>
            <a:r>
              <a:rPr lang="en-US"/>
              <a:t>Company Logo</a:t>
            </a:r>
          </a:p>
        </p:txBody>
      </p:sp>
    </p:spTree>
    <p:extLst>
      <p:ext uri="{BB962C8B-B14F-4D97-AF65-F5344CB8AC3E}">
        <p14:creationId xmlns:p14="http://schemas.microsoft.com/office/powerpoint/2010/main" val="3250963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Mark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520440"/>
            <a:ext cx="9144000" cy="731520"/>
          </a:xfrm>
        </p:spPr>
        <p:txBody>
          <a:bodyPr lIns="0" tIns="0" rIns="0" bIns="0" anchor="t">
            <a:noAutofit/>
          </a:bodyPr>
          <a:lstStyle>
            <a:lvl1pPr algn="l">
              <a:defRPr sz="3200"/>
            </a:lvl1pPr>
          </a:lstStyle>
          <a:p>
            <a:r>
              <a:rPr lang="en-US"/>
              <a:t>Section title</a:t>
            </a:r>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710F32"/>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9220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sis - 3">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solidFill>
                  <a:srgbClr val="000000"/>
                </a:solidFill>
              </a:defRPr>
            </a:lvl1pPr>
          </a:lstStyle>
          <a:p>
            <a:r>
              <a:rPr lang="en-US"/>
              <a:t>Click to edit Master title style</a:t>
            </a:r>
          </a:p>
        </p:txBody>
      </p:sp>
      <p:sp>
        <p:nvSpPr>
          <p:cNvPr id="3" name="Content Placeholder 2"/>
          <p:cNvSpPr>
            <a:spLocks noGrp="1"/>
          </p:cNvSpPr>
          <p:nvPr>
            <p:ph idx="1"/>
          </p:nvPr>
        </p:nvSpPr>
        <p:spPr>
          <a:xfrm>
            <a:off x="461623" y="1861739"/>
            <a:ext cx="9144000" cy="1297823"/>
          </a:xfrm>
        </p:spPr>
        <p:txBody>
          <a:bodyPr/>
          <a:lstStyle>
            <a:lvl1pPr>
              <a:spcBef>
                <a:spcPts val="500"/>
              </a:spcBef>
              <a:defRPr sz="1600"/>
            </a:lvl1pPr>
            <a:lvl2pPr>
              <a:spcBef>
                <a:spcPts val="500"/>
              </a:spcBef>
              <a:defRPr sz="1600"/>
            </a:lvl2pPr>
            <a:lvl3pPr>
              <a:spcBef>
                <a:spcPts val="500"/>
              </a:spcBef>
              <a:defRPr sz="1600"/>
            </a:lvl3pPr>
          </a:lstStyle>
          <a:p>
            <a:pPr lvl="0"/>
            <a:r>
              <a:rPr lang="en-US"/>
              <a:t>Click to edit Master text styles</a:t>
            </a:r>
          </a:p>
          <a:p>
            <a:pPr lvl="1"/>
            <a:r>
              <a:rPr lang="en-US"/>
              <a:t>Second level</a:t>
            </a:r>
          </a:p>
          <a:p>
            <a:pPr lvl="2"/>
            <a:r>
              <a:rPr lang="en-US"/>
              <a:t>Third level</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E1362DE0-9DB5-F048-9000-A28AAE015CB4}"/>
              </a:ext>
            </a:extLst>
          </p:cNvPr>
          <p:cNvSpPr>
            <a:spLocks noGrp="1"/>
          </p:cNvSpPr>
          <p:nvPr>
            <p:ph type="body" sz="quarter" idx="10" hasCustomPrompt="1"/>
          </p:nvPr>
        </p:nvSpPr>
        <p:spPr>
          <a:xfrm>
            <a:off x="461623" y="1363874"/>
            <a:ext cx="9144000" cy="406276"/>
          </a:xfrm>
          <a:solidFill>
            <a:schemeClr val="tx1">
              <a:lumMod val="95000"/>
              <a:lumOff val="5000"/>
            </a:schemeClr>
          </a:solidFill>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Thesis 1</a:t>
            </a:r>
          </a:p>
        </p:txBody>
      </p:sp>
      <p:sp>
        <p:nvSpPr>
          <p:cNvPr id="23" name="Content Placeholder 2">
            <a:extLst>
              <a:ext uri="{FF2B5EF4-FFF2-40B4-BE49-F238E27FC236}">
                <a16:creationId xmlns:a16="http://schemas.microsoft.com/office/drawing/2014/main" id="{685FD86E-128A-B04A-9C4C-F93EFD032BF2}"/>
              </a:ext>
            </a:extLst>
          </p:cNvPr>
          <p:cNvSpPr>
            <a:spLocks noGrp="1"/>
          </p:cNvSpPr>
          <p:nvPr>
            <p:ph idx="11"/>
          </p:nvPr>
        </p:nvSpPr>
        <p:spPr>
          <a:xfrm>
            <a:off x="461623" y="3749016"/>
            <a:ext cx="9144000" cy="1297823"/>
          </a:xfrm>
        </p:spPr>
        <p:txBody>
          <a:bodyPr/>
          <a:lstStyle>
            <a:lvl1pPr>
              <a:spcBef>
                <a:spcPts val="500"/>
              </a:spcBef>
              <a:defRPr sz="1600"/>
            </a:lvl1pPr>
            <a:lvl2pPr>
              <a:spcBef>
                <a:spcPts val="500"/>
              </a:spcBef>
              <a:defRPr sz="1600"/>
            </a:lvl2pPr>
            <a:lvl3pPr>
              <a:spcBef>
                <a:spcPts val="500"/>
              </a:spcBef>
              <a:defRPr sz="1600"/>
            </a:lvl3pPr>
          </a:lstStyle>
          <a:p>
            <a:pPr lvl="0"/>
            <a:r>
              <a:rPr lang="en-US"/>
              <a:t>Click to edit Master text styles</a:t>
            </a:r>
          </a:p>
          <a:p>
            <a:pPr lvl="1"/>
            <a:r>
              <a:rPr lang="en-US"/>
              <a:t>Second level</a:t>
            </a:r>
          </a:p>
          <a:p>
            <a:pPr lvl="2"/>
            <a:r>
              <a:rPr lang="en-US"/>
              <a:t>Third level</a:t>
            </a:r>
          </a:p>
        </p:txBody>
      </p:sp>
      <p:sp>
        <p:nvSpPr>
          <p:cNvPr id="24" name="Text Placeholder 17">
            <a:extLst>
              <a:ext uri="{FF2B5EF4-FFF2-40B4-BE49-F238E27FC236}">
                <a16:creationId xmlns:a16="http://schemas.microsoft.com/office/drawing/2014/main" id="{9D707D00-A7AB-AD46-A2D5-07AFF7C26FC2}"/>
              </a:ext>
            </a:extLst>
          </p:cNvPr>
          <p:cNvSpPr>
            <a:spLocks noGrp="1"/>
          </p:cNvSpPr>
          <p:nvPr>
            <p:ph type="body" sz="quarter" idx="12" hasCustomPrompt="1"/>
          </p:nvPr>
        </p:nvSpPr>
        <p:spPr>
          <a:xfrm>
            <a:off x="461623" y="3251151"/>
            <a:ext cx="9144000" cy="406276"/>
          </a:xfrm>
          <a:solidFill>
            <a:srgbClr val="1E1F49"/>
          </a:solidFill>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Thesis 2</a:t>
            </a:r>
          </a:p>
        </p:txBody>
      </p:sp>
      <p:sp>
        <p:nvSpPr>
          <p:cNvPr id="25" name="Content Placeholder 2">
            <a:extLst>
              <a:ext uri="{FF2B5EF4-FFF2-40B4-BE49-F238E27FC236}">
                <a16:creationId xmlns:a16="http://schemas.microsoft.com/office/drawing/2014/main" id="{1689FA55-95BD-7E4D-8C03-5FC97E8C7F4C}"/>
              </a:ext>
            </a:extLst>
          </p:cNvPr>
          <p:cNvSpPr>
            <a:spLocks noGrp="1"/>
          </p:cNvSpPr>
          <p:nvPr>
            <p:ph idx="13"/>
          </p:nvPr>
        </p:nvSpPr>
        <p:spPr>
          <a:xfrm>
            <a:off x="461623" y="5636489"/>
            <a:ext cx="9144000" cy="1297823"/>
          </a:xfrm>
        </p:spPr>
        <p:txBody>
          <a:bodyPr>
            <a:normAutofit/>
          </a:bodyPr>
          <a:lstStyle>
            <a:lvl1pPr>
              <a:spcBef>
                <a:spcPts val="500"/>
              </a:spcBef>
              <a:defRPr sz="1600"/>
            </a:lvl1pPr>
            <a:lvl2pPr>
              <a:spcBef>
                <a:spcPts val="500"/>
              </a:spcBef>
              <a:defRPr sz="1600"/>
            </a:lvl2pPr>
            <a:lvl3pPr>
              <a:spcBef>
                <a:spcPts val="500"/>
              </a:spcBef>
              <a:defRPr sz="1600"/>
            </a:lvl3pPr>
          </a:lstStyle>
          <a:p>
            <a:pPr lvl="0"/>
            <a:r>
              <a:rPr lang="en-US"/>
              <a:t>Click to edit Master text styles</a:t>
            </a:r>
          </a:p>
          <a:p>
            <a:pPr lvl="1"/>
            <a:r>
              <a:rPr lang="en-US"/>
              <a:t>Second level</a:t>
            </a:r>
          </a:p>
          <a:p>
            <a:pPr lvl="2"/>
            <a:r>
              <a:rPr lang="en-US"/>
              <a:t>Third level</a:t>
            </a:r>
          </a:p>
        </p:txBody>
      </p:sp>
      <p:sp>
        <p:nvSpPr>
          <p:cNvPr id="26" name="Text Placeholder 17">
            <a:extLst>
              <a:ext uri="{FF2B5EF4-FFF2-40B4-BE49-F238E27FC236}">
                <a16:creationId xmlns:a16="http://schemas.microsoft.com/office/drawing/2014/main" id="{9E68F4C7-3554-5D4C-913D-50297F0FC39A}"/>
              </a:ext>
            </a:extLst>
          </p:cNvPr>
          <p:cNvSpPr>
            <a:spLocks noGrp="1"/>
          </p:cNvSpPr>
          <p:nvPr>
            <p:ph type="body" sz="quarter" idx="14" hasCustomPrompt="1"/>
          </p:nvPr>
        </p:nvSpPr>
        <p:spPr>
          <a:xfrm>
            <a:off x="461623" y="5138624"/>
            <a:ext cx="9144000" cy="406276"/>
          </a:xfrm>
          <a:solidFill>
            <a:srgbClr val="00396B"/>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Thesis 3</a:t>
            </a:r>
          </a:p>
        </p:txBody>
      </p:sp>
    </p:spTree>
    <p:extLst>
      <p:ext uri="{BB962C8B-B14F-4D97-AF65-F5344CB8AC3E}">
        <p14:creationId xmlns:p14="http://schemas.microsoft.com/office/powerpoint/2010/main" val="4213758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esis - 4">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solidFill>
                  <a:srgbClr val="000000"/>
                </a:solidFill>
              </a:defRPr>
            </a:lvl1pPr>
          </a:lstStyle>
          <a:p>
            <a:r>
              <a:rPr lang="en-US"/>
              <a:t>Click to edit Master title style</a:t>
            </a:r>
          </a:p>
        </p:txBody>
      </p:sp>
      <p:sp>
        <p:nvSpPr>
          <p:cNvPr id="3" name="Content Placeholder 2"/>
          <p:cNvSpPr>
            <a:spLocks noGrp="1"/>
          </p:cNvSpPr>
          <p:nvPr>
            <p:ph idx="1"/>
          </p:nvPr>
        </p:nvSpPr>
        <p:spPr>
          <a:xfrm>
            <a:off x="461623" y="1861739"/>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E1362DE0-9DB5-F048-9000-A28AAE015CB4}"/>
              </a:ext>
            </a:extLst>
          </p:cNvPr>
          <p:cNvSpPr>
            <a:spLocks noGrp="1"/>
          </p:cNvSpPr>
          <p:nvPr>
            <p:ph type="body" sz="quarter" idx="10" hasCustomPrompt="1"/>
          </p:nvPr>
        </p:nvSpPr>
        <p:spPr>
          <a:xfrm>
            <a:off x="461623" y="1363874"/>
            <a:ext cx="9144000" cy="406276"/>
          </a:xfrm>
          <a:solidFill>
            <a:schemeClr val="tx1"/>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Thesis 1</a:t>
            </a:r>
          </a:p>
        </p:txBody>
      </p:sp>
      <p:sp>
        <p:nvSpPr>
          <p:cNvPr id="17" name="Content Placeholder 2">
            <a:extLst>
              <a:ext uri="{FF2B5EF4-FFF2-40B4-BE49-F238E27FC236}">
                <a16:creationId xmlns:a16="http://schemas.microsoft.com/office/drawing/2014/main" id="{7F888BDF-270C-3744-9477-0027C95CB9C3}"/>
              </a:ext>
            </a:extLst>
          </p:cNvPr>
          <p:cNvSpPr>
            <a:spLocks noGrp="1"/>
          </p:cNvSpPr>
          <p:nvPr>
            <p:ph idx="18"/>
          </p:nvPr>
        </p:nvSpPr>
        <p:spPr>
          <a:xfrm>
            <a:off x="461623" y="3276096"/>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19" name="Text Placeholder 17">
            <a:extLst>
              <a:ext uri="{FF2B5EF4-FFF2-40B4-BE49-F238E27FC236}">
                <a16:creationId xmlns:a16="http://schemas.microsoft.com/office/drawing/2014/main" id="{72CAFC95-4FAB-7047-8376-B14AA3EFF853}"/>
              </a:ext>
            </a:extLst>
          </p:cNvPr>
          <p:cNvSpPr>
            <a:spLocks noGrp="1"/>
          </p:cNvSpPr>
          <p:nvPr>
            <p:ph type="body" sz="quarter" idx="19" hasCustomPrompt="1"/>
          </p:nvPr>
        </p:nvSpPr>
        <p:spPr>
          <a:xfrm>
            <a:off x="461623" y="2778231"/>
            <a:ext cx="9144000" cy="406276"/>
          </a:xfrm>
          <a:solidFill>
            <a:srgbClr val="1E1F49"/>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Thesis 2</a:t>
            </a:r>
          </a:p>
        </p:txBody>
      </p:sp>
      <p:sp>
        <p:nvSpPr>
          <p:cNvPr id="20" name="Content Placeholder 2">
            <a:extLst>
              <a:ext uri="{FF2B5EF4-FFF2-40B4-BE49-F238E27FC236}">
                <a16:creationId xmlns:a16="http://schemas.microsoft.com/office/drawing/2014/main" id="{620B3B2A-097F-E940-B8EA-42E044EF705F}"/>
              </a:ext>
            </a:extLst>
          </p:cNvPr>
          <p:cNvSpPr>
            <a:spLocks noGrp="1"/>
          </p:cNvSpPr>
          <p:nvPr>
            <p:ph idx="20"/>
          </p:nvPr>
        </p:nvSpPr>
        <p:spPr>
          <a:xfrm>
            <a:off x="461623" y="4683453"/>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21" name="Text Placeholder 17">
            <a:extLst>
              <a:ext uri="{FF2B5EF4-FFF2-40B4-BE49-F238E27FC236}">
                <a16:creationId xmlns:a16="http://schemas.microsoft.com/office/drawing/2014/main" id="{BF77D6F2-3E1E-224A-95E0-6210AE7E8DF1}"/>
              </a:ext>
            </a:extLst>
          </p:cNvPr>
          <p:cNvSpPr>
            <a:spLocks noGrp="1"/>
          </p:cNvSpPr>
          <p:nvPr>
            <p:ph type="body" sz="quarter" idx="21" hasCustomPrompt="1"/>
          </p:nvPr>
        </p:nvSpPr>
        <p:spPr>
          <a:xfrm>
            <a:off x="461623" y="4185588"/>
            <a:ext cx="9144000" cy="406276"/>
          </a:xfrm>
          <a:solidFill>
            <a:srgbClr val="00396B"/>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Thesis 3</a:t>
            </a:r>
          </a:p>
        </p:txBody>
      </p:sp>
      <p:sp>
        <p:nvSpPr>
          <p:cNvPr id="22" name="Content Placeholder 2">
            <a:extLst>
              <a:ext uri="{FF2B5EF4-FFF2-40B4-BE49-F238E27FC236}">
                <a16:creationId xmlns:a16="http://schemas.microsoft.com/office/drawing/2014/main" id="{26D08498-2A1F-2E43-92C4-090023909B1F}"/>
              </a:ext>
            </a:extLst>
          </p:cNvPr>
          <p:cNvSpPr>
            <a:spLocks noGrp="1"/>
          </p:cNvSpPr>
          <p:nvPr>
            <p:ph idx="22"/>
          </p:nvPr>
        </p:nvSpPr>
        <p:spPr>
          <a:xfrm>
            <a:off x="461623" y="6097095"/>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27" name="Text Placeholder 17">
            <a:extLst>
              <a:ext uri="{FF2B5EF4-FFF2-40B4-BE49-F238E27FC236}">
                <a16:creationId xmlns:a16="http://schemas.microsoft.com/office/drawing/2014/main" id="{BB86CB22-3FD0-4E42-9129-5FFEC60AEF40}"/>
              </a:ext>
            </a:extLst>
          </p:cNvPr>
          <p:cNvSpPr>
            <a:spLocks noGrp="1"/>
          </p:cNvSpPr>
          <p:nvPr>
            <p:ph type="body" sz="quarter" idx="23" hasCustomPrompt="1"/>
          </p:nvPr>
        </p:nvSpPr>
        <p:spPr>
          <a:xfrm>
            <a:off x="461623" y="5599230"/>
            <a:ext cx="9144000" cy="406276"/>
          </a:xfrm>
          <a:solidFill>
            <a:srgbClr val="005EB4"/>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Thesis 4</a:t>
            </a:r>
          </a:p>
        </p:txBody>
      </p:sp>
    </p:spTree>
    <p:extLst>
      <p:ext uri="{BB962C8B-B14F-4D97-AF65-F5344CB8AC3E}">
        <p14:creationId xmlns:p14="http://schemas.microsoft.com/office/powerpoint/2010/main" val="3715010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p Accent">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solidFill>
                  <a:srgbClr val="000000"/>
                </a:solidFill>
              </a:defRPr>
            </a:lvl1pPr>
          </a:lstStyle>
          <a:p>
            <a:r>
              <a:rPr lang="en-US"/>
              <a:t>Click to edit Master title style</a:t>
            </a:r>
          </a:p>
        </p:txBody>
      </p:sp>
      <p:sp>
        <p:nvSpPr>
          <p:cNvPr id="3" name="Content Placeholder 2"/>
          <p:cNvSpPr>
            <a:spLocks noGrp="1"/>
          </p:cNvSpPr>
          <p:nvPr>
            <p:ph idx="1"/>
          </p:nvPr>
        </p:nvSpPr>
        <p:spPr>
          <a:xfrm>
            <a:off x="461623" y="2381929"/>
            <a:ext cx="9144000" cy="3876984"/>
          </a:xfrm>
        </p:spPr>
        <p:txBody>
          <a:bodyPr/>
          <a:lstStyle>
            <a:lvl1pPr>
              <a:spcBef>
                <a:spcPts val="500"/>
              </a:spcBef>
              <a:defRPr sz="1600"/>
            </a:lvl1pPr>
            <a:lvl2pPr>
              <a:spcBef>
                <a:spcPts val="500"/>
              </a:spcBef>
              <a:defRPr sz="1600"/>
            </a:lvl2pPr>
            <a:lvl3pPr>
              <a:spcBef>
                <a:spcPts val="500"/>
              </a:spcBef>
              <a:defRPr sz="1600"/>
            </a:lvl3pPr>
          </a:lstStyle>
          <a:p>
            <a:pPr lvl="0"/>
            <a:r>
              <a:rPr lang="en-US"/>
              <a:t>Click to edit Master text styles</a:t>
            </a:r>
          </a:p>
          <a:p>
            <a:pPr lvl="1"/>
            <a:r>
              <a:rPr lang="en-US"/>
              <a:t>Second level</a:t>
            </a:r>
          </a:p>
          <a:p>
            <a:pPr lvl="2"/>
            <a:r>
              <a:rPr lang="en-US"/>
              <a:t>Third level</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E1362DE0-9DB5-F048-9000-A28AAE015CB4}"/>
              </a:ext>
            </a:extLst>
          </p:cNvPr>
          <p:cNvSpPr>
            <a:spLocks noGrp="1"/>
          </p:cNvSpPr>
          <p:nvPr>
            <p:ph type="body" sz="quarter" idx="10" hasCustomPrompt="1"/>
          </p:nvPr>
        </p:nvSpPr>
        <p:spPr>
          <a:xfrm>
            <a:off x="461623" y="1310087"/>
            <a:ext cx="9144000" cy="906610"/>
          </a:xfrm>
          <a:solidFill>
            <a:schemeClr val="accent3">
              <a:lumMod val="20000"/>
              <a:lumOff val="80000"/>
            </a:schemeClr>
          </a:solidFill>
          <a:ln w="12700">
            <a:solidFill>
              <a:srgbClr val="1E1F49"/>
            </a:solidFill>
          </a:ln>
        </p:spPr>
        <p:txBody>
          <a:bodyPr anchor="ctr">
            <a:normAutofit/>
          </a:bodyPr>
          <a:lstStyle>
            <a:lvl1pPr marL="0" indent="0" algn="ctr">
              <a:buNone/>
              <a:defRPr sz="1600" b="1">
                <a:solidFill>
                  <a:schemeClr val="tx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Accented text</a:t>
            </a:r>
          </a:p>
        </p:txBody>
      </p:sp>
      <p:sp>
        <p:nvSpPr>
          <p:cNvPr id="20" name="Text Placeholder 9">
            <a:extLst>
              <a:ext uri="{FF2B5EF4-FFF2-40B4-BE49-F238E27FC236}">
                <a16:creationId xmlns:a16="http://schemas.microsoft.com/office/drawing/2014/main" id="{25F127EF-AED8-1F4E-96A3-F0DE32E172A2}"/>
              </a:ext>
            </a:extLst>
          </p:cNvPr>
          <p:cNvSpPr>
            <a:spLocks noGrp="1"/>
          </p:cNvSpPr>
          <p:nvPr>
            <p:ph type="body" sz="quarter" idx="20" hasCustomPrompt="1"/>
          </p:nvPr>
        </p:nvSpPr>
        <p:spPr>
          <a:xfrm>
            <a:off x="463868" y="6362339"/>
            <a:ext cx="9144000" cy="646113"/>
          </a:xfrm>
        </p:spPr>
        <p:txBody>
          <a:bodyPr>
            <a:normAutofit/>
          </a:bodyPr>
          <a:lstStyle>
            <a:lvl1pPr marL="0" indent="0">
              <a:spcBef>
                <a:spcPts val="0"/>
              </a:spcBef>
              <a:buNone/>
              <a:defRPr sz="1000"/>
            </a:lvl1pPr>
          </a:lstStyle>
          <a:p>
            <a:pPr lvl="0"/>
            <a:r>
              <a:rPr lang="en-US"/>
              <a:t>Click to edit footnotes</a:t>
            </a:r>
          </a:p>
        </p:txBody>
      </p:sp>
    </p:spTree>
    <p:extLst>
      <p:ext uri="{BB962C8B-B14F-4D97-AF65-F5344CB8AC3E}">
        <p14:creationId xmlns:p14="http://schemas.microsoft.com/office/powerpoint/2010/main" val="1196366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3" name="Content Placeholder 2"/>
          <p:cNvSpPr>
            <a:spLocks noGrp="1"/>
          </p:cNvSpPr>
          <p:nvPr>
            <p:ph idx="1"/>
          </p:nvPr>
        </p:nvSpPr>
        <p:spPr>
          <a:xfrm>
            <a:off x="461623" y="1700360"/>
            <a:ext cx="9144000" cy="4558553"/>
          </a:xfrm>
        </p:spPr>
        <p:txBody>
          <a:bodyPr/>
          <a:lstStyle>
            <a:lvl1pPr>
              <a:spcBef>
                <a:spcPts val="500"/>
              </a:spcBef>
              <a:defRPr sz="1600"/>
            </a:lvl1pPr>
            <a:lvl2pPr>
              <a:spcBef>
                <a:spcPts val="500"/>
              </a:spcBef>
              <a:defRPr sz="1600"/>
            </a:lvl2pPr>
            <a:lvl3pPr>
              <a:spcBef>
                <a:spcPts val="500"/>
              </a:spcBef>
              <a:defRPr sz="1600"/>
            </a:lvl3pPr>
          </a:lstStyle>
          <a:p>
            <a:pPr lvl="0"/>
            <a:r>
              <a:rPr lang="en-US"/>
              <a:t>Click to edit Master text styles</a:t>
            </a:r>
          </a:p>
          <a:p>
            <a:pPr lvl="1"/>
            <a:r>
              <a:rPr lang="en-US"/>
              <a:t>Second level</a:t>
            </a:r>
          </a:p>
          <a:p>
            <a:pPr lvl="2"/>
            <a:r>
              <a:rPr lang="en-US"/>
              <a:t>Third level</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17" name="Text Placeholder 9">
            <a:extLst>
              <a:ext uri="{FF2B5EF4-FFF2-40B4-BE49-F238E27FC236}">
                <a16:creationId xmlns:a16="http://schemas.microsoft.com/office/drawing/2014/main" id="{DCADB605-1EB6-AF40-80F8-6586849D82E7}"/>
              </a:ext>
            </a:extLst>
          </p:cNvPr>
          <p:cNvSpPr>
            <a:spLocks noGrp="1"/>
          </p:cNvSpPr>
          <p:nvPr>
            <p:ph type="body" sz="quarter" idx="20" hasCustomPrompt="1"/>
          </p:nvPr>
        </p:nvSpPr>
        <p:spPr>
          <a:xfrm>
            <a:off x="463868" y="6362339"/>
            <a:ext cx="9144000" cy="646113"/>
          </a:xfrm>
        </p:spPr>
        <p:txBody>
          <a:bodyPr>
            <a:normAutofit/>
          </a:bodyPr>
          <a:lstStyle>
            <a:lvl1pPr marL="0" indent="0">
              <a:spcBef>
                <a:spcPts val="0"/>
              </a:spcBef>
              <a:buNone/>
              <a:defRPr sz="1000"/>
            </a:lvl1pPr>
          </a:lstStyle>
          <a:p>
            <a:pPr lvl="0"/>
            <a:r>
              <a:rPr lang="en-US"/>
              <a:t>Click to edit footnotes</a:t>
            </a:r>
          </a:p>
        </p:txBody>
      </p:sp>
    </p:spTree>
    <p:extLst>
      <p:ext uri="{BB962C8B-B14F-4D97-AF65-F5344CB8AC3E}">
        <p14:creationId xmlns:p14="http://schemas.microsoft.com/office/powerpoint/2010/main" val="1279484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rt and Label">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hasCustomPrompt="1"/>
          </p:nvPr>
        </p:nvSpPr>
        <p:spPr>
          <a:xfrm>
            <a:off x="461623" y="2196765"/>
            <a:ext cx="9144000" cy="4068760"/>
          </a:xfrm>
        </p:spPr>
        <p:txBody>
          <a:bodyPr>
            <a:normAutofit/>
          </a:bodyPr>
          <a:lstStyle>
            <a:lvl1pPr marL="285750" indent="-285750">
              <a:spcBef>
                <a:spcPts val="500"/>
              </a:spcBef>
              <a:buFont typeface="Wingdings" pitchFamily="2" charset="2"/>
              <a:buChar char="§"/>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Add chart here</a:t>
            </a:r>
          </a:p>
          <a:p>
            <a:pPr lvl="1"/>
            <a:r>
              <a:rPr lang="en-US"/>
              <a:t>Add chart here</a:t>
            </a:r>
          </a:p>
          <a:p>
            <a:pPr lvl="2"/>
            <a:r>
              <a:rPr lang="en-US"/>
              <a:t>Add chart here</a:t>
            </a:r>
          </a:p>
        </p:txBody>
      </p:sp>
      <p:sp>
        <p:nvSpPr>
          <p:cNvPr id="20" name="Content1">
            <a:extLst>
              <a:ext uri="{FF2B5EF4-FFF2-40B4-BE49-F238E27FC236}">
                <a16:creationId xmlns:a16="http://schemas.microsoft.com/office/drawing/2014/main" id="{EB63E8DE-D5EE-D94E-9B89-329C49D42128}"/>
              </a:ext>
            </a:extLst>
          </p:cNvPr>
          <p:cNvSpPr>
            <a:spLocks noGrp="1"/>
          </p:cNvSpPr>
          <p:nvPr>
            <p:ph idx="19" hasCustomPrompt="1"/>
          </p:nvPr>
        </p:nvSpPr>
        <p:spPr>
          <a:xfrm>
            <a:off x="461623" y="1796496"/>
            <a:ext cx="9144000"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17" name="Text Placeholder 9">
            <a:extLst>
              <a:ext uri="{FF2B5EF4-FFF2-40B4-BE49-F238E27FC236}">
                <a16:creationId xmlns:a16="http://schemas.microsoft.com/office/drawing/2014/main" id="{C18D25F3-67CB-3540-809D-DB3D590DF73B}"/>
              </a:ext>
            </a:extLst>
          </p:cNvPr>
          <p:cNvSpPr>
            <a:spLocks noGrp="1"/>
          </p:cNvSpPr>
          <p:nvPr>
            <p:ph type="body" sz="quarter" idx="20" hasCustomPrompt="1"/>
          </p:nvPr>
        </p:nvSpPr>
        <p:spPr>
          <a:xfrm>
            <a:off x="463868" y="6362339"/>
            <a:ext cx="9144000" cy="646113"/>
          </a:xfrm>
        </p:spPr>
        <p:txBody>
          <a:bodyPr>
            <a:normAutofit/>
          </a:bodyPr>
          <a:lstStyle>
            <a:lvl1pPr marL="0" indent="0">
              <a:spcBef>
                <a:spcPts val="0"/>
              </a:spcBef>
              <a:buNone/>
              <a:defRPr sz="1000"/>
            </a:lvl1pPr>
          </a:lstStyle>
          <a:p>
            <a:pPr lvl="0"/>
            <a:r>
              <a:rPr lang="en-US"/>
              <a:t>Click to edit footnotes</a:t>
            </a:r>
          </a:p>
        </p:txBody>
      </p:sp>
    </p:spTree>
    <p:extLst>
      <p:ext uri="{BB962C8B-B14F-4D97-AF65-F5344CB8AC3E}">
        <p14:creationId xmlns:p14="http://schemas.microsoft.com/office/powerpoint/2010/main" val="740508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Titles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3" name="Content Placeholder 2"/>
          <p:cNvSpPr>
            <a:spLocks noGrp="1"/>
          </p:cNvSpPr>
          <p:nvPr>
            <p:ph idx="1"/>
          </p:nvPr>
        </p:nvSpPr>
        <p:spPr>
          <a:xfrm>
            <a:off x="461623" y="1700360"/>
            <a:ext cx="9144000" cy="1957241"/>
          </a:xfrm>
        </p:spPr>
        <p:txBody>
          <a:bodyPr/>
          <a:lstStyle>
            <a:lvl1pPr>
              <a:spcBef>
                <a:spcPts val="500"/>
              </a:spcBef>
              <a:defRPr sz="1600"/>
            </a:lvl1pPr>
            <a:lvl2pPr>
              <a:spcBef>
                <a:spcPts val="500"/>
              </a:spcBef>
              <a:defRPr sz="1600"/>
            </a:lvl2pPr>
            <a:lvl3pPr>
              <a:spcBef>
                <a:spcPts val="500"/>
              </a:spcBef>
              <a:defRPr sz="1600"/>
            </a:lvl3pPr>
          </a:lstStyle>
          <a:p>
            <a:pPr lvl="0"/>
            <a:r>
              <a:rPr lang="en-US"/>
              <a:t>Click to edit Master text styles</a:t>
            </a:r>
          </a:p>
          <a:p>
            <a:pPr lvl="1"/>
            <a:r>
              <a:rPr lang="en-US"/>
              <a:t>Second level</a:t>
            </a:r>
          </a:p>
          <a:p>
            <a:pPr lvl="2"/>
            <a:r>
              <a:rPr lang="en-US"/>
              <a:t>Third level</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spcBef>
                <a:spcPts val="500"/>
              </a:spcBef>
              <a:buNone/>
              <a:defRPr sz="1800"/>
            </a:lvl1pPr>
          </a:lstStyle>
          <a:p>
            <a:pPr lvl="0"/>
            <a:r>
              <a:rPr lang="en-US"/>
              <a:t>Click to edit subtitle</a:t>
            </a:r>
          </a:p>
        </p:txBody>
      </p:sp>
      <p:sp>
        <p:nvSpPr>
          <p:cNvPr id="17" name="Content Placeholder 2">
            <a:extLst>
              <a:ext uri="{FF2B5EF4-FFF2-40B4-BE49-F238E27FC236}">
                <a16:creationId xmlns:a16="http://schemas.microsoft.com/office/drawing/2014/main" id="{CBC2C356-43E7-A149-B1E4-5A65A4EED3E8}"/>
              </a:ext>
            </a:extLst>
          </p:cNvPr>
          <p:cNvSpPr>
            <a:spLocks noGrp="1"/>
          </p:cNvSpPr>
          <p:nvPr>
            <p:ph idx="19"/>
          </p:nvPr>
        </p:nvSpPr>
        <p:spPr>
          <a:xfrm>
            <a:off x="461623" y="5073866"/>
            <a:ext cx="9144000" cy="1957241"/>
          </a:xfrm>
        </p:spPr>
        <p:txBody>
          <a:bodyPr/>
          <a:lstStyle>
            <a:lvl1pPr>
              <a:spcBef>
                <a:spcPts val="500"/>
              </a:spcBef>
              <a:defRPr sz="1600"/>
            </a:lvl1pPr>
            <a:lvl2pPr>
              <a:spcBef>
                <a:spcPts val="500"/>
              </a:spcBef>
              <a:defRPr sz="1600"/>
            </a:lvl2pPr>
            <a:lvl3pPr>
              <a:spcBef>
                <a:spcPts val="500"/>
              </a:spcBef>
              <a:defRPr sz="1600"/>
            </a:lvl3pPr>
          </a:lstStyle>
          <a:p>
            <a:pPr lvl="0"/>
            <a:r>
              <a:rPr lang="en-US"/>
              <a:t>Click to edit Master text styles</a:t>
            </a:r>
          </a:p>
          <a:p>
            <a:pPr lvl="1"/>
            <a:r>
              <a:rPr lang="en-US"/>
              <a:t>Second level</a:t>
            </a:r>
          </a:p>
          <a:p>
            <a:pPr lvl="2"/>
            <a:r>
              <a:rPr lang="en-US"/>
              <a:t>Third level</a:t>
            </a:r>
          </a:p>
        </p:txBody>
      </p:sp>
      <p:sp>
        <p:nvSpPr>
          <p:cNvPr id="18" name="Rectangle 17">
            <a:extLst>
              <a:ext uri="{FF2B5EF4-FFF2-40B4-BE49-F238E27FC236}">
                <a16:creationId xmlns:a16="http://schemas.microsoft.com/office/drawing/2014/main" id="{D95DBF9A-5BC8-2547-A32A-C76713AFD6BF}"/>
              </a:ext>
            </a:extLst>
          </p:cNvPr>
          <p:cNvSpPr/>
          <p:nvPr userDrawn="1"/>
        </p:nvSpPr>
        <p:spPr>
          <a:xfrm>
            <a:off x="461623" y="4518359"/>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9" name="Rectangle 18">
            <a:extLst>
              <a:ext uri="{FF2B5EF4-FFF2-40B4-BE49-F238E27FC236}">
                <a16:creationId xmlns:a16="http://schemas.microsoft.com/office/drawing/2014/main" id="{89B73027-7C0E-C742-9259-2DB16F884C74}"/>
              </a:ext>
            </a:extLst>
          </p:cNvPr>
          <p:cNvSpPr/>
          <p:nvPr userDrawn="1"/>
        </p:nvSpPr>
        <p:spPr>
          <a:xfrm>
            <a:off x="298219" y="4051944"/>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958CA2-1AEA-CD49-817A-B8F12997BFCA}"/>
              </a:ext>
            </a:extLst>
          </p:cNvPr>
          <p:cNvSpPr/>
          <p:nvPr userDrawn="1"/>
        </p:nvSpPr>
        <p:spPr>
          <a:xfrm>
            <a:off x="9614923" y="4051944"/>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4">
            <a:extLst>
              <a:ext uri="{FF2B5EF4-FFF2-40B4-BE49-F238E27FC236}">
                <a16:creationId xmlns:a16="http://schemas.microsoft.com/office/drawing/2014/main" id="{1745963F-55C7-2C49-BE24-284569DDA276}"/>
              </a:ext>
            </a:extLst>
          </p:cNvPr>
          <p:cNvSpPr>
            <a:spLocks noGrp="1"/>
          </p:cNvSpPr>
          <p:nvPr>
            <p:ph type="body" sz="quarter" idx="20" hasCustomPrompt="1"/>
          </p:nvPr>
        </p:nvSpPr>
        <p:spPr>
          <a:xfrm>
            <a:off x="461623" y="4622335"/>
            <a:ext cx="9144000" cy="355600"/>
          </a:xfrm>
        </p:spPr>
        <p:txBody>
          <a:bodyPr lIns="0" tIns="0" rIns="0" bIns="0" anchor="t">
            <a:normAutofit/>
          </a:bodyPr>
          <a:lstStyle>
            <a:lvl1pPr marL="0" indent="0">
              <a:spcBef>
                <a:spcPts val="500"/>
              </a:spcBef>
              <a:buNone/>
              <a:defRPr sz="1800"/>
            </a:lvl1pPr>
          </a:lstStyle>
          <a:p>
            <a:pPr lvl="0"/>
            <a:r>
              <a:rPr lang="en-US"/>
              <a:t>Click to edit subtitle</a:t>
            </a:r>
          </a:p>
        </p:txBody>
      </p:sp>
      <p:sp>
        <p:nvSpPr>
          <p:cNvPr id="22" name="Text Placeholder 21">
            <a:extLst>
              <a:ext uri="{FF2B5EF4-FFF2-40B4-BE49-F238E27FC236}">
                <a16:creationId xmlns:a16="http://schemas.microsoft.com/office/drawing/2014/main" id="{9FCA511B-C784-6D48-AA86-039EDD4B3543}"/>
              </a:ext>
            </a:extLst>
          </p:cNvPr>
          <p:cNvSpPr>
            <a:spLocks noGrp="1"/>
          </p:cNvSpPr>
          <p:nvPr>
            <p:ph type="body" sz="quarter" idx="21" hasCustomPrompt="1"/>
          </p:nvPr>
        </p:nvSpPr>
        <p:spPr>
          <a:xfrm>
            <a:off x="463929" y="3722932"/>
            <a:ext cx="9144000" cy="731520"/>
          </a:xfrm>
        </p:spPr>
        <p:txBody>
          <a:bodyPr lIns="0" tIns="0" rIns="0" bIns="0" anchor="b">
            <a:normAutofit/>
          </a:bodyPr>
          <a:lstStyle>
            <a:lvl1pPr marL="0" indent="0">
              <a:buNone/>
              <a:defRPr sz="2800">
                <a:latin typeface="+mj-lt"/>
              </a:defRPr>
            </a:lvl1pPr>
          </a:lstStyle>
          <a:p>
            <a:pPr lvl="0"/>
            <a:r>
              <a:rPr lang="en-US"/>
              <a:t>Click to edit Master title style</a:t>
            </a:r>
          </a:p>
        </p:txBody>
      </p:sp>
    </p:spTree>
    <p:extLst>
      <p:ext uri="{BB962C8B-B14F-4D97-AF65-F5344CB8AC3E}">
        <p14:creationId xmlns:p14="http://schemas.microsoft.com/office/powerpoint/2010/main" val="433246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Subsections">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p:nvPr>
        </p:nvSpPr>
        <p:spPr>
          <a:xfrm>
            <a:off x="461623" y="1697463"/>
            <a:ext cx="9144000" cy="1429785"/>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2">
            <a:extLst>
              <a:ext uri="{FF2B5EF4-FFF2-40B4-BE49-F238E27FC236}">
                <a16:creationId xmlns:a16="http://schemas.microsoft.com/office/drawing/2014/main" id="{514BEE0B-5D43-414C-AFBF-36F61DE4825F}"/>
              </a:ext>
            </a:extLst>
          </p:cNvPr>
          <p:cNvSpPr>
            <a:spLocks noGrp="1"/>
          </p:cNvSpPr>
          <p:nvPr>
            <p:ph sz="quarter" idx="11"/>
          </p:nvPr>
        </p:nvSpPr>
        <p:spPr>
          <a:xfrm>
            <a:off x="461623" y="3590441"/>
            <a:ext cx="4462272" cy="3418894"/>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4">
            <a:extLst>
              <a:ext uri="{FF2B5EF4-FFF2-40B4-BE49-F238E27FC236}">
                <a16:creationId xmlns:a16="http://schemas.microsoft.com/office/drawing/2014/main" id="{BDF34319-A32E-3B43-BA2D-1E51BE33E076}"/>
              </a:ext>
            </a:extLst>
          </p:cNvPr>
          <p:cNvSpPr>
            <a:spLocks noGrp="1"/>
          </p:cNvSpPr>
          <p:nvPr>
            <p:ph sz="quarter" idx="13"/>
          </p:nvPr>
        </p:nvSpPr>
        <p:spPr>
          <a:xfrm>
            <a:off x="5152651" y="3590441"/>
            <a:ext cx="4462272" cy="3418894"/>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1">
            <a:extLst>
              <a:ext uri="{FF2B5EF4-FFF2-40B4-BE49-F238E27FC236}">
                <a16:creationId xmlns:a16="http://schemas.microsoft.com/office/drawing/2014/main" id="{5F96F686-6726-D140-A091-DADE6ED8B815}"/>
              </a:ext>
            </a:extLst>
          </p:cNvPr>
          <p:cNvSpPr>
            <a:spLocks noGrp="1"/>
          </p:cNvSpPr>
          <p:nvPr>
            <p:ph idx="21" hasCustomPrompt="1"/>
          </p:nvPr>
        </p:nvSpPr>
        <p:spPr>
          <a:xfrm>
            <a:off x="461623" y="3256001"/>
            <a:ext cx="4462272"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marL="0" marR="0" lvl="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a:pPr>
            <a:r>
              <a:rPr lang="en-US"/>
              <a:t>Click to edit section title</a:t>
            </a:r>
          </a:p>
        </p:txBody>
      </p:sp>
      <p:sp>
        <p:nvSpPr>
          <p:cNvPr id="23" name="Content1">
            <a:extLst>
              <a:ext uri="{FF2B5EF4-FFF2-40B4-BE49-F238E27FC236}">
                <a16:creationId xmlns:a16="http://schemas.microsoft.com/office/drawing/2014/main" id="{BA9A4183-D676-264B-9F00-3DB87FCD9B78}"/>
              </a:ext>
            </a:extLst>
          </p:cNvPr>
          <p:cNvSpPr>
            <a:spLocks noGrp="1"/>
          </p:cNvSpPr>
          <p:nvPr>
            <p:ph idx="22" hasCustomPrompt="1"/>
          </p:nvPr>
        </p:nvSpPr>
        <p:spPr>
          <a:xfrm>
            <a:off x="5152651" y="3258980"/>
            <a:ext cx="4463745"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marL="0" marR="0" lvl="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a:pPr>
            <a:r>
              <a:rPr lang="en-US"/>
              <a:t>Click to edit section title</a:t>
            </a:r>
          </a:p>
        </p:txBody>
      </p:sp>
    </p:spTree>
    <p:extLst>
      <p:ext uri="{BB962C8B-B14F-4D97-AF65-F5344CB8AC3E}">
        <p14:creationId xmlns:p14="http://schemas.microsoft.com/office/powerpoint/2010/main" val="1377836837"/>
      </p:ext>
    </p:extLst>
  </p:cSld>
  <p:clrMapOvr>
    <a:masterClrMapping/>
  </p:clrMapOvr>
  <p:extLst>
    <p:ext uri="{DCECCB84-F9BA-43D5-87BE-67443E8EF086}">
      <p15:sldGuideLst xmlns:p15="http://schemas.microsoft.com/office/powerpoint/2012/main">
        <p15:guide id="1" orient="horz" pos="2448" userDrawn="1">
          <p15:clr>
            <a:srgbClr val="FBAE40"/>
          </p15:clr>
        </p15:guide>
        <p15:guide id="2" pos="316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x 2">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p:nvPr>
        </p:nvSpPr>
        <p:spPr>
          <a:xfrm>
            <a:off x="461623" y="2227815"/>
            <a:ext cx="4462272" cy="1965960"/>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2">
            <a:extLst>
              <a:ext uri="{FF2B5EF4-FFF2-40B4-BE49-F238E27FC236}">
                <a16:creationId xmlns:a16="http://schemas.microsoft.com/office/drawing/2014/main" id="{514BEE0B-5D43-414C-AFBF-36F61DE4825F}"/>
              </a:ext>
            </a:extLst>
          </p:cNvPr>
          <p:cNvSpPr>
            <a:spLocks noGrp="1"/>
          </p:cNvSpPr>
          <p:nvPr>
            <p:ph sz="quarter" idx="11"/>
          </p:nvPr>
        </p:nvSpPr>
        <p:spPr>
          <a:xfrm>
            <a:off x="461623" y="4733441"/>
            <a:ext cx="4462272"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3">
            <a:extLst>
              <a:ext uri="{FF2B5EF4-FFF2-40B4-BE49-F238E27FC236}">
                <a16:creationId xmlns:a16="http://schemas.microsoft.com/office/drawing/2014/main" id="{57A3F90F-8AEC-8140-88CE-384C3628EA4D}"/>
              </a:ext>
            </a:extLst>
          </p:cNvPr>
          <p:cNvSpPr>
            <a:spLocks noGrp="1"/>
          </p:cNvSpPr>
          <p:nvPr>
            <p:ph sz="quarter" idx="12"/>
          </p:nvPr>
        </p:nvSpPr>
        <p:spPr>
          <a:xfrm>
            <a:off x="5152651" y="2226596"/>
            <a:ext cx="4464119"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4">
            <a:extLst>
              <a:ext uri="{FF2B5EF4-FFF2-40B4-BE49-F238E27FC236}">
                <a16:creationId xmlns:a16="http://schemas.microsoft.com/office/drawing/2014/main" id="{BDF34319-A32E-3B43-BA2D-1E51BE33E076}"/>
              </a:ext>
            </a:extLst>
          </p:cNvPr>
          <p:cNvSpPr>
            <a:spLocks noGrp="1"/>
          </p:cNvSpPr>
          <p:nvPr>
            <p:ph sz="quarter" idx="13"/>
          </p:nvPr>
        </p:nvSpPr>
        <p:spPr>
          <a:xfrm>
            <a:off x="5152651" y="4733441"/>
            <a:ext cx="4462272"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1">
            <a:extLst>
              <a:ext uri="{FF2B5EF4-FFF2-40B4-BE49-F238E27FC236}">
                <a16:creationId xmlns:a16="http://schemas.microsoft.com/office/drawing/2014/main" id="{EB63E8DE-D5EE-D94E-9B89-329C49D42128}"/>
              </a:ext>
            </a:extLst>
          </p:cNvPr>
          <p:cNvSpPr>
            <a:spLocks noGrp="1"/>
          </p:cNvSpPr>
          <p:nvPr>
            <p:ph idx="19" hasCustomPrompt="1"/>
          </p:nvPr>
        </p:nvSpPr>
        <p:spPr>
          <a:xfrm>
            <a:off x="461623" y="1901426"/>
            <a:ext cx="4462272"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1" name="Content1">
            <a:extLst>
              <a:ext uri="{FF2B5EF4-FFF2-40B4-BE49-F238E27FC236}">
                <a16:creationId xmlns:a16="http://schemas.microsoft.com/office/drawing/2014/main" id="{8767744D-A52A-2E44-86CA-B80571845821}"/>
              </a:ext>
            </a:extLst>
          </p:cNvPr>
          <p:cNvSpPr>
            <a:spLocks noGrp="1"/>
          </p:cNvSpPr>
          <p:nvPr>
            <p:ph idx="20" hasCustomPrompt="1"/>
          </p:nvPr>
        </p:nvSpPr>
        <p:spPr>
          <a:xfrm>
            <a:off x="5152651" y="1901425"/>
            <a:ext cx="4462272"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2" name="Content1">
            <a:extLst>
              <a:ext uri="{FF2B5EF4-FFF2-40B4-BE49-F238E27FC236}">
                <a16:creationId xmlns:a16="http://schemas.microsoft.com/office/drawing/2014/main" id="{5F96F686-6726-D140-A091-DADE6ED8B815}"/>
              </a:ext>
            </a:extLst>
          </p:cNvPr>
          <p:cNvSpPr>
            <a:spLocks noGrp="1"/>
          </p:cNvSpPr>
          <p:nvPr>
            <p:ph idx="21" hasCustomPrompt="1"/>
          </p:nvPr>
        </p:nvSpPr>
        <p:spPr>
          <a:xfrm>
            <a:off x="461623" y="4408145"/>
            <a:ext cx="4462272"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marL="0" marR="0" lvl="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a:pPr>
            <a:r>
              <a:rPr lang="en-US"/>
              <a:t>Click to edit section title</a:t>
            </a:r>
          </a:p>
        </p:txBody>
      </p:sp>
      <p:sp>
        <p:nvSpPr>
          <p:cNvPr id="23" name="Content1">
            <a:extLst>
              <a:ext uri="{FF2B5EF4-FFF2-40B4-BE49-F238E27FC236}">
                <a16:creationId xmlns:a16="http://schemas.microsoft.com/office/drawing/2014/main" id="{BA9A4183-D676-264B-9F00-3DB87FCD9B78}"/>
              </a:ext>
            </a:extLst>
          </p:cNvPr>
          <p:cNvSpPr>
            <a:spLocks noGrp="1"/>
          </p:cNvSpPr>
          <p:nvPr>
            <p:ph idx="22" hasCustomPrompt="1"/>
          </p:nvPr>
        </p:nvSpPr>
        <p:spPr>
          <a:xfrm>
            <a:off x="5152651" y="4411124"/>
            <a:ext cx="4463745"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marL="0" marR="0" lvl="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a:pPr>
            <a:r>
              <a:rPr lang="en-US"/>
              <a:t>Click to edit section title</a:t>
            </a:r>
          </a:p>
        </p:txBody>
      </p:sp>
    </p:spTree>
    <p:extLst>
      <p:ext uri="{BB962C8B-B14F-4D97-AF65-F5344CB8AC3E}">
        <p14:creationId xmlns:p14="http://schemas.microsoft.com/office/powerpoint/2010/main" val="1386407906"/>
      </p:ext>
    </p:extLst>
  </p:cSld>
  <p:clrMapOvr>
    <a:masterClrMapping/>
  </p:clrMapOvr>
  <p:extLst>
    <p:ext uri="{DCECCB84-F9BA-43D5-87BE-67443E8EF086}">
      <p15:sldGuideLst xmlns:p15="http://schemas.microsoft.com/office/powerpoint/2012/main">
        <p15:guide id="1" orient="horz" pos="2448">
          <p15:clr>
            <a:srgbClr val="FBAE40"/>
          </p15:clr>
        </p15:guide>
        <p15:guide id="2" pos="316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x 2 with Sections">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26" name="Content1">
            <a:extLst>
              <a:ext uri="{FF2B5EF4-FFF2-40B4-BE49-F238E27FC236}">
                <a16:creationId xmlns:a16="http://schemas.microsoft.com/office/drawing/2014/main" id="{FF867276-BF0C-0646-BDFF-B60CEEBD7E88}"/>
              </a:ext>
            </a:extLst>
          </p:cNvPr>
          <p:cNvSpPr>
            <a:spLocks noGrp="1"/>
          </p:cNvSpPr>
          <p:nvPr>
            <p:ph idx="10"/>
          </p:nvPr>
        </p:nvSpPr>
        <p:spPr>
          <a:xfrm>
            <a:off x="461623" y="2513565"/>
            <a:ext cx="4462272" cy="1965960"/>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Content2">
            <a:extLst>
              <a:ext uri="{FF2B5EF4-FFF2-40B4-BE49-F238E27FC236}">
                <a16:creationId xmlns:a16="http://schemas.microsoft.com/office/drawing/2014/main" id="{AF342DA6-5680-9948-A594-8C6BE02E2EA3}"/>
              </a:ext>
            </a:extLst>
          </p:cNvPr>
          <p:cNvSpPr>
            <a:spLocks noGrp="1"/>
          </p:cNvSpPr>
          <p:nvPr>
            <p:ph sz="quarter" idx="11"/>
          </p:nvPr>
        </p:nvSpPr>
        <p:spPr>
          <a:xfrm>
            <a:off x="461623" y="5019191"/>
            <a:ext cx="4462272"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3">
            <a:extLst>
              <a:ext uri="{FF2B5EF4-FFF2-40B4-BE49-F238E27FC236}">
                <a16:creationId xmlns:a16="http://schemas.microsoft.com/office/drawing/2014/main" id="{C7644719-F620-F641-93B5-5345713BC0B6}"/>
              </a:ext>
            </a:extLst>
          </p:cNvPr>
          <p:cNvSpPr>
            <a:spLocks noGrp="1"/>
          </p:cNvSpPr>
          <p:nvPr>
            <p:ph sz="quarter" idx="12"/>
          </p:nvPr>
        </p:nvSpPr>
        <p:spPr>
          <a:xfrm>
            <a:off x="5152651" y="2512346"/>
            <a:ext cx="4464119"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4">
            <a:extLst>
              <a:ext uri="{FF2B5EF4-FFF2-40B4-BE49-F238E27FC236}">
                <a16:creationId xmlns:a16="http://schemas.microsoft.com/office/drawing/2014/main" id="{AC79F4F4-2130-EB45-92F0-E091F543461D}"/>
              </a:ext>
            </a:extLst>
          </p:cNvPr>
          <p:cNvSpPr>
            <a:spLocks noGrp="1"/>
          </p:cNvSpPr>
          <p:nvPr>
            <p:ph sz="quarter" idx="13"/>
          </p:nvPr>
        </p:nvSpPr>
        <p:spPr>
          <a:xfrm>
            <a:off x="5152651" y="5019191"/>
            <a:ext cx="4462272"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1">
            <a:extLst>
              <a:ext uri="{FF2B5EF4-FFF2-40B4-BE49-F238E27FC236}">
                <a16:creationId xmlns:a16="http://schemas.microsoft.com/office/drawing/2014/main" id="{E7752EB6-E402-3D43-9B90-2AAE6DB66545}"/>
              </a:ext>
            </a:extLst>
          </p:cNvPr>
          <p:cNvSpPr>
            <a:spLocks noGrp="1"/>
          </p:cNvSpPr>
          <p:nvPr>
            <p:ph idx="19" hasCustomPrompt="1"/>
          </p:nvPr>
        </p:nvSpPr>
        <p:spPr>
          <a:xfrm>
            <a:off x="461623" y="2187176"/>
            <a:ext cx="4462272" cy="304337"/>
          </a:xfrm>
          <a:solidFill>
            <a:srgbClr val="00396B"/>
          </a:solidFill>
          <a:ln>
            <a:noFill/>
          </a:ln>
        </p:spPr>
        <p:txBody>
          <a:bodyPr lIns="0" tIns="0" rIns="0" bIns="0" anchor="ctr">
            <a:normAutofit/>
          </a:bodyPr>
          <a:lstStyle>
            <a:lvl1pPr marL="0" indent="0" algn="ctr">
              <a:buNone/>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subsection title</a:t>
            </a:r>
          </a:p>
        </p:txBody>
      </p:sp>
      <p:sp>
        <p:nvSpPr>
          <p:cNvPr id="31" name="Content1">
            <a:extLst>
              <a:ext uri="{FF2B5EF4-FFF2-40B4-BE49-F238E27FC236}">
                <a16:creationId xmlns:a16="http://schemas.microsoft.com/office/drawing/2014/main" id="{E098FDFD-3CD1-1F43-91C4-9FC02217C9A9}"/>
              </a:ext>
            </a:extLst>
          </p:cNvPr>
          <p:cNvSpPr>
            <a:spLocks noGrp="1"/>
          </p:cNvSpPr>
          <p:nvPr>
            <p:ph idx="20" hasCustomPrompt="1"/>
          </p:nvPr>
        </p:nvSpPr>
        <p:spPr>
          <a:xfrm>
            <a:off x="5152651" y="2187175"/>
            <a:ext cx="4462272" cy="304337"/>
          </a:xfrm>
          <a:solidFill>
            <a:srgbClr val="00396B"/>
          </a:solidFill>
          <a:ln>
            <a:noFill/>
          </a:ln>
        </p:spPr>
        <p:txBody>
          <a:bodyPr lIns="0" tIns="0" rIns="0" bIns="0" anchor="ctr">
            <a:normAutofit/>
          </a:bodyPr>
          <a:lstStyle>
            <a:lvl1pPr marL="0" indent="0" algn="ctr">
              <a:buNone/>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subsection title</a:t>
            </a:r>
          </a:p>
        </p:txBody>
      </p:sp>
      <p:sp>
        <p:nvSpPr>
          <p:cNvPr id="33" name="Content1">
            <a:extLst>
              <a:ext uri="{FF2B5EF4-FFF2-40B4-BE49-F238E27FC236}">
                <a16:creationId xmlns:a16="http://schemas.microsoft.com/office/drawing/2014/main" id="{5773192E-4590-E142-831E-64A04DD2F344}"/>
              </a:ext>
            </a:extLst>
          </p:cNvPr>
          <p:cNvSpPr>
            <a:spLocks noGrp="1"/>
          </p:cNvSpPr>
          <p:nvPr>
            <p:ph idx="21" hasCustomPrompt="1"/>
          </p:nvPr>
        </p:nvSpPr>
        <p:spPr>
          <a:xfrm>
            <a:off x="461623" y="4693895"/>
            <a:ext cx="4462272" cy="304337"/>
          </a:xfrm>
          <a:solidFill>
            <a:srgbClr val="00396B"/>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marL="0" marR="0" lvl="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a:pPr>
            <a:r>
              <a:rPr lang="en-US"/>
              <a:t>Click to edit subsection title</a:t>
            </a:r>
          </a:p>
        </p:txBody>
      </p:sp>
      <p:sp>
        <p:nvSpPr>
          <p:cNvPr id="35" name="Content1">
            <a:extLst>
              <a:ext uri="{FF2B5EF4-FFF2-40B4-BE49-F238E27FC236}">
                <a16:creationId xmlns:a16="http://schemas.microsoft.com/office/drawing/2014/main" id="{7BDC082E-DC2D-C743-9D6A-1A99A532C5AF}"/>
              </a:ext>
            </a:extLst>
          </p:cNvPr>
          <p:cNvSpPr>
            <a:spLocks noGrp="1"/>
          </p:cNvSpPr>
          <p:nvPr>
            <p:ph idx="22" hasCustomPrompt="1"/>
          </p:nvPr>
        </p:nvSpPr>
        <p:spPr>
          <a:xfrm>
            <a:off x="5152651" y="4693895"/>
            <a:ext cx="4463745" cy="301752"/>
          </a:xfrm>
          <a:solidFill>
            <a:srgbClr val="00396B"/>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marL="0" marR="0" lvl="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a:pPr>
            <a:r>
              <a:rPr lang="en-US"/>
              <a:t>Click to edit subsection title</a:t>
            </a:r>
          </a:p>
        </p:txBody>
      </p:sp>
      <p:sp>
        <p:nvSpPr>
          <p:cNvPr id="36" name="Content1">
            <a:extLst>
              <a:ext uri="{FF2B5EF4-FFF2-40B4-BE49-F238E27FC236}">
                <a16:creationId xmlns:a16="http://schemas.microsoft.com/office/drawing/2014/main" id="{D4F542BD-083B-AA4A-A713-0D569A1EA597}"/>
              </a:ext>
            </a:extLst>
          </p:cNvPr>
          <p:cNvSpPr>
            <a:spLocks noGrp="1"/>
          </p:cNvSpPr>
          <p:nvPr>
            <p:ph idx="23" hasCustomPrompt="1"/>
          </p:nvPr>
        </p:nvSpPr>
        <p:spPr>
          <a:xfrm>
            <a:off x="461623" y="1805744"/>
            <a:ext cx="4462272" cy="304337"/>
          </a:xfrm>
          <a:solidFill>
            <a:srgbClr val="1E1F49"/>
          </a:solidFill>
          <a:ln>
            <a:noFill/>
          </a:ln>
        </p:spPr>
        <p:txBody>
          <a:bodyPr lIns="0" tIns="0" rIns="0" bIns="0" anchor="ctr">
            <a:normAutofit/>
          </a:bodyPr>
          <a:lstStyle>
            <a:lvl1pPr marL="0" indent="0" algn="ctr">
              <a:buNone/>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37" name="Content1">
            <a:extLst>
              <a:ext uri="{FF2B5EF4-FFF2-40B4-BE49-F238E27FC236}">
                <a16:creationId xmlns:a16="http://schemas.microsoft.com/office/drawing/2014/main" id="{B086464C-FC55-5442-A136-981E295417E3}"/>
              </a:ext>
            </a:extLst>
          </p:cNvPr>
          <p:cNvSpPr>
            <a:spLocks noGrp="1"/>
          </p:cNvSpPr>
          <p:nvPr>
            <p:ph idx="24" hasCustomPrompt="1"/>
          </p:nvPr>
        </p:nvSpPr>
        <p:spPr>
          <a:xfrm>
            <a:off x="5152651" y="1805743"/>
            <a:ext cx="4462272" cy="304337"/>
          </a:xfrm>
          <a:solidFill>
            <a:srgbClr val="1E1F49"/>
          </a:solidFill>
          <a:ln>
            <a:noFill/>
          </a:ln>
        </p:spPr>
        <p:txBody>
          <a:bodyPr lIns="0" tIns="0" rIns="0" bIns="0" anchor="ctr">
            <a:normAutofit/>
          </a:bodyPr>
          <a:lstStyle>
            <a:lvl1pPr marL="0" indent="0" algn="ctr">
              <a:buNone/>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Tree>
    <p:extLst>
      <p:ext uri="{BB962C8B-B14F-4D97-AF65-F5344CB8AC3E}">
        <p14:creationId xmlns:p14="http://schemas.microsoft.com/office/powerpoint/2010/main" val="2462748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x 3">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p:nvPr>
        </p:nvSpPr>
        <p:spPr>
          <a:xfrm>
            <a:off x="461623" y="2227815"/>
            <a:ext cx="2898648" cy="1965960"/>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3">
            <a:extLst>
              <a:ext uri="{FF2B5EF4-FFF2-40B4-BE49-F238E27FC236}">
                <a16:creationId xmlns:a16="http://schemas.microsoft.com/office/drawing/2014/main" id="{57A3F90F-8AEC-8140-88CE-384C3628EA4D}"/>
              </a:ext>
            </a:extLst>
          </p:cNvPr>
          <p:cNvSpPr>
            <a:spLocks noGrp="1"/>
          </p:cNvSpPr>
          <p:nvPr>
            <p:ph sz="quarter" idx="12"/>
          </p:nvPr>
        </p:nvSpPr>
        <p:spPr>
          <a:xfrm>
            <a:off x="3584300" y="2226596"/>
            <a:ext cx="2898648"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1">
            <a:extLst>
              <a:ext uri="{FF2B5EF4-FFF2-40B4-BE49-F238E27FC236}">
                <a16:creationId xmlns:a16="http://schemas.microsoft.com/office/drawing/2014/main" id="{EB63E8DE-D5EE-D94E-9B89-329C49D42128}"/>
              </a:ext>
            </a:extLst>
          </p:cNvPr>
          <p:cNvSpPr>
            <a:spLocks noGrp="1"/>
          </p:cNvSpPr>
          <p:nvPr>
            <p:ph idx="19" hasCustomPrompt="1"/>
          </p:nvPr>
        </p:nvSpPr>
        <p:spPr>
          <a:xfrm>
            <a:off x="461623" y="1901426"/>
            <a:ext cx="289864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1" name="Content1">
            <a:extLst>
              <a:ext uri="{FF2B5EF4-FFF2-40B4-BE49-F238E27FC236}">
                <a16:creationId xmlns:a16="http://schemas.microsoft.com/office/drawing/2014/main" id="{8767744D-A52A-2E44-86CA-B80571845821}"/>
              </a:ext>
            </a:extLst>
          </p:cNvPr>
          <p:cNvSpPr>
            <a:spLocks noGrp="1"/>
          </p:cNvSpPr>
          <p:nvPr>
            <p:ph idx="20" hasCustomPrompt="1"/>
          </p:nvPr>
        </p:nvSpPr>
        <p:spPr>
          <a:xfrm>
            <a:off x="3584299" y="1901425"/>
            <a:ext cx="2898648" cy="304337"/>
          </a:xfrm>
          <a:solidFill>
            <a:srgbClr val="00396B"/>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6" name="Content1">
            <a:extLst>
              <a:ext uri="{FF2B5EF4-FFF2-40B4-BE49-F238E27FC236}">
                <a16:creationId xmlns:a16="http://schemas.microsoft.com/office/drawing/2014/main" id="{9394FD49-5EE9-E848-94A6-52105AF44519}"/>
              </a:ext>
            </a:extLst>
          </p:cNvPr>
          <p:cNvSpPr>
            <a:spLocks noGrp="1"/>
          </p:cNvSpPr>
          <p:nvPr>
            <p:ph idx="23" hasCustomPrompt="1"/>
          </p:nvPr>
        </p:nvSpPr>
        <p:spPr>
          <a:xfrm>
            <a:off x="6714926" y="1901425"/>
            <a:ext cx="2898648" cy="304337"/>
          </a:xfrm>
          <a:solidFill>
            <a:srgbClr val="005EB4"/>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7" name="Content3">
            <a:extLst>
              <a:ext uri="{FF2B5EF4-FFF2-40B4-BE49-F238E27FC236}">
                <a16:creationId xmlns:a16="http://schemas.microsoft.com/office/drawing/2014/main" id="{B4FBDBC6-E5E9-C248-8E68-6BF99BC52A25}"/>
              </a:ext>
            </a:extLst>
          </p:cNvPr>
          <p:cNvSpPr>
            <a:spLocks noGrp="1"/>
          </p:cNvSpPr>
          <p:nvPr>
            <p:ph sz="quarter" idx="24"/>
          </p:nvPr>
        </p:nvSpPr>
        <p:spPr>
          <a:xfrm>
            <a:off x="6716275" y="2226596"/>
            <a:ext cx="2898648"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Content1">
            <a:extLst>
              <a:ext uri="{FF2B5EF4-FFF2-40B4-BE49-F238E27FC236}">
                <a16:creationId xmlns:a16="http://schemas.microsoft.com/office/drawing/2014/main" id="{C3ED0295-ED28-C345-868D-1CC67885260E}"/>
              </a:ext>
            </a:extLst>
          </p:cNvPr>
          <p:cNvSpPr>
            <a:spLocks noGrp="1"/>
          </p:cNvSpPr>
          <p:nvPr>
            <p:ph idx="25"/>
          </p:nvPr>
        </p:nvSpPr>
        <p:spPr>
          <a:xfrm>
            <a:off x="461623" y="4734059"/>
            <a:ext cx="2898648" cy="1965960"/>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3">
            <a:extLst>
              <a:ext uri="{FF2B5EF4-FFF2-40B4-BE49-F238E27FC236}">
                <a16:creationId xmlns:a16="http://schemas.microsoft.com/office/drawing/2014/main" id="{01366733-25C7-AB45-8A9A-8475E20F9EC1}"/>
              </a:ext>
            </a:extLst>
          </p:cNvPr>
          <p:cNvSpPr>
            <a:spLocks noGrp="1"/>
          </p:cNvSpPr>
          <p:nvPr>
            <p:ph sz="quarter" idx="26"/>
          </p:nvPr>
        </p:nvSpPr>
        <p:spPr>
          <a:xfrm>
            <a:off x="3584300" y="4732840"/>
            <a:ext cx="2898648"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Content1">
            <a:extLst>
              <a:ext uri="{FF2B5EF4-FFF2-40B4-BE49-F238E27FC236}">
                <a16:creationId xmlns:a16="http://schemas.microsoft.com/office/drawing/2014/main" id="{1A4535CC-C7F3-2F41-88F5-5D871A045AEC}"/>
              </a:ext>
            </a:extLst>
          </p:cNvPr>
          <p:cNvSpPr>
            <a:spLocks noGrp="1"/>
          </p:cNvSpPr>
          <p:nvPr>
            <p:ph idx="27" hasCustomPrompt="1"/>
          </p:nvPr>
        </p:nvSpPr>
        <p:spPr>
          <a:xfrm>
            <a:off x="461623" y="4407670"/>
            <a:ext cx="289864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40" name="Content1">
            <a:extLst>
              <a:ext uri="{FF2B5EF4-FFF2-40B4-BE49-F238E27FC236}">
                <a16:creationId xmlns:a16="http://schemas.microsoft.com/office/drawing/2014/main" id="{D1CCFEEC-3B29-2C43-99C0-A8C4A6CE3359}"/>
              </a:ext>
            </a:extLst>
          </p:cNvPr>
          <p:cNvSpPr>
            <a:spLocks noGrp="1"/>
          </p:cNvSpPr>
          <p:nvPr>
            <p:ph idx="28" hasCustomPrompt="1"/>
          </p:nvPr>
        </p:nvSpPr>
        <p:spPr>
          <a:xfrm>
            <a:off x="3584299" y="4407669"/>
            <a:ext cx="2898648" cy="304337"/>
          </a:xfrm>
          <a:solidFill>
            <a:srgbClr val="00396B"/>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41" name="Content1">
            <a:extLst>
              <a:ext uri="{FF2B5EF4-FFF2-40B4-BE49-F238E27FC236}">
                <a16:creationId xmlns:a16="http://schemas.microsoft.com/office/drawing/2014/main" id="{BE981788-A31D-7D46-85FE-EBDE797C4C7A}"/>
              </a:ext>
            </a:extLst>
          </p:cNvPr>
          <p:cNvSpPr>
            <a:spLocks noGrp="1"/>
          </p:cNvSpPr>
          <p:nvPr>
            <p:ph idx="29" hasCustomPrompt="1"/>
          </p:nvPr>
        </p:nvSpPr>
        <p:spPr>
          <a:xfrm>
            <a:off x="6714926" y="4407669"/>
            <a:ext cx="2898648" cy="304337"/>
          </a:xfrm>
          <a:solidFill>
            <a:srgbClr val="005EB4"/>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42" name="Content3">
            <a:extLst>
              <a:ext uri="{FF2B5EF4-FFF2-40B4-BE49-F238E27FC236}">
                <a16:creationId xmlns:a16="http://schemas.microsoft.com/office/drawing/2014/main" id="{C9EFB73F-C39B-A440-AAF3-82D82E61AE64}"/>
              </a:ext>
            </a:extLst>
          </p:cNvPr>
          <p:cNvSpPr>
            <a:spLocks noGrp="1"/>
          </p:cNvSpPr>
          <p:nvPr>
            <p:ph sz="quarter" idx="30"/>
          </p:nvPr>
        </p:nvSpPr>
        <p:spPr>
          <a:xfrm>
            <a:off x="6716275" y="4732840"/>
            <a:ext cx="2898648"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5394211"/>
      </p:ext>
    </p:extLst>
  </p:cSld>
  <p:clrMapOvr>
    <a:masterClrMapping/>
  </p:clrMapOvr>
  <p:extLst>
    <p:ext uri="{DCECCB84-F9BA-43D5-87BE-67443E8EF086}">
      <p15:sldGuideLst xmlns:p15="http://schemas.microsoft.com/office/powerpoint/2012/main">
        <p15:guide id="1" orient="horz" pos="2448" userDrawn="1">
          <p15:clr>
            <a:srgbClr val="FBAE40"/>
          </p15:clr>
        </p15:guide>
        <p15:guide id="2" pos="316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x 4">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hasCustomPrompt="1"/>
          </p:nvPr>
        </p:nvSpPr>
        <p:spPr>
          <a:xfrm>
            <a:off x="461623" y="2227815"/>
            <a:ext cx="2121408" cy="1965960"/>
          </a:xfrm>
        </p:spPr>
        <p:txBody>
          <a:bodyPr>
            <a:normAutofit/>
          </a:bodyPr>
          <a:lstStyle>
            <a:lvl1pPr marL="285750" indent="-285750">
              <a:buFont typeface="Wingdings" pitchFamily="2" charset="2"/>
              <a:buChar char="§"/>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Add chart here</a:t>
            </a:r>
          </a:p>
          <a:p>
            <a:pPr lvl="1"/>
            <a:r>
              <a:rPr lang="en-US"/>
              <a:t>Add chart here</a:t>
            </a:r>
          </a:p>
          <a:p>
            <a:pPr lvl="2"/>
            <a:r>
              <a:rPr lang="en-US"/>
              <a:t>Add chart here</a:t>
            </a:r>
          </a:p>
        </p:txBody>
      </p:sp>
      <p:sp>
        <p:nvSpPr>
          <p:cNvPr id="18" name="Content3">
            <a:extLst>
              <a:ext uri="{FF2B5EF4-FFF2-40B4-BE49-F238E27FC236}">
                <a16:creationId xmlns:a16="http://schemas.microsoft.com/office/drawing/2014/main" id="{57A3F90F-8AEC-8140-88CE-384C3628EA4D}"/>
              </a:ext>
            </a:extLst>
          </p:cNvPr>
          <p:cNvSpPr>
            <a:spLocks noGrp="1"/>
          </p:cNvSpPr>
          <p:nvPr>
            <p:ph sz="quarter" idx="12" hasCustomPrompt="1"/>
          </p:nvPr>
        </p:nvSpPr>
        <p:spPr>
          <a:xfrm>
            <a:off x="5152652" y="2226596"/>
            <a:ext cx="2121408" cy="1965960"/>
          </a:xfrm>
          <a:prstGeom prst="rect">
            <a:avLst/>
          </a:prstGeom>
        </p:spPr>
        <p:txBody>
          <a:bodyPr>
            <a:normAutofit/>
          </a:bodyPr>
          <a:lstStyle>
            <a:lvl1pPr marL="285750" indent="-285750">
              <a:buFont typeface="Wingdings" pitchFamily="2" charset="2"/>
              <a:buChar char="§"/>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Chart here</a:t>
            </a:r>
          </a:p>
        </p:txBody>
      </p:sp>
      <p:sp>
        <p:nvSpPr>
          <p:cNvPr id="20" name="Content1">
            <a:extLst>
              <a:ext uri="{FF2B5EF4-FFF2-40B4-BE49-F238E27FC236}">
                <a16:creationId xmlns:a16="http://schemas.microsoft.com/office/drawing/2014/main" id="{EB63E8DE-D5EE-D94E-9B89-329C49D42128}"/>
              </a:ext>
            </a:extLst>
          </p:cNvPr>
          <p:cNvSpPr>
            <a:spLocks noGrp="1"/>
          </p:cNvSpPr>
          <p:nvPr>
            <p:ph idx="19" hasCustomPrompt="1"/>
          </p:nvPr>
        </p:nvSpPr>
        <p:spPr>
          <a:xfrm>
            <a:off x="461623" y="1901426"/>
            <a:ext cx="2121408" cy="304337"/>
          </a:xfrm>
          <a:solidFill>
            <a:schemeClr val="tx1"/>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4" name="Content1">
            <a:extLst>
              <a:ext uri="{FF2B5EF4-FFF2-40B4-BE49-F238E27FC236}">
                <a16:creationId xmlns:a16="http://schemas.microsoft.com/office/drawing/2014/main" id="{44F731CF-35F9-2B48-819B-45EF5A4BAA3D}"/>
              </a:ext>
            </a:extLst>
          </p:cNvPr>
          <p:cNvSpPr>
            <a:spLocks noGrp="1"/>
          </p:cNvSpPr>
          <p:nvPr>
            <p:ph idx="23" hasCustomPrompt="1"/>
          </p:nvPr>
        </p:nvSpPr>
        <p:spPr>
          <a:xfrm>
            <a:off x="2807137" y="1901424"/>
            <a:ext cx="212140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5" name="Content1">
            <a:extLst>
              <a:ext uri="{FF2B5EF4-FFF2-40B4-BE49-F238E27FC236}">
                <a16:creationId xmlns:a16="http://schemas.microsoft.com/office/drawing/2014/main" id="{7ADDB810-E6F1-CA47-A3B0-36295AA25CEB}"/>
              </a:ext>
            </a:extLst>
          </p:cNvPr>
          <p:cNvSpPr>
            <a:spLocks noGrp="1"/>
          </p:cNvSpPr>
          <p:nvPr>
            <p:ph idx="24" hasCustomPrompt="1"/>
          </p:nvPr>
        </p:nvSpPr>
        <p:spPr>
          <a:xfrm>
            <a:off x="5152651" y="1899689"/>
            <a:ext cx="2121408" cy="304337"/>
          </a:xfrm>
          <a:solidFill>
            <a:srgbClr val="00396B"/>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6" name="Content1">
            <a:extLst>
              <a:ext uri="{FF2B5EF4-FFF2-40B4-BE49-F238E27FC236}">
                <a16:creationId xmlns:a16="http://schemas.microsoft.com/office/drawing/2014/main" id="{92FEF82B-E779-874F-8FB1-7569920B76DE}"/>
              </a:ext>
            </a:extLst>
          </p:cNvPr>
          <p:cNvSpPr>
            <a:spLocks noGrp="1"/>
          </p:cNvSpPr>
          <p:nvPr>
            <p:ph idx="25" hasCustomPrompt="1"/>
          </p:nvPr>
        </p:nvSpPr>
        <p:spPr>
          <a:xfrm>
            <a:off x="7498165" y="1899687"/>
            <a:ext cx="2121408" cy="304337"/>
          </a:xfrm>
          <a:solidFill>
            <a:srgbClr val="005EB4"/>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7" name="Content1">
            <a:extLst>
              <a:ext uri="{FF2B5EF4-FFF2-40B4-BE49-F238E27FC236}">
                <a16:creationId xmlns:a16="http://schemas.microsoft.com/office/drawing/2014/main" id="{51FB4C79-0A5E-1242-9A1B-3FAA6014B7C5}"/>
              </a:ext>
            </a:extLst>
          </p:cNvPr>
          <p:cNvSpPr>
            <a:spLocks noGrp="1"/>
          </p:cNvSpPr>
          <p:nvPr>
            <p:ph idx="26" hasCustomPrompt="1"/>
          </p:nvPr>
        </p:nvSpPr>
        <p:spPr>
          <a:xfrm>
            <a:off x="2802487" y="2229196"/>
            <a:ext cx="2121408" cy="1965960"/>
          </a:xfrm>
        </p:spPr>
        <p:txBody>
          <a:bodyPr>
            <a:normAutofit/>
          </a:bodyPr>
          <a:lstStyle>
            <a:lvl1pPr marL="285750" indent="-285750">
              <a:buFont typeface="Wingdings" pitchFamily="2" charset="2"/>
              <a:buChar char="§"/>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Add chart here</a:t>
            </a:r>
          </a:p>
          <a:p>
            <a:pPr lvl="1"/>
            <a:r>
              <a:rPr lang="en-US"/>
              <a:t>Add chart here</a:t>
            </a:r>
          </a:p>
          <a:p>
            <a:pPr lvl="2"/>
            <a:r>
              <a:rPr lang="en-US"/>
              <a:t>Add chart here</a:t>
            </a:r>
          </a:p>
        </p:txBody>
      </p:sp>
      <p:sp>
        <p:nvSpPr>
          <p:cNvPr id="28" name="Content3">
            <a:extLst>
              <a:ext uri="{FF2B5EF4-FFF2-40B4-BE49-F238E27FC236}">
                <a16:creationId xmlns:a16="http://schemas.microsoft.com/office/drawing/2014/main" id="{40F87FBB-1149-164A-ABF7-B3233CD5A9F5}"/>
              </a:ext>
            </a:extLst>
          </p:cNvPr>
          <p:cNvSpPr>
            <a:spLocks noGrp="1"/>
          </p:cNvSpPr>
          <p:nvPr>
            <p:ph sz="quarter" idx="27" hasCustomPrompt="1"/>
          </p:nvPr>
        </p:nvSpPr>
        <p:spPr>
          <a:xfrm>
            <a:off x="7493515" y="2229196"/>
            <a:ext cx="2121408" cy="1965960"/>
          </a:xfrm>
          <a:prstGeom prst="rect">
            <a:avLst/>
          </a:prstGeom>
        </p:spPr>
        <p:txBody>
          <a:bodyPr>
            <a:normAutofit/>
          </a:bodyPr>
          <a:lstStyle>
            <a:lvl1pPr marL="285750" indent="-285750">
              <a:buFont typeface="Wingdings" pitchFamily="2" charset="2"/>
              <a:buChar char="§"/>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Chart here</a:t>
            </a:r>
          </a:p>
        </p:txBody>
      </p:sp>
      <p:sp>
        <p:nvSpPr>
          <p:cNvPr id="29" name="Content1">
            <a:extLst>
              <a:ext uri="{FF2B5EF4-FFF2-40B4-BE49-F238E27FC236}">
                <a16:creationId xmlns:a16="http://schemas.microsoft.com/office/drawing/2014/main" id="{A1EA02D0-65E6-D743-B070-C5D99405D939}"/>
              </a:ext>
            </a:extLst>
          </p:cNvPr>
          <p:cNvSpPr>
            <a:spLocks noGrp="1"/>
          </p:cNvSpPr>
          <p:nvPr>
            <p:ph idx="28" hasCustomPrompt="1"/>
          </p:nvPr>
        </p:nvSpPr>
        <p:spPr>
          <a:xfrm>
            <a:off x="461623" y="4736031"/>
            <a:ext cx="2121408" cy="1965960"/>
          </a:xfr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Chart here</a:t>
            </a:r>
          </a:p>
        </p:txBody>
      </p:sp>
      <p:sp>
        <p:nvSpPr>
          <p:cNvPr id="30" name="Content3">
            <a:extLst>
              <a:ext uri="{FF2B5EF4-FFF2-40B4-BE49-F238E27FC236}">
                <a16:creationId xmlns:a16="http://schemas.microsoft.com/office/drawing/2014/main" id="{95973866-0E5A-224C-AD04-5B7E7DBAB33D}"/>
              </a:ext>
            </a:extLst>
          </p:cNvPr>
          <p:cNvSpPr>
            <a:spLocks noGrp="1"/>
          </p:cNvSpPr>
          <p:nvPr>
            <p:ph sz="quarter" idx="29" hasCustomPrompt="1"/>
          </p:nvPr>
        </p:nvSpPr>
        <p:spPr>
          <a:xfrm>
            <a:off x="5152652" y="4734812"/>
            <a:ext cx="2121408" cy="1965960"/>
          </a:xfrm>
          <a:prstGeom prst="rect">
            <a:avLst/>
          </a:prstGeo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Chart here</a:t>
            </a:r>
          </a:p>
        </p:txBody>
      </p:sp>
      <p:sp>
        <p:nvSpPr>
          <p:cNvPr id="31" name="Content1">
            <a:extLst>
              <a:ext uri="{FF2B5EF4-FFF2-40B4-BE49-F238E27FC236}">
                <a16:creationId xmlns:a16="http://schemas.microsoft.com/office/drawing/2014/main" id="{E6592396-A9B9-8E48-A78D-7745759E34BF}"/>
              </a:ext>
            </a:extLst>
          </p:cNvPr>
          <p:cNvSpPr>
            <a:spLocks noGrp="1"/>
          </p:cNvSpPr>
          <p:nvPr>
            <p:ph idx="30" hasCustomPrompt="1"/>
          </p:nvPr>
        </p:nvSpPr>
        <p:spPr>
          <a:xfrm>
            <a:off x="461623" y="4409642"/>
            <a:ext cx="2121408" cy="304337"/>
          </a:xfrm>
          <a:solidFill>
            <a:schemeClr val="tx1"/>
          </a:solidFill>
          <a:ln>
            <a:solidFill>
              <a:srgbClr val="710F32"/>
            </a:solid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33" name="Content1">
            <a:extLst>
              <a:ext uri="{FF2B5EF4-FFF2-40B4-BE49-F238E27FC236}">
                <a16:creationId xmlns:a16="http://schemas.microsoft.com/office/drawing/2014/main" id="{145E7EB6-8F92-6942-BEB6-5F56C079754A}"/>
              </a:ext>
            </a:extLst>
          </p:cNvPr>
          <p:cNvSpPr>
            <a:spLocks noGrp="1"/>
          </p:cNvSpPr>
          <p:nvPr>
            <p:ph idx="31" hasCustomPrompt="1"/>
          </p:nvPr>
        </p:nvSpPr>
        <p:spPr>
          <a:xfrm>
            <a:off x="2807137" y="4409640"/>
            <a:ext cx="212140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35" name="Content1">
            <a:extLst>
              <a:ext uri="{FF2B5EF4-FFF2-40B4-BE49-F238E27FC236}">
                <a16:creationId xmlns:a16="http://schemas.microsoft.com/office/drawing/2014/main" id="{7E962E27-EFAF-A24D-BC6E-D7A5917656A9}"/>
              </a:ext>
            </a:extLst>
          </p:cNvPr>
          <p:cNvSpPr>
            <a:spLocks noGrp="1"/>
          </p:cNvSpPr>
          <p:nvPr>
            <p:ph idx="32" hasCustomPrompt="1"/>
          </p:nvPr>
        </p:nvSpPr>
        <p:spPr>
          <a:xfrm>
            <a:off x="5152651" y="4407905"/>
            <a:ext cx="2121408" cy="304337"/>
          </a:xfrm>
          <a:solidFill>
            <a:srgbClr val="00396B"/>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36" name="Content1">
            <a:extLst>
              <a:ext uri="{FF2B5EF4-FFF2-40B4-BE49-F238E27FC236}">
                <a16:creationId xmlns:a16="http://schemas.microsoft.com/office/drawing/2014/main" id="{B8256BC7-54F8-264D-945F-1B9B0E8DD070}"/>
              </a:ext>
            </a:extLst>
          </p:cNvPr>
          <p:cNvSpPr>
            <a:spLocks noGrp="1"/>
          </p:cNvSpPr>
          <p:nvPr>
            <p:ph idx="33" hasCustomPrompt="1"/>
          </p:nvPr>
        </p:nvSpPr>
        <p:spPr>
          <a:xfrm>
            <a:off x="7498165" y="4407903"/>
            <a:ext cx="2121408" cy="304337"/>
          </a:xfrm>
          <a:solidFill>
            <a:srgbClr val="005EB4"/>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37" name="Content1">
            <a:extLst>
              <a:ext uri="{FF2B5EF4-FFF2-40B4-BE49-F238E27FC236}">
                <a16:creationId xmlns:a16="http://schemas.microsoft.com/office/drawing/2014/main" id="{6F87DBDF-BBB9-D341-9F94-896E8837CCB0}"/>
              </a:ext>
            </a:extLst>
          </p:cNvPr>
          <p:cNvSpPr>
            <a:spLocks noGrp="1"/>
          </p:cNvSpPr>
          <p:nvPr>
            <p:ph idx="34" hasCustomPrompt="1"/>
          </p:nvPr>
        </p:nvSpPr>
        <p:spPr>
          <a:xfrm>
            <a:off x="2802487" y="4737412"/>
            <a:ext cx="2121408" cy="1965960"/>
          </a:xfr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Chart here</a:t>
            </a:r>
          </a:p>
        </p:txBody>
      </p:sp>
      <p:sp>
        <p:nvSpPr>
          <p:cNvPr id="38" name="Content3">
            <a:extLst>
              <a:ext uri="{FF2B5EF4-FFF2-40B4-BE49-F238E27FC236}">
                <a16:creationId xmlns:a16="http://schemas.microsoft.com/office/drawing/2014/main" id="{D9684356-F3B8-6545-BC7F-A9848B72D503}"/>
              </a:ext>
            </a:extLst>
          </p:cNvPr>
          <p:cNvSpPr>
            <a:spLocks noGrp="1"/>
          </p:cNvSpPr>
          <p:nvPr>
            <p:ph sz="quarter" idx="35" hasCustomPrompt="1"/>
          </p:nvPr>
        </p:nvSpPr>
        <p:spPr>
          <a:xfrm>
            <a:off x="7493515" y="4737412"/>
            <a:ext cx="2121408" cy="1965960"/>
          </a:xfrm>
          <a:prstGeom prst="rect">
            <a:avLst/>
          </a:prstGeo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Chart here</a:t>
            </a:r>
          </a:p>
        </p:txBody>
      </p:sp>
    </p:spTree>
    <p:extLst>
      <p:ext uri="{BB962C8B-B14F-4D97-AF65-F5344CB8AC3E}">
        <p14:creationId xmlns:p14="http://schemas.microsoft.com/office/powerpoint/2010/main" val="3572541095"/>
      </p:ext>
    </p:extLst>
  </p:cSld>
  <p:clrMapOvr>
    <a:masterClrMapping/>
  </p:clrMapOvr>
  <p:extLst>
    <p:ext uri="{DCECCB84-F9BA-43D5-87BE-67443E8EF086}">
      <p15:sldGuideLst xmlns:p15="http://schemas.microsoft.com/office/powerpoint/2012/main">
        <p15:guide id="1" orient="horz" pos="2448">
          <p15:clr>
            <a:srgbClr val="FBAE40"/>
          </p15:clr>
        </p15:guide>
        <p15:guide id="2" pos="316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2 x 4">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hasCustomPrompt="1"/>
          </p:nvPr>
        </p:nvSpPr>
        <p:spPr>
          <a:xfrm>
            <a:off x="461623" y="2227815"/>
            <a:ext cx="2121408" cy="1965960"/>
          </a:xfr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Chart here</a:t>
            </a:r>
          </a:p>
        </p:txBody>
      </p:sp>
      <p:sp>
        <p:nvSpPr>
          <p:cNvPr id="18" name="Content3">
            <a:extLst>
              <a:ext uri="{FF2B5EF4-FFF2-40B4-BE49-F238E27FC236}">
                <a16:creationId xmlns:a16="http://schemas.microsoft.com/office/drawing/2014/main" id="{57A3F90F-8AEC-8140-88CE-384C3628EA4D}"/>
              </a:ext>
            </a:extLst>
          </p:cNvPr>
          <p:cNvSpPr>
            <a:spLocks noGrp="1"/>
          </p:cNvSpPr>
          <p:nvPr>
            <p:ph sz="quarter" idx="12" hasCustomPrompt="1"/>
          </p:nvPr>
        </p:nvSpPr>
        <p:spPr>
          <a:xfrm>
            <a:off x="5152651" y="2226595"/>
            <a:ext cx="4462271" cy="4480560"/>
          </a:xfrm>
          <a:prstGeom prst="rect">
            <a:avLst/>
          </a:prstGeom>
        </p:spPr>
        <p:txBody>
          <a:bodyPr>
            <a:normAutofit/>
          </a:bodyPr>
          <a:lstStyle>
            <a:lvl1pPr>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Text here</a:t>
            </a:r>
          </a:p>
        </p:txBody>
      </p:sp>
      <p:sp>
        <p:nvSpPr>
          <p:cNvPr id="20" name="Content1">
            <a:extLst>
              <a:ext uri="{FF2B5EF4-FFF2-40B4-BE49-F238E27FC236}">
                <a16:creationId xmlns:a16="http://schemas.microsoft.com/office/drawing/2014/main" id="{EB63E8DE-D5EE-D94E-9B89-329C49D42128}"/>
              </a:ext>
            </a:extLst>
          </p:cNvPr>
          <p:cNvSpPr>
            <a:spLocks noGrp="1"/>
          </p:cNvSpPr>
          <p:nvPr>
            <p:ph idx="19" hasCustomPrompt="1"/>
          </p:nvPr>
        </p:nvSpPr>
        <p:spPr>
          <a:xfrm>
            <a:off x="461623" y="1901426"/>
            <a:ext cx="212140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4" name="Content1">
            <a:extLst>
              <a:ext uri="{FF2B5EF4-FFF2-40B4-BE49-F238E27FC236}">
                <a16:creationId xmlns:a16="http://schemas.microsoft.com/office/drawing/2014/main" id="{44F731CF-35F9-2B48-819B-45EF5A4BAA3D}"/>
              </a:ext>
            </a:extLst>
          </p:cNvPr>
          <p:cNvSpPr>
            <a:spLocks noGrp="1"/>
          </p:cNvSpPr>
          <p:nvPr>
            <p:ph idx="23" hasCustomPrompt="1"/>
          </p:nvPr>
        </p:nvSpPr>
        <p:spPr>
          <a:xfrm>
            <a:off x="2807137" y="1901424"/>
            <a:ext cx="212140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5" name="Content1">
            <a:extLst>
              <a:ext uri="{FF2B5EF4-FFF2-40B4-BE49-F238E27FC236}">
                <a16:creationId xmlns:a16="http://schemas.microsoft.com/office/drawing/2014/main" id="{7ADDB810-E6F1-CA47-A3B0-36295AA25CEB}"/>
              </a:ext>
            </a:extLst>
          </p:cNvPr>
          <p:cNvSpPr>
            <a:spLocks noGrp="1"/>
          </p:cNvSpPr>
          <p:nvPr>
            <p:ph idx="24" hasCustomPrompt="1"/>
          </p:nvPr>
        </p:nvSpPr>
        <p:spPr>
          <a:xfrm>
            <a:off x="5152651" y="1899689"/>
            <a:ext cx="4462272" cy="304337"/>
          </a:xfrm>
          <a:solidFill>
            <a:srgbClr val="1E1F49"/>
          </a:solidFill>
          <a:ln>
            <a:solidFill>
              <a:srgbClr val="710F32"/>
            </a:solid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7" name="Content1">
            <a:extLst>
              <a:ext uri="{FF2B5EF4-FFF2-40B4-BE49-F238E27FC236}">
                <a16:creationId xmlns:a16="http://schemas.microsoft.com/office/drawing/2014/main" id="{51FB4C79-0A5E-1242-9A1B-3FAA6014B7C5}"/>
              </a:ext>
            </a:extLst>
          </p:cNvPr>
          <p:cNvSpPr>
            <a:spLocks noGrp="1"/>
          </p:cNvSpPr>
          <p:nvPr>
            <p:ph idx="26" hasCustomPrompt="1"/>
          </p:nvPr>
        </p:nvSpPr>
        <p:spPr>
          <a:xfrm>
            <a:off x="2802487" y="2229196"/>
            <a:ext cx="2121408" cy="1965960"/>
          </a:xfr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Chart here</a:t>
            </a:r>
          </a:p>
        </p:txBody>
      </p:sp>
      <p:sp>
        <p:nvSpPr>
          <p:cNvPr id="29" name="Content1">
            <a:extLst>
              <a:ext uri="{FF2B5EF4-FFF2-40B4-BE49-F238E27FC236}">
                <a16:creationId xmlns:a16="http://schemas.microsoft.com/office/drawing/2014/main" id="{A1EA02D0-65E6-D743-B070-C5D99405D939}"/>
              </a:ext>
            </a:extLst>
          </p:cNvPr>
          <p:cNvSpPr>
            <a:spLocks noGrp="1"/>
          </p:cNvSpPr>
          <p:nvPr>
            <p:ph idx="28" hasCustomPrompt="1"/>
          </p:nvPr>
        </p:nvSpPr>
        <p:spPr>
          <a:xfrm>
            <a:off x="461623" y="4736031"/>
            <a:ext cx="2121408" cy="1965960"/>
          </a:xfr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Chart here</a:t>
            </a:r>
          </a:p>
        </p:txBody>
      </p:sp>
      <p:sp>
        <p:nvSpPr>
          <p:cNvPr id="31" name="Content1">
            <a:extLst>
              <a:ext uri="{FF2B5EF4-FFF2-40B4-BE49-F238E27FC236}">
                <a16:creationId xmlns:a16="http://schemas.microsoft.com/office/drawing/2014/main" id="{E6592396-A9B9-8E48-A78D-7745759E34BF}"/>
              </a:ext>
            </a:extLst>
          </p:cNvPr>
          <p:cNvSpPr>
            <a:spLocks noGrp="1"/>
          </p:cNvSpPr>
          <p:nvPr>
            <p:ph idx="30" hasCustomPrompt="1"/>
          </p:nvPr>
        </p:nvSpPr>
        <p:spPr>
          <a:xfrm>
            <a:off x="461623" y="4409642"/>
            <a:ext cx="212140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33" name="Content1">
            <a:extLst>
              <a:ext uri="{FF2B5EF4-FFF2-40B4-BE49-F238E27FC236}">
                <a16:creationId xmlns:a16="http://schemas.microsoft.com/office/drawing/2014/main" id="{145E7EB6-8F92-6942-BEB6-5F56C079754A}"/>
              </a:ext>
            </a:extLst>
          </p:cNvPr>
          <p:cNvSpPr>
            <a:spLocks noGrp="1"/>
          </p:cNvSpPr>
          <p:nvPr>
            <p:ph idx="31" hasCustomPrompt="1"/>
          </p:nvPr>
        </p:nvSpPr>
        <p:spPr>
          <a:xfrm>
            <a:off x="2807137" y="4409640"/>
            <a:ext cx="212140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37" name="Content1">
            <a:extLst>
              <a:ext uri="{FF2B5EF4-FFF2-40B4-BE49-F238E27FC236}">
                <a16:creationId xmlns:a16="http://schemas.microsoft.com/office/drawing/2014/main" id="{6F87DBDF-BBB9-D341-9F94-896E8837CCB0}"/>
              </a:ext>
            </a:extLst>
          </p:cNvPr>
          <p:cNvSpPr>
            <a:spLocks noGrp="1"/>
          </p:cNvSpPr>
          <p:nvPr>
            <p:ph idx="34" hasCustomPrompt="1"/>
          </p:nvPr>
        </p:nvSpPr>
        <p:spPr>
          <a:xfrm>
            <a:off x="2802487" y="4737412"/>
            <a:ext cx="2121408" cy="1965960"/>
          </a:xfr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Chart here</a:t>
            </a:r>
          </a:p>
        </p:txBody>
      </p:sp>
    </p:spTree>
    <p:extLst>
      <p:ext uri="{BB962C8B-B14F-4D97-AF65-F5344CB8AC3E}">
        <p14:creationId xmlns:p14="http://schemas.microsoft.com/office/powerpoint/2010/main" val="1476280619"/>
      </p:ext>
    </p:extLst>
  </p:cSld>
  <p:clrMapOvr>
    <a:masterClrMapping/>
  </p:clrMapOvr>
  <p:extLst>
    <p:ext uri="{DCECCB84-F9BA-43D5-87BE-67443E8EF086}">
      <p15:sldGuideLst xmlns:p15="http://schemas.microsoft.com/office/powerpoint/2012/main">
        <p15:guide id="1" orient="horz" pos="2448">
          <p15:clr>
            <a:srgbClr val="FBAE40"/>
          </p15:clr>
        </p15:guide>
        <p15:guide id="2" pos="316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 x 2">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p:nvPr>
        </p:nvSpPr>
        <p:spPr>
          <a:xfrm>
            <a:off x="461623" y="2227815"/>
            <a:ext cx="4462272" cy="4471416"/>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3">
            <a:extLst>
              <a:ext uri="{FF2B5EF4-FFF2-40B4-BE49-F238E27FC236}">
                <a16:creationId xmlns:a16="http://schemas.microsoft.com/office/drawing/2014/main" id="{57A3F90F-8AEC-8140-88CE-384C3628EA4D}"/>
              </a:ext>
            </a:extLst>
          </p:cNvPr>
          <p:cNvSpPr>
            <a:spLocks noGrp="1"/>
          </p:cNvSpPr>
          <p:nvPr>
            <p:ph sz="quarter" idx="12"/>
          </p:nvPr>
        </p:nvSpPr>
        <p:spPr>
          <a:xfrm>
            <a:off x="5152651" y="2226594"/>
            <a:ext cx="4464119" cy="4471416"/>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1">
            <a:extLst>
              <a:ext uri="{FF2B5EF4-FFF2-40B4-BE49-F238E27FC236}">
                <a16:creationId xmlns:a16="http://schemas.microsoft.com/office/drawing/2014/main" id="{EB63E8DE-D5EE-D94E-9B89-329C49D42128}"/>
              </a:ext>
            </a:extLst>
          </p:cNvPr>
          <p:cNvSpPr>
            <a:spLocks noGrp="1"/>
          </p:cNvSpPr>
          <p:nvPr>
            <p:ph idx="19" hasCustomPrompt="1"/>
          </p:nvPr>
        </p:nvSpPr>
        <p:spPr>
          <a:xfrm>
            <a:off x="461623" y="1901426"/>
            <a:ext cx="4462272"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1" name="Content1">
            <a:extLst>
              <a:ext uri="{FF2B5EF4-FFF2-40B4-BE49-F238E27FC236}">
                <a16:creationId xmlns:a16="http://schemas.microsoft.com/office/drawing/2014/main" id="{8767744D-A52A-2E44-86CA-B80571845821}"/>
              </a:ext>
            </a:extLst>
          </p:cNvPr>
          <p:cNvSpPr>
            <a:spLocks noGrp="1"/>
          </p:cNvSpPr>
          <p:nvPr>
            <p:ph idx="20" hasCustomPrompt="1"/>
          </p:nvPr>
        </p:nvSpPr>
        <p:spPr>
          <a:xfrm>
            <a:off x="5152651" y="1901425"/>
            <a:ext cx="4462272" cy="304337"/>
          </a:xfrm>
          <a:solidFill>
            <a:srgbClr val="1E1F49"/>
          </a:solidFill>
          <a:ln>
            <a:solidFill>
              <a:srgbClr val="710F32"/>
            </a:solid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Tree>
    <p:extLst>
      <p:ext uri="{BB962C8B-B14F-4D97-AF65-F5344CB8AC3E}">
        <p14:creationId xmlns:p14="http://schemas.microsoft.com/office/powerpoint/2010/main" val="2863956755"/>
      </p:ext>
    </p:extLst>
  </p:cSld>
  <p:clrMapOvr>
    <a:masterClrMapping/>
  </p:clrMapOvr>
  <p:extLst>
    <p:ext uri="{DCECCB84-F9BA-43D5-87BE-67443E8EF086}">
      <p15:sldGuideLst xmlns:p15="http://schemas.microsoft.com/office/powerpoint/2012/main">
        <p15:guide id="1" orient="horz" pos="2448">
          <p15:clr>
            <a:srgbClr val="FBAE40"/>
          </p15:clr>
        </p15:guide>
        <p15:guide id="2" pos="316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wo Sections">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24" name="Content1">
            <a:extLst>
              <a:ext uri="{FF2B5EF4-FFF2-40B4-BE49-F238E27FC236}">
                <a16:creationId xmlns:a16="http://schemas.microsoft.com/office/drawing/2014/main" id="{FC13BDA3-0ED6-DA43-ACA1-F7EC0C5CCFBD}"/>
              </a:ext>
            </a:extLst>
          </p:cNvPr>
          <p:cNvSpPr>
            <a:spLocks noGrp="1"/>
          </p:cNvSpPr>
          <p:nvPr>
            <p:ph idx="10" hasCustomPrompt="1"/>
          </p:nvPr>
        </p:nvSpPr>
        <p:spPr>
          <a:xfrm>
            <a:off x="461623" y="1756268"/>
            <a:ext cx="9144000" cy="2147497"/>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p:txBody>
      </p:sp>
      <p:sp>
        <p:nvSpPr>
          <p:cNvPr id="25" name="Content2">
            <a:extLst>
              <a:ext uri="{FF2B5EF4-FFF2-40B4-BE49-F238E27FC236}">
                <a16:creationId xmlns:a16="http://schemas.microsoft.com/office/drawing/2014/main" id="{4C1804B9-F25F-8849-870C-B28D04762EE5}"/>
              </a:ext>
            </a:extLst>
          </p:cNvPr>
          <p:cNvSpPr>
            <a:spLocks noGrp="1"/>
          </p:cNvSpPr>
          <p:nvPr>
            <p:ph sz="quarter" idx="11" hasCustomPrompt="1"/>
          </p:nvPr>
        </p:nvSpPr>
        <p:spPr>
          <a:xfrm>
            <a:off x="461623" y="4096512"/>
            <a:ext cx="9144000" cy="2149461"/>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p:txBody>
      </p:sp>
      <p:sp>
        <p:nvSpPr>
          <p:cNvPr id="17" name="Text Placeholder 9">
            <a:extLst>
              <a:ext uri="{FF2B5EF4-FFF2-40B4-BE49-F238E27FC236}">
                <a16:creationId xmlns:a16="http://schemas.microsoft.com/office/drawing/2014/main" id="{46D120A5-60BD-7F44-B30B-B8E306B94A32}"/>
              </a:ext>
            </a:extLst>
          </p:cNvPr>
          <p:cNvSpPr>
            <a:spLocks noGrp="1"/>
          </p:cNvSpPr>
          <p:nvPr>
            <p:ph type="body" sz="quarter" idx="20" hasCustomPrompt="1"/>
          </p:nvPr>
        </p:nvSpPr>
        <p:spPr>
          <a:xfrm>
            <a:off x="463868" y="6362339"/>
            <a:ext cx="9144000" cy="646113"/>
          </a:xfrm>
        </p:spPr>
        <p:txBody>
          <a:bodyPr>
            <a:normAutofit/>
          </a:bodyPr>
          <a:lstStyle>
            <a:lvl1pPr marL="0" indent="0">
              <a:spcBef>
                <a:spcPts val="0"/>
              </a:spcBef>
              <a:buNone/>
              <a:defRPr sz="1000"/>
            </a:lvl1pPr>
          </a:lstStyle>
          <a:p>
            <a:pPr lvl="0"/>
            <a:r>
              <a:rPr lang="en-US"/>
              <a:t>Click to edit footnotes</a:t>
            </a:r>
          </a:p>
        </p:txBody>
      </p:sp>
    </p:spTree>
    <p:extLst>
      <p:ext uri="{BB962C8B-B14F-4D97-AF65-F5344CB8AC3E}">
        <p14:creationId xmlns:p14="http://schemas.microsoft.com/office/powerpoint/2010/main" val="5962981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Top One Bottom">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24" name="Content1">
            <a:extLst>
              <a:ext uri="{FF2B5EF4-FFF2-40B4-BE49-F238E27FC236}">
                <a16:creationId xmlns:a16="http://schemas.microsoft.com/office/drawing/2014/main" id="{FC13BDA3-0ED6-DA43-ACA1-F7EC0C5CCFBD}"/>
              </a:ext>
            </a:extLst>
          </p:cNvPr>
          <p:cNvSpPr>
            <a:spLocks noGrp="1"/>
          </p:cNvSpPr>
          <p:nvPr>
            <p:ph idx="10" hasCustomPrompt="1"/>
          </p:nvPr>
        </p:nvSpPr>
        <p:spPr>
          <a:xfrm>
            <a:off x="461623" y="1756268"/>
            <a:ext cx="4430417" cy="2147497"/>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p:txBody>
      </p:sp>
      <p:sp>
        <p:nvSpPr>
          <p:cNvPr id="25" name="Content2">
            <a:extLst>
              <a:ext uri="{FF2B5EF4-FFF2-40B4-BE49-F238E27FC236}">
                <a16:creationId xmlns:a16="http://schemas.microsoft.com/office/drawing/2014/main" id="{4C1804B9-F25F-8849-870C-B28D04762EE5}"/>
              </a:ext>
            </a:extLst>
          </p:cNvPr>
          <p:cNvSpPr>
            <a:spLocks noGrp="1"/>
          </p:cNvSpPr>
          <p:nvPr>
            <p:ph sz="quarter" idx="11" hasCustomPrompt="1"/>
          </p:nvPr>
        </p:nvSpPr>
        <p:spPr>
          <a:xfrm>
            <a:off x="461623" y="4096512"/>
            <a:ext cx="9144000" cy="2149461"/>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p:txBody>
      </p:sp>
      <p:sp>
        <p:nvSpPr>
          <p:cNvPr id="17" name="Content1">
            <a:extLst>
              <a:ext uri="{FF2B5EF4-FFF2-40B4-BE49-F238E27FC236}">
                <a16:creationId xmlns:a16="http://schemas.microsoft.com/office/drawing/2014/main" id="{BE8A7BD8-BBF7-004F-9FF2-4B801398BDA5}"/>
              </a:ext>
            </a:extLst>
          </p:cNvPr>
          <p:cNvSpPr>
            <a:spLocks noGrp="1"/>
          </p:cNvSpPr>
          <p:nvPr>
            <p:ph idx="21" hasCustomPrompt="1"/>
          </p:nvPr>
        </p:nvSpPr>
        <p:spPr>
          <a:xfrm>
            <a:off x="5175206" y="1756267"/>
            <a:ext cx="4430417" cy="2147497"/>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p:txBody>
      </p:sp>
      <p:sp>
        <p:nvSpPr>
          <p:cNvPr id="18" name="Text Placeholder 9">
            <a:extLst>
              <a:ext uri="{FF2B5EF4-FFF2-40B4-BE49-F238E27FC236}">
                <a16:creationId xmlns:a16="http://schemas.microsoft.com/office/drawing/2014/main" id="{F1F68469-E028-E445-A9C1-270C25EAABA4}"/>
              </a:ext>
            </a:extLst>
          </p:cNvPr>
          <p:cNvSpPr>
            <a:spLocks noGrp="1"/>
          </p:cNvSpPr>
          <p:nvPr>
            <p:ph type="body" sz="quarter" idx="20" hasCustomPrompt="1"/>
          </p:nvPr>
        </p:nvSpPr>
        <p:spPr>
          <a:xfrm>
            <a:off x="463868" y="6362339"/>
            <a:ext cx="9144000" cy="646113"/>
          </a:xfrm>
        </p:spPr>
        <p:txBody>
          <a:bodyPr>
            <a:normAutofit/>
          </a:bodyPr>
          <a:lstStyle>
            <a:lvl1pPr marL="0" indent="0">
              <a:spcBef>
                <a:spcPts val="0"/>
              </a:spcBef>
              <a:buNone/>
              <a:defRPr sz="1000"/>
            </a:lvl1pPr>
          </a:lstStyle>
          <a:p>
            <a:pPr lvl="0"/>
            <a:r>
              <a:rPr lang="en-US"/>
              <a:t>Click to edit footnotes</a:t>
            </a:r>
          </a:p>
        </p:txBody>
      </p:sp>
    </p:spTree>
    <p:extLst>
      <p:ext uri="{BB962C8B-B14F-4D97-AF65-F5344CB8AC3E}">
        <p14:creationId xmlns:p14="http://schemas.microsoft.com/office/powerpoint/2010/main" val="13779250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Top Two Bottom">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18" name="Content1">
            <a:extLst>
              <a:ext uri="{FF2B5EF4-FFF2-40B4-BE49-F238E27FC236}">
                <a16:creationId xmlns:a16="http://schemas.microsoft.com/office/drawing/2014/main" id="{4036D5C0-23F2-E442-8B42-EADF6D792733}"/>
              </a:ext>
            </a:extLst>
          </p:cNvPr>
          <p:cNvSpPr>
            <a:spLocks noGrp="1"/>
          </p:cNvSpPr>
          <p:nvPr>
            <p:ph idx="22" hasCustomPrompt="1"/>
          </p:nvPr>
        </p:nvSpPr>
        <p:spPr>
          <a:xfrm>
            <a:off x="461623" y="4098142"/>
            <a:ext cx="4430417" cy="2147497"/>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p:txBody>
      </p:sp>
      <p:sp>
        <p:nvSpPr>
          <p:cNvPr id="19" name="Content1">
            <a:extLst>
              <a:ext uri="{FF2B5EF4-FFF2-40B4-BE49-F238E27FC236}">
                <a16:creationId xmlns:a16="http://schemas.microsoft.com/office/drawing/2014/main" id="{FBF53569-3675-9648-BCE4-4DBADCABAF0E}"/>
              </a:ext>
            </a:extLst>
          </p:cNvPr>
          <p:cNvSpPr>
            <a:spLocks noGrp="1"/>
          </p:cNvSpPr>
          <p:nvPr>
            <p:ph idx="23" hasCustomPrompt="1"/>
          </p:nvPr>
        </p:nvSpPr>
        <p:spPr>
          <a:xfrm>
            <a:off x="5175206" y="4098141"/>
            <a:ext cx="4430417" cy="2147497"/>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p:txBody>
      </p:sp>
      <p:sp>
        <p:nvSpPr>
          <p:cNvPr id="21" name="Content2">
            <a:extLst>
              <a:ext uri="{FF2B5EF4-FFF2-40B4-BE49-F238E27FC236}">
                <a16:creationId xmlns:a16="http://schemas.microsoft.com/office/drawing/2014/main" id="{C69CBFEA-977F-AD4E-B10C-F9F4EE454B25}"/>
              </a:ext>
            </a:extLst>
          </p:cNvPr>
          <p:cNvSpPr>
            <a:spLocks noGrp="1"/>
          </p:cNvSpPr>
          <p:nvPr>
            <p:ph sz="quarter" idx="11" hasCustomPrompt="1"/>
          </p:nvPr>
        </p:nvSpPr>
        <p:spPr>
          <a:xfrm>
            <a:off x="461623" y="1763447"/>
            <a:ext cx="9144000" cy="2139696"/>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p:txBody>
      </p:sp>
      <p:sp>
        <p:nvSpPr>
          <p:cNvPr id="17" name="Text Placeholder 9">
            <a:extLst>
              <a:ext uri="{FF2B5EF4-FFF2-40B4-BE49-F238E27FC236}">
                <a16:creationId xmlns:a16="http://schemas.microsoft.com/office/drawing/2014/main" id="{7706E356-1443-DF41-BEF5-4D1791683495}"/>
              </a:ext>
            </a:extLst>
          </p:cNvPr>
          <p:cNvSpPr>
            <a:spLocks noGrp="1"/>
          </p:cNvSpPr>
          <p:nvPr>
            <p:ph type="body" sz="quarter" idx="20" hasCustomPrompt="1"/>
          </p:nvPr>
        </p:nvSpPr>
        <p:spPr>
          <a:xfrm>
            <a:off x="463868" y="6362339"/>
            <a:ext cx="9144000" cy="646113"/>
          </a:xfrm>
        </p:spPr>
        <p:txBody>
          <a:bodyPr>
            <a:normAutofit/>
          </a:bodyPr>
          <a:lstStyle>
            <a:lvl1pPr marL="0" indent="0">
              <a:spcBef>
                <a:spcPts val="0"/>
              </a:spcBef>
              <a:buNone/>
              <a:defRPr sz="1000"/>
            </a:lvl1pPr>
          </a:lstStyle>
          <a:p>
            <a:pPr lvl="0"/>
            <a:r>
              <a:rPr lang="en-US"/>
              <a:t>Click to edit footnotes</a:t>
            </a:r>
          </a:p>
        </p:txBody>
      </p:sp>
    </p:spTree>
    <p:extLst>
      <p:ext uri="{BB962C8B-B14F-4D97-AF65-F5344CB8AC3E}">
        <p14:creationId xmlns:p14="http://schemas.microsoft.com/office/powerpoint/2010/main" val="39086691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wo Labeled Sections">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17" name="Content1">
            <a:extLst>
              <a:ext uri="{FF2B5EF4-FFF2-40B4-BE49-F238E27FC236}">
                <a16:creationId xmlns:a16="http://schemas.microsoft.com/office/drawing/2014/main" id="{24967D68-3571-F942-82E7-7B69602BBAE4}"/>
              </a:ext>
            </a:extLst>
          </p:cNvPr>
          <p:cNvSpPr>
            <a:spLocks noGrp="1"/>
          </p:cNvSpPr>
          <p:nvPr>
            <p:ph idx="10" hasCustomPrompt="1"/>
          </p:nvPr>
        </p:nvSpPr>
        <p:spPr>
          <a:xfrm>
            <a:off x="461623" y="2154636"/>
            <a:ext cx="9144000" cy="1828800"/>
          </a:xfrm>
        </p:spPr>
        <p:txBody>
          <a:bodyPr>
            <a:no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p:txBody>
      </p:sp>
      <p:sp>
        <p:nvSpPr>
          <p:cNvPr id="20" name="Content1">
            <a:extLst>
              <a:ext uri="{FF2B5EF4-FFF2-40B4-BE49-F238E27FC236}">
                <a16:creationId xmlns:a16="http://schemas.microsoft.com/office/drawing/2014/main" id="{DF64CFAD-C77F-194A-AD0F-7CD0FA7BF0AA}"/>
              </a:ext>
            </a:extLst>
          </p:cNvPr>
          <p:cNvSpPr>
            <a:spLocks noGrp="1"/>
          </p:cNvSpPr>
          <p:nvPr>
            <p:ph idx="19" hasCustomPrompt="1"/>
          </p:nvPr>
        </p:nvSpPr>
        <p:spPr>
          <a:xfrm>
            <a:off x="461623" y="1796496"/>
            <a:ext cx="9144000"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22" name="Content1">
            <a:extLst>
              <a:ext uri="{FF2B5EF4-FFF2-40B4-BE49-F238E27FC236}">
                <a16:creationId xmlns:a16="http://schemas.microsoft.com/office/drawing/2014/main" id="{D73ACAEC-9AF8-8C48-8E65-C4099682A433}"/>
              </a:ext>
            </a:extLst>
          </p:cNvPr>
          <p:cNvSpPr>
            <a:spLocks noGrp="1"/>
          </p:cNvSpPr>
          <p:nvPr>
            <p:ph idx="20" hasCustomPrompt="1"/>
          </p:nvPr>
        </p:nvSpPr>
        <p:spPr>
          <a:xfrm>
            <a:off x="461623" y="4419985"/>
            <a:ext cx="9144000" cy="1828800"/>
          </a:xfrm>
        </p:spPr>
        <p:txBody>
          <a:bodyPr>
            <a:no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p:txBody>
      </p:sp>
      <p:sp>
        <p:nvSpPr>
          <p:cNvPr id="23" name="Content1">
            <a:extLst>
              <a:ext uri="{FF2B5EF4-FFF2-40B4-BE49-F238E27FC236}">
                <a16:creationId xmlns:a16="http://schemas.microsoft.com/office/drawing/2014/main" id="{7F4FEE7B-7E82-ED43-B8F0-37C50FEBFC19}"/>
              </a:ext>
            </a:extLst>
          </p:cNvPr>
          <p:cNvSpPr>
            <a:spLocks noGrp="1"/>
          </p:cNvSpPr>
          <p:nvPr>
            <p:ph idx="21" hasCustomPrompt="1"/>
          </p:nvPr>
        </p:nvSpPr>
        <p:spPr>
          <a:xfrm>
            <a:off x="461623" y="4061845"/>
            <a:ext cx="9144000"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section title</a:t>
            </a:r>
          </a:p>
        </p:txBody>
      </p:sp>
      <p:sp>
        <p:nvSpPr>
          <p:cNvPr id="18" name="Text Placeholder 9">
            <a:extLst>
              <a:ext uri="{FF2B5EF4-FFF2-40B4-BE49-F238E27FC236}">
                <a16:creationId xmlns:a16="http://schemas.microsoft.com/office/drawing/2014/main" id="{E98C0CAC-08DF-E144-9C38-868E4A3F165C}"/>
              </a:ext>
            </a:extLst>
          </p:cNvPr>
          <p:cNvSpPr>
            <a:spLocks noGrp="1"/>
          </p:cNvSpPr>
          <p:nvPr>
            <p:ph type="body" sz="quarter" idx="22" hasCustomPrompt="1"/>
          </p:nvPr>
        </p:nvSpPr>
        <p:spPr>
          <a:xfrm>
            <a:off x="463868" y="6362339"/>
            <a:ext cx="9144000" cy="646113"/>
          </a:xfrm>
        </p:spPr>
        <p:txBody>
          <a:bodyPr>
            <a:normAutofit/>
          </a:bodyPr>
          <a:lstStyle>
            <a:lvl1pPr marL="0" indent="0">
              <a:spcBef>
                <a:spcPts val="0"/>
              </a:spcBef>
              <a:buNone/>
              <a:defRPr sz="1000"/>
            </a:lvl1pPr>
          </a:lstStyle>
          <a:p>
            <a:pPr lvl="0"/>
            <a:r>
              <a:rPr lang="en-US"/>
              <a:t>Click to edit footnotes</a:t>
            </a:r>
          </a:p>
        </p:txBody>
      </p:sp>
    </p:spTree>
    <p:extLst>
      <p:ext uri="{BB962C8B-B14F-4D97-AF65-F5344CB8AC3E}">
        <p14:creationId xmlns:p14="http://schemas.microsoft.com/office/powerpoint/2010/main" val="38227170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wo Labed Sections">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710F32"/>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710F32"/>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a:t>Click to edit subtitle</a:t>
            </a:r>
          </a:p>
        </p:txBody>
      </p:sp>
      <p:sp>
        <p:nvSpPr>
          <p:cNvPr id="24" name="Content1">
            <a:extLst>
              <a:ext uri="{FF2B5EF4-FFF2-40B4-BE49-F238E27FC236}">
                <a16:creationId xmlns:a16="http://schemas.microsoft.com/office/drawing/2014/main" id="{FC13BDA3-0ED6-DA43-ACA1-F7EC0C5CCFBD}"/>
              </a:ext>
            </a:extLst>
          </p:cNvPr>
          <p:cNvSpPr>
            <a:spLocks noGrp="1"/>
          </p:cNvSpPr>
          <p:nvPr>
            <p:ph idx="10" hasCustomPrompt="1"/>
          </p:nvPr>
        </p:nvSpPr>
        <p:spPr>
          <a:xfrm>
            <a:off x="859536" y="1685925"/>
            <a:ext cx="8723376" cy="2612365"/>
          </a:xfrm>
          <a:ln w="22225">
            <a:solidFill>
              <a:srgbClr val="1E1F49"/>
            </a:solidFill>
          </a:ln>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A502F299-4416-B44A-B4D6-3B8C2C77634F}"/>
              </a:ext>
            </a:extLst>
          </p:cNvPr>
          <p:cNvSpPr/>
          <p:nvPr userDrawn="1"/>
        </p:nvSpPr>
        <p:spPr>
          <a:xfrm>
            <a:off x="461623" y="1685925"/>
            <a:ext cx="379625" cy="2612365"/>
          </a:xfrm>
          <a:prstGeom prst="rect">
            <a:avLst/>
          </a:prstGeom>
          <a:solidFill>
            <a:srgbClr val="300508"/>
          </a:solidFill>
          <a:ln w="22225">
            <a:solidFill>
              <a:srgbClr val="3005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1">
            <a:extLst>
              <a:ext uri="{FF2B5EF4-FFF2-40B4-BE49-F238E27FC236}">
                <a16:creationId xmlns:a16="http://schemas.microsoft.com/office/drawing/2014/main" id="{1C72D35B-501F-E544-9C2D-D197EEFEB2DE}"/>
              </a:ext>
            </a:extLst>
          </p:cNvPr>
          <p:cNvSpPr>
            <a:spLocks noGrp="1"/>
          </p:cNvSpPr>
          <p:nvPr>
            <p:ph idx="19" hasCustomPrompt="1"/>
          </p:nvPr>
        </p:nvSpPr>
        <p:spPr>
          <a:xfrm>
            <a:off x="859536" y="4394221"/>
            <a:ext cx="8723376" cy="2615184"/>
          </a:xfrm>
          <a:ln w="22225">
            <a:solidFill>
              <a:srgbClr val="00396B"/>
            </a:solidFill>
          </a:ln>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p:txBody>
      </p:sp>
      <p:sp>
        <p:nvSpPr>
          <p:cNvPr id="6" name="Vertical Text Placeholder 5">
            <a:extLst>
              <a:ext uri="{FF2B5EF4-FFF2-40B4-BE49-F238E27FC236}">
                <a16:creationId xmlns:a16="http://schemas.microsoft.com/office/drawing/2014/main" id="{6083982B-EB0A-2940-BE54-C2B4E23CC405}"/>
              </a:ext>
            </a:extLst>
          </p:cNvPr>
          <p:cNvSpPr>
            <a:spLocks noGrp="1"/>
          </p:cNvSpPr>
          <p:nvPr>
            <p:ph type="body" orient="vert" sz="quarter" idx="20" hasCustomPrompt="1"/>
          </p:nvPr>
        </p:nvSpPr>
        <p:spPr>
          <a:xfrm rot="10800000">
            <a:off x="457200" y="1686121"/>
            <a:ext cx="384048" cy="2612157"/>
          </a:xfrm>
          <a:solidFill>
            <a:srgbClr val="1E1F49"/>
          </a:solidFill>
          <a:ln>
            <a:noFill/>
          </a:ln>
        </p:spPr>
        <p:txBody>
          <a:bodyPr vert="eaVert" lIns="0" tIns="0" rIns="0" bIns="0" anchor="ctr" anchorCtr="1"/>
          <a:lstStyle>
            <a:lvl1pPr marL="0" indent="0" algn="ctr">
              <a:buNone/>
              <a:defRPr>
                <a:solidFill>
                  <a:schemeClr val="bg1"/>
                </a:solidFill>
              </a:defRPr>
            </a:lvl1pPr>
          </a:lstStyle>
          <a:p>
            <a:pPr lvl="0"/>
            <a:r>
              <a:rPr lang="en-US"/>
              <a:t>Click to edit</a:t>
            </a:r>
          </a:p>
        </p:txBody>
      </p:sp>
      <p:sp>
        <p:nvSpPr>
          <p:cNvPr id="19" name="Vertical Text Placeholder 5">
            <a:extLst>
              <a:ext uri="{FF2B5EF4-FFF2-40B4-BE49-F238E27FC236}">
                <a16:creationId xmlns:a16="http://schemas.microsoft.com/office/drawing/2014/main" id="{A979B667-926A-44A9-BC6F-54F23D06126C}"/>
              </a:ext>
            </a:extLst>
          </p:cNvPr>
          <p:cNvSpPr>
            <a:spLocks noGrp="1"/>
          </p:cNvSpPr>
          <p:nvPr>
            <p:ph type="body" orient="vert" sz="quarter" idx="21" hasCustomPrompt="1"/>
          </p:nvPr>
        </p:nvSpPr>
        <p:spPr>
          <a:xfrm rot="10800000">
            <a:off x="457200" y="4382526"/>
            <a:ext cx="384048" cy="2615184"/>
          </a:xfrm>
          <a:solidFill>
            <a:srgbClr val="00396B"/>
          </a:solidFill>
          <a:ln>
            <a:solidFill>
              <a:srgbClr val="00396B"/>
            </a:solidFill>
          </a:ln>
        </p:spPr>
        <p:txBody>
          <a:bodyPr vert="eaVert" lIns="0" tIns="0" rIns="0" bIns="0" anchor="ctr" anchorCtr="1"/>
          <a:lstStyle>
            <a:lvl1pPr marL="0" indent="0" algn="ctr">
              <a:buNone/>
              <a:defRPr>
                <a:solidFill>
                  <a:schemeClr val="bg1"/>
                </a:solidFill>
              </a:defRPr>
            </a:lvl1pPr>
          </a:lstStyle>
          <a:p>
            <a:pPr lvl="0"/>
            <a:r>
              <a:rPr lang="en-US"/>
              <a:t>Click to edit</a:t>
            </a:r>
          </a:p>
        </p:txBody>
      </p:sp>
    </p:spTree>
    <p:extLst>
      <p:ext uri="{BB962C8B-B14F-4D97-AF65-F5344CB8AC3E}">
        <p14:creationId xmlns:p14="http://schemas.microsoft.com/office/powerpoint/2010/main" val="10903146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F0A77D-8436-4093-9A7A-6CDCD9AD859A}"/>
              </a:ext>
            </a:extLst>
          </p:cNvPr>
          <p:cNvSpPr/>
          <p:nvPr userDrawn="1"/>
        </p:nvSpPr>
        <p:spPr>
          <a:xfrm>
            <a:off x="8063672" y="6858000"/>
            <a:ext cx="1819375"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 Blue Chips">
            <a:extLst>
              <a:ext uri="{FF2B5EF4-FFF2-40B4-BE49-F238E27FC236}">
                <a16:creationId xmlns:a16="http://schemas.microsoft.com/office/drawing/2014/main" id="{64DD408E-7957-4A21-8B48-FF0B3731B6B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860747" y="2720128"/>
            <a:ext cx="2336906" cy="2332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6467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hesis - 4">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solidFill>
                  <a:srgbClr val="000000"/>
                </a:solidFill>
              </a:defRPr>
            </a:lvl1pPr>
          </a:lstStyle>
          <a:p>
            <a:r>
              <a:rPr lang="en-US"/>
              <a:t>Click to edit Master title style</a:t>
            </a:r>
          </a:p>
        </p:txBody>
      </p:sp>
      <p:sp>
        <p:nvSpPr>
          <p:cNvPr id="3" name="Content Placeholder 2"/>
          <p:cNvSpPr>
            <a:spLocks noGrp="1"/>
          </p:cNvSpPr>
          <p:nvPr>
            <p:ph idx="1"/>
          </p:nvPr>
        </p:nvSpPr>
        <p:spPr>
          <a:xfrm>
            <a:off x="461623" y="1861739"/>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E1362DE0-9DB5-F048-9000-A28AAE015CB4}"/>
              </a:ext>
            </a:extLst>
          </p:cNvPr>
          <p:cNvSpPr>
            <a:spLocks noGrp="1"/>
          </p:cNvSpPr>
          <p:nvPr>
            <p:ph type="body" sz="quarter" idx="10" hasCustomPrompt="1"/>
          </p:nvPr>
        </p:nvSpPr>
        <p:spPr>
          <a:xfrm>
            <a:off x="461623" y="1363874"/>
            <a:ext cx="9144000" cy="406276"/>
          </a:xfrm>
          <a:solidFill>
            <a:schemeClr val="tx1"/>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Thesis 1</a:t>
            </a:r>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a:p>
        </p:txBody>
      </p:sp>
      <p:sp>
        <p:nvSpPr>
          <p:cNvPr id="17" name="Content Placeholder 2">
            <a:extLst>
              <a:ext uri="{FF2B5EF4-FFF2-40B4-BE49-F238E27FC236}">
                <a16:creationId xmlns:a16="http://schemas.microsoft.com/office/drawing/2014/main" id="{7F888BDF-270C-3744-9477-0027C95CB9C3}"/>
              </a:ext>
            </a:extLst>
          </p:cNvPr>
          <p:cNvSpPr>
            <a:spLocks noGrp="1"/>
          </p:cNvSpPr>
          <p:nvPr>
            <p:ph idx="18"/>
          </p:nvPr>
        </p:nvSpPr>
        <p:spPr>
          <a:xfrm>
            <a:off x="461623" y="3276096"/>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19" name="Text Placeholder 17">
            <a:extLst>
              <a:ext uri="{FF2B5EF4-FFF2-40B4-BE49-F238E27FC236}">
                <a16:creationId xmlns:a16="http://schemas.microsoft.com/office/drawing/2014/main" id="{72CAFC95-4FAB-7047-8376-B14AA3EFF853}"/>
              </a:ext>
            </a:extLst>
          </p:cNvPr>
          <p:cNvSpPr>
            <a:spLocks noGrp="1"/>
          </p:cNvSpPr>
          <p:nvPr>
            <p:ph type="body" sz="quarter" idx="19" hasCustomPrompt="1"/>
          </p:nvPr>
        </p:nvSpPr>
        <p:spPr>
          <a:xfrm>
            <a:off x="461623" y="2778231"/>
            <a:ext cx="9144000" cy="406276"/>
          </a:xfrm>
          <a:solidFill>
            <a:srgbClr val="1E1F49"/>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Thesis 2</a:t>
            </a:r>
          </a:p>
        </p:txBody>
      </p:sp>
      <p:sp>
        <p:nvSpPr>
          <p:cNvPr id="20" name="Content Placeholder 2">
            <a:extLst>
              <a:ext uri="{FF2B5EF4-FFF2-40B4-BE49-F238E27FC236}">
                <a16:creationId xmlns:a16="http://schemas.microsoft.com/office/drawing/2014/main" id="{620B3B2A-097F-E940-B8EA-42E044EF705F}"/>
              </a:ext>
            </a:extLst>
          </p:cNvPr>
          <p:cNvSpPr>
            <a:spLocks noGrp="1"/>
          </p:cNvSpPr>
          <p:nvPr>
            <p:ph idx="20"/>
          </p:nvPr>
        </p:nvSpPr>
        <p:spPr>
          <a:xfrm>
            <a:off x="461623" y="4683453"/>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21" name="Text Placeholder 17">
            <a:extLst>
              <a:ext uri="{FF2B5EF4-FFF2-40B4-BE49-F238E27FC236}">
                <a16:creationId xmlns:a16="http://schemas.microsoft.com/office/drawing/2014/main" id="{BF77D6F2-3E1E-224A-95E0-6210AE7E8DF1}"/>
              </a:ext>
            </a:extLst>
          </p:cNvPr>
          <p:cNvSpPr>
            <a:spLocks noGrp="1"/>
          </p:cNvSpPr>
          <p:nvPr>
            <p:ph type="body" sz="quarter" idx="21" hasCustomPrompt="1"/>
          </p:nvPr>
        </p:nvSpPr>
        <p:spPr>
          <a:xfrm>
            <a:off x="461623" y="4185588"/>
            <a:ext cx="9144000" cy="406276"/>
          </a:xfrm>
          <a:solidFill>
            <a:srgbClr val="00396B"/>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Thesis 3</a:t>
            </a:r>
          </a:p>
        </p:txBody>
      </p:sp>
      <p:sp>
        <p:nvSpPr>
          <p:cNvPr id="22" name="Content Placeholder 2">
            <a:extLst>
              <a:ext uri="{FF2B5EF4-FFF2-40B4-BE49-F238E27FC236}">
                <a16:creationId xmlns:a16="http://schemas.microsoft.com/office/drawing/2014/main" id="{26D08498-2A1F-2E43-92C4-090023909B1F}"/>
              </a:ext>
            </a:extLst>
          </p:cNvPr>
          <p:cNvSpPr>
            <a:spLocks noGrp="1"/>
          </p:cNvSpPr>
          <p:nvPr>
            <p:ph idx="22"/>
          </p:nvPr>
        </p:nvSpPr>
        <p:spPr>
          <a:xfrm>
            <a:off x="461623" y="6097095"/>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27" name="Text Placeholder 17">
            <a:extLst>
              <a:ext uri="{FF2B5EF4-FFF2-40B4-BE49-F238E27FC236}">
                <a16:creationId xmlns:a16="http://schemas.microsoft.com/office/drawing/2014/main" id="{BB86CB22-3FD0-4E42-9129-5FFEC60AEF40}"/>
              </a:ext>
            </a:extLst>
          </p:cNvPr>
          <p:cNvSpPr>
            <a:spLocks noGrp="1"/>
          </p:cNvSpPr>
          <p:nvPr>
            <p:ph type="body" sz="quarter" idx="23" hasCustomPrompt="1"/>
          </p:nvPr>
        </p:nvSpPr>
        <p:spPr>
          <a:xfrm>
            <a:off x="461623" y="5599230"/>
            <a:ext cx="9144000" cy="406276"/>
          </a:xfrm>
          <a:solidFill>
            <a:srgbClr val="005EB4"/>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Thesis 4</a:t>
            </a:r>
          </a:p>
        </p:txBody>
      </p:sp>
      <p:sp>
        <p:nvSpPr>
          <p:cNvPr id="5" name="Content Placeholder 4">
            <a:extLst>
              <a:ext uri="{FF2B5EF4-FFF2-40B4-BE49-F238E27FC236}">
                <a16:creationId xmlns:a16="http://schemas.microsoft.com/office/drawing/2014/main" id="{004E9DFB-9BA3-4694-8144-6155E9CC706A}"/>
              </a:ext>
            </a:extLst>
          </p:cNvPr>
          <p:cNvSpPr>
            <a:spLocks noGrp="1"/>
          </p:cNvSpPr>
          <p:nvPr>
            <p:ph sz="quarter" idx="24"/>
          </p:nvPr>
        </p:nvSpPr>
        <p:spPr>
          <a:xfrm>
            <a:off x="4686300" y="1470025"/>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1864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0"/>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26" name="Picture 2" descr="The Blue Chips">
            <a:extLst>
              <a:ext uri="{FF2B5EF4-FFF2-40B4-BE49-F238E27FC236}">
                <a16:creationId xmlns:a16="http://schemas.microsoft.com/office/drawing/2014/main" id="{D1CBA077-B2D9-4292-979A-0DB74128307D}"/>
              </a:ext>
            </a:extLst>
          </p:cNvPr>
          <p:cNvPicPr>
            <a:picLocks noChangeAspect="1" noChangeArrowheads="1"/>
          </p:cNvPicPr>
          <p:nvPr userDrawn="1"/>
        </p:nvPicPr>
        <p:blipFill>
          <a:blip r:embed="rId24">
            <a:extLst>
              <a:ext uri="{28A0092B-C50C-407E-A947-70E740481C1C}">
                <a14:useLocalDpi xmlns:a14="http://schemas.microsoft.com/office/drawing/2010/main" val="0"/>
              </a:ext>
            </a:extLst>
          </a:blip>
          <a:srcRect/>
          <a:stretch>
            <a:fillRect/>
          </a:stretch>
        </p:blipFill>
        <p:spPr bwMode="auto">
          <a:xfrm>
            <a:off x="8646501" y="7123692"/>
            <a:ext cx="569982" cy="568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6725581"/>
      </p:ext>
    </p:extLst>
  </p:cSld>
  <p:clrMap bg1="lt1" tx1="dk1" bg2="lt2" tx2="dk2" accent1="accent1" accent2="accent2" accent3="accent3" accent4="accent4" accent5="accent5" accent6="accent6" hlink="hlink" folHlink="folHlink"/>
  <p:sldLayoutIdLst>
    <p:sldLayoutId id="2147483661" r:id="rId1"/>
    <p:sldLayoutId id="2147483676" r:id="rId2"/>
    <p:sldLayoutId id="2147483662" r:id="rId3"/>
    <p:sldLayoutId id="2147483673" r:id="rId4"/>
    <p:sldLayoutId id="2147483674" r:id="rId5"/>
    <p:sldLayoutId id="2147483675" r:id="rId6"/>
    <p:sldLayoutId id="2147483684" r:id="rId7"/>
    <p:sldLayoutId id="2147483682" r:id="rId8"/>
    <p:sldLayoutId id="2147483685" r:id="rId9"/>
    <p:sldLayoutId id="2147483688" r:id="rId10"/>
    <p:sldLayoutId id="2147483683" r:id="rId11"/>
    <p:sldLayoutId id="2147483677" r:id="rId12"/>
    <p:sldLayoutId id="2147483687" r:id="rId13"/>
    <p:sldLayoutId id="2147483689" r:id="rId14"/>
    <p:sldLayoutId id="2147483686" r:id="rId15"/>
    <p:sldLayoutId id="2147483678" r:id="rId16"/>
    <p:sldLayoutId id="2147483690" r:id="rId17"/>
    <p:sldLayoutId id="2147483691" r:id="rId18"/>
    <p:sldLayoutId id="2147483681" r:id="rId19"/>
    <p:sldLayoutId id="2147483679" r:id="rId20"/>
    <p:sldLayoutId id="2147483672" r:id="rId21"/>
    <p:sldLayoutId id="2147483692" r:id="rId22"/>
  </p:sldLayoutIdLst>
  <p:hf hdr="0" ftr="0" dt="0"/>
  <p:txStyles>
    <p:titleStyle>
      <a:lvl1pPr algn="l" defTabSz="1005840" rtl="0" eaLnBrk="1" latinLnBrk="0" hangingPunct="1">
        <a:lnSpc>
          <a:spcPct val="90000"/>
        </a:lnSpc>
        <a:spcBef>
          <a:spcPct val="0"/>
        </a:spcBef>
        <a:buNone/>
        <a:defRPr sz="4840" b="1" kern="1200">
          <a:solidFill>
            <a:schemeClr val="tx1"/>
          </a:solidFill>
          <a:latin typeface="+mj-lt"/>
          <a:ea typeface="+mj-ea"/>
          <a:cs typeface="+mj-cs"/>
        </a:defRPr>
      </a:lvl1pPr>
    </p:titleStyle>
    <p:body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9.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hart" Target="../charts/chart2.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9.xml"/><Relationship Id="rId5" Type="http://schemas.openxmlformats.org/officeDocument/2006/relationships/image" Target="../media/image16.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chart" Target="../charts/char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chart" Target="../charts/chart9.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167_2109266B.xml"/><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BFECF-E752-CC43-A365-701D8D922E0B}"/>
              </a:ext>
            </a:extLst>
          </p:cNvPr>
          <p:cNvSpPr>
            <a:spLocks noGrp="1"/>
          </p:cNvSpPr>
          <p:nvPr>
            <p:ph type="ctrTitle"/>
          </p:nvPr>
        </p:nvSpPr>
        <p:spPr/>
        <p:txBody>
          <a:bodyPr/>
          <a:lstStyle/>
          <a:p>
            <a:r>
              <a:rPr lang="en-US"/>
              <a:t>NexPoint</a:t>
            </a:r>
          </a:p>
        </p:txBody>
      </p:sp>
      <p:sp>
        <p:nvSpPr>
          <p:cNvPr id="3" name="Subtitle 2">
            <a:extLst>
              <a:ext uri="{FF2B5EF4-FFF2-40B4-BE49-F238E27FC236}">
                <a16:creationId xmlns:a16="http://schemas.microsoft.com/office/drawing/2014/main" id="{FBE13FD4-4D48-AA3F-3DCE-479FFB62EEB2}"/>
              </a:ext>
            </a:extLst>
          </p:cNvPr>
          <p:cNvSpPr>
            <a:spLocks noGrp="1"/>
          </p:cNvSpPr>
          <p:nvPr>
            <p:ph type="subTitle" idx="1"/>
          </p:nvPr>
        </p:nvSpPr>
        <p:spPr/>
        <p:txBody>
          <a:bodyPr/>
          <a:lstStyle/>
          <a:p>
            <a:r>
              <a:rPr lang="en-US"/>
              <a:t>NYSE: NXRT</a:t>
            </a:r>
          </a:p>
        </p:txBody>
      </p:sp>
      <p:sp>
        <p:nvSpPr>
          <p:cNvPr id="4" name="Text Placeholder 3">
            <a:extLst>
              <a:ext uri="{FF2B5EF4-FFF2-40B4-BE49-F238E27FC236}">
                <a16:creationId xmlns:a16="http://schemas.microsoft.com/office/drawing/2014/main" id="{92ECE357-949C-466A-1245-7D169EA7CA96}"/>
              </a:ext>
            </a:extLst>
          </p:cNvPr>
          <p:cNvSpPr>
            <a:spLocks noGrp="1"/>
          </p:cNvSpPr>
          <p:nvPr>
            <p:ph type="body" sz="quarter" idx="14"/>
          </p:nvPr>
        </p:nvSpPr>
        <p:spPr/>
        <p:txBody>
          <a:bodyPr>
            <a:normAutofit lnSpcReduction="10000"/>
          </a:bodyPr>
          <a:lstStyle/>
          <a:p>
            <a:r>
              <a:rPr lang="en-US"/>
              <a:t>Katherine Chen, </a:t>
            </a:r>
            <a:r>
              <a:rPr lang="en-US" err="1"/>
              <a:t>Tuhin</a:t>
            </a:r>
            <a:r>
              <a:rPr lang="en-US"/>
              <a:t> Ghosh, Lila </a:t>
            </a:r>
            <a:r>
              <a:rPr lang="en-US" err="1"/>
              <a:t>Melkumova</a:t>
            </a:r>
            <a:r>
              <a:rPr lang="en-US"/>
              <a:t>, Hunter Peterson</a:t>
            </a:r>
          </a:p>
          <a:p>
            <a:r>
              <a:rPr lang="en-US"/>
              <a:t>SL: </a:t>
            </a:r>
            <a:r>
              <a:rPr lang="en-US" err="1"/>
              <a:t>Gaurov</a:t>
            </a:r>
            <a:r>
              <a:rPr lang="en-US"/>
              <a:t> Bansal</a:t>
            </a:r>
          </a:p>
          <a:p>
            <a:r>
              <a:rPr lang="en-US"/>
              <a:t>Financials, Fall 2023</a:t>
            </a:r>
          </a:p>
        </p:txBody>
      </p:sp>
      <p:pic>
        <p:nvPicPr>
          <p:cNvPr id="1028" name="Picture 4" descr="Public Real Estate Investment Trusts | NexPoint REITs">
            <a:extLst>
              <a:ext uri="{FF2B5EF4-FFF2-40B4-BE49-F238E27FC236}">
                <a16:creationId xmlns:a16="http://schemas.microsoft.com/office/drawing/2014/main" id="{508EE5BE-94E1-3EA2-26D4-AF2B8E50E0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5775" y="2708213"/>
            <a:ext cx="5246849" cy="751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987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4EFEE-32C5-2F69-D7A1-CBF2E6A077B9}"/>
              </a:ext>
            </a:extLst>
          </p:cNvPr>
          <p:cNvSpPr>
            <a:spLocks noGrp="1"/>
          </p:cNvSpPr>
          <p:nvPr>
            <p:ph type="title"/>
          </p:nvPr>
        </p:nvSpPr>
        <p:spPr/>
        <p:txBody>
          <a:bodyPr/>
          <a:lstStyle/>
          <a:p>
            <a:r>
              <a:rPr lang="en-US"/>
              <a:t>Executive Summary</a:t>
            </a:r>
          </a:p>
        </p:txBody>
      </p:sp>
      <p:sp>
        <p:nvSpPr>
          <p:cNvPr id="4" name="Text Placeholder 3">
            <a:extLst>
              <a:ext uri="{FF2B5EF4-FFF2-40B4-BE49-F238E27FC236}">
                <a16:creationId xmlns:a16="http://schemas.microsoft.com/office/drawing/2014/main" id="{758DC0CC-0E64-9C43-7845-8366B9AD2021}"/>
              </a:ext>
            </a:extLst>
          </p:cNvPr>
          <p:cNvSpPr>
            <a:spLocks noGrp="1"/>
          </p:cNvSpPr>
          <p:nvPr>
            <p:ph type="body" sz="quarter" idx="18"/>
          </p:nvPr>
        </p:nvSpPr>
        <p:spPr/>
        <p:txBody>
          <a:bodyPr>
            <a:normAutofit/>
          </a:bodyPr>
          <a:lstStyle/>
          <a:p>
            <a:r>
              <a:rPr lang="en-US" i="1"/>
              <a:t>NexPoint Residential Trust, Inc. is a leading player in the multifamily Class B REIT space.</a:t>
            </a:r>
          </a:p>
        </p:txBody>
      </p:sp>
      <p:sp>
        <p:nvSpPr>
          <p:cNvPr id="5" name="Content Placeholder 4">
            <a:extLst>
              <a:ext uri="{FF2B5EF4-FFF2-40B4-BE49-F238E27FC236}">
                <a16:creationId xmlns:a16="http://schemas.microsoft.com/office/drawing/2014/main" id="{63EA789F-64CA-A90A-D6D2-A2F5E620155B}"/>
              </a:ext>
            </a:extLst>
          </p:cNvPr>
          <p:cNvSpPr>
            <a:spLocks noGrp="1"/>
          </p:cNvSpPr>
          <p:nvPr>
            <p:ph idx="10"/>
          </p:nvPr>
        </p:nvSpPr>
        <p:spPr>
          <a:xfrm>
            <a:off x="461621" y="1919891"/>
            <a:ext cx="4567577" cy="2408677"/>
          </a:xfrm>
        </p:spPr>
        <p:txBody>
          <a:bodyPr vert="horz" lIns="91440" tIns="45720" rIns="91440" bIns="45720" rtlCol="0" anchor="t">
            <a:normAutofit lnSpcReduction="10000"/>
          </a:bodyPr>
          <a:lstStyle/>
          <a:p>
            <a:r>
              <a:rPr lang="en-US">
                <a:latin typeface="Garamond"/>
              </a:rPr>
              <a:t>Real Estate Investment Trusts (REIT) focused on the acquisition, ownership, and operation of multifamily, value-add Class B properties in metropolitan cities throughout the Southeastern and Southwestern United States (Sunbelt region)</a:t>
            </a:r>
          </a:p>
          <a:p>
            <a:r>
              <a:rPr lang="en-US">
                <a:latin typeface="Garamond"/>
              </a:rPr>
              <a:t>Targets properties with a value-add component for which life-style amenities can be added and improved, with a focus on workforce and middle-income housing</a:t>
            </a:r>
          </a:p>
          <a:p>
            <a:r>
              <a:rPr lang="en-US">
                <a:latin typeface="Garamond"/>
              </a:rPr>
              <a:t>Potential to portfolio diversification for TBC</a:t>
            </a:r>
            <a:endParaRPr lang="en-US"/>
          </a:p>
        </p:txBody>
      </p:sp>
      <p:sp>
        <p:nvSpPr>
          <p:cNvPr id="7" name="Content Placeholder 6">
            <a:extLst>
              <a:ext uri="{FF2B5EF4-FFF2-40B4-BE49-F238E27FC236}">
                <a16:creationId xmlns:a16="http://schemas.microsoft.com/office/drawing/2014/main" id="{D0319290-8888-0048-3EEC-4769C7EE41C6}"/>
              </a:ext>
            </a:extLst>
          </p:cNvPr>
          <p:cNvSpPr>
            <a:spLocks noGrp="1"/>
          </p:cNvSpPr>
          <p:nvPr>
            <p:ph sz="quarter" idx="12"/>
          </p:nvPr>
        </p:nvSpPr>
        <p:spPr>
          <a:xfrm>
            <a:off x="4976546" y="1893976"/>
            <a:ext cx="4567577" cy="2408676"/>
          </a:xfrm>
        </p:spPr>
        <p:txBody>
          <a:bodyPr>
            <a:normAutofit lnSpcReduction="10000"/>
          </a:bodyPr>
          <a:lstStyle/>
          <a:p>
            <a:pPr lvl="1"/>
            <a:r>
              <a:rPr lang="en-US"/>
              <a:t>Seeks to identify properties where prior owners have failed to adequately invest, thereby providing the Company with the opportunity to increase rents substantially for minimal capital expenditure</a:t>
            </a:r>
          </a:p>
          <a:p>
            <a:pPr lvl="1"/>
            <a:r>
              <a:rPr lang="en-US"/>
              <a:t>Improvement types:</a:t>
            </a:r>
          </a:p>
          <a:p>
            <a:pPr lvl="2"/>
            <a:r>
              <a:rPr lang="en-US"/>
              <a:t>Exteriors and common areas (increases to useful life, landscape changes)</a:t>
            </a:r>
          </a:p>
          <a:p>
            <a:pPr lvl="2"/>
            <a:r>
              <a:rPr lang="en-US"/>
              <a:t>Interiors (appliances, kitchens, smart technology)</a:t>
            </a:r>
          </a:p>
          <a:p>
            <a:pPr lvl="2"/>
            <a:r>
              <a:rPr lang="en-US"/>
              <a:t>Costs (longer-lived materials, energy conservation)</a:t>
            </a:r>
          </a:p>
        </p:txBody>
      </p:sp>
      <p:sp>
        <p:nvSpPr>
          <p:cNvPr id="9" name="Content Placeholder 8">
            <a:extLst>
              <a:ext uri="{FF2B5EF4-FFF2-40B4-BE49-F238E27FC236}">
                <a16:creationId xmlns:a16="http://schemas.microsoft.com/office/drawing/2014/main" id="{AE2DF0F2-7F8C-B137-84A8-B1969258B38B}"/>
              </a:ext>
            </a:extLst>
          </p:cNvPr>
          <p:cNvSpPr>
            <a:spLocks noGrp="1"/>
          </p:cNvSpPr>
          <p:nvPr>
            <p:ph idx="19"/>
          </p:nvPr>
        </p:nvSpPr>
        <p:spPr>
          <a:xfrm>
            <a:off x="461623" y="1586119"/>
            <a:ext cx="4462272" cy="304337"/>
          </a:xfrm>
        </p:spPr>
        <p:txBody>
          <a:bodyPr/>
          <a:lstStyle/>
          <a:p>
            <a:r>
              <a:rPr lang="en-US"/>
              <a:t>Company Focus</a:t>
            </a:r>
          </a:p>
        </p:txBody>
      </p:sp>
      <p:sp>
        <p:nvSpPr>
          <p:cNvPr id="10" name="Content Placeholder 9">
            <a:extLst>
              <a:ext uri="{FF2B5EF4-FFF2-40B4-BE49-F238E27FC236}">
                <a16:creationId xmlns:a16="http://schemas.microsoft.com/office/drawing/2014/main" id="{04B5B0B1-5EFC-1DDC-27EA-A6670A84F5C7}"/>
              </a:ext>
            </a:extLst>
          </p:cNvPr>
          <p:cNvSpPr>
            <a:spLocks noGrp="1"/>
          </p:cNvSpPr>
          <p:nvPr>
            <p:ph idx="20"/>
          </p:nvPr>
        </p:nvSpPr>
        <p:spPr>
          <a:xfrm>
            <a:off x="5152651" y="1586118"/>
            <a:ext cx="4462272" cy="304337"/>
          </a:xfrm>
        </p:spPr>
        <p:txBody>
          <a:bodyPr/>
          <a:lstStyle/>
          <a:p>
            <a:r>
              <a:rPr lang="en-US"/>
              <a:t>Value-Add Strategy</a:t>
            </a:r>
          </a:p>
        </p:txBody>
      </p:sp>
      <p:sp>
        <p:nvSpPr>
          <p:cNvPr id="11" name="Content Placeholder 10">
            <a:extLst>
              <a:ext uri="{FF2B5EF4-FFF2-40B4-BE49-F238E27FC236}">
                <a16:creationId xmlns:a16="http://schemas.microsoft.com/office/drawing/2014/main" id="{267D3E1A-D019-8BCB-9E5B-A3188D534F4D}"/>
              </a:ext>
            </a:extLst>
          </p:cNvPr>
          <p:cNvSpPr>
            <a:spLocks noGrp="1"/>
          </p:cNvSpPr>
          <p:nvPr>
            <p:ph idx="21"/>
          </p:nvPr>
        </p:nvSpPr>
        <p:spPr>
          <a:xfrm>
            <a:off x="461623" y="4328568"/>
            <a:ext cx="4462272" cy="304337"/>
          </a:xfrm>
        </p:spPr>
        <p:txBody>
          <a:bodyPr/>
          <a:lstStyle/>
          <a:p>
            <a:r>
              <a:rPr lang="en-US"/>
              <a:t>Geographic Breakdown</a:t>
            </a:r>
          </a:p>
        </p:txBody>
      </p:sp>
      <p:sp>
        <p:nvSpPr>
          <p:cNvPr id="12" name="Content Placeholder 11">
            <a:extLst>
              <a:ext uri="{FF2B5EF4-FFF2-40B4-BE49-F238E27FC236}">
                <a16:creationId xmlns:a16="http://schemas.microsoft.com/office/drawing/2014/main" id="{16966A98-F394-391C-8ECF-13275AFB4E74}"/>
              </a:ext>
            </a:extLst>
          </p:cNvPr>
          <p:cNvSpPr>
            <a:spLocks noGrp="1"/>
          </p:cNvSpPr>
          <p:nvPr>
            <p:ph idx="22"/>
          </p:nvPr>
        </p:nvSpPr>
        <p:spPr>
          <a:xfrm>
            <a:off x="5133032" y="4338413"/>
            <a:ext cx="4463745" cy="304337"/>
          </a:xfrm>
        </p:spPr>
        <p:txBody>
          <a:bodyPr/>
          <a:lstStyle/>
          <a:p>
            <a:r>
              <a:rPr lang="en-US"/>
              <a:t>Key Figures</a:t>
            </a:r>
          </a:p>
        </p:txBody>
      </p:sp>
      <p:graphicFrame>
        <p:nvGraphicFramePr>
          <p:cNvPr id="3" name="Chart 2">
            <a:extLst>
              <a:ext uri="{FF2B5EF4-FFF2-40B4-BE49-F238E27FC236}">
                <a16:creationId xmlns:a16="http://schemas.microsoft.com/office/drawing/2014/main" id="{BC36E67E-C86F-90BC-0530-BAA057523442}"/>
              </a:ext>
            </a:extLst>
          </p:cNvPr>
          <p:cNvGraphicFramePr/>
          <p:nvPr/>
        </p:nvGraphicFramePr>
        <p:xfrm>
          <a:off x="514274" y="4581600"/>
          <a:ext cx="4462272" cy="2530753"/>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7345B152-57FA-74CD-660D-069CDADD824C}"/>
              </a:ext>
            </a:extLst>
          </p:cNvPr>
          <p:cNvSpPr txBox="1"/>
          <p:nvPr/>
        </p:nvSpPr>
        <p:spPr>
          <a:xfrm>
            <a:off x="272642" y="8462243"/>
            <a:ext cx="4945536" cy="692497"/>
          </a:xfrm>
          <a:prstGeom prst="rect">
            <a:avLst/>
          </a:prstGeom>
          <a:noFill/>
        </p:spPr>
        <p:txBody>
          <a:bodyPr wrap="square" rtlCol="0">
            <a:spAutoFit/>
          </a:bodyPr>
          <a:lstStyle/>
          <a:p>
            <a:pPr algn="ctr"/>
            <a:r>
              <a:rPr lang="en-US" sz="1300" i="1">
                <a:solidFill>
                  <a:schemeClr val="bg2">
                    <a:lumMod val="25000"/>
                  </a:schemeClr>
                </a:solidFill>
              </a:rPr>
              <a:t>Subscription services is the fastest-growing segment (92% YOY), followed by fintech solutions (61%) and professional services (44%)</a:t>
            </a:r>
          </a:p>
          <a:p>
            <a:pPr algn="ctr"/>
            <a:endParaRPr lang="en-US" sz="1300" i="1"/>
          </a:p>
        </p:txBody>
      </p:sp>
      <p:sp>
        <p:nvSpPr>
          <p:cNvPr id="6" name="Content Placeholder 12">
            <a:extLst>
              <a:ext uri="{FF2B5EF4-FFF2-40B4-BE49-F238E27FC236}">
                <a16:creationId xmlns:a16="http://schemas.microsoft.com/office/drawing/2014/main" id="{3B600339-9FA4-D5D8-4148-438F483CC5AA}"/>
              </a:ext>
            </a:extLst>
          </p:cNvPr>
          <p:cNvSpPr txBox="1">
            <a:spLocks/>
          </p:cNvSpPr>
          <p:nvPr/>
        </p:nvSpPr>
        <p:spPr>
          <a:xfrm>
            <a:off x="5138926" y="4678511"/>
            <a:ext cx="2121408" cy="604749"/>
          </a:xfrm>
          <a:prstGeom prst="rect">
            <a:avLst/>
          </a:prstGeom>
        </p:spPr>
        <p:txBody>
          <a:bodyPr vert="horz" lIns="91440" tIns="45720" rIns="91440" bIns="45720" rtlCol="0">
            <a:norm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lgn="ctr">
              <a:buNone/>
            </a:pPr>
            <a:r>
              <a:rPr lang="en-US" sz="3600">
                <a:solidFill>
                  <a:srgbClr val="007DEE"/>
                </a:solidFill>
              </a:rPr>
              <a:t>40</a:t>
            </a:r>
          </a:p>
        </p:txBody>
      </p:sp>
      <p:sp>
        <p:nvSpPr>
          <p:cNvPr id="8" name="Content Placeholder 15">
            <a:extLst>
              <a:ext uri="{FF2B5EF4-FFF2-40B4-BE49-F238E27FC236}">
                <a16:creationId xmlns:a16="http://schemas.microsoft.com/office/drawing/2014/main" id="{C528ABBD-D530-BD3D-8E2B-99648A368953}"/>
              </a:ext>
            </a:extLst>
          </p:cNvPr>
          <p:cNvSpPr txBox="1">
            <a:spLocks/>
          </p:cNvSpPr>
          <p:nvPr/>
        </p:nvSpPr>
        <p:spPr>
          <a:xfrm>
            <a:off x="5161325" y="5320933"/>
            <a:ext cx="2121408" cy="304337"/>
          </a:xfrm>
          <a:prstGeom prst="rect">
            <a:avLst/>
          </a:prstGeom>
          <a:solidFill>
            <a:srgbClr val="004C92"/>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Properties</a:t>
            </a:r>
          </a:p>
        </p:txBody>
      </p:sp>
      <p:sp>
        <p:nvSpPr>
          <p:cNvPr id="13" name="Content Placeholder 12">
            <a:extLst>
              <a:ext uri="{FF2B5EF4-FFF2-40B4-BE49-F238E27FC236}">
                <a16:creationId xmlns:a16="http://schemas.microsoft.com/office/drawing/2014/main" id="{814C3AAF-037C-E99E-103E-AA83654E7739}"/>
              </a:ext>
            </a:extLst>
          </p:cNvPr>
          <p:cNvSpPr txBox="1">
            <a:spLocks/>
          </p:cNvSpPr>
          <p:nvPr/>
        </p:nvSpPr>
        <p:spPr>
          <a:xfrm>
            <a:off x="7420917" y="4674499"/>
            <a:ext cx="2121408" cy="604749"/>
          </a:xfrm>
          <a:prstGeom prst="rect">
            <a:avLst/>
          </a:prstGeom>
        </p:spPr>
        <p:txBody>
          <a:bodyPr vert="horz" lIns="91440" tIns="45720" rIns="91440" bIns="45720" rtlCol="0">
            <a:norm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lgn="ctr">
              <a:buNone/>
            </a:pPr>
            <a:r>
              <a:rPr lang="en-US" sz="3600">
                <a:solidFill>
                  <a:srgbClr val="007DEE"/>
                </a:solidFill>
              </a:rPr>
              <a:t>$1,487</a:t>
            </a:r>
          </a:p>
        </p:txBody>
      </p:sp>
      <p:sp>
        <p:nvSpPr>
          <p:cNvPr id="16" name="Content Placeholder 15">
            <a:extLst>
              <a:ext uri="{FF2B5EF4-FFF2-40B4-BE49-F238E27FC236}">
                <a16:creationId xmlns:a16="http://schemas.microsoft.com/office/drawing/2014/main" id="{9895D4B9-FAA9-2340-B66E-07EB91D873BB}"/>
              </a:ext>
            </a:extLst>
          </p:cNvPr>
          <p:cNvSpPr txBox="1">
            <a:spLocks/>
          </p:cNvSpPr>
          <p:nvPr/>
        </p:nvSpPr>
        <p:spPr>
          <a:xfrm>
            <a:off x="7443316" y="5316921"/>
            <a:ext cx="2121408" cy="304337"/>
          </a:xfrm>
          <a:prstGeom prst="rect">
            <a:avLst/>
          </a:prstGeom>
          <a:solidFill>
            <a:srgbClr val="004C92"/>
          </a:solidFill>
          <a:ln>
            <a:noFill/>
          </a:ln>
        </p:spPr>
        <p:txBody>
          <a:bodyPr vert="horz" lIns="0" tIns="0" rIns="0" bIns="0" rtlCol="0" anchor="ctr">
            <a:normAutofit fontScale="85000" lnSpcReduction="10000"/>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Average Monthly Rent / Unit</a:t>
            </a:r>
          </a:p>
        </p:txBody>
      </p:sp>
      <p:sp>
        <p:nvSpPr>
          <p:cNvPr id="18" name="TextBox 17">
            <a:extLst>
              <a:ext uri="{FF2B5EF4-FFF2-40B4-BE49-F238E27FC236}">
                <a16:creationId xmlns:a16="http://schemas.microsoft.com/office/drawing/2014/main" id="{555B3E2F-B288-0810-BF8F-632F4636B392}"/>
              </a:ext>
            </a:extLst>
          </p:cNvPr>
          <p:cNvSpPr txBox="1"/>
          <p:nvPr/>
        </p:nvSpPr>
        <p:spPr>
          <a:xfrm>
            <a:off x="7713525" y="6818553"/>
            <a:ext cx="1828800" cy="276999"/>
          </a:xfrm>
          <a:prstGeom prst="rect">
            <a:avLst/>
          </a:prstGeom>
          <a:noFill/>
        </p:spPr>
        <p:txBody>
          <a:bodyPr wrap="square" rtlCol="0">
            <a:spAutoFit/>
          </a:bodyPr>
          <a:lstStyle/>
          <a:p>
            <a:pPr algn="r"/>
            <a:r>
              <a:rPr lang="en-US" sz="1200" i="1"/>
              <a:t>All data as of May 2023 </a:t>
            </a:r>
          </a:p>
        </p:txBody>
      </p:sp>
      <p:sp>
        <p:nvSpPr>
          <p:cNvPr id="20" name="Content Placeholder 12">
            <a:extLst>
              <a:ext uri="{FF2B5EF4-FFF2-40B4-BE49-F238E27FC236}">
                <a16:creationId xmlns:a16="http://schemas.microsoft.com/office/drawing/2014/main" id="{D1EE4397-C5B1-4749-4BD4-DB9C3A33F0DA}"/>
              </a:ext>
            </a:extLst>
          </p:cNvPr>
          <p:cNvSpPr txBox="1">
            <a:spLocks/>
          </p:cNvSpPr>
          <p:nvPr/>
        </p:nvSpPr>
        <p:spPr>
          <a:xfrm>
            <a:off x="5165253" y="5877660"/>
            <a:ext cx="2121408" cy="604749"/>
          </a:xfrm>
          <a:prstGeom prst="rect">
            <a:avLst/>
          </a:prstGeom>
        </p:spPr>
        <p:txBody>
          <a:bodyPr vert="horz" lIns="91440" tIns="45720" rIns="91440" bIns="45720" rtlCol="0">
            <a:norm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lgn="ctr">
              <a:buNone/>
            </a:pPr>
            <a:r>
              <a:rPr lang="en-US" sz="3600">
                <a:solidFill>
                  <a:srgbClr val="007DEE"/>
                </a:solidFill>
              </a:rPr>
              <a:t>$83,175</a:t>
            </a:r>
          </a:p>
        </p:txBody>
      </p:sp>
      <p:sp>
        <p:nvSpPr>
          <p:cNvPr id="21" name="Content Placeholder 15">
            <a:extLst>
              <a:ext uri="{FF2B5EF4-FFF2-40B4-BE49-F238E27FC236}">
                <a16:creationId xmlns:a16="http://schemas.microsoft.com/office/drawing/2014/main" id="{C91EA500-9039-BC3C-5E40-649C03DEE118}"/>
              </a:ext>
            </a:extLst>
          </p:cNvPr>
          <p:cNvSpPr txBox="1">
            <a:spLocks/>
          </p:cNvSpPr>
          <p:nvPr/>
        </p:nvSpPr>
        <p:spPr>
          <a:xfrm>
            <a:off x="5157312" y="6520152"/>
            <a:ext cx="2121408" cy="304337"/>
          </a:xfrm>
          <a:prstGeom prst="rect">
            <a:avLst/>
          </a:prstGeom>
          <a:solidFill>
            <a:srgbClr val="004C92"/>
          </a:solidFill>
          <a:ln>
            <a:noFill/>
          </a:ln>
        </p:spPr>
        <p:txBody>
          <a:bodyPr vert="horz" lIns="0" tIns="0" rIns="0" bIns="0" rtlCol="0" anchor="ctr">
            <a:normAutofit fontScale="92500"/>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Average Household Income</a:t>
            </a:r>
          </a:p>
        </p:txBody>
      </p:sp>
      <p:sp>
        <p:nvSpPr>
          <p:cNvPr id="22" name="Content Placeholder 12">
            <a:extLst>
              <a:ext uri="{FF2B5EF4-FFF2-40B4-BE49-F238E27FC236}">
                <a16:creationId xmlns:a16="http://schemas.microsoft.com/office/drawing/2014/main" id="{86842765-1C0E-046F-246C-7CC2939D7252}"/>
              </a:ext>
            </a:extLst>
          </p:cNvPr>
          <p:cNvSpPr txBox="1">
            <a:spLocks/>
          </p:cNvSpPr>
          <p:nvPr/>
        </p:nvSpPr>
        <p:spPr>
          <a:xfrm>
            <a:off x="7428933" y="5880072"/>
            <a:ext cx="2121408" cy="604749"/>
          </a:xfrm>
          <a:prstGeom prst="rect">
            <a:avLst/>
          </a:prstGeom>
        </p:spPr>
        <p:txBody>
          <a:bodyPr vert="horz" lIns="91440" tIns="45720" rIns="91440" bIns="45720" rtlCol="0">
            <a:norm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lgn="ctr">
              <a:buNone/>
            </a:pPr>
            <a:r>
              <a:rPr lang="en-US" sz="3600">
                <a:solidFill>
                  <a:srgbClr val="007DEE"/>
                </a:solidFill>
              </a:rPr>
              <a:t>$8,151</a:t>
            </a:r>
          </a:p>
        </p:txBody>
      </p:sp>
      <p:sp>
        <p:nvSpPr>
          <p:cNvPr id="23" name="Content Placeholder 15">
            <a:extLst>
              <a:ext uri="{FF2B5EF4-FFF2-40B4-BE49-F238E27FC236}">
                <a16:creationId xmlns:a16="http://schemas.microsoft.com/office/drawing/2014/main" id="{EB913A1E-19BD-AB3E-6F2F-F7773BB81E91}"/>
              </a:ext>
            </a:extLst>
          </p:cNvPr>
          <p:cNvSpPr txBox="1">
            <a:spLocks/>
          </p:cNvSpPr>
          <p:nvPr/>
        </p:nvSpPr>
        <p:spPr>
          <a:xfrm>
            <a:off x="7475369" y="6515836"/>
            <a:ext cx="2121408" cy="304337"/>
          </a:xfrm>
          <a:prstGeom prst="rect">
            <a:avLst/>
          </a:prstGeom>
          <a:solidFill>
            <a:srgbClr val="004C92"/>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Average Renovation Cost</a:t>
            </a:r>
          </a:p>
        </p:txBody>
      </p:sp>
    </p:spTree>
    <p:extLst>
      <p:ext uri="{BB962C8B-B14F-4D97-AF65-F5344CB8AC3E}">
        <p14:creationId xmlns:p14="http://schemas.microsoft.com/office/powerpoint/2010/main" val="3748419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6C0E6F-794C-4F20-4592-0A46DD9C0938}"/>
              </a:ext>
            </a:extLst>
          </p:cNvPr>
          <p:cNvSpPr>
            <a:spLocks noGrp="1"/>
          </p:cNvSpPr>
          <p:nvPr>
            <p:ph type="title"/>
          </p:nvPr>
        </p:nvSpPr>
        <p:spPr/>
        <p:txBody>
          <a:bodyPr/>
          <a:lstStyle/>
          <a:p>
            <a:r>
              <a:rPr lang="en-US"/>
              <a:t>Deeper Dive into Strategy and Operations</a:t>
            </a:r>
          </a:p>
        </p:txBody>
      </p:sp>
      <p:sp>
        <p:nvSpPr>
          <p:cNvPr id="4" name="Content Placeholder 3">
            <a:extLst>
              <a:ext uri="{FF2B5EF4-FFF2-40B4-BE49-F238E27FC236}">
                <a16:creationId xmlns:a16="http://schemas.microsoft.com/office/drawing/2014/main" id="{80A0E4D0-46F5-701B-5A90-47C05BB86F36}"/>
              </a:ext>
            </a:extLst>
          </p:cNvPr>
          <p:cNvSpPr>
            <a:spLocks noGrp="1"/>
          </p:cNvSpPr>
          <p:nvPr>
            <p:ph idx="1"/>
          </p:nvPr>
        </p:nvSpPr>
        <p:spPr/>
        <p:txBody>
          <a:bodyPr>
            <a:normAutofit lnSpcReduction="10000"/>
          </a:bodyPr>
          <a:lstStyle/>
          <a:p>
            <a:r>
              <a:rPr lang="en-US"/>
              <a:t>Includes improvements to exteriors, common areas, and interiors, as well as more effective cost management</a:t>
            </a:r>
          </a:p>
          <a:p>
            <a:r>
              <a:rPr lang="en-US"/>
              <a:t>Improves properties strategically, with a focus on areas where significant rent increases are feasible</a:t>
            </a:r>
          </a:p>
          <a:p>
            <a:r>
              <a:rPr lang="en-US"/>
              <a:t>Reserved ~$11.9M for value-add capex as of Dec. 2022, allowing 14,203 planned internal rehabs </a:t>
            </a:r>
          </a:p>
        </p:txBody>
      </p:sp>
      <p:sp>
        <p:nvSpPr>
          <p:cNvPr id="5" name="Text Placeholder 4">
            <a:extLst>
              <a:ext uri="{FF2B5EF4-FFF2-40B4-BE49-F238E27FC236}">
                <a16:creationId xmlns:a16="http://schemas.microsoft.com/office/drawing/2014/main" id="{12D5D6B3-E72D-CD9A-E0EA-066719C37D96}"/>
              </a:ext>
            </a:extLst>
          </p:cNvPr>
          <p:cNvSpPr>
            <a:spLocks noGrp="1"/>
          </p:cNvSpPr>
          <p:nvPr>
            <p:ph type="body" sz="quarter" idx="10"/>
          </p:nvPr>
        </p:nvSpPr>
        <p:spPr/>
        <p:txBody>
          <a:bodyPr/>
          <a:lstStyle/>
          <a:p>
            <a:r>
              <a:rPr lang="en-US"/>
              <a:t>Renovation and Improvement Capabilities</a:t>
            </a:r>
          </a:p>
        </p:txBody>
      </p:sp>
      <p:sp>
        <p:nvSpPr>
          <p:cNvPr id="6" name="Content Placeholder 5">
            <a:extLst>
              <a:ext uri="{FF2B5EF4-FFF2-40B4-BE49-F238E27FC236}">
                <a16:creationId xmlns:a16="http://schemas.microsoft.com/office/drawing/2014/main" id="{1D3C5E71-46F3-17E1-A967-48B3A326CDFC}"/>
              </a:ext>
            </a:extLst>
          </p:cNvPr>
          <p:cNvSpPr>
            <a:spLocks noGrp="1"/>
          </p:cNvSpPr>
          <p:nvPr>
            <p:ph idx="18"/>
          </p:nvPr>
        </p:nvSpPr>
        <p:spPr/>
        <p:txBody>
          <a:bodyPr vert="horz" lIns="91440" tIns="45720" rIns="91440" bIns="45720" rtlCol="0" anchor="t">
            <a:normAutofit fontScale="92500" lnSpcReduction="10000"/>
          </a:bodyPr>
          <a:lstStyle/>
          <a:p>
            <a:r>
              <a:rPr lang="en-US">
                <a:latin typeface="Garamond"/>
              </a:rPr>
              <a:t>Properties are concentrated within the Sunbelt region, which benefits from job growth and household formation</a:t>
            </a:r>
          </a:p>
          <a:p>
            <a:r>
              <a:rPr lang="en-US">
                <a:latin typeface="Garamond"/>
              </a:rPr>
              <a:t>High costs of homeownership or Class A multifamily rental ($1,264 cheaper to rent on average in occupied markets)</a:t>
            </a:r>
          </a:p>
          <a:p>
            <a:r>
              <a:rPr lang="en-US">
                <a:latin typeface="Garamond"/>
              </a:rPr>
              <a:t>Costs of building or replacing multifamily real property high and increasing</a:t>
            </a:r>
          </a:p>
        </p:txBody>
      </p:sp>
      <p:sp>
        <p:nvSpPr>
          <p:cNvPr id="7" name="Text Placeholder 6">
            <a:extLst>
              <a:ext uri="{FF2B5EF4-FFF2-40B4-BE49-F238E27FC236}">
                <a16:creationId xmlns:a16="http://schemas.microsoft.com/office/drawing/2014/main" id="{58581DD0-EF60-75E6-F677-8811B13A77FC}"/>
              </a:ext>
            </a:extLst>
          </p:cNvPr>
          <p:cNvSpPr>
            <a:spLocks noGrp="1"/>
          </p:cNvSpPr>
          <p:nvPr>
            <p:ph type="body" sz="quarter" idx="19"/>
          </p:nvPr>
        </p:nvSpPr>
        <p:spPr/>
        <p:txBody>
          <a:bodyPr/>
          <a:lstStyle/>
          <a:p>
            <a:r>
              <a:rPr lang="en-US"/>
              <a:t>Favorable Target Markets</a:t>
            </a:r>
          </a:p>
        </p:txBody>
      </p:sp>
      <p:sp>
        <p:nvSpPr>
          <p:cNvPr id="8" name="Content Placeholder 7">
            <a:extLst>
              <a:ext uri="{FF2B5EF4-FFF2-40B4-BE49-F238E27FC236}">
                <a16:creationId xmlns:a16="http://schemas.microsoft.com/office/drawing/2014/main" id="{6AD39D92-A3CA-0993-89F6-E447BB5B1692}"/>
              </a:ext>
            </a:extLst>
          </p:cNvPr>
          <p:cNvSpPr>
            <a:spLocks noGrp="1"/>
          </p:cNvSpPr>
          <p:nvPr>
            <p:ph idx="20"/>
          </p:nvPr>
        </p:nvSpPr>
        <p:spPr/>
        <p:txBody>
          <a:bodyPr>
            <a:normAutofit/>
          </a:bodyPr>
          <a:lstStyle/>
          <a:p>
            <a:r>
              <a:rPr lang="en-US"/>
              <a:t>Targets units at a discount to replacement costs, where previous ownership has failed to make improvements</a:t>
            </a:r>
          </a:p>
          <a:p>
            <a:r>
              <a:rPr lang="en-US"/>
              <a:t>Value-add Class B present opportunities which can be achieved for relatively minimal investment, whereas Class A properties often lack improvement opportunities and Class C properties require significant expenditure</a:t>
            </a:r>
          </a:p>
        </p:txBody>
      </p:sp>
      <p:sp>
        <p:nvSpPr>
          <p:cNvPr id="9" name="Text Placeholder 8">
            <a:extLst>
              <a:ext uri="{FF2B5EF4-FFF2-40B4-BE49-F238E27FC236}">
                <a16:creationId xmlns:a16="http://schemas.microsoft.com/office/drawing/2014/main" id="{17E95661-6921-093D-E86C-96BADABF45B8}"/>
              </a:ext>
            </a:extLst>
          </p:cNvPr>
          <p:cNvSpPr>
            <a:spLocks noGrp="1"/>
          </p:cNvSpPr>
          <p:nvPr>
            <p:ph type="body" sz="quarter" idx="21"/>
          </p:nvPr>
        </p:nvSpPr>
        <p:spPr/>
        <p:txBody>
          <a:bodyPr/>
          <a:lstStyle/>
          <a:p>
            <a:r>
              <a:rPr lang="en-US"/>
              <a:t>Value-Add Class B Focus</a:t>
            </a:r>
          </a:p>
        </p:txBody>
      </p:sp>
      <p:sp>
        <p:nvSpPr>
          <p:cNvPr id="10" name="Content Placeholder 9">
            <a:extLst>
              <a:ext uri="{FF2B5EF4-FFF2-40B4-BE49-F238E27FC236}">
                <a16:creationId xmlns:a16="http://schemas.microsoft.com/office/drawing/2014/main" id="{DD5CDD5D-5E00-528D-E6D1-0DD0A0C45DB8}"/>
              </a:ext>
            </a:extLst>
          </p:cNvPr>
          <p:cNvSpPr>
            <a:spLocks noGrp="1"/>
          </p:cNvSpPr>
          <p:nvPr>
            <p:ph idx="22"/>
          </p:nvPr>
        </p:nvSpPr>
        <p:spPr>
          <a:xfrm>
            <a:off x="461623" y="6097095"/>
            <a:ext cx="9144000" cy="936751"/>
          </a:xfrm>
        </p:spPr>
        <p:txBody>
          <a:bodyPr>
            <a:normAutofit lnSpcReduction="10000"/>
          </a:bodyPr>
          <a:lstStyle/>
          <a:p>
            <a:r>
              <a:rPr lang="en-US"/>
              <a:t>The Company uses BH Management Services, LLC for property management and NexPoint Real Estate Advisors, L.P. for advisory services</a:t>
            </a:r>
          </a:p>
          <a:p>
            <a:r>
              <a:rPr lang="en-US"/>
              <a:t>The scale of BH enables competitive pricing to be achieved in relation to costs associated with value-add efforts, and NexPoint Real Estate Advisors is comprised of a highly experienced management team</a:t>
            </a:r>
          </a:p>
          <a:p>
            <a:endParaRPr lang="en-US"/>
          </a:p>
        </p:txBody>
      </p:sp>
      <p:sp>
        <p:nvSpPr>
          <p:cNvPr id="11" name="Text Placeholder 10">
            <a:extLst>
              <a:ext uri="{FF2B5EF4-FFF2-40B4-BE49-F238E27FC236}">
                <a16:creationId xmlns:a16="http://schemas.microsoft.com/office/drawing/2014/main" id="{46A0DF6C-98D8-B0E3-F891-0D3095930974}"/>
              </a:ext>
            </a:extLst>
          </p:cNvPr>
          <p:cNvSpPr>
            <a:spLocks noGrp="1"/>
          </p:cNvSpPr>
          <p:nvPr>
            <p:ph type="body" sz="quarter" idx="23"/>
          </p:nvPr>
        </p:nvSpPr>
        <p:spPr/>
        <p:txBody>
          <a:bodyPr/>
          <a:lstStyle/>
          <a:p>
            <a:r>
              <a:rPr lang="en-US"/>
              <a:t>Effective Property Management and Advisors</a:t>
            </a:r>
          </a:p>
        </p:txBody>
      </p:sp>
    </p:spTree>
    <p:extLst>
      <p:ext uri="{BB962C8B-B14F-4D97-AF65-F5344CB8AC3E}">
        <p14:creationId xmlns:p14="http://schemas.microsoft.com/office/powerpoint/2010/main" val="2801140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4="http://schemas.microsoft.com/office/drawing/2016/5/10/chartex">
        <mc:Choice Requires="cx4">
          <p:graphicFrame>
            <p:nvGraphicFramePr>
              <p:cNvPr id="15" name="Chart 14">
                <a:extLst>
                  <a:ext uri="{FF2B5EF4-FFF2-40B4-BE49-F238E27FC236}">
                    <a16:creationId xmlns:a16="http://schemas.microsoft.com/office/drawing/2014/main" id="{907856B4-9AEF-C33B-E849-616143A4FD35}"/>
                  </a:ext>
                </a:extLst>
              </p:cNvPr>
              <p:cNvGraphicFramePr/>
              <p:nvPr/>
            </p:nvGraphicFramePr>
            <p:xfrm>
              <a:off x="493293" y="4701457"/>
              <a:ext cx="4659358" cy="2383476"/>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5" name="Chart 14">
                <a:extLst>
                  <a:ext uri="{FF2B5EF4-FFF2-40B4-BE49-F238E27FC236}">
                    <a16:creationId xmlns:a16="http://schemas.microsoft.com/office/drawing/2014/main" id="{907856B4-9AEF-C33B-E849-616143A4FD35}"/>
                  </a:ext>
                </a:extLst>
              </p:cNvPr>
              <p:cNvPicPr>
                <a:picLocks noGrp="1" noRot="1" noChangeAspect="1" noMove="1" noResize="1" noEditPoints="1" noAdjustHandles="1" noChangeArrowheads="1" noChangeShapeType="1"/>
              </p:cNvPicPr>
              <p:nvPr/>
            </p:nvPicPr>
            <p:blipFill>
              <a:blip r:embed="rId4"/>
              <a:stretch>
                <a:fillRect/>
              </a:stretch>
            </p:blipFill>
            <p:spPr>
              <a:xfrm>
                <a:off x="493293" y="4701457"/>
                <a:ext cx="4659358" cy="2383476"/>
              </a:xfrm>
              <a:prstGeom prst="rect">
                <a:avLst/>
              </a:prstGeom>
            </p:spPr>
          </p:pic>
        </mc:Fallback>
      </mc:AlternateContent>
      <p:sp>
        <p:nvSpPr>
          <p:cNvPr id="3" name="Title 2">
            <a:extLst>
              <a:ext uri="{FF2B5EF4-FFF2-40B4-BE49-F238E27FC236}">
                <a16:creationId xmlns:a16="http://schemas.microsoft.com/office/drawing/2014/main" id="{692B3D7C-6230-BA83-4739-7CAE072BD8B6}"/>
              </a:ext>
            </a:extLst>
          </p:cNvPr>
          <p:cNvSpPr>
            <a:spLocks noGrp="1"/>
          </p:cNvSpPr>
          <p:nvPr>
            <p:ph type="title"/>
          </p:nvPr>
        </p:nvSpPr>
        <p:spPr/>
        <p:txBody>
          <a:bodyPr/>
          <a:lstStyle/>
          <a:p>
            <a:r>
              <a:rPr lang="en-US"/>
              <a:t>Company Past, Present, and Future</a:t>
            </a:r>
          </a:p>
        </p:txBody>
      </p:sp>
      <p:sp>
        <p:nvSpPr>
          <p:cNvPr id="36" name="Text Placeholder 35">
            <a:extLst>
              <a:ext uri="{FF2B5EF4-FFF2-40B4-BE49-F238E27FC236}">
                <a16:creationId xmlns:a16="http://schemas.microsoft.com/office/drawing/2014/main" id="{3A9D372E-052D-11F9-16A5-CA4B33ACE94E}"/>
              </a:ext>
            </a:extLst>
          </p:cNvPr>
          <p:cNvSpPr>
            <a:spLocks noGrp="1"/>
          </p:cNvSpPr>
          <p:nvPr>
            <p:ph type="body" sz="quarter" idx="18"/>
          </p:nvPr>
        </p:nvSpPr>
        <p:spPr>
          <a:xfrm>
            <a:off x="461963" y="1248827"/>
            <a:ext cx="9144000" cy="630545"/>
          </a:xfrm>
        </p:spPr>
        <p:txBody>
          <a:bodyPr>
            <a:normAutofit/>
          </a:bodyPr>
          <a:lstStyle/>
          <a:p>
            <a:r>
              <a:rPr lang="en-US" i="1"/>
              <a:t>NexPoint has a consistent record of acquisitions, renovations, and dispositions. The Company focuses on an attractive area of real estate in high-growth markets, providing significant runway to continue generating high returns.</a:t>
            </a:r>
          </a:p>
        </p:txBody>
      </p:sp>
      <p:sp>
        <p:nvSpPr>
          <p:cNvPr id="18" name="Content Placeholder 17">
            <a:extLst>
              <a:ext uri="{FF2B5EF4-FFF2-40B4-BE49-F238E27FC236}">
                <a16:creationId xmlns:a16="http://schemas.microsoft.com/office/drawing/2014/main" id="{00B79E49-4FA1-C6DA-355B-8A558CDAEEC3}"/>
              </a:ext>
            </a:extLst>
          </p:cNvPr>
          <p:cNvSpPr>
            <a:spLocks noGrp="1"/>
          </p:cNvSpPr>
          <p:nvPr>
            <p:ph idx="10"/>
          </p:nvPr>
        </p:nvSpPr>
        <p:spPr>
          <a:xfrm>
            <a:off x="461623" y="2227815"/>
            <a:ext cx="4462272" cy="2180330"/>
          </a:xfrm>
        </p:spPr>
        <p:txBody>
          <a:bodyPr vert="horz" lIns="91440" tIns="45720" rIns="91440" bIns="45720" rtlCol="0" anchor="t">
            <a:normAutofit lnSpcReduction="10000"/>
          </a:bodyPr>
          <a:lstStyle/>
          <a:p>
            <a:pPr>
              <a:spcBef>
                <a:spcPts val="1100"/>
              </a:spcBef>
            </a:pPr>
            <a:r>
              <a:rPr lang="en-US">
                <a:latin typeface="Garamond"/>
              </a:rPr>
              <a:t>Closed sales of Hollister Place in Houston and </a:t>
            </a:r>
            <a:r>
              <a:rPr lang="en-US" err="1">
                <a:latin typeface="Garamond"/>
              </a:rPr>
              <a:t>Silverbrook</a:t>
            </a:r>
            <a:r>
              <a:rPr lang="en-US">
                <a:latin typeface="Garamond"/>
              </a:rPr>
              <a:t> in Dallas in 2023, receiving equity multiples of 2.02x and 6.14x, respectively, with proceeds being used to pay down the Company's corporate credit facility</a:t>
            </a:r>
          </a:p>
          <a:p>
            <a:pPr>
              <a:spcBef>
                <a:spcPts val="1100"/>
              </a:spcBef>
            </a:pPr>
            <a:r>
              <a:rPr lang="en-US">
                <a:latin typeface="Garamond"/>
              </a:rPr>
              <a:t>Completed 420 full and partial upgrades and leased 330 upgraded units during Q3 of 2023</a:t>
            </a:r>
          </a:p>
          <a:p>
            <a:pPr>
              <a:spcBef>
                <a:spcPts val="1100"/>
              </a:spcBef>
            </a:pPr>
            <a:r>
              <a:rPr lang="en-US">
                <a:latin typeface="Garamond"/>
              </a:rPr>
              <a:t>Refinanced 19 properties in Q4 of 2022, increasing maturity date an average of over 7.5 years</a:t>
            </a:r>
          </a:p>
          <a:p>
            <a:pPr>
              <a:spcBef>
                <a:spcPts val="1100"/>
              </a:spcBef>
            </a:pPr>
            <a:endParaRPr lang="en-US"/>
          </a:p>
        </p:txBody>
      </p:sp>
      <p:sp>
        <p:nvSpPr>
          <p:cNvPr id="9" name="Content Placeholder 8">
            <a:extLst>
              <a:ext uri="{FF2B5EF4-FFF2-40B4-BE49-F238E27FC236}">
                <a16:creationId xmlns:a16="http://schemas.microsoft.com/office/drawing/2014/main" id="{E396D05F-D524-1FED-B81D-9764712E0BC3}"/>
              </a:ext>
            </a:extLst>
          </p:cNvPr>
          <p:cNvSpPr>
            <a:spLocks noGrp="1"/>
          </p:cNvSpPr>
          <p:nvPr>
            <p:ph sz="quarter" idx="12"/>
          </p:nvPr>
        </p:nvSpPr>
        <p:spPr>
          <a:xfrm>
            <a:off x="5152651" y="2226595"/>
            <a:ext cx="4464119" cy="2175165"/>
          </a:xfrm>
        </p:spPr>
        <p:txBody>
          <a:bodyPr vert="horz" lIns="91440" tIns="45720" rIns="91440" bIns="45720" rtlCol="0" anchor="t">
            <a:normAutofit lnSpcReduction="10000"/>
          </a:bodyPr>
          <a:lstStyle/>
          <a:p>
            <a:pPr>
              <a:spcBef>
                <a:spcPts val="1100"/>
              </a:spcBef>
            </a:pPr>
            <a:r>
              <a:rPr lang="en-US">
                <a:latin typeface="Garamond"/>
              </a:rPr>
              <a:t>Tailwinds to migration growth in Sunbelt markets such as cheaper housing and favorable job opportunities</a:t>
            </a:r>
            <a:endParaRPr lang="en-US"/>
          </a:p>
          <a:p>
            <a:pPr>
              <a:spcBef>
                <a:spcPts val="1100"/>
              </a:spcBef>
            </a:pPr>
            <a:r>
              <a:rPr lang="en-US">
                <a:latin typeface="Garamond"/>
              </a:rPr>
              <a:t>Higher demand for rentals as consumers are increasingly precluded from homeownership and more consumers enter NexPoint’s target income market</a:t>
            </a:r>
          </a:p>
          <a:p>
            <a:pPr>
              <a:spcBef>
                <a:spcPts val="1100"/>
              </a:spcBef>
            </a:pPr>
            <a:r>
              <a:rPr lang="en-US"/>
              <a:t>Lack of Class B housing supply and fewer housing starts in target markets</a:t>
            </a:r>
          </a:p>
        </p:txBody>
      </p:sp>
      <p:sp>
        <p:nvSpPr>
          <p:cNvPr id="12" name="Content Placeholder 11">
            <a:extLst>
              <a:ext uri="{FF2B5EF4-FFF2-40B4-BE49-F238E27FC236}">
                <a16:creationId xmlns:a16="http://schemas.microsoft.com/office/drawing/2014/main" id="{86D2CB1A-C1CC-7BEA-B168-7525D1160544}"/>
              </a:ext>
            </a:extLst>
          </p:cNvPr>
          <p:cNvSpPr>
            <a:spLocks noGrp="1"/>
          </p:cNvSpPr>
          <p:nvPr>
            <p:ph idx="19"/>
          </p:nvPr>
        </p:nvSpPr>
        <p:spPr/>
        <p:txBody>
          <a:bodyPr/>
          <a:lstStyle/>
          <a:p>
            <a:r>
              <a:rPr lang="en-US"/>
              <a:t>Recent Events</a:t>
            </a:r>
          </a:p>
        </p:txBody>
      </p:sp>
      <p:sp>
        <p:nvSpPr>
          <p:cNvPr id="13" name="Content Placeholder 12">
            <a:extLst>
              <a:ext uri="{FF2B5EF4-FFF2-40B4-BE49-F238E27FC236}">
                <a16:creationId xmlns:a16="http://schemas.microsoft.com/office/drawing/2014/main" id="{C9EACBAB-3F63-C8FE-8A50-E0CBA2B9DE23}"/>
              </a:ext>
            </a:extLst>
          </p:cNvPr>
          <p:cNvSpPr>
            <a:spLocks noGrp="1"/>
          </p:cNvSpPr>
          <p:nvPr>
            <p:ph idx="20"/>
          </p:nvPr>
        </p:nvSpPr>
        <p:spPr/>
        <p:txBody>
          <a:bodyPr/>
          <a:lstStyle/>
          <a:p>
            <a:r>
              <a:rPr lang="en-US"/>
              <a:t>Growth Drivers</a:t>
            </a:r>
          </a:p>
        </p:txBody>
      </p:sp>
      <p:sp>
        <p:nvSpPr>
          <p:cNvPr id="37" name="Content Placeholder 36">
            <a:extLst>
              <a:ext uri="{FF2B5EF4-FFF2-40B4-BE49-F238E27FC236}">
                <a16:creationId xmlns:a16="http://schemas.microsoft.com/office/drawing/2014/main" id="{C13A668A-2D1B-BCD0-5954-391B04C164CC}"/>
              </a:ext>
            </a:extLst>
          </p:cNvPr>
          <p:cNvSpPr>
            <a:spLocks noGrp="1"/>
          </p:cNvSpPr>
          <p:nvPr>
            <p:ph idx="21"/>
          </p:nvPr>
        </p:nvSpPr>
        <p:spPr>
          <a:xfrm>
            <a:off x="461623" y="4408145"/>
            <a:ext cx="9144000" cy="304337"/>
          </a:xfrm>
        </p:spPr>
        <p:txBody>
          <a:bodyPr/>
          <a:lstStyle/>
          <a:p>
            <a:r>
              <a:rPr lang="en-US"/>
              <a:t>Current Markets of Operation</a:t>
            </a:r>
          </a:p>
        </p:txBody>
      </p:sp>
      <p:sp>
        <p:nvSpPr>
          <p:cNvPr id="16" name="Oval 15">
            <a:extLst>
              <a:ext uri="{FF2B5EF4-FFF2-40B4-BE49-F238E27FC236}">
                <a16:creationId xmlns:a16="http://schemas.microsoft.com/office/drawing/2014/main" id="{9479404C-E1A2-2B97-23E7-DB258F0EF9A0}"/>
              </a:ext>
            </a:extLst>
          </p:cNvPr>
          <p:cNvSpPr/>
          <p:nvPr/>
        </p:nvSpPr>
        <p:spPr>
          <a:xfrm>
            <a:off x="1588162" y="5823285"/>
            <a:ext cx="82296" cy="8229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BD2C736-E67E-FA05-0436-D73199B2416C}"/>
              </a:ext>
            </a:extLst>
          </p:cNvPr>
          <p:cNvSpPr/>
          <p:nvPr/>
        </p:nvSpPr>
        <p:spPr>
          <a:xfrm>
            <a:off x="1740560" y="6132097"/>
            <a:ext cx="82296" cy="8229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55CCCCF-E611-5FF0-39EB-824DDD6D342A}"/>
              </a:ext>
            </a:extLst>
          </p:cNvPr>
          <p:cNvSpPr/>
          <p:nvPr/>
        </p:nvSpPr>
        <p:spPr>
          <a:xfrm>
            <a:off x="2859499" y="6408823"/>
            <a:ext cx="82296" cy="8229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D933AB6-8FE0-A795-DFA1-DA21C8B0FAEA}"/>
              </a:ext>
            </a:extLst>
          </p:cNvPr>
          <p:cNvSpPr/>
          <p:nvPr/>
        </p:nvSpPr>
        <p:spPr>
          <a:xfrm>
            <a:off x="2919657" y="6601328"/>
            <a:ext cx="82296" cy="8229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7C5440C-8868-3E5E-E2AA-CFD51111E8C9}"/>
              </a:ext>
            </a:extLst>
          </p:cNvPr>
          <p:cNvSpPr/>
          <p:nvPr/>
        </p:nvSpPr>
        <p:spPr>
          <a:xfrm>
            <a:off x="3557329" y="6059909"/>
            <a:ext cx="82296" cy="8229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9E2D252-D451-4E6D-ED03-7759AB17B4B9}"/>
              </a:ext>
            </a:extLst>
          </p:cNvPr>
          <p:cNvSpPr/>
          <p:nvPr/>
        </p:nvSpPr>
        <p:spPr>
          <a:xfrm>
            <a:off x="4176955" y="5972347"/>
            <a:ext cx="82296" cy="8229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4B48DBF-B95B-6088-3463-71410FD2EE55}"/>
              </a:ext>
            </a:extLst>
          </p:cNvPr>
          <p:cNvSpPr/>
          <p:nvPr/>
        </p:nvSpPr>
        <p:spPr>
          <a:xfrm>
            <a:off x="3999155" y="6026322"/>
            <a:ext cx="82296" cy="8229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CD593885-7F72-3575-809D-FB0004073D9E}"/>
              </a:ext>
            </a:extLst>
          </p:cNvPr>
          <p:cNvSpPr/>
          <p:nvPr/>
        </p:nvSpPr>
        <p:spPr>
          <a:xfrm>
            <a:off x="3738805" y="6178722"/>
            <a:ext cx="82296" cy="8229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5B4A1AA-0689-5611-FD7E-52DE9E1A3FEC}"/>
              </a:ext>
            </a:extLst>
          </p:cNvPr>
          <p:cNvSpPr/>
          <p:nvPr/>
        </p:nvSpPr>
        <p:spPr>
          <a:xfrm>
            <a:off x="4015030" y="6607347"/>
            <a:ext cx="82296" cy="8229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C0584DE-F59C-EAFE-ABBA-53618E23CF0B}"/>
              </a:ext>
            </a:extLst>
          </p:cNvPr>
          <p:cNvSpPr/>
          <p:nvPr/>
        </p:nvSpPr>
        <p:spPr>
          <a:xfrm>
            <a:off x="3989630" y="6670847"/>
            <a:ext cx="82296" cy="8229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B4A16EC-B945-8DD7-A734-3CE33D037479}"/>
              </a:ext>
            </a:extLst>
          </p:cNvPr>
          <p:cNvSpPr/>
          <p:nvPr/>
        </p:nvSpPr>
        <p:spPr>
          <a:xfrm>
            <a:off x="4116630" y="6820072"/>
            <a:ext cx="82296" cy="8229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0" name="Table 30">
            <a:extLst>
              <a:ext uri="{FF2B5EF4-FFF2-40B4-BE49-F238E27FC236}">
                <a16:creationId xmlns:a16="http://schemas.microsoft.com/office/drawing/2014/main" id="{98B1E30F-86D3-D475-32C2-77919142F72E}"/>
              </a:ext>
            </a:extLst>
          </p:cNvPr>
          <p:cNvGraphicFramePr>
            <a:graphicFrameLocks noGrp="1"/>
          </p:cNvGraphicFramePr>
          <p:nvPr>
            <p:extLst>
              <p:ext uri="{D42A27DB-BD31-4B8C-83A1-F6EECF244321}">
                <p14:modId xmlns:p14="http://schemas.microsoft.com/office/powerpoint/2010/main" val="3723737948"/>
              </p:ext>
            </p:extLst>
          </p:nvPr>
        </p:nvGraphicFramePr>
        <p:xfrm>
          <a:off x="5149929" y="5197942"/>
          <a:ext cx="4478940" cy="1878809"/>
        </p:xfrm>
        <a:graphic>
          <a:graphicData uri="http://schemas.openxmlformats.org/drawingml/2006/table">
            <a:tbl>
              <a:tblPr firstRow="1" bandRow="1">
                <a:tableStyleId>{5C22544A-7EE6-4342-B048-85BDC9FD1C3A}</a:tableStyleId>
              </a:tblPr>
              <a:tblGrid>
                <a:gridCol w="1119735">
                  <a:extLst>
                    <a:ext uri="{9D8B030D-6E8A-4147-A177-3AD203B41FA5}">
                      <a16:colId xmlns:a16="http://schemas.microsoft.com/office/drawing/2014/main" val="1281533918"/>
                    </a:ext>
                  </a:extLst>
                </a:gridCol>
                <a:gridCol w="1119735">
                  <a:extLst>
                    <a:ext uri="{9D8B030D-6E8A-4147-A177-3AD203B41FA5}">
                      <a16:colId xmlns:a16="http://schemas.microsoft.com/office/drawing/2014/main" val="430783571"/>
                    </a:ext>
                  </a:extLst>
                </a:gridCol>
                <a:gridCol w="1119735">
                  <a:extLst>
                    <a:ext uri="{9D8B030D-6E8A-4147-A177-3AD203B41FA5}">
                      <a16:colId xmlns:a16="http://schemas.microsoft.com/office/drawing/2014/main" val="1977399502"/>
                    </a:ext>
                  </a:extLst>
                </a:gridCol>
                <a:gridCol w="1119735">
                  <a:extLst>
                    <a:ext uri="{9D8B030D-6E8A-4147-A177-3AD203B41FA5}">
                      <a16:colId xmlns:a16="http://schemas.microsoft.com/office/drawing/2014/main" val="1830781594"/>
                    </a:ext>
                  </a:extLst>
                </a:gridCol>
              </a:tblGrid>
              <a:tr h="363358">
                <a:tc>
                  <a:txBody>
                    <a:bodyPr/>
                    <a:lstStyle/>
                    <a:p>
                      <a:pPr algn="ctr"/>
                      <a:r>
                        <a:rPr lang="en-US"/>
                        <a:t>State</a:t>
                      </a:r>
                    </a:p>
                  </a:txBody>
                  <a:tcPr/>
                </a:tc>
                <a:tc>
                  <a:txBody>
                    <a:bodyPr/>
                    <a:lstStyle/>
                    <a:p>
                      <a:pPr algn="ctr"/>
                      <a:r>
                        <a:rPr lang="en-US"/>
                        <a:t>Units</a:t>
                      </a:r>
                    </a:p>
                  </a:txBody>
                  <a:tcPr/>
                </a:tc>
                <a:tc>
                  <a:txBody>
                    <a:bodyPr/>
                    <a:lstStyle/>
                    <a:p>
                      <a:pPr algn="ctr"/>
                      <a:r>
                        <a:rPr lang="en-US"/>
                        <a:t>State</a:t>
                      </a:r>
                    </a:p>
                  </a:txBody>
                  <a:tcPr/>
                </a:tc>
                <a:tc>
                  <a:txBody>
                    <a:bodyPr/>
                    <a:lstStyle/>
                    <a:p>
                      <a:pPr algn="ctr"/>
                      <a:r>
                        <a:rPr lang="en-US"/>
                        <a:t>Units</a:t>
                      </a:r>
                    </a:p>
                  </a:txBody>
                  <a:tcPr/>
                </a:tc>
                <a:extLst>
                  <a:ext uri="{0D108BD9-81ED-4DB2-BD59-A6C34878D82A}">
                    <a16:rowId xmlns:a16="http://schemas.microsoft.com/office/drawing/2014/main" val="2558357417"/>
                  </a:ext>
                </a:extLst>
              </a:tr>
              <a:tr h="338007">
                <a:tc>
                  <a:txBody>
                    <a:bodyPr/>
                    <a:lstStyle/>
                    <a:p>
                      <a:pPr lvl="0" algn="ctr">
                        <a:buNone/>
                      </a:pPr>
                      <a:r>
                        <a:rPr lang="en-US" sz="1800"/>
                        <a:t>Florida</a:t>
                      </a:r>
                      <a:endParaRPr lang="en-US"/>
                    </a:p>
                  </a:txBody>
                  <a:tcPr/>
                </a:tc>
                <a:tc>
                  <a:txBody>
                    <a:bodyPr/>
                    <a:lstStyle/>
                    <a:p>
                      <a:pPr lvl="0" algn="ctr">
                        <a:buNone/>
                      </a:pPr>
                      <a:r>
                        <a:rPr lang="en-US" sz="1800"/>
                        <a:t>3707</a:t>
                      </a:r>
                      <a:endParaRPr lang="en-US"/>
                    </a:p>
                  </a:txBody>
                  <a:tcPr/>
                </a:tc>
                <a:tc>
                  <a:txBody>
                    <a:bodyPr/>
                    <a:lstStyle/>
                    <a:p>
                      <a:pPr lvl="0" algn="ctr">
                        <a:buNone/>
                      </a:pPr>
                      <a:r>
                        <a:rPr lang="en-US" sz="1800"/>
                        <a:t>Texas</a:t>
                      </a:r>
                      <a:endParaRPr lang="en-US"/>
                    </a:p>
                  </a:txBody>
                  <a:tcPr/>
                </a:tc>
                <a:tc>
                  <a:txBody>
                    <a:bodyPr/>
                    <a:lstStyle/>
                    <a:p>
                      <a:pPr lvl="0" algn="ctr">
                        <a:buNone/>
                      </a:pPr>
                      <a:r>
                        <a:rPr lang="en-US" sz="1800"/>
                        <a:t>3511</a:t>
                      </a:r>
                      <a:endParaRPr lang="en-US"/>
                    </a:p>
                  </a:txBody>
                  <a:tcPr/>
                </a:tc>
                <a:extLst>
                  <a:ext uri="{0D108BD9-81ED-4DB2-BD59-A6C34878D82A}">
                    <a16:rowId xmlns:a16="http://schemas.microsoft.com/office/drawing/2014/main" val="1667758453"/>
                  </a:ext>
                </a:extLst>
              </a:tr>
              <a:tr h="338007">
                <a:tc>
                  <a:txBody>
                    <a:bodyPr/>
                    <a:lstStyle/>
                    <a:p>
                      <a:pPr algn="ctr"/>
                      <a:r>
                        <a:rPr lang="en-US" sz="1800"/>
                        <a:t>Arizona</a:t>
                      </a:r>
                    </a:p>
                  </a:txBody>
                  <a:tcPr anchor="ctr"/>
                </a:tc>
                <a:tc>
                  <a:txBody>
                    <a:bodyPr/>
                    <a:lstStyle/>
                    <a:p>
                      <a:pPr algn="ctr"/>
                      <a:r>
                        <a:rPr lang="en-US" sz="1800"/>
                        <a:t>2009</a:t>
                      </a:r>
                    </a:p>
                  </a:txBody>
                  <a:tcPr anchor="ctr"/>
                </a:tc>
                <a:tc>
                  <a:txBody>
                    <a:bodyPr/>
                    <a:lstStyle/>
                    <a:p>
                      <a:pPr marL="0" marR="0" lvl="0" indent="0" algn="ctr" rtl="0">
                        <a:lnSpc>
                          <a:spcPct val="100000"/>
                        </a:lnSpc>
                        <a:spcBef>
                          <a:spcPts val="0"/>
                        </a:spcBef>
                        <a:spcAft>
                          <a:spcPts val="0"/>
                        </a:spcAft>
                        <a:buClrTx/>
                        <a:buSzTx/>
                        <a:buFontTx/>
                        <a:buNone/>
                      </a:pPr>
                      <a:r>
                        <a:rPr lang="en-US" sz="1800"/>
                        <a:t>North Carolina</a:t>
                      </a:r>
                      <a:endParaRPr lang="en-US"/>
                    </a:p>
                  </a:txBody>
                  <a:tcPr/>
                </a:tc>
                <a:tc>
                  <a:txBody>
                    <a:bodyPr/>
                    <a:lstStyle/>
                    <a:p>
                      <a:pPr lvl="0" algn="ctr">
                        <a:buNone/>
                      </a:pPr>
                      <a:r>
                        <a:rPr lang="en-US" sz="1800"/>
                        <a:t>1706</a:t>
                      </a:r>
                      <a:endParaRPr lang="en-US"/>
                    </a:p>
                  </a:txBody>
                  <a:tcPr anchor="ctr"/>
                </a:tc>
                <a:extLst>
                  <a:ext uri="{0D108BD9-81ED-4DB2-BD59-A6C34878D82A}">
                    <a16:rowId xmlns:a16="http://schemas.microsoft.com/office/drawing/2014/main" val="4236923425"/>
                  </a:ext>
                </a:extLst>
              </a:tr>
              <a:tr h="479777">
                <a:tc>
                  <a:txBody>
                    <a:bodyPr/>
                    <a:lstStyle/>
                    <a:p>
                      <a:pPr lvl="0" algn="ctr">
                        <a:buNone/>
                      </a:pPr>
                      <a:r>
                        <a:rPr lang="en-US" sz="1800"/>
                        <a:t>Georgia</a:t>
                      </a:r>
                      <a:endParaRPr lang="en-US"/>
                    </a:p>
                  </a:txBody>
                  <a:tcPr anchor="ctr"/>
                </a:tc>
                <a:tc>
                  <a:txBody>
                    <a:bodyPr/>
                    <a:lstStyle/>
                    <a:p>
                      <a:pPr lvl="0" algn="ctr">
                        <a:buNone/>
                      </a:pPr>
                      <a:r>
                        <a:rPr lang="en-US" sz="1800"/>
                        <a:t>1692</a:t>
                      </a:r>
                      <a:endParaRPr lang="en-US"/>
                    </a:p>
                  </a:txBody>
                  <a:tcPr anchor="ctr"/>
                </a:tc>
                <a:tc>
                  <a:txBody>
                    <a:bodyPr/>
                    <a:lstStyle/>
                    <a:p>
                      <a:pPr marL="0" marR="0" lvl="0" indent="0" algn="ctr" defTabSz="1005840" rtl="0" eaLnBrk="1" fontAlgn="auto" latinLnBrk="0" hangingPunct="1">
                        <a:lnSpc>
                          <a:spcPct val="100000"/>
                        </a:lnSpc>
                        <a:spcBef>
                          <a:spcPts val="0"/>
                        </a:spcBef>
                        <a:spcAft>
                          <a:spcPts val="0"/>
                        </a:spcAft>
                        <a:buClrTx/>
                        <a:buSzTx/>
                        <a:buFontTx/>
                        <a:buNone/>
                        <a:tabLst/>
                        <a:defRPr/>
                      </a:pPr>
                      <a:r>
                        <a:rPr lang="en-US" sz="1800"/>
                        <a:t>Tennessee</a:t>
                      </a:r>
                    </a:p>
                  </a:txBody>
                  <a:tcPr anchor="ctr"/>
                </a:tc>
                <a:tc>
                  <a:txBody>
                    <a:bodyPr/>
                    <a:lstStyle/>
                    <a:p>
                      <a:pPr lvl="0" algn="ctr">
                        <a:buNone/>
                      </a:pPr>
                      <a:r>
                        <a:rPr lang="en-US" sz="1800"/>
                        <a:t>1338</a:t>
                      </a:r>
                    </a:p>
                  </a:txBody>
                  <a:tcPr anchor="ctr"/>
                </a:tc>
                <a:extLst>
                  <a:ext uri="{0D108BD9-81ED-4DB2-BD59-A6C34878D82A}">
                    <a16:rowId xmlns:a16="http://schemas.microsoft.com/office/drawing/2014/main" val="22461955"/>
                  </a:ext>
                </a:extLst>
              </a:tr>
            </a:tbl>
          </a:graphicData>
        </a:graphic>
      </p:graphicFrame>
      <p:sp>
        <p:nvSpPr>
          <p:cNvPr id="2" name="Rectangle 1">
            <a:extLst>
              <a:ext uri="{FF2B5EF4-FFF2-40B4-BE49-F238E27FC236}">
                <a16:creationId xmlns:a16="http://schemas.microsoft.com/office/drawing/2014/main" id="{57F46298-88F4-9174-EE60-EB5A665B7021}"/>
              </a:ext>
            </a:extLst>
          </p:cNvPr>
          <p:cNvSpPr/>
          <p:nvPr/>
        </p:nvSpPr>
        <p:spPr>
          <a:xfrm>
            <a:off x="4230596" y="6820072"/>
            <a:ext cx="855572" cy="2474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FD83712-CF4B-124A-C29C-F5FDCDACEB7D}"/>
              </a:ext>
            </a:extLst>
          </p:cNvPr>
          <p:cNvSpPr/>
          <p:nvPr/>
        </p:nvSpPr>
        <p:spPr>
          <a:xfrm>
            <a:off x="3225879" y="6944565"/>
            <a:ext cx="855572" cy="822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8655388-BC15-BC02-2984-A75769479E60}"/>
              </a:ext>
            </a:extLst>
          </p:cNvPr>
          <p:cNvSpPr/>
          <p:nvPr/>
        </p:nvSpPr>
        <p:spPr>
          <a:xfrm>
            <a:off x="3752929" y="6957265"/>
            <a:ext cx="855572" cy="822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12">
            <a:extLst>
              <a:ext uri="{FF2B5EF4-FFF2-40B4-BE49-F238E27FC236}">
                <a16:creationId xmlns:a16="http://schemas.microsoft.com/office/drawing/2014/main" id="{D869A7D6-F636-AD85-90C2-36A0A189385D}"/>
              </a:ext>
            </a:extLst>
          </p:cNvPr>
          <p:cNvSpPr txBox="1">
            <a:spLocks/>
          </p:cNvSpPr>
          <p:nvPr/>
        </p:nvSpPr>
        <p:spPr>
          <a:xfrm>
            <a:off x="5145647" y="4796087"/>
            <a:ext cx="4462272" cy="304337"/>
          </a:xfrm>
          <a:prstGeom prst="rect">
            <a:avLst/>
          </a:prstGeom>
          <a:solidFill>
            <a:srgbClr val="004C92"/>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latin typeface="Garamond"/>
              </a:rPr>
              <a:t>Top 6 States by Units</a:t>
            </a:r>
            <a:endParaRPr lang="en-US"/>
          </a:p>
        </p:txBody>
      </p:sp>
    </p:spTree>
    <p:extLst>
      <p:ext uri="{BB962C8B-B14F-4D97-AF65-F5344CB8AC3E}">
        <p14:creationId xmlns:p14="http://schemas.microsoft.com/office/powerpoint/2010/main" val="1076270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36A45-A132-E34F-B362-5778683E6A01}"/>
              </a:ext>
            </a:extLst>
          </p:cNvPr>
          <p:cNvSpPr>
            <a:spLocks noGrp="1"/>
          </p:cNvSpPr>
          <p:nvPr>
            <p:ph type="title"/>
          </p:nvPr>
        </p:nvSpPr>
        <p:spPr/>
        <p:txBody>
          <a:bodyPr/>
          <a:lstStyle/>
          <a:p>
            <a:r>
              <a:rPr lang="en-US"/>
              <a:t>Management Quality</a:t>
            </a:r>
          </a:p>
        </p:txBody>
      </p:sp>
      <p:sp>
        <p:nvSpPr>
          <p:cNvPr id="3" name="Text Placeholder 2">
            <a:extLst>
              <a:ext uri="{FF2B5EF4-FFF2-40B4-BE49-F238E27FC236}">
                <a16:creationId xmlns:a16="http://schemas.microsoft.com/office/drawing/2014/main" id="{1A439DF5-1DB2-5A5E-C7B8-6498B37323C8}"/>
              </a:ext>
            </a:extLst>
          </p:cNvPr>
          <p:cNvSpPr>
            <a:spLocks noGrp="1"/>
          </p:cNvSpPr>
          <p:nvPr>
            <p:ph type="body" sz="quarter" idx="18"/>
          </p:nvPr>
        </p:nvSpPr>
        <p:spPr/>
        <p:txBody>
          <a:bodyPr/>
          <a:lstStyle/>
          <a:p>
            <a:r>
              <a:rPr lang="en-US" i="1"/>
              <a:t>NexPoint has a capable and qualified management team with proven capital-allocation pedigree leadings its operations</a:t>
            </a:r>
          </a:p>
        </p:txBody>
      </p:sp>
      <p:sp>
        <p:nvSpPr>
          <p:cNvPr id="4" name="Content Placeholder 3">
            <a:extLst>
              <a:ext uri="{FF2B5EF4-FFF2-40B4-BE49-F238E27FC236}">
                <a16:creationId xmlns:a16="http://schemas.microsoft.com/office/drawing/2014/main" id="{4DB109E8-39E8-890F-911C-883FD6379949}"/>
              </a:ext>
            </a:extLst>
          </p:cNvPr>
          <p:cNvSpPr>
            <a:spLocks noGrp="1"/>
          </p:cNvSpPr>
          <p:nvPr>
            <p:ph idx="10"/>
          </p:nvPr>
        </p:nvSpPr>
        <p:spPr>
          <a:xfrm>
            <a:off x="461623" y="1618076"/>
            <a:ext cx="9144000" cy="2418757"/>
          </a:xfrm>
        </p:spPr>
        <p:txBody>
          <a:bodyPr vert="horz" lIns="91440" tIns="45720" rIns="91440" bIns="45720" rtlCol="0" anchor="t">
            <a:normAutofit fontScale="92500"/>
          </a:bodyPr>
          <a:lstStyle/>
          <a:p>
            <a:r>
              <a:rPr lang="en-US">
                <a:latin typeface="Garamond"/>
              </a:rPr>
              <a:t>The </a:t>
            </a:r>
            <a:r>
              <a:rPr lang="en-US" err="1">
                <a:latin typeface="Garamond"/>
              </a:rPr>
              <a:t>NexPoint</a:t>
            </a:r>
            <a:r>
              <a:rPr lang="en-US">
                <a:latin typeface="Garamond"/>
              </a:rPr>
              <a:t> management team fosters strong connections within the industry, maintaining a robust network of vendors, professional service providers, property managers, and strategic partners</a:t>
            </a:r>
          </a:p>
          <a:p>
            <a:r>
              <a:rPr lang="en-US">
                <a:latin typeface="Garamond"/>
              </a:rPr>
              <a:t>President and Founder, James Dondero, has 27 years of prior experience working in the Sunbelt in the leveraged loan market at an Asset Management firm based in Dallas. His 12 years at </a:t>
            </a:r>
            <a:r>
              <a:rPr lang="en-US" err="1">
                <a:latin typeface="Garamond"/>
              </a:rPr>
              <a:t>NexPoint</a:t>
            </a:r>
            <a:r>
              <a:rPr lang="en-US">
                <a:latin typeface="Garamond"/>
              </a:rPr>
              <a:t> have augmented his platform further</a:t>
            </a:r>
          </a:p>
          <a:p>
            <a:r>
              <a:rPr lang="en-US" err="1">
                <a:latin typeface="Garamond"/>
              </a:rPr>
              <a:t>NexPoint’s</a:t>
            </a:r>
            <a:r>
              <a:rPr lang="en-US">
                <a:latin typeface="Garamond"/>
              </a:rPr>
              <a:t> general counsel, Dennis Sauter, was previously a partner at a Dallas-based law firm and has experience working within the sunbelt and real estate specifically</a:t>
            </a:r>
          </a:p>
          <a:p>
            <a:r>
              <a:rPr lang="en-US">
                <a:latin typeface="Garamond"/>
              </a:rPr>
              <a:t>Chief Investment Officer and MD of Real Estate at </a:t>
            </a:r>
            <a:r>
              <a:rPr lang="en-US" err="1">
                <a:latin typeface="Garamond"/>
              </a:rPr>
              <a:t>NexPoint</a:t>
            </a:r>
            <a:r>
              <a:rPr lang="en-US">
                <a:latin typeface="Garamond"/>
              </a:rPr>
              <a:t> has been in his position for over a decade, and in his tenure has led more than $2.5B of real estate investments</a:t>
            </a:r>
          </a:p>
          <a:p>
            <a:pPr marL="344170" lvl="1" indent="-172720"/>
            <a:r>
              <a:rPr lang="en-US">
                <a:latin typeface="Garamond"/>
              </a:rPr>
              <a:t>Strong track-record of capital allocation and ability to find the correct markets and has an empirical track record of strong value-add returns</a:t>
            </a:r>
          </a:p>
        </p:txBody>
      </p:sp>
      <p:sp>
        <p:nvSpPr>
          <p:cNvPr id="7" name="Content Placeholder 6">
            <a:extLst>
              <a:ext uri="{FF2B5EF4-FFF2-40B4-BE49-F238E27FC236}">
                <a16:creationId xmlns:a16="http://schemas.microsoft.com/office/drawing/2014/main" id="{3ED13FED-8D27-9A71-96F8-9B9B0EFD2FFC}"/>
              </a:ext>
            </a:extLst>
          </p:cNvPr>
          <p:cNvSpPr>
            <a:spLocks noGrp="1"/>
          </p:cNvSpPr>
          <p:nvPr>
            <p:ph idx="21"/>
          </p:nvPr>
        </p:nvSpPr>
        <p:spPr>
          <a:xfrm>
            <a:off x="461622" y="4036834"/>
            <a:ext cx="9143999" cy="304337"/>
          </a:xfrm>
        </p:spPr>
        <p:txBody>
          <a:bodyPr/>
          <a:lstStyle/>
          <a:p>
            <a:r>
              <a:rPr lang="en-US"/>
              <a:t>Management Team</a:t>
            </a:r>
          </a:p>
        </p:txBody>
      </p:sp>
      <p:pic>
        <p:nvPicPr>
          <p:cNvPr id="9" name="Picture 8">
            <a:extLst>
              <a:ext uri="{FF2B5EF4-FFF2-40B4-BE49-F238E27FC236}">
                <a16:creationId xmlns:a16="http://schemas.microsoft.com/office/drawing/2014/main" id="{69C6E8F5-1B3E-0CA1-0A96-AF81F8ECE9D5}"/>
              </a:ext>
            </a:extLst>
          </p:cNvPr>
          <p:cNvPicPr>
            <a:picLocks noChangeAspect="1"/>
          </p:cNvPicPr>
          <p:nvPr/>
        </p:nvPicPr>
        <p:blipFill>
          <a:blip r:embed="rId3"/>
          <a:stretch>
            <a:fillRect/>
          </a:stretch>
        </p:blipFill>
        <p:spPr>
          <a:xfrm>
            <a:off x="434401" y="4481708"/>
            <a:ext cx="1839789" cy="1839789"/>
          </a:xfrm>
          <a:prstGeom prst="rect">
            <a:avLst/>
          </a:prstGeom>
        </p:spPr>
      </p:pic>
      <p:pic>
        <p:nvPicPr>
          <p:cNvPr id="2052" name="Picture 4" descr="NexPoint Management Team | Real Estate Experts">
            <a:extLst>
              <a:ext uri="{FF2B5EF4-FFF2-40B4-BE49-F238E27FC236}">
                <a16:creationId xmlns:a16="http://schemas.microsoft.com/office/drawing/2014/main" id="{9C00558E-8AF6-8653-ADE3-F6D1A7C284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3733" y="4388567"/>
            <a:ext cx="1916130" cy="1916130"/>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3">
            <a:extLst>
              <a:ext uri="{FF2B5EF4-FFF2-40B4-BE49-F238E27FC236}">
                <a16:creationId xmlns:a16="http://schemas.microsoft.com/office/drawing/2014/main" id="{4D11626F-0AE0-2A9C-83BE-C07DC2CEB542}"/>
              </a:ext>
            </a:extLst>
          </p:cNvPr>
          <p:cNvSpPr txBox="1">
            <a:spLocks/>
          </p:cNvSpPr>
          <p:nvPr/>
        </p:nvSpPr>
        <p:spPr>
          <a:xfrm>
            <a:off x="459913" y="6267753"/>
            <a:ext cx="1832655" cy="1242658"/>
          </a:xfrm>
          <a:prstGeom prst="rect">
            <a:avLst/>
          </a:prstGeom>
        </p:spPr>
        <p:txBody>
          <a:bodyPr vert="horz" lIns="91440" tIns="45720" rIns="91440" bIns="45720" rtlCol="0">
            <a:norm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lgn="ctr">
              <a:buNone/>
            </a:pPr>
            <a:r>
              <a:rPr lang="en-US" b="1"/>
              <a:t>James Dondero</a:t>
            </a:r>
          </a:p>
          <a:p>
            <a:pPr marL="0" indent="0" algn="ctr">
              <a:buNone/>
            </a:pPr>
            <a:r>
              <a:rPr lang="en-US" b="1"/>
              <a:t>President</a:t>
            </a:r>
          </a:p>
        </p:txBody>
      </p:sp>
      <p:sp>
        <p:nvSpPr>
          <p:cNvPr id="12" name="Content Placeholder 3">
            <a:extLst>
              <a:ext uri="{FF2B5EF4-FFF2-40B4-BE49-F238E27FC236}">
                <a16:creationId xmlns:a16="http://schemas.microsoft.com/office/drawing/2014/main" id="{769CBBC6-A048-EE97-B45A-DC8950303C9C}"/>
              </a:ext>
            </a:extLst>
          </p:cNvPr>
          <p:cNvSpPr txBox="1">
            <a:spLocks/>
          </p:cNvSpPr>
          <p:nvPr/>
        </p:nvSpPr>
        <p:spPr>
          <a:xfrm>
            <a:off x="2995912" y="6276317"/>
            <a:ext cx="1832655" cy="1242658"/>
          </a:xfrm>
          <a:prstGeom prst="rect">
            <a:avLst/>
          </a:prstGeom>
        </p:spPr>
        <p:txBody>
          <a:bodyPr vert="horz" lIns="91440" tIns="45720" rIns="91440" bIns="45720" rtlCol="0">
            <a:norm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lgn="ctr">
              <a:buNone/>
            </a:pPr>
            <a:r>
              <a:rPr lang="en-US" b="1"/>
              <a:t>Brian Mitts</a:t>
            </a:r>
          </a:p>
          <a:p>
            <a:pPr marL="0" indent="0" algn="ctr">
              <a:buNone/>
            </a:pPr>
            <a:r>
              <a:rPr lang="en-US" b="1"/>
              <a:t>Chief Financial Officer</a:t>
            </a:r>
          </a:p>
        </p:txBody>
      </p:sp>
      <p:sp>
        <p:nvSpPr>
          <p:cNvPr id="13" name="Content Placeholder 3">
            <a:extLst>
              <a:ext uri="{FF2B5EF4-FFF2-40B4-BE49-F238E27FC236}">
                <a16:creationId xmlns:a16="http://schemas.microsoft.com/office/drawing/2014/main" id="{2C52AD3C-EF7F-F325-61C6-2D567BBCD001}"/>
              </a:ext>
            </a:extLst>
          </p:cNvPr>
          <p:cNvSpPr txBox="1">
            <a:spLocks/>
          </p:cNvSpPr>
          <p:nvPr/>
        </p:nvSpPr>
        <p:spPr>
          <a:xfrm>
            <a:off x="5531911" y="6265311"/>
            <a:ext cx="1832655" cy="1242658"/>
          </a:xfrm>
          <a:prstGeom prst="rect">
            <a:avLst/>
          </a:prstGeom>
        </p:spPr>
        <p:txBody>
          <a:bodyPr vert="horz" lIns="91440" tIns="45720" rIns="91440" bIns="45720" rtlCol="0">
            <a:norm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lgn="ctr">
              <a:buNone/>
            </a:pPr>
            <a:r>
              <a:rPr lang="en-US" b="1"/>
              <a:t>Matt McGraner</a:t>
            </a:r>
          </a:p>
          <a:p>
            <a:pPr marL="0" indent="0" algn="ctr">
              <a:buNone/>
            </a:pPr>
            <a:r>
              <a:rPr lang="en-US" b="1"/>
              <a:t>Chief Investment Officer</a:t>
            </a:r>
          </a:p>
        </p:txBody>
      </p:sp>
      <p:sp>
        <p:nvSpPr>
          <p:cNvPr id="14" name="Content Placeholder 3">
            <a:extLst>
              <a:ext uri="{FF2B5EF4-FFF2-40B4-BE49-F238E27FC236}">
                <a16:creationId xmlns:a16="http://schemas.microsoft.com/office/drawing/2014/main" id="{79198C63-E717-2625-7F64-52E87B6089B2}"/>
              </a:ext>
            </a:extLst>
          </p:cNvPr>
          <p:cNvSpPr txBox="1">
            <a:spLocks/>
          </p:cNvSpPr>
          <p:nvPr/>
        </p:nvSpPr>
        <p:spPr>
          <a:xfrm>
            <a:off x="7728861" y="6263601"/>
            <a:ext cx="1832655" cy="1242658"/>
          </a:xfrm>
          <a:prstGeom prst="rect">
            <a:avLst/>
          </a:prstGeom>
        </p:spPr>
        <p:txBody>
          <a:bodyPr vert="horz" lIns="91440" tIns="45720" rIns="91440" bIns="45720" rtlCol="0">
            <a:norm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lgn="ctr">
              <a:buNone/>
            </a:pPr>
            <a:r>
              <a:rPr lang="en-US" b="1"/>
              <a:t>Matthew Goetz</a:t>
            </a:r>
          </a:p>
          <a:p>
            <a:pPr marL="0" indent="0" algn="ctr">
              <a:buNone/>
            </a:pPr>
            <a:r>
              <a:rPr lang="en-US" b="1"/>
              <a:t>Senior Vice President</a:t>
            </a:r>
          </a:p>
        </p:txBody>
      </p:sp>
      <p:pic>
        <p:nvPicPr>
          <p:cNvPr id="1026" name="Picture 2" descr="NexPoint Reviews in Dallas-Fort Worth, TX | Glassdoor">
            <a:extLst>
              <a:ext uri="{FF2B5EF4-FFF2-40B4-BE49-F238E27FC236}">
                <a16:creationId xmlns:a16="http://schemas.microsoft.com/office/drawing/2014/main" id="{E092B8A7-4E74-0CA7-3B13-3AE117D1C7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28861" y="4435137"/>
            <a:ext cx="1822989" cy="18229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NexPoint Management Team | Real Estate Experts">
            <a:extLst>
              <a:ext uri="{FF2B5EF4-FFF2-40B4-BE49-F238E27FC236}">
                <a16:creationId xmlns:a16="http://schemas.microsoft.com/office/drawing/2014/main" id="{1B614C56-F958-7EC1-0AF2-3C8882FC5B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1383" y="4429403"/>
            <a:ext cx="1839789" cy="1839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8830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06305-D84E-1914-75DA-9A7F622C007E}"/>
              </a:ext>
            </a:extLst>
          </p:cNvPr>
          <p:cNvSpPr>
            <a:spLocks noGrp="1"/>
          </p:cNvSpPr>
          <p:nvPr>
            <p:ph type="title"/>
          </p:nvPr>
        </p:nvSpPr>
        <p:spPr/>
        <p:txBody>
          <a:bodyPr/>
          <a:lstStyle/>
          <a:p>
            <a:r>
              <a:rPr lang="en-US"/>
              <a:t>Industry Overview</a:t>
            </a:r>
            <a:br>
              <a:rPr lang="en-US"/>
            </a:br>
            <a:endParaRPr lang="en-US"/>
          </a:p>
        </p:txBody>
      </p:sp>
      <p:sp>
        <p:nvSpPr>
          <p:cNvPr id="3" name="Title 1">
            <a:extLst>
              <a:ext uri="{FF2B5EF4-FFF2-40B4-BE49-F238E27FC236}">
                <a16:creationId xmlns:a16="http://schemas.microsoft.com/office/drawing/2014/main" id="{1DCF073A-D2BF-7A15-49B7-63D00129229D}"/>
              </a:ext>
            </a:extLst>
          </p:cNvPr>
          <p:cNvSpPr txBox="1">
            <a:spLocks/>
          </p:cNvSpPr>
          <p:nvPr/>
        </p:nvSpPr>
        <p:spPr>
          <a:xfrm>
            <a:off x="457200" y="4040124"/>
            <a:ext cx="9144000" cy="731520"/>
          </a:xfrm>
          <a:prstGeom prst="rect">
            <a:avLst/>
          </a:prstGeom>
        </p:spPr>
        <p:txBody>
          <a:bodyPr vert="horz" lIns="0" tIns="0" rIns="0" bIns="0" rtlCol="0" anchor="t">
            <a:noAutofit/>
          </a:bodyPr>
          <a:lstStyle>
            <a:lvl1pPr algn="l" defTabSz="1005840" rtl="0" eaLnBrk="1" latinLnBrk="0" hangingPunct="1">
              <a:lnSpc>
                <a:spcPct val="90000"/>
              </a:lnSpc>
              <a:spcBef>
                <a:spcPct val="0"/>
              </a:spcBef>
              <a:buNone/>
              <a:defRPr sz="3200" b="1" kern="1200">
                <a:solidFill>
                  <a:schemeClr val="tx1"/>
                </a:solidFill>
                <a:latin typeface="+mj-lt"/>
                <a:ea typeface="+mj-ea"/>
                <a:cs typeface="+mj-cs"/>
              </a:defRPr>
            </a:lvl1pPr>
          </a:lstStyle>
          <a:p>
            <a:endParaRPr lang="en-US" sz="2000" b="0"/>
          </a:p>
        </p:txBody>
      </p:sp>
      <p:sp>
        <p:nvSpPr>
          <p:cNvPr id="4" name="Title 1">
            <a:extLst>
              <a:ext uri="{FF2B5EF4-FFF2-40B4-BE49-F238E27FC236}">
                <a16:creationId xmlns:a16="http://schemas.microsoft.com/office/drawing/2014/main" id="{C2F95D15-7283-C2FA-D5E8-E95BFEF326C6}"/>
              </a:ext>
            </a:extLst>
          </p:cNvPr>
          <p:cNvSpPr txBox="1">
            <a:spLocks/>
          </p:cNvSpPr>
          <p:nvPr/>
        </p:nvSpPr>
        <p:spPr>
          <a:xfrm>
            <a:off x="457200" y="4013215"/>
            <a:ext cx="9144000" cy="731520"/>
          </a:xfrm>
          <a:prstGeom prst="rect">
            <a:avLst/>
          </a:prstGeom>
        </p:spPr>
        <p:txBody>
          <a:bodyPr vert="horz" lIns="0" tIns="0" rIns="0" bIns="0" rtlCol="0" anchor="t">
            <a:noAutofit/>
          </a:bodyPr>
          <a:lstStyle>
            <a:lvl1pPr algn="l" defTabSz="100584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000" b="0"/>
              <a:t>Katherine Chen, Tuhin Ghosh, Hunter Peterson</a:t>
            </a:r>
          </a:p>
        </p:txBody>
      </p:sp>
    </p:spTree>
    <p:extLst>
      <p:ext uri="{BB962C8B-B14F-4D97-AF65-F5344CB8AC3E}">
        <p14:creationId xmlns:p14="http://schemas.microsoft.com/office/powerpoint/2010/main" val="2706748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3F877-BDC9-D222-6868-3C7D660D187F}"/>
              </a:ext>
            </a:extLst>
          </p:cNvPr>
          <p:cNvSpPr>
            <a:spLocks noGrp="1"/>
          </p:cNvSpPr>
          <p:nvPr>
            <p:ph type="title"/>
          </p:nvPr>
        </p:nvSpPr>
        <p:spPr/>
        <p:txBody>
          <a:bodyPr/>
          <a:lstStyle/>
          <a:p>
            <a:r>
              <a:rPr lang="en-US"/>
              <a:t>Real Estate Investment Trusts</a:t>
            </a:r>
          </a:p>
        </p:txBody>
      </p:sp>
      <p:sp>
        <p:nvSpPr>
          <p:cNvPr id="3" name="Text Placeholder 2">
            <a:extLst>
              <a:ext uri="{FF2B5EF4-FFF2-40B4-BE49-F238E27FC236}">
                <a16:creationId xmlns:a16="http://schemas.microsoft.com/office/drawing/2014/main" id="{8BB597E8-24F2-FF17-89C3-8F2C22DB4B38}"/>
              </a:ext>
            </a:extLst>
          </p:cNvPr>
          <p:cNvSpPr>
            <a:spLocks noGrp="1"/>
          </p:cNvSpPr>
          <p:nvPr>
            <p:ph type="body" sz="quarter" idx="18"/>
          </p:nvPr>
        </p:nvSpPr>
        <p:spPr/>
        <p:txBody>
          <a:bodyPr/>
          <a:lstStyle/>
          <a:p>
            <a:r>
              <a:rPr lang="en-US"/>
              <a:t>Owning, operating, or financing income-producing real estate properties</a:t>
            </a:r>
          </a:p>
        </p:txBody>
      </p:sp>
      <p:sp>
        <p:nvSpPr>
          <p:cNvPr id="4" name="Content Placeholder 3">
            <a:extLst>
              <a:ext uri="{FF2B5EF4-FFF2-40B4-BE49-F238E27FC236}">
                <a16:creationId xmlns:a16="http://schemas.microsoft.com/office/drawing/2014/main" id="{0B255BB7-B97C-9E1E-C659-63A78E761FEF}"/>
              </a:ext>
            </a:extLst>
          </p:cNvPr>
          <p:cNvSpPr>
            <a:spLocks noGrp="1"/>
          </p:cNvSpPr>
          <p:nvPr>
            <p:ph idx="10"/>
          </p:nvPr>
        </p:nvSpPr>
        <p:spPr>
          <a:xfrm>
            <a:off x="461623" y="1530837"/>
            <a:ext cx="9144000" cy="1429785"/>
          </a:xfrm>
        </p:spPr>
        <p:txBody>
          <a:bodyPr/>
          <a:lstStyle/>
          <a:p>
            <a:r>
              <a:rPr lang="en-US"/>
              <a:t>Own variety of assets such as residential apartments, commercial buildings, cell towers, hospitals, and more</a:t>
            </a:r>
          </a:p>
          <a:p>
            <a:r>
              <a:rPr lang="en-US"/>
              <a:t>Drive revenue from rental income, gains from sales of developed/refurbished properties, or interest income</a:t>
            </a:r>
          </a:p>
          <a:p>
            <a:r>
              <a:rPr lang="en-US"/>
              <a:t>REITs are split by industry(residential, industrial, etc.), asset class(equity, mortgage, etc.), and often region.</a:t>
            </a:r>
          </a:p>
          <a:p>
            <a:r>
              <a:rPr lang="en-US"/>
              <a:t>Within the commercial/residential vertical, REITs can be further distinguished by the quality of property it chooses to invest in: Trophy, Class A, Class B, Class C and so on.</a:t>
            </a:r>
          </a:p>
        </p:txBody>
      </p:sp>
      <p:sp>
        <p:nvSpPr>
          <p:cNvPr id="5" name="Content Placeholder 4">
            <a:extLst>
              <a:ext uri="{FF2B5EF4-FFF2-40B4-BE49-F238E27FC236}">
                <a16:creationId xmlns:a16="http://schemas.microsoft.com/office/drawing/2014/main" id="{ED13B050-B7B7-4FF6-BCEB-FD5A6896D192}"/>
              </a:ext>
            </a:extLst>
          </p:cNvPr>
          <p:cNvSpPr>
            <a:spLocks noGrp="1"/>
          </p:cNvSpPr>
          <p:nvPr>
            <p:ph sz="quarter" idx="11"/>
          </p:nvPr>
        </p:nvSpPr>
        <p:spPr>
          <a:xfrm>
            <a:off x="461623" y="3397414"/>
            <a:ext cx="4462272" cy="2497552"/>
          </a:xfrm>
        </p:spPr>
        <p:txBody>
          <a:bodyPr>
            <a:normAutofit/>
          </a:bodyPr>
          <a:lstStyle/>
          <a:p>
            <a:r>
              <a:rPr lang="en-US"/>
              <a:t>REITs distribute </a:t>
            </a:r>
            <a:r>
              <a:rPr lang="en-US" b="1"/>
              <a:t>&gt; 90% of taxable income </a:t>
            </a:r>
            <a:r>
              <a:rPr lang="en-US"/>
              <a:t>as dividends, providing steady and attractive income stream</a:t>
            </a:r>
          </a:p>
          <a:p>
            <a:r>
              <a:rPr lang="en-US"/>
              <a:t>Distribution requirement reduces the tax burden on the REIT.</a:t>
            </a:r>
          </a:p>
          <a:p>
            <a:r>
              <a:rPr lang="en-US"/>
              <a:t>Provides investor with diversification potential coupled with </a:t>
            </a:r>
            <a:r>
              <a:rPr lang="en-US" b="1"/>
              <a:t>3.49% dividend yields on average </a:t>
            </a:r>
            <a:r>
              <a:rPr lang="en-US"/>
              <a:t>for REITs</a:t>
            </a:r>
          </a:p>
          <a:p>
            <a:r>
              <a:rPr lang="en-US"/>
              <a:t>Must invest 75% of assets in real estate, cash, or treasuries</a:t>
            </a:r>
          </a:p>
        </p:txBody>
      </p:sp>
      <p:graphicFrame>
        <p:nvGraphicFramePr>
          <p:cNvPr id="10" name="Content Placeholder 9">
            <a:extLst>
              <a:ext uri="{FF2B5EF4-FFF2-40B4-BE49-F238E27FC236}">
                <a16:creationId xmlns:a16="http://schemas.microsoft.com/office/drawing/2014/main" id="{B48FD75D-2149-D0F1-76D8-A3A99CD35A20}"/>
              </a:ext>
            </a:extLst>
          </p:cNvPr>
          <p:cNvGraphicFramePr>
            <a:graphicFrameLocks noGrp="1"/>
          </p:cNvGraphicFramePr>
          <p:nvPr>
            <p:ph sz="quarter" idx="13"/>
          </p:nvPr>
        </p:nvGraphicFramePr>
        <p:xfrm>
          <a:off x="5161804" y="3028518"/>
          <a:ext cx="4461932" cy="22925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ontent Placeholder 6">
            <a:extLst>
              <a:ext uri="{FF2B5EF4-FFF2-40B4-BE49-F238E27FC236}">
                <a16:creationId xmlns:a16="http://schemas.microsoft.com/office/drawing/2014/main" id="{A65F4DF0-C6EA-2C77-7B3B-8BD3E1767D02}"/>
              </a:ext>
            </a:extLst>
          </p:cNvPr>
          <p:cNvSpPr>
            <a:spLocks noGrp="1"/>
          </p:cNvSpPr>
          <p:nvPr>
            <p:ph idx="21"/>
          </p:nvPr>
        </p:nvSpPr>
        <p:spPr>
          <a:xfrm>
            <a:off x="461623" y="3019089"/>
            <a:ext cx="4462272" cy="304337"/>
          </a:xfrm>
        </p:spPr>
        <p:txBody>
          <a:bodyPr/>
          <a:lstStyle/>
          <a:p>
            <a:r>
              <a:rPr lang="en-US"/>
              <a:t>Investment Qualities</a:t>
            </a:r>
          </a:p>
        </p:txBody>
      </p:sp>
      <p:sp>
        <p:nvSpPr>
          <p:cNvPr id="8" name="Content Placeholder 7">
            <a:extLst>
              <a:ext uri="{FF2B5EF4-FFF2-40B4-BE49-F238E27FC236}">
                <a16:creationId xmlns:a16="http://schemas.microsoft.com/office/drawing/2014/main" id="{1AFB97C4-1208-8F55-3D15-659B7DFA4CC4}"/>
              </a:ext>
            </a:extLst>
          </p:cNvPr>
          <p:cNvSpPr>
            <a:spLocks noGrp="1"/>
          </p:cNvSpPr>
          <p:nvPr>
            <p:ph idx="22"/>
          </p:nvPr>
        </p:nvSpPr>
        <p:spPr>
          <a:xfrm>
            <a:off x="462655" y="5838493"/>
            <a:ext cx="4463745" cy="304337"/>
          </a:xfrm>
        </p:spPr>
        <p:txBody>
          <a:bodyPr/>
          <a:lstStyle/>
          <a:p>
            <a:r>
              <a:rPr lang="en-US"/>
              <a:t>Industry Metrics </a:t>
            </a:r>
          </a:p>
        </p:txBody>
      </p:sp>
      <p:sp>
        <p:nvSpPr>
          <p:cNvPr id="11" name="Content Placeholder 4">
            <a:extLst>
              <a:ext uri="{FF2B5EF4-FFF2-40B4-BE49-F238E27FC236}">
                <a16:creationId xmlns:a16="http://schemas.microsoft.com/office/drawing/2014/main" id="{D0775E57-50F8-29E4-85DE-35D85FE00A95}"/>
              </a:ext>
            </a:extLst>
          </p:cNvPr>
          <p:cNvSpPr txBox="1">
            <a:spLocks/>
          </p:cNvSpPr>
          <p:nvPr/>
        </p:nvSpPr>
        <p:spPr>
          <a:xfrm>
            <a:off x="464128" y="6216816"/>
            <a:ext cx="4462272" cy="1390214"/>
          </a:xfrm>
          <a:prstGeom prst="rect">
            <a:avLst/>
          </a:prstGeom>
        </p:spPr>
        <p:txBody>
          <a:bodyPr vert="horz" lIns="91440" tIns="45720" rIns="91440" bIns="45720" rtlCol="0">
            <a:norm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Current real estate market size estimated at $114T</a:t>
            </a:r>
          </a:p>
          <a:p>
            <a:r>
              <a:rPr lang="en-US"/>
              <a:t>CAGR of 4-5% until 2030</a:t>
            </a:r>
          </a:p>
          <a:p>
            <a:r>
              <a:rPr lang="en-US" b="1"/>
              <a:t>~35% of real estate is rent-based </a:t>
            </a:r>
          </a:p>
        </p:txBody>
      </p:sp>
      <p:pic>
        <p:nvPicPr>
          <p:cNvPr id="1026" name="Picture 2" descr="What is a Class B Property? | REtipster.com">
            <a:extLst>
              <a:ext uri="{FF2B5EF4-FFF2-40B4-BE49-F238E27FC236}">
                <a16:creationId xmlns:a16="http://schemas.microsoft.com/office/drawing/2014/main" id="{40402D99-DF3B-F2AF-CDE4-A772E6C2021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r="13607"/>
          <a:stretch/>
        </p:blipFill>
        <p:spPr bwMode="auto">
          <a:xfrm>
            <a:off x="5181260" y="5379197"/>
            <a:ext cx="2143555" cy="1670648"/>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028" name="Picture 4" descr="What is a Class C Property? | REtipster.com">
            <a:extLst>
              <a:ext uri="{FF2B5EF4-FFF2-40B4-BE49-F238E27FC236}">
                <a16:creationId xmlns:a16="http://schemas.microsoft.com/office/drawing/2014/main" id="{B9287E1F-D537-7F47-72C4-5A65353D9C8B}"/>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5958" t="15575" r="13102" b="1490"/>
          <a:stretch/>
        </p:blipFill>
        <p:spPr bwMode="auto">
          <a:xfrm>
            <a:off x="7443770" y="5379197"/>
            <a:ext cx="2143555" cy="1670648"/>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4764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04704-AE0D-78F2-2EB7-ECFD02658C9C}"/>
              </a:ext>
            </a:extLst>
          </p:cNvPr>
          <p:cNvSpPr>
            <a:spLocks noGrp="1"/>
          </p:cNvSpPr>
          <p:nvPr>
            <p:ph type="title"/>
          </p:nvPr>
        </p:nvSpPr>
        <p:spPr/>
        <p:txBody>
          <a:bodyPr/>
          <a:lstStyle/>
          <a:p>
            <a:r>
              <a:rPr lang="en-US"/>
              <a:t>Class B Multifamily Real Estate Industry </a:t>
            </a:r>
          </a:p>
        </p:txBody>
      </p:sp>
      <p:sp>
        <p:nvSpPr>
          <p:cNvPr id="4" name="Content Placeholder 3">
            <a:extLst>
              <a:ext uri="{FF2B5EF4-FFF2-40B4-BE49-F238E27FC236}">
                <a16:creationId xmlns:a16="http://schemas.microsoft.com/office/drawing/2014/main" id="{BFFB55EC-7C76-8EBD-687A-81D5FFA9EED4}"/>
              </a:ext>
            </a:extLst>
          </p:cNvPr>
          <p:cNvSpPr>
            <a:spLocks noGrp="1"/>
          </p:cNvSpPr>
          <p:nvPr>
            <p:ph idx="10"/>
          </p:nvPr>
        </p:nvSpPr>
        <p:spPr>
          <a:xfrm>
            <a:off x="452778" y="1706013"/>
            <a:ext cx="9144000" cy="1429785"/>
          </a:xfrm>
        </p:spPr>
        <p:txBody>
          <a:bodyPr>
            <a:normAutofit lnSpcReduction="10000"/>
          </a:bodyPr>
          <a:lstStyle/>
          <a:p>
            <a:r>
              <a:rPr lang="en-US"/>
              <a:t>Real-estate investment properties including apartment complexes and condos</a:t>
            </a:r>
          </a:p>
          <a:p>
            <a:r>
              <a:rPr lang="en-US"/>
              <a:t>Multifamily properties are evaluated on a Class A, B or C scale in terms of luxury, location and newness</a:t>
            </a:r>
          </a:p>
          <a:p>
            <a:r>
              <a:rPr lang="en-US"/>
              <a:t>Class B real estate is desirable because of stable demand and lighter capital needs</a:t>
            </a:r>
          </a:p>
          <a:p>
            <a:pPr lvl="1"/>
            <a:r>
              <a:rPr lang="en-US"/>
              <a:t>Stable demand: Located in areas with higher demand, Class A residents move to Class B in recessions</a:t>
            </a:r>
          </a:p>
          <a:p>
            <a:pPr lvl="1"/>
            <a:r>
              <a:rPr lang="en-US"/>
              <a:t>Low capital requirement: Class B real estate properties are in good condition, only light renovations needed</a:t>
            </a:r>
          </a:p>
        </p:txBody>
      </p:sp>
      <p:sp>
        <p:nvSpPr>
          <p:cNvPr id="6" name="Content Placeholder 5">
            <a:extLst>
              <a:ext uri="{FF2B5EF4-FFF2-40B4-BE49-F238E27FC236}">
                <a16:creationId xmlns:a16="http://schemas.microsoft.com/office/drawing/2014/main" id="{ABEE4B2D-4EBD-8658-A528-4D65EB9113DF}"/>
              </a:ext>
            </a:extLst>
          </p:cNvPr>
          <p:cNvSpPr>
            <a:spLocks noGrp="1"/>
          </p:cNvSpPr>
          <p:nvPr>
            <p:ph sz="quarter" idx="13"/>
          </p:nvPr>
        </p:nvSpPr>
        <p:spPr>
          <a:xfrm>
            <a:off x="461622" y="3618092"/>
            <a:ext cx="4470912" cy="3385716"/>
          </a:xfrm>
        </p:spPr>
        <p:txBody>
          <a:bodyPr>
            <a:normAutofit/>
          </a:bodyPr>
          <a:lstStyle/>
          <a:p>
            <a:r>
              <a:rPr lang="en-US"/>
              <a:t>The Class B Multifamily Real Estate industry has been on the rise.</a:t>
            </a:r>
          </a:p>
          <a:p>
            <a:r>
              <a:rPr lang="en-US"/>
              <a:t>Higher demand for Class B properties in times of economic recessions, provides downside protection</a:t>
            </a:r>
          </a:p>
          <a:p>
            <a:pPr lvl="1"/>
            <a:r>
              <a:rPr lang="en-US"/>
              <a:t>Class B rent growth outpaced Class A in 8 out of 11 recessionary quarters since 1999</a:t>
            </a:r>
          </a:p>
          <a:p>
            <a:pPr lvl="1"/>
            <a:r>
              <a:rPr lang="en-US"/>
              <a:t>In recessions, Class A residents “trade down” to Class B properties</a:t>
            </a:r>
          </a:p>
          <a:p>
            <a:r>
              <a:rPr lang="en-US"/>
              <a:t>Class B segment has shown consistently stronger performance compared to Class A </a:t>
            </a:r>
          </a:p>
          <a:p>
            <a:r>
              <a:rPr lang="en-US"/>
              <a:t>Maintained higher occupancies than Class A</a:t>
            </a:r>
          </a:p>
          <a:p>
            <a:r>
              <a:rPr lang="en-US"/>
              <a:t>Undersupply: new supply has been largely concentrated in Class A</a:t>
            </a:r>
          </a:p>
          <a:p>
            <a:pPr lvl="1"/>
            <a:endParaRPr lang="en-US"/>
          </a:p>
          <a:p>
            <a:endParaRPr lang="en-US"/>
          </a:p>
        </p:txBody>
      </p:sp>
      <p:sp>
        <p:nvSpPr>
          <p:cNvPr id="7" name="Content Placeholder 6">
            <a:extLst>
              <a:ext uri="{FF2B5EF4-FFF2-40B4-BE49-F238E27FC236}">
                <a16:creationId xmlns:a16="http://schemas.microsoft.com/office/drawing/2014/main" id="{4240FEA5-1800-145B-2747-7559BBA8767C}"/>
              </a:ext>
            </a:extLst>
          </p:cNvPr>
          <p:cNvSpPr>
            <a:spLocks noGrp="1"/>
          </p:cNvSpPr>
          <p:nvPr>
            <p:ph idx="21"/>
          </p:nvPr>
        </p:nvSpPr>
        <p:spPr>
          <a:xfrm>
            <a:off x="461622" y="1263295"/>
            <a:ext cx="9143999" cy="296885"/>
          </a:xfrm>
        </p:spPr>
        <p:txBody>
          <a:bodyPr/>
          <a:lstStyle/>
          <a:p>
            <a:r>
              <a:rPr lang="en-US"/>
              <a:t>Class B Properties Overview</a:t>
            </a:r>
          </a:p>
        </p:txBody>
      </p:sp>
      <p:sp>
        <p:nvSpPr>
          <p:cNvPr id="8" name="Content Placeholder 7">
            <a:extLst>
              <a:ext uri="{FF2B5EF4-FFF2-40B4-BE49-F238E27FC236}">
                <a16:creationId xmlns:a16="http://schemas.microsoft.com/office/drawing/2014/main" id="{85C5B679-49F1-524C-E651-2586B0F849A3}"/>
              </a:ext>
            </a:extLst>
          </p:cNvPr>
          <p:cNvSpPr>
            <a:spLocks noGrp="1"/>
          </p:cNvSpPr>
          <p:nvPr>
            <p:ph idx="22"/>
          </p:nvPr>
        </p:nvSpPr>
        <p:spPr>
          <a:xfrm>
            <a:off x="470923" y="3162085"/>
            <a:ext cx="4470912" cy="352513"/>
          </a:xfrm>
        </p:spPr>
        <p:txBody>
          <a:bodyPr>
            <a:normAutofit/>
          </a:bodyPr>
          <a:lstStyle/>
          <a:p>
            <a:r>
              <a:rPr lang="en-US"/>
              <a:t>Trends in Class B Real Estate</a:t>
            </a:r>
          </a:p>
        </p:txBody>
      </p:sp>
      <p:sp>
        <p:nvSpPr>
          <p:cNvPr id="9" name="Content Placeholder 7">
            <a:extLst>
              <a:ext uri="{FF2B5EF4-FFF2-40B4-BE49-F238E27FC236}">
                <a16:creationId xmlns:a16="http://schemas.microsoft.com/office/drawing/2014/main" id="{2571DC81-1F56-2952-51AC-541909503371}"/>
              </a:ext>
            </a:extLst>
          </p:cNvPr>
          <p:cNvSpPr txBox="1">
            <a:spLocks/>
          </p:cNvSpPr>
          <p:nvPr/>
        </p:nvSpPr>
        <p:spPr>
          <a:xfrm>
            <a:off x="5134707" y="3162085"/>
            <a:ext cx="4470913" cy="352513"/>
          </a:xfrm>
          <a:prstGeom prst="rect">
            <a:avLst/>
          </a:prstGeom>
          <a:solidFill>
            <a:srgbClr val="1E1F49"/>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Select Class B Verticals</a:t>
            </a:r>
          </a:p>
        </p:txBody>
      </p:sp>
      <p:sp>
        <p:nvSpPr>
          <p:cNvPr id="5" name="Content Placeholder 5">
            <a:extLst>
              <a:ext uri="{FF2B5EF4-FFF2-40B4-BE49-F238E27FC236}">
                <a16:creationId xmlns:a16="http://schemas.microsoft.com/office/drawing/2014/main" id="{374E8959-846D-8E92-C36D-721E6C21740A}"/>
              </a:ext>
            </a:extLst>
          </p:cNvPr>
          <p:cNvSpPr txBox="1">
            <a:spLocks/>
          </p:cNvSpPr>
          <p:nvPr/>
        </p:nvSpPr>
        <p:spPr>
          <a:xfrm>
            <a:off x="5166371" y="3623011"/>
            <a:ext cx="4470912" cy="3879003"/>
          </a:xfrm>
          <a:prstGeom prst="rect">
            <a:avLst/>
          </a:prstGeom>
        </p:spPr>
        <p:txBody>
          <a:bodyPr vert="horz" lIns="91440" tIns="45720" rIns="91440" bIns="45720" rtlCol="0">
            <a:norm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b="1"/>
              <a:t>Value Add: </a:t>
            </a:r>
            <a:r>
              <a:rPr lang="en-US"/>
              <a:t>offer opportunities for improvement or enhancement to increase their value</a:t>
            </a:r>
          </a:p>
          <a:p>
            <a:pPr lvl="1"/>
            <a:r>
              <a:rPr lang="en-US"/>
              <a:t>NexPoint is one of the only REITs of its size specialized in Class B Value-Add. Offers greater returns and smaller quantity of properties</a:t>
            </a:r>
          </a:p>
          <a:p>
            <a:pPr lvl="1"/>
            <a:r>
              <a:rPr lang="en-US"/>
              <a:t>More considerable capital needs and higher risk than normal real estate income generation strategies</a:t>
            </a:r>
          </a:p>
          <a:p>
            <a:r>
              <a:rPr lang="en-US"/>
              <a:t>Opportunistic:  high-risk, high-reward ventures that involve capitalizing on unique, time-sensitive situations or undervalued properties</a:t>
            </a:r>
          </a:p>
          <a:p>
            <a:r>
              <a:rPr lang="en-US"/>
              <a:t>Turnkey: fully renovated, ready-to-rent, or ready-to-sell real estate assets. They require minimal or no additional work or improvement</a:t>
            </a:r>
          </a:p>
        </p:txBody>
      </p:sp>
    </p:spTree>
    <p:extLst>
      <p:ext uri="{BB962C8B-B14F-4D97-AF65-F5344CB8AC3E}">
        <p14:creationId xmlns:p14="http://schemas.microsoft.com/office/powerpoint/2010/main" val="2298114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3AFA8-2C68-3E56-25BF-0D0EBBDCE6F6}"/>
              </a:ext>
            </a:extLst>
          </p:cNvPr>
          <p:cNvSpPr>
            <a:spLocks noGrp="1"/>
          </p:cNvSpPr>
          <p:nvPr>
            <p:ph type="title"/>
          </p:nvPr>
        </p:nvSpPr>
        <p:spPr/>
        <p:txBody>
          <a:bodyPr/>
          <a:lstStyle/>
          <a:p>
            <a:r>
              <a:rPr lang="en-US"/>
              <a:t>Key Players and NXRT’s Position</a:t>
            </a:r>
          </a:p>
        </p:txBody>
      </p:sp>
      <p:sp>
        <p:nvSpPr>
          <p:cNvPr id="3" name="Text Placeholder 2">
            <a:extLst>
              <a:ext uri="{FF2B5EF4-FFF2-40B4-BE49-F238E27FC236}">
                <a16:creationId xmlns:a16="http://schemas.microsoft.com/office/drawing/2014/main" id="{B3B8E09B-5F10-701E-6EB3-4992182E7801}"/>
              </a:ext>
            </a:extLst>
          </p:cNvPr>
          <p:cNvSpPr>
            <a:spLocks noGrp="1"/>
          </p:cNvSpPr>
          <p:nvPr>
            <p:ph type="body" sz="quarter" idx="18"/>
          </p:nvPr>
        </p:nvSpPr>
        <p:spPr>
          <a:xfrm>
            <a:off x="461963" y="1262476"/>
            <a:ext cx="9144000" cy="355600"/>
          </a:xfrm>
        </p:spPr>
        <p:txBody>
          <a:bodyPr/>
          <a:lstStyle/>
          <a:p>
            <a:r>
              <a:rPr lang="en-US" i="1"/>
              <a:t>Many players in the REIT space diversified in both product and region, but NXRT is a primary player in its niche</a:t>
            </a:r>
          </a:p>
        </p:txBody>
      </p:sp>
      <p:sp>
        <p:nvSpPr>
          <p:cNvPr id="5" name="Content Placeholder 4">
            <a:extLst>
              <a:ext uri="{FF2B5EF4-FFF2-40B4-BE49-F238E27FC236}">
                <a16:creationId xmlns:a16="http://schemas.microsoft.com/office/drawing/2014/main" id="{9738C91F-730B-AD2E-28C3-9ADAD26624BA}"/>
              </a:ext>
            </a:extLst>
          </p:cNvPr>
          <p:cNvSpPr>
            <a:spLocks noGrp="1"/>
          </p:cNvSpPr>
          <p:nvPr>
            <p:ph sz="quarter" idx="11"/>
          </p:nvPr>
        </p:nvSpPr>
        <p:spPr>
          <a:xfrm>
            <a:off x="461623" y="1981362"/>
            <a:ext cx="4462272" cy="5107807"/>
          </a:xfrm>
        </p:spPr>
        <p:txBody>
          <a:bodyPr>
            <a:normAutofit/>
          </a:bodyPr>
          <a:lstStyle/>
          <a:p>
            <a:r>
              <a:rPr lang="en-US"/>
              <a:t>Largest REIT players are in</a:t>
            </a:r>
          </a:p>
          <a:p>
            <a:pPr lvl="1"/>
            <a:r>
              <a:rPr lang="en-US" b="1"/>
              <a:t>Industrials sector</a:t>
            </a:r>
            <a:r>
              <a:rPr lang="en-US"/>
              <a:t>: due to pure valuation size of average industrial real estate and recent growth</a:t>
            </a:r>
          </a:p>
          <a:p>
            <a:pPr lvl="1"/>
            <a:r>
              <a:rPr lang="en-US" b="1"/>
              <a:t>Communications</a:t>
            </a:r>
            <a:r>
              <a:rPr lang="en-US"/>
              <a:t>: including wireless infrastructure such as cell towers</a:t>
            </a:r>
          </a:p>
          <a:p>
            <a:pPr lvl="1"/>
            <a:r>
              <a:rPr lang="en-US" b="1"/>
              <a:t>Self-Storage</a:t>
            </a:r>
            <a:r>
              <a:rPr lang="en-US"/>
              <a:t>: Public Storage is largest REIT, storage facilities near urban areas</a:t>
            </a:r>
          </a:p>
          <a:p>
            <a:pPr lvl="1"/>
            <a:r>
              <a:rPr lang="en-US" b="1"/>
              <a:t>Data Centers</a:t>
            </a:r>
            <a:r>
              <a:rPr lang="en-US"/>
              <a:t>: growth driven by increasing data storage and processing needs from cloud</a:t>
            </a:r>
          </a:p>
          <a:p>
            <a:pPr lvl="2"/>
            <a:r>
              <a:rPr lang="en-US"/>
              <a:t>One of the fastest growing segment as data needs continue to grow</a:t>
            </a:r>
          </a:p>
          <a:p>
            <a:pPr lvl="1"/>
            <a:r>
              <a:rPr lang="en-US" b="1"/>
              <a:t>Residential</a:t>
            </a:r>
            <a:r>
              <a:rPr lang="en-US"/>
              <a:t>: “classic” real estate investing, names like </a:t>
            </a:r>
            <a:r>
              <a:rPr lang="en-US" err="1"/>
              <a:t>NexPoint</a:t>
            </a:r>
            <a:r>
              <a:rPr lang="en-US"/>
              <a:t> and Avalon Bay. Split in further verticals as well</a:t>
            </a:r>
          </a:p>
          <a:p>
            <a:r>
              <a:rPr lang="en-US" err="1"/>
              <a:t>NexPoint</a:t>
            </a:r>
            <a:r>
              <a:rPr lang="en-US"/>
              <a:t> does not compete directly with many REITs in both the residential industry and beyond since its focus is on the potential for value-add</a:t>
            </a:r>
          </a:p>
          <a:p>
            <a:pPr lvl="1"/>
            <a:r>
              <a:rPr lang="en-US"/>
              <a:t>Even within the residential space, players within the space are often not targeting the same properties on a constant basis</a:t>
            </a:r>
          </a:p>
          <a:p>
            <a:endParaRPr lang="en-US"/>
          </a:p>
        </p:txBody>
      </p:sp>
      <p:sp>
        <p:nvSpPr>
          <p:cNvPr id="6" name="Content Placeholder 5">
            <a:extLst>
              <a:ext uri="{FF2B5EF4-FFF2-40B4-BE49-F238E27FC236}">
                <a16:creationId xmlns:a16="http://schemas.microsoft.com/office/drawing/2014/main" id="{26CF0135-C79A-2F6E-9F90-1A54948876F1}"/>
              </a:ext>
            </a:extLst>
          </p:cNvPr>
          <p:cNvSpPr>
            <a:spLocks noGrp="1"/>
          </p:cNvSpPr>
          <p:nvPr>
            <p:ph sz="quarter" idx="13"/>
          </p:nvPr>
        </p:nvSpPr>
        <p:spPr>
          <a:xfrm>
            <a:off x="5152650" y="2011530"/>
            <a:ext cx="4463745" cy="1342634"/>
          </a:xfrm>
        </p:spPr>
        <p:txBody>
          <a:bodyPr>
            <a:normAutofit fontScale="92500" lnSpcReduction="10000"/>
          </a:bodyPr>
          <a:lstStyle/>
          <a:p>
            <a:r>
              <a:rPr lang="en-US"/>
              <a:t>Value-Add vertical is separate from other sectors and does not often compete with other residential players</a:t>
            </a:r>
          </a:p>
          <a:p>
            <a:r>
              <a:rPr lang="en-US"/>
              <a:t>The Value-Add real estate relies on higher leverage for higher returns. Forecasting higher, yet more unpredictable cash flows following remodel</a:t>
            </a:r>
          </a:p>
          <a:p>
            <a:r>
              <a:rPr lang="en-US"/>
              <a:t>NXRT achieves 22% Value-Add ROI</a:t>
            </a:r>
          </a:p>
        </p:txBody>
      </p:sp>
      <p:sp>
        <p:nvSpPr>
          <p:cNvPr id="7" name="Content Placeholder 6">
            <a:extLst>
              <a:ext uri="{FF2B5EF4-FFF2-40B4-BE49-F238E27FC236}">
                <a16:creationId xmlns:a16="http://schemas.microsoft.com/office/drawing/2014/main" id="{1CB66A62-B9D1-4D36-AD7E-3A1128500BFF}"/>
              </a:ext>
            </a:extLst>
          </p:cNvPr>
          <p:cNvSpPr>
            <a:spLocks noGrp="1"/>
          </p:cNvSpPr>
          <p:nvPr>
            <p:ph idx="21"/>
          </p:nvPr>
        </p:nvSpPr>
        <p:spPr>
          <a:xfrm>
            <a:off x="461623" y="1604039"/>
            <a:ext cx="4462272" cy="304337"/>
          </a:xfrm>
        </p:spPr>
        <p:txBody>
          <a:bodyPr/>
          <a:lstStyle/>
          <a:p>
            <a:r>
              <a:rPr lang="en-US"/>
              <a:t>Key Industries</a:t>
            </a:r>
          </a:p>
        </p:txBody>
      </p:sp>
      <p:sp>
        <p:nvSpPr>
          <p:cNvPr id="8" name="Content Placeholder 7">
            <a:extLst>
              <a:ext uri="{FF2B5EF4-FFF2-40B4-BE49-F238E27FC236}">
                <a16:creationId xmlns:a16="http://schemas.microsoft.com/office/drawing/2014/main" id="{FD3D62DA-A898-BBEC-574A-208A1C03F95C}"/>
              </a:ext>
            </a:extLst>
          </p:cNvPr>
          <p:cNvSpPr>
            <a:spLocks noGrp="1"/>
          </p:cNvSpPr>
          <p:nvPr>
            <p:ph idx="22"/>
          </p:nvPr>
        </p:nvSpPr>
        <p:spPr>
          <a:xfrm>
            <a:off x="5152651" y="1607018"/>
            <a:ext cx="4463745" cy="304337"/>
          </a:xfrm>
        </p:spPr>
        <p:txBody>
          <a:bodyPr/>
          <a:lstStyle/>
          <a:p>
            <a:r>
              <a:rPr lang="en-US"/>
              <a:t>Value-Add Real Estate</a:t>
            </a:r>
          </a:p>
        </p:txBody>
      </p:sp>
      <p:pic>
        <p:nvPicPr>
          <p:cNvPr id="1026" name="Picture 2" descr="Upside Avenue Multifamily REIT Property Portfolio - Austin, Texas">
            <a:extLst>
              <a:ext uri="{FF2B5EF4-FFF2-40B4-BE49-F238E27FC236}">
                <a16:creationId xmlns:a16="http://schemas.microsoft.com/office/drawing/2014/main" id="{CB6FDEAF-A909-E4BF-A7D1-6E84AADD5E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1391" y="3381395"/>
            <a:ext cx="3667125" cy="124777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30262BF7-D686-F7A1-FAC0-07A24C4DE249}"/>
              </a:ext>
            </a:extLst>
          </p:cNvPr>
          <p:cNvPicPr>
            <a:picLocks noChangeAspect="1"/>
          </p:cNvPicPr>
          <p:nvPr/>
        </p:nvPicPr>
        <p:blipFill>
          <a:blip r:embed="rId4"/>
          <a:stretch>
            <a:fillRect/>
          </a:stretch>
        </p:blipFill>
        <p:spPr>
          <a:xfrm>
            <a:off x="5432117" y="4873140"/>
            <a:ext cx="1682836" cy="800141"/>
          </a:xfrm>
          <a:prstGeom prst="rect">
            <a:avLst/>
          </a:prstGeom>
        </p:spPr>
      </p:pic>
      <p:pic>
        <p:nvPicPr>
          <p:cNvPr id="1034" name="Picture 10" descr="Elme Communities (ELME)">
            <a:extLst>
              <a:ext uri="{FF2B5EF4-FFF2-40B4-BE49-F238E27FC236}">
                <a16:creationId xmlns:a16="http://schemas.microsoft.com/office/drawing/2014/main" id="{5A4FBB4B-1AA3-2D37-2FC1-B8AC7308AD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2117" y="5917251"/>
            <a:ext cx="3667125" cy="93356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CENTERSPACE ANNOUNCES ENTRANCE INTO FORT COLLINS MARKET">
            <a:extLst>
              <a:ext uri="{FF2B5EF4-FFF2-40B4-BE49-F238E27FC236}">
                <a16:creationId xmlns:a16="http://schemas.microsoft.com/office/drawing/2014/main" id="{8F229B6D-F6CE-FA01-2004-4209D00158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3175" y="4656401"/>
            <a:ext cx="2276582" cy="1193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8163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A26A-BCF3-B53B-2F38-7E401D4236D7}"/>
              </a:ext>
            </a:extLst>
          </p:cNvPr>
          <p:cNvSpPr>
            <a:spLocks noGrp="1"/>
          </p:cNvSpPr>
          <p:nvPr>
            <p:ph type="title"/>
          </p:nvPr>
        </p:nvSpPr>
        <p:spPr/>
        <p:txBody>
          <a:bodyPr/>
          <a:lstStyle/>
          <a:p>
            <a:r>
              <a:rPr lang="en-US"/>
              <a:t>Capital Barriers to Entry</a:t>
            </a:r>
          </a:p>
        </p:txBody>
      </p:sp>
      <p:sp>
        <p:nvSpPr>
          <p:cNvPr id="4" name="Text Placeholder 3">
            <a:extLst>
              <a:ext uri="{FF2B5EF4-FFF2-40B4-BE49-F238E27FC236}">
                <a16:creationId xmlns:a16="http://schemas.microsoft.com/office/drawing/2014/main" id="{34060F22-B554-8C2E-9543-6C691FA0A41B}"/>
              </a:ext>
            </a:extLst>
          </p:cNvPr>
          <p:cNvSpPr>
            <a:spLocks noGrp="1"/>
          </p:cNvSpPr>
          <p:nvPr>
            <p:ph type="body" sz="quarter" idx="18"/>
          </p:nvPr>
        </p:nvSpPr>
        <p:spPr>
          <a:xfrm>
            <a:off x="461963" y="1248828"/>
            <a:ext cx="9144000" cy="355600"/>
          </a:xfrm>
        </p:spPr>
        <p:txBody>
          <a:bodyPr>
            <a:normAutofit/>
          </a:bodyPr>
          <a:lstStyle/>
          <a:p>
            <a:r>
              <a:rPr lang="en-US" i="1">
                <a:latin typeface="Garamond"/>
              </a:rPr>
              <a:t>High entry costs due to rising interest rates and land prices shield </a:t>
            </a:r>
            <a:r>
              <a:rPr lang="en-US" i="1" err="1">
                <a:latin typeface="Garamond"/>
              </a:rPr>
              <a:t>NexPoint</a:t>
            </a:r>
            <a:r>
              <a:rPr lang="en-US" i="1">
                <a:latin typeface="Garamond"/>
              </a:rPr>
              <a:t> from competition.</a:t>
            </a:r>
            <a:endParaRPr lang="en-US" i="1"/>
          </a:p>
        </p:txBody>
      </p:sp>
      <p:sp>
        <p:nvSpPr>
          <p:cNvPr id="5" name="Content Placeholder 4">
            <a:extLst>
              <a:ext uri="{FF2B5EF4-FFF2-40B4-BE49-F238E27FC236}">
                <a16:creationId xmlns:a16="http://schemas.microsoft.com/office/drawing/2014/main" id="{54B92715-6895-6470-D010-1DDF8804BC1E}"/>
              </a:ext>
            </a:extLst>
          </p:cNvPr>
          <p:cNvSpPr>
            <a:spLocks noGrp="1"/>
          </p:cNvSpPr>
          <p:nvPr>
            <p:ph idx="10"/>
          </p:nvPr>
        </p:nvSpPr>
        <p:spPr>
          <a:xfrm>
            <a:off x="461623" y="1956358"/>
            <a:ext cx="4462272" cy="5130242"/>
          </a:xfrm>
        </p:spPr>
        <p:txBody>
          <a:bodyPr vert="horz" lIns="91440" tIns="45720" rIns="91440" bIns="45720" rtlCol="0" anchor="t">
            <a:noAutofit/>
          </a:bodyPr>
          <a:lstStyle/>
          <a:p>
            <a:r>
              <a:rPr lang="en-US">
                <a:latin typeface="Garamond"/>
              </a:rPr>
              <a:t>Borrowing has been made more expensive given the current interest rate environment, which forces real estate acquirers and developers to fund acquisitions and development with debt that requires a higher interest burden</a:t>
            </a:r>
            <a:endParaRPr lang="en-US"/>
          </a:p>
          <a:p>
            <a:r>
              <a:rPr lang="en-US">
                <a:latin typeface="Garamond"/>
              </a:rPr>
              <a:t>Further, the price of raw land in Sunbelt has increased significantly over the past decade due to heightened residential and commercial demand in the region, further depressing the profitability of new development in the region</a:t>
            </a:r>
          </a:p>
          <a:p>
            <a:r>
              <a:rPr lang="en-US">
                <a:latin typeface="Garamond"/>
              </a:rPr>
              <a:t>There are a limited number of companies that can achieve acceptable ROI figures given these higher upfront capital costs, which serves to shield </a:t>
            </a:r>
            <a:r>
              <a:rPr lang="en-US" err="1">
                <a:latin typeface="Garamond"/>
              </a:rPr>
              <a:t>NexPoint</a:t>
            </a:r>
            <a:r>
              <a:rPr lang="en-US">
                <a:latin typeface="Garamond"/>
              </a:rPr>
              <a:t>, which already has a significant presence in the Sunbelt, from new entrants</a:t>
            </a:r>
          </a:p>
          <a:p>
            <a:r>
              <a:rPr lang="en-US" err="1">
                <a:latin typeface="Garamond"/>
              </a:rPr>
              <a:t>NexPoint</a:t>
            </a:r>
            <a:r>
              <a:rPr lang="en-US">
                <a:latin typeface="Garamond"/>
              </a:rPr>
              <a:t> does not require additional acquisitions to generate additional income but can instead focus on performing value-add on additional properties and rental income from existing tenants</a:t>
            </a:r>
          </a:p>
          <a:p>
            <a:r>
              <a:rPr lang="en-US">
                <a:latin typeface="Garamond"/>
              </a:rPr>
              <a:t>Fewer competitors over the investment horizon insulates </a:t>
            </a:r>
            <a:r>
              <a:rPr lang="en-US" err="1">
                <a:latin typeface="Garamond"/>
              </a:rPr>
              <a:t>NexPoint’s</a:t>
            </a:r>
            <a:r>
              <a:rPr lang="en-US">
                <a:latin typeface="Garamond"/>
              </a:rPr>
              <a:t> income generation capacity and tenant base from erosion by other firms</a:t>
            </a:r>
            <a:endParaRPr lang="en-US"/>
          </a:p>
        </p:txBody>
      </p:sp>
      <p:sp>
        <p:nvSpPr>
          <p:cNvPr id="9" name="Content Placeholder 8">
            <a:extLst>
              <a:ext uri="{FF2B5EF4-FFF2-40B4-BE49-F238E27FC236}">
                <a16:creationId xmlns:a16="http://schemas.microsoft.com/office/drawing/2014/main" id="{7BE34FDE-A9CD-C3B4-8BA6-159164378853}"/>
              </a:ext>
            </a:extLst>
          </p:cNvPr>
          <p:cNvSpPr>
            <a:spLocks noGrp="1"/>
          </p:cNvSpPr>
          <p:nvPr>
            <p:ph idx="19"/>
          </p:nvPr>
        </p:nvSpPr>
        <p:spPr>
          <a:xfrm>
            <a:off x="461623" y="1600758"/>
            <a:ext cx="4462272" cy="304337"/>
          </a:xfrm>
        </p:spPr>
        <p:txBody>
          <a:bodyPr>
            <a:normAutofit/>
          </a:bodyPr>
          <a:lstStyle/>
          <a:p>
            <a:r>
              <a:rPr lang="en-US">
                <a:latin typeface="Garamond"/>
              </a:rPr>
              <a:t>Entry Costs</a:t>
            </a:r>
            <a:endParaRPr lang="en-US"/>
          </a:p>
        </p:txBody>
      </p:sp>
      <p:sp>
        <p:nvSpPr>
          <p:cNvPr id="10" name="Content Placeholder 9">
            <a:extLst>
              <a:ext uri="{FF2B5EF4-FFF2-40B4-BE49-F238E27FC236}">
                <a16:creationId xmlns:a16="http://schemas.microsoft.com/office/drawing/2014/main" id="{3496CB73-372D-63B8-6CBE-874A6D325AF2}"/>
              </a:ext>
            </a:extLst>
          </p:cNvPr>
          <p:cNvSpPr>
            <a:spLocks noGrp="1"/>
          </p:cNvSpPr>
          <p:nvPr>
            <p:ph idx="20"/>
          </p:nvPr>
        </p:nvSpPr>
        <p:spPr>
          <a:xfrm>
            <a:off x="5152651" y="1597088"/>
            <a:ext cx="4462272" cy="304337"/>
          </a:xfrm>
        </p:spPr>
        <p:txBody>
          <a:bodyPr/>
          <a:lstStyle/>
          <a:p>
            <a:r>
              <a:rPr lang="en-US">
                <a:latin typeface="Garamond"/>
              </a:rPr>
              <a:t>Significantly Larger Land Costs</a:t>
            </a:r>
            <a:endParaRPr lang="en-US"/>
          </a:p>
        </p:txBody>
      </p:sp>
      <p:sp>
        <p:nvSpPr>
          <p:cNvPr id="12" name="Content Placeholder 11">
            <a:extLst>
              <a:ext uri="{FF2B5EF4-FFF2-40B4-BE49-F238E27FC236}">
                <a16:creationId xmlns:a16="http://schemas.microsoft.com/office/drawing/2014/main" id="{A2B38F7A-C630-28C7-DCE5-3276C304DCB4}"/>
              </a:ext>
            </a:extLst>
          </p:cNvPr>
          <p:cNvSpPr>
            <a:spLocks noGrp="1"/>
          </p:cNvSpPr>
          <p:nvPr>
            <p:ph idx="22"/>
          </p:nvPr>
        </p:nvSpPr>
        <p:spPr/>
        <p:txBody>
          <a:bodyPr>
            <a:normAutofit/>
          </a:bodyPr>
          <a:lstStyle/>
          <a:p>
            <a:r>
              <a:rPr lang="en-US">
                <a:latin typeface="Garamond"/>
              </a:rPr>
              <a:t>Heightened Interest Rates</a:t>
            </a:r>
            <a:endParaRPr lang="en-US"/>
          </a:p>
        </p:txBody>
      </p:sp>
      <p:graphicFrame>
        <p:nvGraphicFramePr>
          <p:cNvPr id="18" name="Content Placeholder 12">
            <a:extLst>
              <a:ext uri="{FF2B5EF4-FFF2-40B4-BE49-F238E27FC236}">
                <a16:creationId xmlns:a16="http://schemas.microsoft.com/office/drawing/2014/main" id="{E5A00E50-3A83-0D9E-7E56-E4B2B3A943E4}"/>
              </a:ext>
            </a:extLst>
          </p:cNvPr>
          <p:cNvGraphicFramePr>
            <a:graphicFrameLocks/>
          </p:cNvGraphicFramePr>
          <p:nvPr/>
        </p:nvGraphicFramePr>
        <p:xfrm>
          <a:off x="5148229" y="2089825"/>
          <a:ext cx="4471116" cy="2262711"/>
        </p:xfrm>
        <a:graphic>
          <a:graphicData uri="http://schemas.openxmlformats.org/drawingml/2006/chart">
            <c:chart xmlns:c="http://schemas.openxmlformats.org/drawingml/2006/chart" xmlns:r="http://schemas.openxmlformats.org/officeDocument/2006/relationships" r:id="rId2"/>
          </a:graphicData>
        </a:graphic>
      </p:graphicFrame>
      <p:pic>
        <p:nvPicPr>
          <p:cNvPr id="8" name="Picture 7" descr="A graph of a rising graph&#10;&#10;Description automatically generated with medium confidence">
            <a:extLst>
              <a:ext uri="{FF2B5EF4-FFF2-40B4-BE49-F238E27FC236}">
                <a16:creationId xmlns:a16="http://schemas.microsoft.com/office/drawing/2014/main" id="{754FF60D-9A19-1FED-5954-7F8097BEF954}"/>
              </a:ext>
            </a:extLst>
          </p:cNvPr>
          <p:cNvPicPr>
            <a:picLocks noChangeAspect="1"/>
          </p:cNvPicPr>
          <p:nvPr/>
        </p:nvPicPr>
        <p:blipFill>
          <a:blip r:embed="rId3"/>
          <a:stretch>
            <a:fillRect/>
          </a:stretch>
        </p:blipFill>
        <p:spPr>
          <a:xfrm>
            <a:off x="5126377" y="4774049"/>
            <a:ext cx="4470400" cy="2247900"/>
          </a:xfrm>
          <a:prstGeom prst="rect">
            <a:avLst/>
          </a:prstGeom>
        </p:spPr>
      </p:pic>
    </p:spTree>
    <p:extLst>
      <p:ext uri="{BB962C8B-B14F-4D97-AF65-F5344CB8AC3E}">
        <p14:creationId xmlns:p14="http://schemas.microsoft.com/office/powerpoint/2010/main" val="3020056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A26A-BCF3-B53B-2F38-7E401D4236D7}"/>
              </a:ext>
            </a:extLst>
          </p:cNvPr>
          <p:cNvSpPr>
            <a:spLocks noGrp="1"/>
          </p:cNvSpPr>
          <p:nvPr>
            <p:ph type="title"/>
          </p:nvPr>
        </p:nvSpPr>
        <p:spPr/>
        <p:txBody>
          <a:bodyPr/>
          <a:lstStyle/>
          <a:p>
            <a:r>
              <a:rPr lang="en-US"/>
              <a:t>Inaccessibility of Home Ownership and Class A Rentals</a:t>
            </a:r>
          </a:p>
        </p:txBody>
      </p:sp>
      <p:sp>
        <p:nvSpPr>
          <p:cNvPr id="4" name="Text Placeholder 3">
            <a:extLst>
              <a:ext uri="{FF2B5EF4-FFF2-40B4-BE49-F238E27FC236}">
                <a16:creationId xmlns:a16="http://schemas.microsoft.com/office/drawing/2014/main" id="{34060F22-B554-8C2E-9543-6C691FA0A41B}"/>
              </a:ext>
            </a:extLst>
          </p:cNvPr>
          <p:cNvSpPr>
            <a:spLocks noGrp="1"/>
          </p:cNvSpPr>
          <p:nvPr>
            <p:ph type="body" sz="quarter" idx="18"/>
          </p:nvPr>
        </p:nvSpPr>
        <p:spPr>
          <a:xfrm>
            <a:off x="461963" y="1248828"/>
            <a:ext cx="9144000" cy="355600"/>
          </a:xfrm>
        </p:spPr>
        <p:txBody>
          <a:bodyPr>
            <a:normAutofit/>
          </a:bodyPr>
          <a:lstStyle/>
          <a:p>
            <a:r>
              <a:rPr lang="en-US" i="1"/>
              <a:t>Value-Add Class B assets appeal to consumers who are increasingly unable to afford more expensive options.</a:t>
            </a:r>
          </a:p>
        </p:txBody>
      </p:sp>
      <p:sp>
        <p:nvSpPr>
          <p:cNvPr id="5" name="Content Placeholder 4">
            <a:extLst>
              <a:ext uri="{FF2B5EF4-FFF2-40B4-BE49-F238E27FC236}">
                <a16:creationId xmlns:a16="http://schemas.microsoft.com/office/drawing/2014/main" id="{54B92715-6895-6470-D010-1DDF8804BC1E}"/>
              </a:ext>
            </a:extLst>
          </p:cNvPr>
          <p:cNvSpPr>
            <a:spLocks noGrp="1"/>
          </p:cNvSpPr>
          <p:nvPr>
            <p:ph idx="10"/>
          </p:nvPr>
        </p:nvSpPr>
        <p:spPr>
          <a:xfrm>
            <a:off x="461623" y="1956358"/>
            <a:ext cx="4462272" cy="5130242"/>
          </a:xfrm>
        </p:spPr>
        <p:txBody>
          <a:bodyPr>
            <a:normAutofit fontScale="92500" lnSpcReduction="20000"/>
          </a:bodyPr>
          <a:lstStyle/>
          <a:p>
            <a:r>
              <a:rPr lang="en-US"/>
              <a:t>Homeownership and rental of higher-end Class A property has become increasing unaffordable for the average American consumer in recent years </a:t>
            </a:r>
          </a:p>
          <a:p>
            <a:pPr lvl="1"/>
            <a:r>
              <a:rPr lang="en-US"/>
              <a:t>Individuals who are precluded from buying homes are referred to as renters-by-necessity, with many renters of Class B properties fitting this description</a:t>
            </a:r>
          </a:p>
          <a:p>
            <a:pPr lvl="1"/>
            <a:r>
              <a:rPr lang="en-US"/>
              <a:t>Renters of Class A properties are typically considered renters by choice, meaning that they have the option to purchase a home but opt not to do so. This implies that many of the same individuals who are unable to afford to own a home are also priced out of Class A properties</a:t>
            </a:r>
          </a:p>
          <a:p>
            <a:r>
              <a:rPr lang="en-US"/>
              <a:t>Renters by necessity do not possess the flexibility to easily shift housing arrangements, thus making these consumers stickier as renters</a:t>
            </a:r>
          </a:p>
          <a:p>
            <a:pPr lvl="1"/>
            <a:r>
              <a:rPr lang="en-US"/>
              <a:t>While Class A rentals are more susceptible to economic fluctuations given the luxury nature of the rental offering, Class B rentals do not experience the same level of disruption given that consumers are not purchasing housing as a luxury</a:t>
            </a:r>
          </a:p>
          <a:p>
            <a:r>
              <a:rPr lang="en-US"/>
              <a:t>Tighter lending standards serve as another barrier preventing would-be buyers from obtaining mortgages</a:t>
            </a:r>
          </a:p>
          <a:p>
            <a:r>
              <a:rPr lang="en-US"/>
              <a:t>The majority of Americans (67.5%, or 96 million households) can afford to live in a NexPoint community, with the household income of the Company’s target renter spanning between $45k to $135k. With many of these Americans being priced out of the home-buying market, NexPoint ensures steady demand for its offering</a:t>
            </a:r>
          </a:p>
          <a:p>
            <a:endParaRPr lang="en-US"/>
          </a:p>
          <a:p>
            <a:endParaRPr lang="en-US"/>
          </a:p>
        </p:txBody>
      </p:sp>
      <p:sp>
        <p:nvSpPr>
          <p:cNvPr id="9" name="Content Placeholder 8">
            <a:extLst>
              <a:ext uri="{FF2B5EF4-FFF2-40B4-BE49-F238E27FC236}">
                <a16:creationId xmlns:a16="http://schemas.microsoft.com/office/drawing/2014/main" id="{7BE34FDE-A9CD-C3B4-8BA6-159164378853}"/>
              </a:ext>
            </a:extLst>
          </p:cNvPr>
          <p:cNvSpPr>
            <a:spLocks noGrp="1"/>
          </p:cNvSpPr>
          <p:nvPr>
            <p:ph idx="19"/>
          </p:nvPr>
        </p:nvSpPr>
        <p:spPr>
          <a:xfrm>
            <a:off x="461623" y="1600758"/>
            <a:ext cx="4462272" cy="304337"/>
          </a:xfrm>
        </p:spPr>
        <p:txBody>
          <a:bodyPr>
            <a:normAutofit/>
          </a:bodyPr>
          <a:lstStyle/>
          <a:p>
            <a:r>
              <a:rPr lang="en-US"/>
              <a:t>Prohibitively High Costs</a:t>
            </a:r>
          </a:p>
        </p:txBody>
      </p:sp>
      <p:sp>
        <p:nvSpPr>
          <p:cNvPr id="10" name="Content Placeholder 9">
            <a:extLst>
              <a:ext uri="{FF2B5EF4-FFF2-40B4-BE49-F238E27FC236}">
                <a16:creationId xmlns:a16="http://schemas.microsoft.com/office/drawing/2014/main" id="{3496CB73-372D-63B8-6CBE-874A6D325AF2}"/>
              </a:ext>
            </a:extLst>
          </p:cNvPr>
          <p:cNvSpPr>
            <a:spLocks noGrp="1"/>
          </p:cNvSpPr>
          <p:nvPr>
            <p:ph idx="20"/>
          </p:nvPr>
        </p:nvSpPr>
        <p:spPr>
          <a:xfrm>
            <a:off x="5152651" y="1597088"/>
            <a:ext cx="4462272" cy="304337"/>
          </a:xfrm>
        </p:spPr>
        <p:txBody>
          <a:bodyPr/>
          <a:lstStyle/>
          <a:p>
            <a:r>
              <a:rPr lang="en-US"/>
              <a:t>Increasing Costs of Home Financing</a:t>
            </a:r>
          </a:p>
        </p:txBody>
      </p:sp>
      <p:sp>
        <p:nvSpPr>
          <p:cNvPr id="12" name="Content Placeholder 11">
            <a:extLst>
              <a:ext uri="{FF2B5EF4-FFF2-40B4-BE49-F238E27FC236}">
                <a16:creationId xmlns:a16="http://schemas.microsoft.com/office/drawing/2014/main" id="{A2B38F7A-C630-28C7-DCE5-3276C304DCB4}"/>
              </a:ext>
            </a:extLst>
          </p:cNvPr>
          <p:cNvSpPr>
            <a:spLocks noGrp="1"/>
          </p:cNvSpPr>
          <p:nvPr>
            <p:ph idx="22"/>
          </p:nvPr>
        </p:nvSpPr>
        <p:spPr/>
        <p:txBody>
          <a:bodyPr>
            <a:normAutofit fontScale="92500"/>
          </a:bodyPr>
          <a:lstStyle/>
          <a:p>
            <a:r>
              <a:rPr lang="en-US"/>
              <a:t>Income Compared to Home Prices and Mortgage Payment</a:t>
            </a:r>
          </a:p>
        </p:txBody>
      </p:sp>
      <p:graphicFrame>
        <p:nvGraphicFramePr>
          <p:cNvPr id="7" name="Chart 6">
            <a:extLst>
              <a:ext uri="{FF2B5EF4-FFF2-40B4-BE49-F238E27FC236}">
                <a16:creationId xmlns:a16="http://schemas.microsoft.com/office/drawing/2014/main" id="{66BAB4D4-D764-E0C7-42A3-A047E14433B0}"/>
              </a:ext>
            </a:extLst>
          </p:cNvPr>
          <p:cNvGraphicFramePr/>
          <p:nvPr/>
        </p:nvGraphicFramePr>
        <p:xfrm>
          <a:off x="5152651" y="1952688"/>
          <a:ext cx="4444126" cy="2350008"/>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D05B61D3-FE76-0556-2980-3556A5F0DEA5}"/>
              </a:ext>
            </a:extLst>
          </p:cNvPr>
          <p:cNvSpPr txBox="1"/>
          <p:nvPr/>
        </p:nvSpPr>
        <p:spPr>
          <a:xfrm>
            <a:off x="5321578" y="3984745"/>
            <a:ext cx="914400" cy="307777"/>
          </a:xfrm>
          <a:prstGeom prst="rect">
            <a:avLst/>
          </a:prstGeom>
          <a:noFill/>
        </p:spPr>
        <p:txBody>
          <a:bodyPr wrap="square" rtlCol="0">
            <a:spAutoFit/>
          </a:bodyPr>
          <a:lstStyle/>
          <a:p>
            <a:pPr algn="ctr"/>
            <a:r>
              <a:rPr lang="en-US" sz="1400"/>
              <a:t>2008</a:t>
            </a:r>
          </a:p>
        </p:txBody>
      </p:sp>
      <p:sp>
        <p:nvSpPr>
          <p:cNvPr id="6" name="TextBox 5">
            <a:extLst>
              <a:ext uri="{FF2B5EF4-FFF2-40B4-BE49-F238E27FC236}">
                <a16:creationId xmlns:a16="http://schemas.microsoft.com/office/drawing/2014/main" id="{957B2C72-FBC7-718B-51C7-69C40EC7EBD8}"/>
              </a:ext>
            </a:extLst>
          </p:cNvPr>
          <p:cNvSpPr txBox="1"/>
          <p:nvPr/>
        </p:nvSpPr>
        <p:spPr>
          <a:xfrm>
            <a:off x="7064725" y="3984745"/>
            <a:ext cx="914400" cy="307777"/>
          </a:xfrm>
          <a:prstGeom prst="rect">
            <a:avLst/>
          </a:prstGeom>
          <a:noFill/>
        </p:spPr>
        <p:txBody>
          <a:bodyPr wrap="square" rtlCol="0">
            <a:spAutoFit/>
          </a:bodyPr>
          <a:lstStyle/>
          <a:p>
            <a:pPr algn="ctr"/>
            <a:r>
              <a:rPr lang="en-US" sz="1400"/>
              <a:t>2013</a:t>
            </a:r>
          </a:p>
        </p:txBody>
      </p:sp>
      <p:sp>
        <p:nvSpPr>
          <p:cNvPr id="11" name="TextBox 10">
            <a:extLst>
              <a:ext uri="{FF2B5EF4-FFF2-40B4-BE49-F238E27FC236}">
                <a16:creationId xmlns:a16="http://schemas.microsoft.com/office/drawing/2014/main" id="{8BF83A38-903A-4EEE-412D-739E4077C4BD}"/>
              </a:ext>
            </a:extLst>
          </p:cNvPr>
          <p:cNvSpPr txBox="1"/>
          <p:nvPr/>
        </p:nvSpPr>
        <p:spPr>
          <a:xfrm>
            <a:off x="8807873" y="3984745"/>
            <a:ext cx="914400" cy="307777"/>
          </a:xfrm>
          <a:prstGeom prst="rect">
            <a:avLst/>
          </a:prstGeom>
          <a:noFill/>
        </p:spPr>
        <p:txBody>
          <a:bodyPr wrap="square" rtlCol="0">
            <a:spAutoFit/>
          </a:bodyPr>
          <a:lstStyle/>
          <a:p>
            <a:pPr algn="ctr"/>
            <a:r>
              <a:rPr lang="en-US" sz="1400"/>
              <a:t>2023</a:t>
            </a:r>
          </a:p>
        </p:txBody>
      </p:sp>
      <p:graphicFrame>
        <p:nvGraphicFramePr>
          <p:cNvPr id="18" name="Content Placeholder 12">
            <a:extLst>
              <a:ext uri="{FF2B5EF4-FFF2-40B4-BE49-F238E27FC236}">
                <a16:creationId xmlns:a16="http://schemas.microsoft.com/office/drawing/2014/main" id="{E5A00E50-3A83-0D9E-7E56-E4B2B3A943E4}"/>
              </a:ext>
            </a:extLst>
          </p:cNvPr>
          <p:cNvGraphicFramePr>
            <a:graphicFrameLocks/>
          </p:cNvGraphicFramePr>
          <p:nvPr>
            <p:extLst>
              <p:ext uri="{D42A27DB-BD31-4B8C-83A1-F6EECF244321}">
                <p14:modId xmlns:p14="http://schemas.microsoft.com/office/powerpoint/2010/main" val="2579436366"/>
              </p:ext>
            </p:extLst>
          </p:nvPr>
        </p:nvGraphicFramePr>
        <p:xfrm>
          <a:off x="5134507" y="4823888"/>
          <a:ext cx="4481889" cy="226271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53386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84978-B3A0-9D46-293E-FCAE53A2B073}"/>
              </a:ext>
            </a:extLst>
          </p:cNvPr>
          <p:cNvSpPr>
            <a:spLocks noGrp="1"/>
          </p:cNvSpPr>
          <p:nvPr>
            <p:ph type="title"/>
          </p:nvPr>
        </p:nvSpPr>
        <p:spPr/>
        <p:txBody>
          <a:bodyPr/>
          <a:lstStyle/>
          <a:p>
            <a:r>
              <a:rPr lang="en-US"/>
              <a:t>Favorable Positioning and Supply / Demand Dynamics</a:t>
            </a:r>
          </a:p>
        </p:txBody>
      </p:sp>
      <p:sp>
        <p:nvSpPr>
          <p:cNvPr id="4" name="Text Placeholder 3">
            <a:extLst>
              <a:ext uri="{FF2B5EF4-FFF2-40B4-BE49-F238E27FC236}">
                <a16:creationId xmlns:a16="http://schemas.microsoft.com/office/drawing/2014/main" id="{3B55179B-0339-327E-6B63-CE4675354B8E}"/>
              </a:ext>
            </a:extLst>
          </p:cNvPr>
          <p:cNvSpPr>
            <a:spLocks noGrp="1"/>
          </p:cNvSpPr>
          <p:nvPr>
            <p:ph type="body" sz="quarter" idx="18"/>
          </p:nvPr>
        </p:nvSpPr>
        <p:spPr/>
        <p:txBody>
          <a:bodyPr/>
          <a:lstStyle/>
          <a:p>
            <a:r>
              <a:rPr lang="en-US" i="1"/>
              <a:t>NexPoint capitalizes on favorable supply / demand dynamics and positioning of value-add Class B assets.</a:t>
            </a:r>
          </a:p>
        </p:txBody>
      </p:sp>
      <p:sp>
        <p:nvSpPr>
          <p:cNvPr id="5" name="Content Placeholder 4">
            <a:extLst>
              <a:ext uri="{FF2B5EF4-FFF2-40B4-BE49-F238E27FC236}">
                <a16:creationId xmlns:a16="http://schemas.microsoft.com/office/drawing/2014/main" id="{719568E7-64F1-5916-FA09-8559A8BAA6A8}"/>
              </a:ext>
            </a:extLst>
          </p:cNvPr>
          <p:cNvSpPr>
            <a:spLocks noGrp="1"/>
          </p:cNvSpPr>
          <p:nvPr>
            <p:ph idx="10"/>
          </p:nvPr>
        </p:nvSpPr>
        <p:spPr>
          <a:xfrm>
            <a:off x="369794" y="1540301"/>
            <a:ext cx="9235829" cy="1627847"/>
          </a:xfrm>
        </p:spPr>
        <p:txBody>
          <a:bodyPr>
            <a:noAutofit/>
          </a:bodyPr>
          <a:lstStyle/>
          <a:p>
            <a:r>
              <a:rPr lang="en-US"/>
              <a:t>In the Sunbelt, housing demand from working-class consumers has lagged higher-income workers but is growing as more companies relocate to the region. Supply constraints limit the amount of new housing that can be created to meet this demand, placing NexPoint in a strong position to capitalize on these favorable dynamics</a:t>
            </a:r>
          </a:p>
          <a:p>
            <a:r>
              <a:rPr lang="en-US"/>
              <a:t>This positioning also means that the Company is relatively insulated from both economic booms and recessionary environments: in a recession, the loss of current tenants to Class C housing would be offset by an influx of Class A renters into Class B, while any loss of tenants to increased income in growth periods would be accompanied by an increase in demand for Class B housing by formerly Class C renters</a:t>
            </a:r>
          </a:p>
        </p:txBody>
      </p:sp>
      <p:sp>
        <p:nvSpPr>
          <p:cNvPr id="6" name="Content Placeholder 5">
            <a:extLst>
              <a:ext uri="{FF2B5EF4-FFF2-40B4-BE49-F238E27FC236}">
                <a16:creationId xmlns:a16="http://schemas.microsoft.com/office/drawing/2014/main" id="{BF892C2C-A0CC-D2A6-152F-A3EF3D9E6C7E}"/>
              </a:ext>
            </a:extLst>
          </p:cNvPr>
          <p:cNvSpPr>
            <a:spLocks noGrp="1"/>
          </p:cNvSpPr>
          <p:nvPr>
            <p:ph sz="quarter" idx="11"/>
          </p:nvPr>
        </p:nvSpPr>
        <p:spPr>
          <a:xfrm>
            <a:off x="369794" y="3590440"/>
            <a:ext cx="4554101" cy="3541879"/>
          </a:xfrm>
        </p:spPr>
        <p:txBody>
          <a:bodyPr>
            <a:normAutofit lnSpcReduction="10000"/>
          </a:bodyPr>
          <a:lstStyle/>
          <a:p>
            <a:r>
              <a:rPr lang="en-US"/>
              <a:t>Higher-income individuals (Class A renters) comprised the initial migration into the Sunbelt region. Combined with the more lucrative nature of Class A development, the development of Class A properties has largely outpaced the development of Class B properties in the Sunbelt</a:t>
            </a:r>
          </a:p>
          <a:p>
            <a:r>
              <a:rPr lang="en-US"/>
              <a:t>Middle and working-class individuals continue to migrate to the Sunbelt to take advantage of increasing job opportunities in the region, most of whom are or will be seeking Class B offerings</a:t>
            </a:r>
          </a:p>
          <a:p>
            <a:r>
              <a:rPr lang="en-US"/>
              <a:t>Given the current interest rate environment, it will be difficult to finance projects for the development of new Class B properties, thereby constraining supply and allowing NexPoint to benefit from the combination of a high demand for its properties and limited competition as an incumbent in these markets</a:t>
            </a:r>
          </a:p>
          <a:p>
            <a:endParaRPr lang="en-US"/>
          </a:p>
        </p:txBody>
      </p:sp>
      <p:sp>
        <p:nvSpPr>
          <p:cNvPr id="8" name="Content Placeholder 7">
            <a:extLst>
              <a:ext uri="{FF2B5EF4-FFF2-40B4-BE49-F238E27FC236}">
                <a16:creationId xmlns:a16="http://schemas.microsoft.com/office/drawing/2014/main" id="{C2426CE7-BAB3-6705-E371-0315DA5D5915}"/>
              </a:ext>
            </a:extLst>
          </p:cNvPr>
          <p:cNvSpPr>
            <a:spLocks noGrp="1"/>
          </p:cNvSpPr>
          <p:nvPr>
            <p:ph idx="21"/>
          </p:nvPr>
        </p:nvSpPr>
        <p:spPr/>
        <p:txBody>
          <a:bodyPr/>
          <a:lstStyle/>
          <a:p>
            <a:r>
              <a:rPr lang="en-US"/>
              <a:t>Sunbelt Class B Supply Dynamics</a:t>
            </a:r>
          </a:p>
        </p:txBody>
      </p:sp>
      <p:sp>
        <p:nvSpPr>
          <p:cNvPr id="9" name="Content Placeholder 8">
            <a:extLst>
              <a:ext uri="{FF2B5EF4-FFF2-40B4-BE49-F238E27FC236}">
                <a16:creationId xmlns:a16="http://schemas.microsoft.com/office/drawing/2014/main" id="{35119933-25C1-BE17-C750-DAF14973E333}"/>
              </a:ext>
            </a:extLst>
          </p:cNvPr>
          <p:cNvSpPr>
            <a:spLocks noGrp="1"/>
          </p:cNvSpPr>
          <p:nvPr>
            <p:ph idx="22"/>
          </p:nvPr>
        </p:nvSpPr>
        <p:spPr/>
        <p:txBody>
          <a:bodyPr>
            <a:normAutofit/>
          </a:bodyPr>
          <a:lstStyle/>
          <a:p>
            <a:r>
              <a:rPr lang="en-US"/>
              <a:t>Insulated in Both Recessions and Periods of Growth</a:t>
            </a:r>
          </a:p>
        </p:txBody>
      </p:sp>
      <p:sp>
        <p:nvSpPr>
          <p:cNvPr id="12" name="Oval 11">
            <a:extLst>
              <a:ext uri="{FF2B5EF4-FFF2-40B4-BE49-F238E27FC236}">
                <a16:creationId xmlns:a16="http://schemas.microsoft.com/office/drawing/2014/main" id="{4154932C-66D3-CD56-A853-44FE8F4FE083}"/>
              </a:ext>
            </a:extLst>
          </p:cNvPr>
          <p:cNvSpPr>
            <a:spLocks noChangeAspect="1"/>
          </p:cNvSpPr>
          <p:nvPr/>
        </p:nvSpPr>
        <p:spPr>
          <a:xfrm>
            <a:off x="6837087" y="3637584"/>
            <a:ext cx="1005840" cy="10058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Class A</a:t>
            </a:r>
          </a:p>
        </p:txBody>
      </p:sp>
      <p:sp>
        <p:nvSpPr>
          <p:cNvPr id="16" name="Oval 15">
            <a:extLst>
              <a:ext uri="{FF2B5EF4-FFF2-40B4-BE49-F238E27FC236}">
                <a16:creationId xmlns:a16="http://schemas.microsoft.com/office/drawing/2014/main" id="{0C9CC886-20E1-782A-CF6E-DB881DDCE60B}"/>
              </a:ext>
            </a:extLst>
          </p:cNvPr>
          <p:cNvSpPr>
            <a:spLocks noChangeAspect="1"/>
          </p:cNvSpPr>
          <p:nvPr/>
        </p:nvSpPr>
        <p:spPr>
          <a:xfrm>
            <a:off x="6837087" y="4829118"/>
            <a:ext cx="1005840" cy="10058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Class B</a:t>
            </a:r>
          </a:p>
        </p:txBody>
      </p:sp>
      <p:sp>
        <p:nvSpPr>
          <p:cNvPr id="17" name="Oval 16">
            <a:extLst>
              <a:ext uri="{FF2B5EF4-FFF2-40B4-BE49-F238E27FC236}">
                <a16:creationId xmlns:a16="http://schemas.microsoft.com/office/drawing/2014/main" id="{14236D06-DDB5-C3C0-C257-F370C5AE921E}"/>
              </a:ext>
            </a:extLst>
          </p:cNvPr>
          <p:cNvSpPr>
            <a:spLocks noChangeAspect="1"/>
          </p:cNvSpPr>
          <p:nvPr/>
        </p:nvSpPr>
        <p:spPr>
          <a:xfrm>
            <a:off x="6837087" y="6020652"/>
            <a:ext cx="1005840" cy="10058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Class C</a:t>
            </a:r>
          </a:p>
        </p:txBody>
      </p:sp>
      <p:sp>
        <p:nvSpPr>
          <p:cNvPr id="18" name="Arrow: Curved Right 17">
            <a:extLst>
              <a:ext uri="{FF2B5EF4-FFF2-40B4-BE49-F238E27FC236}">
                <a16:creationId xmlns:a16="http://schemas.microsoft.com/office/drawing/2014/main" id="{4F31E5E2-04A9-5368-152D-ABE7EEC902B9}"/>
              </a:ext>
            </a:extLst>
          </p:cNvPr>
          <p:cNvSpPr/>
          <p:nvPr/>
        </p:nvSpPr>
        <p:spPr>
          <a:xfrm>
            <a:off x="5902692" y="4191759"/>
            <a:ext cx="731520" cy="1352543"/>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highlight>
                <a:srgbClr val="00FF00"/>
              </a:highlight>
            </a:endParaRPr>
          </a:p>
        </p:txBody>
      </p:sp>
      <p:sp>
        <p:nvSpPr>
          <p:cNvPr id="19" name="Arrow: Curved Right 18">
            <a:extLst>
              <a:ext uri="{FF2B5EF4-FFF2-40B4-BE49-F238E27FC236}">
                <a16:creationId xmlns:a16="http://schemas.microsoft.com/office/drawing/2014/main" id="{DCDD5ED4-9756-CBA3-311D-9159B580A77C}"/>
              </a:ext>
            </a:extLst>
          </p:cNvPr>
          <p:cNvSpPr/>
          <p:nvPr/>
        </p:nvSpPr>
        <p:spPr>
          <a:xfrm>
            <a:off x="5902692" y="5557031"/>
            <a:ext cx="731520" cy="1352543"/>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Content Placeholder 8">
            <a:extLst>
              <a:ext uri="{FF2B5EF4-FFF2-40B4-BE49-F238E27FC236}">
                <a16:creationId xmlns:a16="http://schemas.microsoft.com/office/drawing/2014/main" id="{B43B887A-DE11-8570-4EA2-095B1FAB2555}"/>
              </a:ext>
            </a:extLst>
          </p:cNvPr>
          <p:cNvSpPr txBox="1">
            <a:spLocks/>
          </p:cNvSpPr>
          <p:nvPr/>
        </p:nvSpPr>
        <p:spPr>
          <a:xfrm>
            <a:off x="5134507" y="3716857"/>
            <a:ext cx="1554480" cy="304337"/>
          </a:xfrm>
          <a:prstGeom prst="rect">
            <a:avLst/>
          </a:prstGeom>
          <a:solidFill>
            <a:srgbClr val="005EB4"/>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Recession</a:t>
            </a:r>
          </a:p>
        </p:txBody>
      </p:sp>
      <p:sp>
        <p:nvSpPr>
          <p:cNvPr id="21" name="Content Placeholder 8">
            <a:extLst>
              <a:ext uri="{FF2B5EF4-FFF2-40B4-BE49-F238E27FC236}">
                <a16:creationId xmlns:a16="http://schemas.microsoft.com/office/drawing/2014/main" id="{0DB88C55-0258-8580-6C35-E6AB179A0675}"/>
              </a:ext>
            </a:extLst>
          </p:cNvPr>
          <p:cNvSpPr txBox="1">
            <a:spLocks/>
          </p:cNvSpPr>
          <p:nvPr/>
        </p:nvSpPr>
        <p:spPr>
          <a:xfrm>
            <a:off x="8042137" y="3721608"/>
            <a:ext cx="1554480" cy="304337"/>
          </a:xfrm>
          <a:prstGeom prst="rect">
            <a:avLst/>
          </a:prstGeom>
          <a:solidFill>
            <a:srgbClr val="005EB4"/>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Growth</a:t>
            </a:r>
          </a:p>
        </p:txBody>
      </p:sp>
      <p:sp>
        <p:nvSpPr>
          <p:cNvPr id="22" name="Arrow: Curved Right 21">
            <a:extLst>
              <a:ext uri="{FF2B5EF4-FFF2-40B4-BE49-F238E27FC236}">
                <a16:creationId xmlns:a16="http://schemas.microsoft.com/office/drawing/2014/main" id="{2B1A5F73-6BD5-CCC1-7318-CB358583D0EC}"/>
              </a:ext>
            </a:extLst>
          </p:cNvPr>
          <p:cNvSpPr/>
          <p:nvPr/>
        </p:nvSpPr>
        <p:spPr>
          <a:xfrm rot="10800000">
            <a:off x="8078003" y="4105277"/>
            <a:ext cx="731520" cy="1352543"/>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Arrow: Curved Right 22">
            <a:extLst>
              <a:ext uri="{FF2B5EF4-FFF2-40B4-BE49-F238E27FC236}">
                <a16:creationId xmlns:a16="http://schemas.microsoft.com/office/drawing/2014/main" id="{03A648F5-F096-4BF7-7B9B-98CFEC8BB5F6}"/>
              </a:ext>
            </a:extLst>
          </p:cNvPr>
          <p:cNvSpPr/>
          <p:nvPr/>
        </p:nvSpPr>
        <p:spPr>
          <a:xfrm rot="10800000">
            <a:off x="8078003" y="5470549"/>
            <a:ext cx="731520" cy="1352543"/>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82722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1B1E8-4B31-8A4C-348B-4F9CE783EE62}"/>
              </a:ext>
            </a:extLst>
          </p:cNvPr>
          <p:cNvSpPr>
            <a:spLocks noGrp="1"/>
          </p:cNvSpPr>
          <p:nvPr>
            <p:ph type="title"/>
          </p:nvPr>
        </p:nvSpPr>
        <p:spPr/>
        <p:txBody>
          <a:bodyPr/>
          <a:lstStyle/>
          <a:p>
            <a:r>
              <a:rPr lang="en-US"/>
              <a:t>REITs in a Rising Interest Rate Environment</a:t>
            </a:r>
          </a:p>
        </p:txBody>
      </p:sp>
      <p:sp>
        <p:nvSpPr>
          <p:cNvPr id="3" name="Text Placeholder 2">
            <a:extLst>
              <a:ext uri="{FF2B5EF4-FFF2-40B4-BE49-F238E27FC236}">
                <a16:creationId xmlns:a16="http://schemas.microsoft.com/office/drawing/2014/main" id="{DEF01A5A-0FE5-E0B0-1C1C-F1F8428AA5BA}"/>
              </a:ext>
            </a:extLst>
          </p:cNvPr>
          <p:cNvSpPr>
            <a:spLocks noGrp="1"/>
          </p:cNvSpPr>
          <p:nvPr>
            <p:ph type="body" sz="quarter" idx="18"/>
          </p:nvPr>
        </p:nvSpPr>
        <p:spPr/>
        <p:txBody>
          <a:bodyPr/>
          <a:lstStyle/>
          <a:p>
            <a:r>
              <a:rPr lang="en-US"/>
              <a:t>REITs’ underperformance in a high-rate environment is a misconception.</a:t>
            </a:r>
          </a:p>
        </p:txBody>
      </p:sp>
      <p:graphicFrame>
        <p:nvGraphicFramePr>
          <p:cNvPr id="9" name="Content Placeholder 8">
            <a:extLst>
              <a:ext uri="{FF2B5EF4-FFF2-40B4-BE49-F238E27FC236}">
                <a16:creationId xmlns:a16="http://schemas.microsoft.com/office/drawing/2014/main" id="{3E2BF23B-19CC-443F-3EF3-D39D0C56F50A}"/>
              </a:ext>
            </a:extLst>
          </p:cNvPr>
          <p:cNvGraphicFramePr>
            <a:graphicFrameLocks noGrp="1"/>
          </p:cNvGraphicFramePr>
          <p:nvPr>
            <p:ph idx="10"/>
            <p:extLst>
              <p:ext uri="{D42A27DB-BD31-4B8C-83A1-F6EECF244321}">
                <p14:modId xmlns:p14="http://schemas.microsoft.com/office/powerpoint/2010/main" val="3392502253"/>
              </p:ext>
            </p:extLst>
          </p:nvPr>
        </p:nvGraphicFramePr>
        <p:xfrm>
          <a:off x="351895" y="3862783"/>
          <a:ext cx="9144000" cy="3168638"/>
        </p:xfrm>
        <a:graphic>
          <a:graphicData uri="http://schemas.openxmlformats.org/drawingml/2006/chart">
            <c:chart xmlns:c="http://schemas.openxmlformats.org/drawingml/2006/chart" xmlns:r="http://schemas.openxmlformats.org/officeDocument/2006/relationships" r:id="rId3"/>
          </a:graphicData>
        </a:graphic>
      </p:graphicFrame>
      <p:sp>
        <p:nvSpPr>
          <p:cNvPr id="5" name="Content Placeholder 4">
            <a:extLst>
              <a:ext uri="{FF2B5EF4-FFF2-40B4-BE49-F238E27FC236}">
                <a16:creationId xmlns:a16="http://schemas.microsoft.com/office/drawing/2014/main" id="{4680C353-A950-C5D8-00CF-937D19509755}"/>
              </a:ext>
            </a:extLst>
          </p:cNvPr>
          <p:cNvSpPr>
            <a:spLocks noGrp="1"/>
          </p:cNvSpPr>
          <p:nvPr>
            <p:ph sz="quarter" idx="11"/>
          </p:nvPr>
        </p:nvSpPr>
        <p:spPr>
          <a:xfrm>
            <a:off x="461623" y="1888641"/>
            <a:ext cx="4199277" cy="2213459"/>
          </a:xfrm>
        </p:spPr>
        <p:txBody>
          <a:bodyPr>
            <a:normAutofit/>
          </a:bodyPr>
          <a:lstStyle/>
          <a:p>
            <a:pPr>
              <a:spcBef>
                <a:spcPts val="200"/>
              </a:spcBef>
            </a:pPr>
            <a:r>
              <a:rPr lang="en-US"/>
              <a:t>The traditional view is that rising interest rate correlates to poor REIT returns. </a:t>
            </a:r>
          </a:p>
          <a:p>
            <a:pPr>
              <a:spcBef>
                <a:spcPts val="200"/>
              </a:spcBef>
            </a:pPr>
            <a:r>
              <a:rPr lang="en-US"/>
              <a:t>High interest rate poses challenges to REITs: </a:t>
            </a:r>
          </a:p>
          <a:p>
            <a:pPr lvl="1">
              <a:spcBef>
                <a:spcPts val="200"/>
              </a:spcBef>
            </a:pPr>
            <a:r>
              <a:rPr lang="en-US"/>
              <a:t>Decreasing value of properties</a:t>
            </a:r>
          </a:p>
          <a:p>
            <a:pPr lvl="1">
              <a:spcBef>
                <a:spcPts val="200"/>
              </a:spcBef>
            </a:pPr>
            <a:r>
              <a:rPr lang="en-US"/>
              <a:t>Increasing REIT borrowing costs</a:t>
            </a:r>
          </a:p>
          <a:p>
            <a:pPr lvl="1">
              <a:spcBef>
                <a:spcPts val="200"/>
              </a:spcBef>
            </a:pPr>
            <a:r>
              <a:rPr lang="en-US"/>
              <a:t>Riskier asset class compared to fixed-income low-risk financial instruments </a:t>
            </a:r>
          </a:p>
          <a:p>
            <a:pPr lvl="1">
              <a:spcBef>
                <a:spcPts val="200"/>
              </a:spcBef>
            </a:pPr>
            <a:r>
              <a:rPr lang="en-US"/>
              <a:t>Overall uncertainties in the economy</a:t>
            </a:r>
          </a:p>
        </p:txBody>
      </p:sp>
      <p:sp>
        <p:nvSpPr>
          <p:cNvPr id="6" name="Content Placeholder 5">
            <a:extLst>
              <a:ext uri="{FF2B5EF4-FFF2-40B4-BE49-F238E27FC236}">
                <a16:creationId xmlns:a16="http://schemas.microsoft.com/office/drawing/2014/main" id="{6709BFCD-CE18-A60B-7F32-73A2C321AAF1}"/>
              </a:ext>
            </a:extLst>
          </p:cNvPr>
          <p:cNvSpPr>
            <a:spLocks noGrp="1"/>
          </p:cNvSpPr>
          <p:nvPr>
            <p:ph sz="quarter" idx="13"/>
          </p:nvPr>
        </p:nvSpPr>
        <p:spPr>
          <a:xfrm>
            <a:off x="4748327" y="1888641"/>
            <a:ext cx="4866596" cy="2213459"/>
          </a:xfrm>
        </p:spPr>
        <p:txBody>
          <a:bodyPr/>
          <a:lstStyle/>
          <a:p>
            <a:r>
              <a:rPr lang="en-US"/>
              <a:t>REITs can benefit from rising rate environment</a:t>
            </a:r>
          </a:p>
          <a:p>
            <a:pPr lvl="1">
              <a:spcBef>
                <a:spcPts val="200"/>
              </a:spcBef>
            </a:pPr>
            <a:r>
              <a:rPr lang="en-US"/>
              <a:t>These environments create opportunities for significantly higher rent </a:t>
            </a:r>
          </a:p>
          <a:p>
            <a:pPr lvl="1">
              <a:spcBef>
                <a:spcPts val="200"/>
              </a:spcBef>
            </a:pPr>
            <a:r>
              <a:rPr lang="en-US"/>
              <a:t>Dividend growth exceeds rate of inflation</a:t>
            </a:r>
          </a:p>
          <a:p>
            <a:pPr>
              <a:spcBef>
                <a:spcPts val="200"/>
              </a:spcBef>
            </a:pPr>
            <a:r>
              <a:rPr lang="en-US"/>
              <a:t>Strong empirical data supporting this view</a:t>
            </a:r>
          </a:p>
          <a:p>
            <a:pPr lvl="1">
              <a:spcBef>
                <a:spcPts val="200"/>
              </a:spcBef>
            </a:pPr>
            <a:r>
              <a:rPr lang="en-US"/>
              <a:t>In past high-rate environments, US REITs have earned positive returns and outperformed stocks</a:t>
            </a:r>
          </a:p>
          <a:p>
            <a:pPr lvl="1">
              <a:spcBef>
                <a:spcPts val="200"/>
              </a:spcBef>
            </a:pPr>
            <a:r>
              <a:rPr lang="en-US"/>
              <a:t>REIT income consistently outpaced CPI</a:t>
            </a:r>
          </a:p>
        </p:txBody>
      </p:sp>
      <p:sp>
        <p:nvSpPr>
          <p:cNvPr id="7" name="Content Placeholder 6">
            <a:extLst>
              <a:ext uri="{FF2B5EF4-FFF2-40B4-BE49-F238E27FC236}">
                <a16:creationId xmlns:a16="http://schemas.microsoft.com/office/drawing/2014/main" id="{0832AF82-54E8-6EE7-DFC4-CBD1D8CBF19B}"/>
              </a:ext>
            </a:extLst>
          </p:cNvPr>
          <p:cNvSpPr>
            <a:spLocks noGrp="1"/>
          </p:cNvSpPr>
          <p:nvPr>
            <p:ph idx="21"/>
          </p:nvPr>
        </p:nvSpPr>
        <p:spPr>
          <a:xfrm>
            <a:off x="461623" y="1554201"/>
            <a:ext cx="4199277" cy="304337"/>
          </a:xfrm>
        </p:spPr>
        <p:txBody>
          <a:bodyPr>
            <a:normAutofit/>
          </a:bodyPr>
          <a:lstStyle/>
          <a:p>
            <a:r>
              <a:rPr lang="en-US"/>
              <a:t>Traditional View</a:t>
            </a:r>
          </a:p>
        </p:txBody>
      </p:sp>
      <p:sp>
        <p:nvSpPr>
          <p:cNvPr id="8" name="Content Placeholder 7">
            <a:extLst>
              <a:ext uri="{FF2B5EF4-FFF2-40B4-BE49-F238E27FC236}">
                <a16:creationId xmlns:a16="http://schemas.microsoft.com/office/drawing/2014/main" id="{86FEA953-2A71-F844-4230-4C1CC67C1E36}"/>
              </a:ext>
            </a:extLst>
          </p:cNvPr>
          <p:cNvSpPr>
            <a:spLocks noGrp="1"/>
          </p:cNvSpPr>
          <p:nvPr>
            <p:ph idx="22"/>
          </p:nvPr>
        </p:nvSpPr>
        <p:spPr>
          <a:xfrm>
            <a:off x="4749801" y="1557181"/>
            <a:ext cx="4866596" cy="301358"/>
          </a:xfrm>
        </p:spPr>
        <p:txBody>
          <a:bodyPr/>
          <a:lstStyle/>
          <a:p>
            <a:r>
              <a:rPr lang="en-US"/>
              <a:t>Empirical Data</a:t>
            </a:r>
          </a:p>
        </p:txBody>
      </p:sp>
      <p:grpSp>
        <p:nvGrpSpPr>
          <p:cNvPr id="12" name="Group 11">
            <a:extLst>
              <a:ext uri="{FF2B5EF4-FFF2-40B4-BE49-F238E27FC236}">
                <a16:creationId xmlns:a16="http://schemas.microsoft.com/office/drawing/2014/main" id="{134BF949-B94E-17F1-EEFB-20848404C68A}"/>
              </a:ext>
            </a:extLst>
          </p:cNvPr>
          <p:cNvGrpSpPr/>
          <p:nvPr/>
        </p:nvGrpSpPr>
        <p:grpSpPr>
          <a:xfrm>
            <a:off x="2929561" y="4486188"/>
            <a:ext cx="4199277" cy="1132764"/>
            <a:chOff x="3314700" y="4722446"/>
            <a:chExt cx="3517900" cy="814756"/>
          </a:xfrm>
        </p:grpSpPr>
        <p:sp>
          <p:nvSpPr>
            <p:cNvPr id="10" name="Text Placeholder 2">
              <a:extLst>
                <a:ext uri="{FF2B5EF4-FFF2-40B4-BE49-F238E27FC236}">
                  <a16:creationId xmlns:a16="http://schemas.microsoft.com/office/drawing/2014/main" id="{EC2EA825-5A4D-CC6C-091E-A7F52CCA819A}"/>
                </a:ext>
              </a:extLst>
            </p:cNvPr>
            <p:cNvSpPr txBox="1">
              <a:spLocks/>
            </p:cNvSpPr>
            <p:nvPr/>
          </p:nvSpPr>
          <p:spPr>
            <a:xfrm>
              <a:off x="3464864" y="4814443"/>
              <a:ext cx="3217573" cy="627419"/>
            </a:xfrm>
            <a:prstGeom prst="rect">
              <a:avLst/>
            </a:prstGeom>
            <a:ln w="12700">
              <a:noFill/>
              <a:prstDash val="dash"/>
            </a:ln>
          </p:spPr>
          <p:txBody>
            <a:bodyPr vert="horz" lIns="0" tIns="0" rIns="0" bIns="0" rtlCol="0" anchor="t">
              <a:noAutofit/>
            </a:bodyPr>
            <a:lstStyle>
              <a:lvl1pPr marL="0" indent="0" algn="l" defTabSz="1005840" rtl="0" eaLnBrk="1" latinLnBrk="0" hangingPunct="1">
                <a:lnSpc>
                  <a:spcPct val="90000"/>
                </a:lnSpc>
                <a:spcBef>
                  <a:spcPts val="1100"/>
                </a:spcBef>
                <a:buClr>
                  <a:srgbClr val="1E1F49"/>
                </a:buClr>
                <a:buSzPct val="90000"/>
                <a:buFont typeface="Wingdings" pitchFamily="2" charset="2"/>
                <a:buNone/>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algn="just"/>
              <a:r>
                <a:rPr lang="en-US" sz="1600"/>
                <a:t>As shown by empirical data, rising rates and REITs are not oppositely correlated. In general, the market is overtly-pessimistic about US REITs in a rising rate environment.</a:t>
              </a:r>
            </a:p>
          </p:txBody>
        </p:sp>
        <p:sp>
          <p:nvSpPr>
            <p:cNvPr id="11" name="Rectangle 10">
              <a:extLst>
                <a:ext uri="{FF2B5EF4-FFF2-40B4-BE49-F238E27FC236}">
                  <a16:creationId xmlns:a16="http://schemas.microsoft.com/office/drawing/2014/main" id="{BCA587F2-5A21-C3DC-9E21-C7C484593F6E}"/>
                </a:ext>
              </a:extLst>
            </p:cNvPr>
            <p:cNvSpPr/>
            <p:nvPr/>
          </p:nvSpPr>
          <p:spPr>
            <a:xfrm>
              <a:off x="3314700" y="4722446"/>
              <a:ext cx="3517900" cy="814756"/>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Tree>
    <p:extLst>
      <p:ext uri="{BB962C8B-B14F-4D97-AF65-F5344CB8AC3E}">
        <p14:creationId xmlns:p14="http://schemas.microsoft.com/office/powerpoint/2010/main" val="2738672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1580-DB04-4F3C-8A15-AE80591BF69E}"/>
              </a:ext>
            </a:extLst>
          </p:cNvPr>
          <p:cNvSpPr>
            <a:spLocks noGrp="1"/>
          </p:cNvSpPr>
          <p:nvPr>
            <p:ph type="title"/>
          </p:nvPr>
        </p:nvSpPr>
        <p:spPr/>
        <p:txBody>
          <a:bodyPr/>
          <a:lstStyle/>
          <a:p>
            <a:r>
              <a:rPr lang="en-US"/>
              <a:t>Thesis Overview</a:t>
            </a:r>
          </a:p>
        </p:txBody>
      </p:sp>
      <p:sp>
        <p:nvSpPr>
          <p:cNvPr id="3" name="Content Placeholder 2">
            <a:extLst>
              <a:ext uri="{FF2B5EF4-FFF2-40B4-BE49-F238E27FC236}">
                <a16:creationId xmlns:a16="http://schemas.microsoft.com/office/drawing/2014/main" id="{CBB4067E-A96D-4A5F-8D97-9CA288819D7A}"/>
              </a:ext>
            </a:extLst>
          </p:cNvPr>
          <p:cNvSpPr>
            <a:spLocks noGrp="1"/>
          </p:cNvSpPr>
          <p:nvPr>
            <p:ph idx="1"/>
          </p:nvPr>
        </p:nvSpPr>
        <p:spPr>
          <a:xfrm>
            <a:off x="3337034" y="1344657"/>
            <a:ext cx="6268589" cy="1576468"/>
          </a:xfrm>
        </p:spPr>
        <p:txBody>
          <a:bodyPr>
            <a:normAutofit/>
          </a:bodyPr>
          <a:lstStyle/>
          <a:p>
            <a:r>
              <a:rPr lang="en-US" sz="1400"/>
              <a:t>NexPoint’s focus on operating and renovating properties in the Sunbelt region has allowed for optimal positioning to take advantage of current hot housing markets</a:t>
            </a:r>
          </a:p>
          <a:p>
            <a:r>
              <a:rPr lang="en-US" sz="1400"/>
              <a:t>Migration of people, especially those in NexPoint’s target segment being young and more likely to move, from larger cities and to Sunbelt cities/states has increased rapidly in the last few years and will continue to flourish.</a:t>
            </a:r>
          </a:p>
          <a:p>
            <a:r>
              <a:rPr lang="en-US" sz="1400"/>
              <a:t>Movement to the Sunbelt also extends to companies including financial firms moving capital and employees to Southern states with better growth prospects &amp; tax benefits</a:t>
            </a:r>
          </a:p>
        </p:txBody>
      </p:sp>
      <p:sp>
        <p:nvSpPr>
          <p:cNvPr id="4" name="Text Placeholder 3">
            <a:extLst>
              <a:ext uri="{FF2B5EF4-FFF2-40B4-BE49-F238E27FC236}">
                <a16:creationId xmlns:a16="http://schemas.microsoft.com/office/drawing/2014/main" id="{76DDD2F8-14BA-4FB4-92E0-56D6766120D2}"/>
              </a:ext>
            </a:extLst>
          </p:cNvPr>
          <p:cNvSpPr>
            <a:spLocks noGrp="1"/>
          </p:cNvSpPr>
          <p:nvPr>
            <p:ph type="body" sz="quarter" idx="10"/>
          </p:nvPr>
        </p:nvSpPr>
        <p:spPr>
          <a:xfrm>
            <a:off x="452777" y="1337099"/>
            <a:ext cx="2704723" cy="1587075"/>
          </a:xfrm>
        </p:spPr>
        <p:txBody>
          <a:bodyPr/>
          <a:lstStyle/>
          <a:p>
            <a:r>
              <a:rPr lang="en-US" sz="1600"/>
              <a:t>Thesis I: Sunbelt’s High Potential Market</a:t>
            </a:r>
            <a:endParaRPr lang="en-US"/>
          </a:p>
        </p:txBody>
      </p:sp>
      <p:sp>
        <p:nvSpPr>
          <p:cNvPr id="8" name="Content Placeholder 7">
            <a:extLst>
              <a:ext uri="{FF2B5EF4-FFF2-40B4-BE49-F238E27FC236}">
                <a16:creationId xmlns:a16="http://schemas.microsoft.com/office/drawing/2014/main" id="{3EBF6B3C-89BB-42F3-9F50-02E75C55F03E}"/>
              </a:ext>
            </a:extLst>
          </p:cNvPr>
          <p:cNvSpPr>
            <a:spLocks noGrp="1"/>
          </p:cNvSpPr>
          <p:nvPr>
            <p:ph idx="20"/>
          </p:nvPr>
        </p:nvSpPr>
        <p:spPr>
          <a:xfrm>
            <a:off x="3337033" y="3327562"/>
            <a:ext cx="6269269" cy="1685820"/>
          </a:xfrm>
        </p:spPr>
        <p:txBody>
          <a:bodyPr>
            <a:normAutofit/>
          </a:bodyPr>
          <a:lstStyle/>
          <a:p>
            <a:r>
              <a:rPr lang="en-US" sz="1400" err="1"/>
              <a:t>NexPoint’s</a:t>
            </a:r>
            <a:r>
              <a:rPr lang="en-US" sz="1400"/>
              <a:t> value-add program increases property valuation and has empirically had a greater increase on property value compared to its competitors</a:t>
            </a:r>
          </a:p>
          <a:p>
            <a:r>
              <a:rPr lang="en-US" sz="1400"/>
              <a:t>The firm’s partnership with BH Management Services empowers its exterior and interior value-add strategies by seeking industry expertise on investment decisions</a:t>
            </a:r>
          </a:p>
          <a:p>
            <a:r>
              <a:rPr lang="en-US" sz="1400" err="1"/>
              <a:t>NexPoint’s</a:t>
            </a:r>
            <a:r>
              <a:rPr lang="en-US" sz="1400"/>
              <a:t> ability to perform value-add renovations so successfully allows it to focus on stabilizing properties and lays the foundation for the market mispricing</a:t>
            </a:r>
          </a:p>
        </p:txBody>
      </p:sp>
      <p:sp>
        <p:nvSpPr>
          <p:cNvPr id="9" name="Text Placeholder 8">
            <a:extLst>
              <a:ext uri="{FF2B5EF4-FFF2-40B4-BE49-F238E27FC236}">
                <a16:creationId xmlns:a16="http://schemas.microsoft.com/office/drawing/2014/main" id="{3ABF15A8-DFCE-47CD-8EC6-529F8C54618C}"/>
              </a:ext>
            </a:extLst>
          </p:cNvPr>
          <p:cNvSpPr>
            <a:spLocks noGrp="1"/>
          </p:cNvSpPr>
          <p:nvPr>
            <p:ph type="body" sz="quarter" idx="21"/>
          </p:nvPr>
        </p:nvSpPr>
        <p:spPr>
          <a:xfrm>
            <a:off x="452777" y="3327563"/>
            <a:ext cx="2704723" cy="1582198"/>
          </a:xfrm>
        </p:spPr>
        <p:txBody>
          <a:bodyPr/>
          <a:lstStyle/>
          <a:p>
            <a:r>
              <a:rPr lang="en-US" sz="1600"/>
              <a:t>Thesis II: Value-Add Program</a:t>
            </a:r>
            <a:endParaRPr lang="en-US"/>
          </a:p>
        </p:txBody>
      </p:sp>
      <p:sp>
        <p:nvSpPr>
          <p:cNvPr id="10" name="Content Placeholder 9">
            <a:extLst>
              <a:ext uri="{FF2B5EF4-FFF2-40B4-BE49-F238E27FC236}">
                <a16:creationId xmlns:a16="http://schemas.microsoft.com/office/drawing/2014/main" id="{BCA228A5-F9CC-426C-852D-87C496C08667}"/>
              </a:ext>
            </a:extLst>
          </p:cNvPr>
          <p:cNvSpPr>
            <a:spLocks noGrp="1"/>
          </p:cNvSpPr>
          <p:nvPr>
            <p:ph idx="22"/>
          </p:nvPr>
        </p:nvSpPr>
        <p:spPr>
          <a:xfrm>
            <a:off x="3337034" y="5316194"/>
            <a:ext cx="6269268" cy="1582192"/>
          </a:xfrm>
        </p:spPr>
        <p:txBody>
          <a:bodyPr vert="horz" lIns="91440" tIns="45720" rIns="91440" bIns="45720" rtlCol="0" anchor="t">
            <a:noAutofit/>
          </a:bodyPr>
          <a:lstStyle/>
          <a:p>
            <a:r>
              <a:rPr lang="en-US" sz="1400" err="1">
                <a:latin typeface="Garamond"/>
              </a:rPr>
              <a:t>NexPoint</a:t>
            </a:r>
            <a:r>
              <a:rPr lang="en-US" sz="1400">
                <a:latin typeface="Garamond"/>
              </a:rPr>
              <a:t> has traded down along with other REITs as rates have risen over the past several years on the premise that higher rates entail more expensive debt burdens</a:t>
            </a:r>
            <a:endParaRPr lang="en-US" sz="1400"/>
          </a:p>
          <a:p>
            <a:r>
              <a:rPr lang="en-US" sz="1400">
                <a:latin typeface="Garamond"/>
              </a:rPr>
              <a:t>This fails to consider the substantial number of non-stabilized assets that </a:t>
            </a:r>
            <a:r>
              <a:rPr lang="en-US" sz="1400" err="1">
                <a:latin typeface="Garamond"/>
              </a:rPr>
              <a:t>NexPoint</a:t>
            </a:r>
            <a:r>
              <a:rPr lang="en-US" sz="1400">
                <a:latin typeface="Garamond"/>
              </a:rPr>
              <a:t> currently has, which has and will continue to allow </a:t>
            </a:r>
            <a:r>
              <a:rPr lang="en-US" sz="1400" err="1">
                <a:latin typeface="Garamond"/>
              </a:rPr>
              <a:t>NexPoint</a:t>
            </a:r>
            <a:r>
              <a:rPr lang="en-US" sz="1400">
                <a:latin typeface="Garamond"/>
              </a:rPr>
              <a:t> to focus on performing value-add as opposed to acquiring new properties, which is more expensive</a:t>
            </a:r>
          </a:p>
          <a:p>
            <a:r>
              <a:rPr lang="en-US" sz="1400">
                <a:latin typeface="Garamond"/>
              </a:rPr>
              <a:t>Higher capital costs also benefit </a:t>
            </a:r>
            <a:r>
              <a:rPr lang="en-US" sz="1400" err="1">
                <a:latin typeface="Garamond"/>
              </a:rPr>
              <a:t>NexPoint</a:t>
            </a:r>
            <a:r>
              <a:rPr lang="en-US" sz="1400">
                <a:latin typeface="Garamond"/>
              </a:rPr>
              <a:t> by imposing entry barriers into </a:t>
            </a:r>
            <a:r>
              <a:rPr lang="en-US" sz="1400" err="1">
                <a:latin typeface="Garamond"/>
              </a:rPr>
              <a:t>NexPoint's</a:t>
            </a:r>
            <a:r>
              <a:rPr lang="en-US" sz="1400">
                <a:latin typeface="Garamond"/>
              </a:rPr>
              <a:t> markets, which allows </a:t>
            </a:r>
            <a:r>
              <a:rPr lang="en-US" sz="1400" err="1">
                <a:latin typeface="Garamond"/>
              </a:rPr>
              <a:t>NexPoint</a:t>
            </a:r>
            <a:r>
              <a:rPr lang="en-US" sz="1400">
                <a:latin typeface="Garamond"/>
              </a:rPr>
              <a:t> to leverage economies of scale to capture market share</a:t>
            </a:r>
          </a:p>
        </p:txBody>
      </p:sp>
      <p:sp>
        <p:nvSpPr>
          <p:cNvPr id="11" name="Text Placeholder 10">
            <a:extLst>
              <a:ext uri="{FF2B5EF4-FFF2-40B4-BE49-F238E27FC236}">
                <a16:creationId xmlns:a16="http://schemas.microsoft.com/office/drawing/2014/main" id="{2CC7543E-2BC6-45D6-B9E8-F8637CAE767D}"/>
              </a:ext>
            </a:extLst>
          </p:cNvPr>
          <p:cNvSpPr>
            <a:spLocks noGrp="1"/>
          </p:cNvSpPr>
          <p:nvPr>
            <p:ph type="body" sz="quarter" idx="23"/>
          </p:nvPr>
        </p:nvSpPr>
        <p:spPr>
          <a:xfrm>
            <a:off x="452777" y="5313151"/>
            <a:ext cx="2704723" cy="1587076"/>
          </a:xfrm>
        </p:spPr>
        <p:txBody>
          <a:bodyPr/>
          <a:lstStyle/>
          <a:p>
            <a:r>
              <a:rPr lang="en-US"/>
              <a:t>Market Mispricing</a:t>
            </a:r>
          </a:p>
        </p:txBody>
      </p:sp>
      <p:cxnSp>
        <p:nvCxnSpPr>
          <p:cNvPr id="14" name="Straight Connector 13">
            <a:extLst>
              <a:ext uri="{FF2B5EF4-FFF2-40B4-BE49-F238E27FC236}">
                <a16:creationId xmlns:a16="http://schemas.microsoft.com/office/drawing/2014/main" id="{97EE9D22-9E2F-2B4F-985F-3457E6C5804D}"/>
              </a:ext>
            </a:extLst>
          </p:cNvPr>
          <p:cNvCxnSpPr/>
          <p:nvPr/>
        </p:nvCxnSpPr>
        <p:spPr>
          <a:xfrm>
            <a:off x="452777" y="5118100"/>
            <a:ext cx="9144000" cy="0"/>
          </a:xfrm>
          <a:prstGeom prst="line">
            <a:avLst/>
          </a:prstGeom>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D0B3DCC-6981-464A-8E95-04ECA2ABE4B1}"/>
              </a:ext>
            </a:extLst>
          </p:cNvPr>
          <p:cNvCxnSpPr/>
          <p:nvPr/>
        </p:nvCxnSpPr>
        <p:spPr>
          <a:xfrm>
            <a:off x="462302" y="3136900"/>
            <a:ext cx="9144000" cy="0"/>
          </a:xfrm>
          <a:prstGeom prst="line">
            <a:avLst/>
          </a:prstGeom>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3668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0FAED-09AE-3E4D-9AD4-90FF590DBC8A}"/>
              </a:ext>
            </a:extLst>
          </p:cNvPr>
          <p:cNvSpPr>
            <a:spLocks noGrp="1"/>
          </p:cNvSpPr>
          <p:nvPr>
            <p:ph type="title"/>
          </p:nvPr>
        </p:nvSpPr>
        <p:spPr>
          <a:xfrm>
            <a:off x="457199" y="3154680"/>
            <a:ext cx="9271748" cy="731520"/>
          </a:xfrm>
        </p:spPr>
        <p:txBody>
          <a:bodyPr/>
          <a:lstStyle/>
          <a:p>
            <a:r>
              <a:rPr lang="en-US"/>
              <a:t>Thesis 1: Sunbelt’s High Potential Market</a:t>
            </a:r>
          </a:p>
        </p:txBody>
      </p:sp>
      <p:sp>
        <p:nvSpPr>
          <p:cNvPr id="5" name="Title 1">
            <a:extLst>
              <a:ext uri="{FF2B5EF4-FFF2-40B4-BE49-F238E27FC236}">
                <a16:creationId xmlns:a16="http://schemas.microsoft.com/office/drawing/2014/main" id="{A633980F-55E7-B4AA-9E86-E841A92F26C7}"/>
              </a:ext>
            </a:extLst>
          </p:cNvPr>
          <p:cNvSpPr txBox="1">
            <a:spLocks/>
          </p:cNvSpPr>
          <p:nvPr/>
        </p:nvSpPr>
        <p:spPr>
          <a:xfrm>
            <a:off x="457199" y="3631077"/>
            <a:ext cx="9144000" cy="731520"/>
          </a:xfrm>
          <a:prstGeom prst="rect">
            <a:avLst/>
          </a:prstGeom>
        </p:spPr>
        <p:txBody>
          <a:bodyPr vert="horz" lIns="0" tIns="0" rIns="0" bIns="0" rtlCol="0" anchor="t">
            <a:noAutofit/>
          </a:bodyPr>
          <a:lstStyle>
            <a:lvl1pPr algn="l" defTabSz="100584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000" b="0"/>
              <a:t>Tuhin Ghosh</a:t>
            </a:r>
          </a:p>
        </p:txBody>
      </p:sp>
    </p:spTree>
    <p:extLst>
      <p:ext uri="{BB962C8B-B14F-4D97-AF65-F5344CB8AC3E}">
        <p14:creationId xmlns:p14="http://schemas.microsoft.com/office/powerpoint/2010/main" val="4170894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8D2A8-80EE-4812-787C-AAAED5E9D223}"/>
              </a:ext>
            </a:extLst>
          </p:cNvPr>
          <p:cNvSpPr>
            <a:spLocks noGrp="1"/>
          </p:cNvSpPr>
          <p:nvPr>
            <p:ph type="title"/>
          </p:nvPr>
        </p:nvSpPr>
        <p:spPr>
          <a:xfrm>
            <a:off x="461623" y="365467"/>
            <a:ext cx="9144000" cy="731520"/>
          </a:xfrm>
        </p:spPr>
        <p:txBody>
          <a:bodyPr anchor="b">
            <a:normAutofit/>
          </a:bodyPr>
          <a:lstStyle/>
          <a:p>
            <a:r>
              <a:rPr lang="en-US"/>
              <a:t>Sun Belt and High-Growth Markets</a:t>
            </a:r>
          </a:p>
        </p:txBody>
      </p:sp>
      <p:sp>
        <p:nvSpPr>
          <p:cNvPr id="3" name="Text Placeholder 2">
            <a:extLst>
              <a:ext uri="{FF2B5EF4-FFF2-40B4-BE49-F238E27FC236}">
                <a16:creationId xmlns:a16="http://schemas.microsoft.com/office/drawing/2014/main" id="{3D090115-246A-F9A3-AF6D-27EF5096ED14}"/>
              </a:ext>
            </a:extLst>
          </p:cNvPr>
          <p:cNvSpPr>
            <a:spLocks noGrp="1"/>
          </p:cNvSpPr>
          <p:nvPr>
            <p:ph type="body" sz="quarter" idx="18"/>
          </p:nvPr>
        </p:nvSpPr>
        <p:spPr>
          <a:xfrm>
            <a:off x="461963" y="1248828"/>
            <a:ext cx="9144000" cy="355600"/>
          </a:xfrm>
        </p:spPr>
        <p:txBody>
          <a:bodyPr anchor="t">
            <a:normAutofit/>
          </a:bodyPr>
          <a:lstStyle/>
          <a:p>
            <a:r>
              <a:rPr lang="en-US" i="1"/>
              <a:t>Attracting Residents Seeking Rentals Post-Pandemic</a:t>
            </a:r>
          </a:p>
        </p:txBody>
      </p:sp>
      <p:sp>
        <p:nvSpPr>
          <p:cNvPr id="4" name="Content Placeholder 3">
            <a:extLst>
              <a:ext uri="{FF2B5EF4-FFF2-40B4-BE49-F238E27FC236}">
                <a16:creationId xmlns:a16="http://schemas.microsoft.com/office/drawing/2014/main" id="{E8DA7D48-01E7-2D4D-3F1F-44D0B6A66046}"/>
              </a:ext>
            </a:extLst>
          </p:cNvPr>
          <p:cNvSpPr>
            <a:spLocks noGrp="1"/>
          </p:cNvSpPr>
          <p:nvPr>
            <p:ph idx="10"/>
          </p:nvPr>
        </p:nvSpPr>
        <p:spPr>
          <a:xfrm>
            <a:off x="461623" y="1841299"/>
            <a:ext cx="9144000" cy="1429785"/>
          </a:xfrm>
        </p:spPr>
        <p:txBody>
          <a:bodyPr>
            <a:normAutofit/>
          </a:bodyPr>
          <a:lstStyle/>
          <a:p>
            <a:r>
              <a:rPr lang="en-US"/>
              <a:t>Worker migration from large cities to the South/Sun Belt after the pandemic brings business opportunities and expands the target customer population in this area.</a:t>
            </a:r>
          </a:p>
          <a:p>
            <a:r>
              <a:rPr lang="en-US"/>
              <a:t>Domestic migration brought over 1.3 million residents to the South in 2022, according to agency data.</a:t>
            </a:r>
          </a:p>
          <a:p>
            <a:r>
              <a:rPr lang="en-US"/>
              <a:t>9 out of top 10 hottest housing markets in 2023 are in the Southern US</a:t>
            </a:r>
          </a:p>
          <a:p>
            <a:r>
              <a:rPr lang="en-US"/>
              <a:t>Increasing portion of younger population moving to the South for cheaper housing &amp; low/no state income tax</a:t>
            </a:r>
          </a:p>
        </p:txBody>
      </p:sp>
      <p:pic>
        <p:nvPicPr>
          <p:cNvPr id="1028" name="Picture 4" descr="Sun Belt Wikipedia | tyello.com">
            <a:extLst>
              <a:ext uri="{FF2B5EF4-FFF2-40B4-BE49-F238E27FC236}">
                <a16:creationId xmlns:a16="http://schemas.microsoft.com/office/drawing/2014/main" id="{0CD88134-40C5-C2D6-450E-95659F78F8F5}"/>
              </a:ext>
            </a:extLst>
          </p:cNvPr>
          <p:cNvPicPr>
            <a:picLocks noGrp="1" noChangeAspect="1" noChangeArrowheads="1"/>
          </p:cNvPicPr>
          <p:nvPr>
            <p:ph sz="quarter" idx="11"/>
          </p:nvPr>
        </p:nvPicPr>
        <p:blipFill rotWithShape="1">
          <a:blip r:embed="rId3">
            <a:extLst>
              <a:ext uri="{BEBA8EAE-BF5A-486C-A8C5-ECC9F3942E4B}">
                <a14:imgProps xmlns:a14="http://schemas.microsoft.com/office/drawing/2010/main">
                  <a14:imgLayer r:embed="rId4">
                    <a14:imgEffect>
                      <a14:brightnessContrast bright="7000" contrast="-19000"/>
                    </a14:imgEffect>
                  </a14:imgLayer>
                </a14:imgProps>
              </a:ext>
              <a:ext uri="{28A0092B-C50C-407E-A947-70E740481C1C}">
                <a14:useLocalDpi xmlns:a14="http://schemas.microsoft.com/office/drawing/2010/main" val="0"/>
              </a:ext>
            </a:extLst>
          </a:blip>
          <a:srcRect t="8858" b="9055"/>
          <a:stretch/>
        </p:blipFill>
        <p:spPr bwMode="auto">
          <a:xfrm>
            <a:off x="461623" y="3859157"/>
            <a:ext cx="4462272" cy="2655652"/>
          </a:xfrm>
          <a:prstGeom prst="rect">
            <a:avLst/>
          </a:prstGeom>
          <a:solidFill>
            <a:srgbClr val="FFFFFF"/>
          </a:solidFill>
        </p:spPr>
      </p:pic>
      <p:sp>
        <p:nvSpPr>
          <p:cNvPr id="7" name="Content Placeholder 6">
            <a:extLst>
              <a:ext uri="{FF2B5EF4-FFF2-40B4-BE49-F238E27FC236}">
                <a16:creationId xmlns:a16="http://schemas.microsoft.com/office/drawing/2014/main" id="{570069EF-F5AC-5257-C551-ABA7136D44D7}"/>
              </a:ext>
            </a:extLst>
          </p:cNvPr>
          <p:cNvSpPr>
            <a:spLocks noGrp="1"/>
          </p:cNvSpPr>
          <p:nvPr>
            <p:ph idx="21"/>
          </p:nvPr>
        </p:nvSpPr>
        <p:spPr>
          <a:xfrm>
            <a:off x="461623" y="3256001"/>
            <a:ext cx="4462272" cy="304337"/>
          </a:xfrm>
        </p:spPr>
        <p:txBody>
          <a:bodyPr anchor="ctr">
            <a:normAutofit/>
          </a:bodyPr>
          <a:lstStyle/>
          <a:p>
            <a:r>
              <a:rPr lang="en-US" b="1"/>
              <a:t>The Sun Belt </a:t>
            </a:r>
            <a:r>
              <a:rPr lang="en-US"/>
              <a:t>(10y Pop. Growth)</a:t>
            </a:r>
          </a:p>
        </p:txBody>
      </p:sp>
      <p:sp>
        <p:nvSpPr>
          <p:cNvPr id="1035" name="Content Placeholder 7">
            <a:extLst>
              <a:ext uri="{FF2B5EF4-FFF2-40B4-BE49-F238E27FC236}">
                <a16:creationId xmlns:a16="http://schemas.microsoft.com/office/drawing/2014/main" id="{D7711580-CCF3-9EE5-BF56-0C78A0C4307A}"/>
              </a:ext>
            </a:extLst>
          </p:cNvPr>
          <p:cNvSpPr>
            <a:spLocks noGrp="1"/>
          </p:cNvSpPr>
          <p:nvPr>
            <p:ph idx="22"/>
          </p:nvPr>
        </p:nvSpPr>
        <p:spPr>
          <a:xfrm>
            <a:off x="5152651" y="3258980"/>
            <a:ext cx="4463745" cy="304337"/>
          </a:xfrm>
        </p:spPr>
        <p:txBody>
          <a:bodyPr/>
          <a:lstStyle/>
          <a:p>
            <a:r>
              <a:rPr lang="en-US" b="1"/>
              <a:t>Moving Patterns </a:t>
            </a:r>
            <a:r>
              <a:rPr lang="en-US"/>
              <a:t>of people aged 25-39</a:t>
            </a:r>
          </a:p>
        </p:txBody>
      </p:sp>
      <p:sp>
        <p:nvSpPr>
          <p:cNvPr id="10" name="Flowchart: Connector 9">
            <a:extLst>
              <a:ext uri="{FF2B5EF4-FFF2-40B4-BE49-F238E27FC236}">
                <a16:creationId xmlns:a16="http://schemas.microsoft.com/office/drawing/2014/main" id="{ACE7707F-93E7-F9F4-3FDB-E23D54D19E96}"/>
              </a:ext>
            </a:extLst>
          </p:cNvPr>
          <p:cNvSpPr/>
          <p:nvPr/>
        </p:nvSpPr>
        <p:spPr>
          <a:xfrm>
            <a:off x="2518524" y="5800610"/>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1</a:t>
            </a:r>
          </a:p>
        </p:txBody>
      </p:sp>
      <p:sp>
        <p:nvSpPr>
          <p:cNvPr id="11" name="Flowchart: Connector 10">
            <a:extLst>
              <a:ext uri="{FF2B5EF4-FFF2-40B4-BE49-F238E27FC236}">
                <a16:creationId xmlns:a16="http://schemas.microsoft.com/office/drawing/2014/main" id="{572A0CD2-F509-9E7C-6867-9D71B87E2C25}"/>
              </a:ext>
            </a:extLst>
          </p:cNvPr>
          <p:cNvSpPr/>
          <p:nvPr/>
        </p:nvSpPr>
        <p:spPr>
          <a:xfrm>
            <a:off x="3925792" y="5290072"/>
            <a:ext cx="166312" cy="14806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2</a:t>
            </a:r>
          </a:p>
        </p:txBody>
      </p:sp>
      <p:sp>
        <p:nvSpPr>
          <p:cNvPr id="12" name="Flowchart: Connector 11">
            <a:extLst>
              <a:ext uri="{FF2B5EF4-FFF2-40B4-BE49-F238E27FC236}">
                <a16:creationId xmlns:a16="http://schemas.microsoft.com/office/drawing/2014/main" id="{0CD9084C-8C83-A468-B392-319721EC61FA}"/>
              </a:ext>
            </a:extLst>
          </p:cNvPr>
          <p:cNvSpPr/>
          <p:nvPr/>
        </p:nvSpPr>
        <p:spPr>
          <a:xfrm>
            <a:off x="2612557" y="5953011"/>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3</a:t>
            </a:r>
          </a:p>
        </p:txBody>
      </p:sp>
      <p:sp>
        <p:nvSpPr>
          <p:cNvPr id="13" name="Flowchart: Connector 12">
            <a:extLst>
              <a:ext uri="{FF2B5EF4-FFF2-40B4-BE49-F238E27FC236}">
                <a16:creationId xmlns:a16="http://schemas.microsoft.com/office/drawing/2014/main" id="{86FEC6F3-8314-C480-80B8-9088F17B5632}"/>
              </a:ext>
            </a:extLst>
          </p:cNvPr>
          <p:cNvSpPr/>
          <p:nvPr/>
        </p:nvSpPr>
        <p:spPr>
          <a:xfrm>
            <a:off x="3819939" y="5936026"/>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5</a:t>
            </a:r>
          </a:p>
        </p:txBody>
      </p:sp>
      <p:sp>
        <p:nvSpPr>
          <p:cNvPr id="14" name="Flowchart: Connector 13">
            <a:extLst>
              <a:ext uri="{FF2B5EF4-FFF2-40B4-BE49-F238E27FC236}">
                <a16:creationId xmlns:a16="http://schemas.microsoft.com/office/drawing/2014/main" id="{566009A3-F5E9-CAA4-EB45-265831837AF9}"/>
              </a:ext>
            </a:extLst>
          </p:cNvPr>
          <p:cNvSpPr/>
          <p:nvPr/>
        </p:nvSpPr>
        <p:spPr>
          <a:xfrm>
            <a:off x="2620195" y="5650679"/>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6</a:t>
            </a:r>
          </a:p>
        </p:txBody>
      </p:sp>
      <p:sp>
        <p:nvSpPr>
          <p:cNvPr id="15" name="Flowchart: Connector 14">
            <a:extLst>
              <a:ext uri="{FF2B5EF4-FFF2-40B4-BE49-F238E27FC236}">
                <a16:creationId xmlns:a16="http://schemas.microsoft.com/office/drawing/2014/main" id="{5D829B77-DA50-9F41-ACA9-8AB8D363F934}"/>
              </a:ext>
            </a:extLst>
          </p:cNvPr>
          <p:cNvSpPr/>
          <p:nvPr/>
        </p:nvSpPr>
        <p:spPr>
          <a:xfrm>
            <a:off x="2425638" y="5981421"/>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7</a:t>
            </a:r>
          </a:p>
        </p:txBody>
      </p:sp>
      <p:sp>
        <p:nvSpPr>
          <p:cNvPr id="16" name="Flowchart: Connector 15">
            <a:extLst>
              <a:ext uri="{FF2B5EF4-FFF2-40B4-BE49-F238E27FC236}">
                <a16:creationId xmlns:a16="http://schemas.microsoft.com/office/drawing/2014/main" id="{E5D98217-09DA-403F-CE40-74309CDF2A16}"/>
              </a:ext>
            </a:extLst>
          </p:cNvPr>
          <p:cNvSpPr/>
          <p:nvPr/>
        </p:nvSpPr>
        <p:spPr>
          <a:xfrm>
            <a:off x="3755084" y="5345886"/>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8</a:t>
            </a:r>
          </a:p>
        </p:txBody>
      </p:sp>
      <p:sp>
        <p:nvSpPr>
          <p:cNvPr id="17" name="Flowchart: Connector 16">
            <a:extLst>
              <a:ext uri="{FF2B5EF4-FFF2-40B4-BE49-F238E27FC236}">
                <a16:creationId xmlns:a16="http://schemas.microsoft.com/office/drawing/2014/main" id="{347D1B08-26D6-6D6E-16CA-79FB71255C43}"/>
              </a:ext>
            </a:extLst>
          </p:cNvPr>
          <p:cNvSpPr/>
          <p:nvPr/>
        </p:nvSpPr>
        <p:spPr>
          <a:xfrm>
            <a:off x="2448338" y="5653930"/>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9</a:t>
            </a:r>
          </a:p>
        </p:txBody>
      </p:sp>
      <p:grpSp>
        <p:nvGrpSpPr>
          <p:cNvPr id="33" name="Group 32">
            <a:extLst>
              <a:ext uri="{FF2B5EF4-FFF2-40B4-BE49-F238E27FC236}">
                <a16:creationId xmlns:a16="http://schemas.microsoft.com/office/drawing/2014/main" id="{4272C44A-FF08-7558-A992-3007C227A89C}"/>
              </a:ext>
            </a:extLst>
          </p:cNvPr>
          <p:cNvGrpSpPr/>
          <p:nvPr/>
        </p:nvGrpSpPr>
        <p:grpSpPr>
          <a:xfrm>
            <a:off x="3291920" y="5316703"/>
            <a:ext cx="166312" cy="174328"/>
            <a:chOff x="3291920" y="5426431"/>
            <a:chExt cx="166312" cy="174328"/>
          </a:xfrm>
        </p:grpSpPr>
        <p:sp>
          <p:nvSpPr>
            <p:cNvPr id="19" name="Flowchart: Connector 18">
              <a:extLst>
                <a:ext uri="{FF2B5EF4-FFF2-40B4-BE49-F238E27FC236}">
                  <a16:creationId xmlns:a16="http://schemas.microsoft.com/office/drawing/2014/main" id="{CA3A036B-D4AC-87F0-1F79-BA0BB951757F}"/>
                </a:ext>
              </a:extLst>
            </p:cNvPr>
            <p:cNvSpPr/>
            <p:nvPr/>
          </p:nvSpPr>
          <p:spPr>
            <a:xfrm>
              <a:off x="3291920" y="5426431"/>
              <a:ext cx="166312" cy="174328"/>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100"/>
            </a:p>
          </p:txBody>
        </p:sp>
        <p:pic>
          <p:nvPicPr>
            <p:cNvPr id="21" name="Picture 20">
              <a:extLst>
                <a:ext uri="{FF2B5EF4-FFF2-40B4-BE49-F238E27FC236}">
                  <a16:creationId xmlns:a16="http://schemas.microsoft.com/office/drawing/2014/main" id="{4A9F2BBF-A27A-B20B-550C-2CE40A773C08}"/>
                </a:ext>
              </a:extLst>
            </p:cNvPr>
            <p:cNvPicPr>
              <a:picLocks noChangeAspect="1"/>
            </p:cNvPicPr>
            <p:nvPr/>
          </p:nvPicPr>
          <p:blipFill>
            <a:blip r:embed="rId5"/>
            <a:stretch>
              <a:fillRect/>
            </a:stretch>
          </p:blipFill>
          <p:spPr>
            <a:xfrm>
              <a:off x="3314743" y="5465342"/>
              <a:ext cx="114306" cy="107956"/>
            </a:xfrm>
            <a:prstGeom prst="rect">
              <a:avLst/>
            </a:prstGeom>
          </p:spPr>
        </p:pic>
      </p:grpSp>
      <p:sp>
        <p:nvSpPr>
          <p:cNvPr id="22" name="Flowchart: Connector 21">
            <a:extLst>
              <a:ext uri="{FF2B5EF4-FFF2-40B4-BE49-F238E27FC236}">
                <a16:creationId xmlns:a16="http://schemas.microsoft.com/office/drawing/2014/main" id="{B966DC63-7623-8C39-9CB8-A745312DE9A3}"/>
              </a:ext>
            </a:extLst>
          </p:cNvPr>
          <p:cNvSpPr/>
          <p:nvPr/>
        </p:nvSpPr>
        <p:spPr>
          <a:xfrm>
            <a:off x="536923" y="6590625"/>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1</a:t>
            </a:r>
          </a:p>
        </p:txBody>
      </p:sp>
      <p:sp>
        <p:nvSpPr>
          <p:cNvPr id="23" name="Flowchart: Connector 22">
            <a:extLst>
              <a:ext uri="{FF2B5EF4-FFF2-40B4-BE49-F238E27FC236}">
                <a16:creationId xmlns:a16="http://schemas.microsoft.com/office/drawing/2014/main" id="{2DAB606B-F345-2BCE-8831-71BCDE4B28C4}"/>
              </a:ext>
            </a:extLst>
          </p:cNvPr>
          <p:cNvSpPr/>
          <p:nvPr/>
        </p:nvSpPr>
        <p:spPr>
          <a:xfrm>
            <a:off x="1649407" y="6589167"/>
            <a:ext cx="166312" cy="14806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2</a:t>
            </a:r>
          </a:p>
        </p:txBody>
      </p:sp>
      <p:sp>
        <p:nvSpPr>
          <p:cNvPr id="24" name="Flowchart: Connector 23">
            <a:extLst>
              <a:ext uri="{FF2B5EF4-FFF2-40B4-BE49-F238E27FC236}">
                <a16:creationId xmlns:a16="http://schemas.microsoft.com/office/drawing/2014/main" id="{C3CF1E4A-D43C-F482-D3EB-56FAD2CDA621}"/>
              </a:ext>
            </a:extLst>
          </p:cNvPr>
          <p:cNvSpPr/>
          <p:nvPr/>
        </p:nvSpPr>
        <p:spPr>
          <a:xfrm>
            <a:off x="2822925" y="6590625"/>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3</a:t>
            </a:r>
          </a:p>
        </p:txBody>
      </p:sp>
      <p:sp>
        <p:nvSpPr>
          <p:cNvPr id="25" name="Flowchart: Connector 24">
            <a:extLst>
              <a:ext uri="{FF2B5EF4-FFF2-40B4-BE49-F238E27FC236}">
                <a16:creationId xmlns:a16="http://schemas.microsoft.com/office/drawing/2014/main" id="{78FDC6A7-E130-645C-0D66-4A1F91AC623D}"/>
              </a:ext>
            </a:extLst>
          </p:cNvPr>
          <p:cNvSpPr/>
          <p:nvPr/>
        </p:nvSpPr>
        <p:spPr>
          <a:xfrm>
            <a:off x="3996442" y="6590625"/>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5</a:t>
            </a:r>
          </a:p>
        </p:txBody>
      </p:sp>
      <p:sp>
        <p:nvSpPr>
          <p:cNvPr id="26" name="Flowchart: Connector 25">
            <a:extLst>
              <a:ext uri="{FF2B5EF4-FFF2-40B4-BE49-F238E27FC236}">
                <a16:creationId xmlns:a16="http://schemas.microsoft.com/office/drawing/2014/main" id="{B8A632E3-BA89-CAE6-CDB3-0A941459BC81}"/>
              </a:ext>
            </a:extLst>
          </p:cNvPr>
          <p:cNvSpPr/>
          <p:nvPr/>
        </p:nvSpPr>
        <p:spPr>
          <a:xfrm>
            <a:off x="522997" y="6850830"/>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6</a:t>
            </a:r>
          </a:p>
        </p:txBody>
      </p:sp>
      <p:sp>
        <p:nvSpPr>
          <p:cNvPr id="27" name="Flowchart: Connector 26">
            <a:extLst>
              <a:ext uri="{FF2B5EF4-FFF2-40B4-BE49-F238E27FC236}">
                <a16:creationId xmlns:a16="http://schemas.microsoft.com/office/drawing/2014/main" id="{6C8EE269-2F48-D6E1-9E97-231206FFE308}"/>
              </a:ext>
            </a:extLst>
          </p:cNvPr>
          <p:cNvSpPr/>
          <p:nvPr/>
        </p:nvSpPr>
        <p:spPr>
          <a:xfrm>
            <a:off x="1403623" y="6850830"/>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7</a:t>
            </a:r>
          </a:p>
        </p:txBody>
      </p:sp>
      <p:sp>
        <p:nvSpPr>
          <p:cNvPr id="28" name="Flowchart: Connector 27">
            <a:extLst>
              <a:ext uri="{FF2B5EF4-FFF2-40B4-BE49-F238E27FC236}">
                <a16:creationId xmlns:a16="http://schemas.microsoft.com/office/drawing/2014/main" id="{5FDE7D7E-0C35-13CA-4540-4AD23980D120}"/>
              </a:ext>
            </a:extLst>
          </p:cNvPr>
          <p:cNvSpPr/>
          <p:nvPr/>
        </p:nvSpPr>
        <p:spPr>
          <a:xfrm>
            <a:off x="2262127" y="6850830"/>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8</a:t>
            </a:r>
          </a:p>
        </p:txBody>
      </p:sp>
      <p:sp>
        <p:nvSpPr>
          <p:cNvPr id="29" name="Flowchart: Connector 28">
            <a:extLst>
              <a:ext uri="{FF2B5EF4-FFF2-40B4-BE49-F238E27FC236}">
                <a16:creationId xmlns:a16="http://schemas.microsoft.com/office/drawing/2014/main" id="{7AEE1A6D-FF71-4B5D-B3D1-02FE99486253}"/>
              </a:ext>
            </a:extLst>
          </p:cNvPr>
          <p:cNvSpPr/>
          <p:nvPr/>
        </p:nvSpPr>
        <p:spPr>
          <a:xfrm>
            <a:off x="3120631" y="6850830"/>
            <a:ext cx="166312" cy="14514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9</a:t>
            </a:r>
          </a:p>
        </p:txBody>
      </p:sp>
      <p:grpSp>
        <p:nvGrpSpPr>
          <p:cNvPr id="32" name="Group 31">
            <a:extLst>
              <a:ext uri="{FF2B5EF4-FFF2-40B4-BE49-F238E27FC236}">
                <a16:creationId xmlns:a16="http://schemas.microsoft.com/office/drawing/2014/main" id="{728BD6CF-2686-C098-1962-0DE073B3B61B}"/>
              </a:ext>
            </a:extLst>
          </p:cNvPr>
          <p:cNvGrpSpPr/>
          <p:nvPr/>
        </p:nvGrpSpPr>
        <p:grpSpPr>
          <a:xfrm>
            <a:off x="3979133" y="6836238"/>
            <a:ext cx="166312" cy="174328"/>
            <a:chOff x="3979133" y="6834423"/>
            <a:chExt cx="166312" cy="174328"/>
          </a:xfrm>
        </p:grpSpPr>
        <p:sp>
          <p:nvSpPr>
            <p:cNvPr id="30" name="Flowchart: Connector 29">
              <a:extLst>
                <a:ext uri="{FF2B5EF4-FFF2-40B4-BE49-F238E27FC236}">
                  <a16:creationId xmlns:a16="http://schemas.microsoft.com/office/drawing/2014/main" id="{960A6609-227D-3120-84A5-58F3C9549EC3}"/>
                </a:ext>
              </a:extLst>
            </p:cNvPr>
            <p:cNvSpPr/>
            <p:nvPr/>
          </p:nvSpPr>
          <p:spPr>
            <a:xfrm>
              <a:off x="3979133" y="6834423"/>
              <a:ext cx="166312" cy="174328"/>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100"/>
            </a:p>
          </p:txBody>
        </p:sp>
        <p:pic>
          <p:nvPicPr>
            <p:cNvPr id="31" name="Picture 30">
              <a:extLst>
                <a:ext uri="{FF2B5EF4-FFF2-40B4-BE49-F238E27FC236}">
                  <a16:creationId xmlns:a16="http://schemas.microsoft.com/office/drawing/2014/main" id="{AEABC37C-BA0A-115E-D69A-898149965875}"/>
                </a:ext>
              </a:extLst>
            </p:cNvPr>
            <p:cNvPicPr>
              <a:picLocks noChangeAspect="1"/>
            </p:cNvPicPr>
            <p:nvPr/>
          </p:nvPicPr>
          <p:blipFill>
            <a:blip r:embed="rId5"/>
            <a:stretch>
              <a:fillRect/>
            </a:stretch>
          </p:blipFill>
          <p:spPr>
            <a:xfrm>
              <a:off x="4008497" y="6871170"/>
              <a:ext cx="114306" cy="107956"/>
            </a:xfrm>
            <a:prstGeom prst="rect">
              <a:avLst/>
            </a:prstGeom>
          </p:spPr>
        </p:pic>
      </p:grpSp>
      <p:sp>
        <p:nvSpPr>
          <p:cNvPr id="34" name="TextBox 33">
            <a:extLst>
              <a:ext uri="{FF2B5EF4-FFF2-40B4-BE49-F238E27FC236}">
                <a16:creationId xmlns:a16="http://schemas.microsoft.com/office/drawing/2014/main" id="{F7457A00-2898-597F-A712-905417B868E9}"/>
              </a:ext>
            </a:extLst>
          </p:cNvPr>
          <p:cNvSpPr txBox="1"/>
          <p:nvPr/>
        </p:nvSpPr>
        <p:spPr>
          <a:xfrm>
            <a:off x="649336" y="6540087"/>
            <a:ext cx="514254" cy="246221"/>
          </a:xfrm>
          <a:prstGeom prst="rect">
            <a:avLst/>
          </a:prstGeom>
          <a:noFill/>
        </p:spPr>
        <p:txBody>
          <a:bodyPr wrap="square" rtlCol="0">
            <a:spAutoFit/>
          </a:bodyPr>
          <a:lstStyle/>
          <a:p>
            <a:r>
              <a:rPr lang="en-US" sz="1000"/>
              <a:t>29%</a:t>
            </a:r>
          </a:p>
        </p:txBody>
      </p:sp>
      <p:sp>
        <p:nvSpPr>
          <p:cNvPr id="35" name="TextBox 34">
            <a:extLst>
              <a:ext uri="{FF2B5EF4-FFF2-40B4-BE49-F238E27FC236}">
                <a16:creationId xmlns:a16="http://schemas.microsoft.com/office/drawing/2014/main" id="{2DBFC747-DACB-2A91-13AA-64927865FA1F}"/>
              </a:ext>
            </a:extLst>
          </p:cNvPr>
          <p:cNvSpPr txBox="1"/>
          <p:nvPr/>
        </p:nvSpPr>
        <p:spPr>
          <a:xfrm>
            <a:off x="1789179" y="6540087"/>
            <a:ext cx="514254" cy="246221"/>
          </a:xfrm>
          <a:prstGeom prst="rect">
            <a:avLst/>
          </a:prstGeom>
          <a:noFill/>
        </p:spPr>
        <p:txBody>
          <a:bodyPr wrap="square" rtlCol="0">
            <a:spAutoFit/>
          </a:bodyPr>
          <a:lstStyle/>
          <a:p>
            <a:r>
              <a:rPr lang="en-US" sz="1000"/>
              <a:t>24%</a:t>
            </a:r>
          </a:p>
        </p:txBody>
      </p:sp>
      <p:sp>
        <p:nvSpPr>
          <p:cNvPr id="36" name="TextBox 35">
            <a:extLst>
              <a:ext uri="{FF2B5EF4-FFF2-40B4-BE49-F238E27FC236}">
                <a16:creationId xmlns:a16="http://schemas.microsoft.com/office/drawing/2014/main" id="{2671F4F1-7677-CC3D-A8E0-B8BE6F507FA7}"/>
              </a:ext>
            </a:extLst>
          </p:cNvPr>
          <p:cNvSpPr txBox="1"/>
          <p:nvPr/>
        </p:nvSpPr>
        <p:spPr>
          <a:xfrm>
            <a:off x="2971635" y="6540087"/>
            <a:ext cx="514254" cy="246221"/>
          </a:xfrm>
          <a:prstGeom prst="rect">
            <a:avLst/>
          </a:prstGeom>
          <a:noFill/>
        </p:spPr>
        <p:txBody>
          <a:bodyPr wrap="square" rtlCol="0">
            <a:spAutoFit/>
          </a:bodyPr>
          <a:lstStyle/>
          <a:p>
            <a:r>
              <a:rPr lang="en-US" sz="1000"/>
              <a:t>21%</a:t>
            </a:r>
          </a:p>
        </p:txBody>
      </p:sp>
      <p:sp>
        <p:nvSpPr>
          <p:cNvPr id="37" name="TextBox 36">
            <a:extLst>
              <a:ext uri="{FF2B5EF4-FFF2-40B4-BE49-F238E27FC236}">
                <a16:creationId xmlns:a16="http://schemas.microsoft.com/office/drawing/2014/main" id="{36D5B3E0-B5CE-C167-09DC-A21A5EE23720}"/>
              </a:ext>
            </a:extLst>
          </p:cNvPr>
          <p:cNvSpPr txBox="1"/>
          <p:nvPr/>
        </p:nvSpPr>
        <p:spPr>
          <a:xfrm>
            <a:off x="4157575" y="6540087"/>
            <a:ext cx="514254" cy="246221"/>
          </a:xfrm>
          <a:prstGeom prst="rect">
            <a:avLst/>
          </a:prstGeom>
          <a:noFill/>
        </p:spPr>
        <p:txBody>
          <a:bodyPr wrap="square" rtlCol="0">
            <a:spAutoFit/>
          </a:bodyPr>
          <a:lstStyle/>
          <a:p>
            <a:r>
              <a:rPr lang="en-US" sz="1000"/>
              <a:t>20%</a:t>
            </a:r>
          </a:p>
        </p:txBody>
      </p:sp>
      <p:sp>
        <p:nvSpPr>
          <p:cNvPr id="38" name="TextBox 37">
            <a:extLst>
              <a:ext uri="{FF2B5EF4-FFF2-40B4-BE49-F238E27FC236}">
                <a16:creationId xmlns:a16="http://schemas.microsoft.com/office/drawing/2014/main" id="{CDF6F13A-584D-D327-39E2-7BD0F1826605}"/>
              </a:ext>
            </a:extLst>
          </p:cNvPr>
          <p:cNvSpPr txBox="1"/>
          <p:nvPr/>
        </p:nvSpPr>
        <p:spPr>
          <a:xfrm>
            <a:off x="657900" y="6800292"/>
            <a:ext cx="514254" cy="246221"/>
          </a:xfrm>
          <a:prstGeom prst="rect">
            <a:avLst/>
          </a:prstGeom>
          <a:noFill/>
        </p:spPr>
        <p:txBody>
          <a:bodyPr wrap="square" rtlCol="0">
            <a:spAutoFit/>
          </a:bodyPr>
          <a:lstStyle/>
          <a:p>
            <a:r>
              <a:rPr lang="en-US" sz="1000"/>
              <a:t>20%</a:t>
            </a:r>
          </a:p>
        </p:txBody>
      </p:sp>
      <p:sp>
        <p:nvSpPr>
          <p:cNvPr id="39" name="TextBox 38">
            <a:extLst>
              <a:ext uri="{FF2B5EF4-FFF2-40B4-BE49-F238E27FC236}">
                <a16:creationId xmlns:a16="http://schemas.microsoft.com/office/drawing/2014/main" id="{65400B1C-1D13-0AC7-DDBE-8532A7490565}"/>
              </a:ext>
            </a:extLst>
          </p:cNvPr>
          <p:cNvSpPr txBox="1"/>
          <p:nvPr/>
        </p:nvSpPr>
        <p:spPr>
          <a:xfrm>
            <a:off x="1510700" y="6800292"/>
            <a:ext cx="514254" cy="246221"/>
          </a:xfrm>
          <a:prstGeom prst="rect">
            <a:avLst/>
          </a:prstGeom>
          <a:noFill/>
        </p:spPr>
        <p:txBody>
          <a:bodyPr wrap="square" rtlCol="0">
            <a:spAutoFit/>
          </a:bodyPr>
          <a:lstStyle/>
          <a:p>
            <a:r>
              <a:rPr lang="en-US" sz="1000"/>
              <a:t>20%</a:t>
            </a:r>
          </a:p>
        </p:txBody>
      </p:sp>
      <p:sp>
        <p:nvSpPr>
          <p:cNvPr id="40" name="TextBox 39">
            <a:extLst>
              <a:ext uri="{FF2B5EF4-FFF2-40B4-BE49-F238E27FC236}">
                <a16:creationId xmlns:a16="http://schemas.microsoft.com/office/drawing/2014/main" id="{6E0B0DD4-817A-9F12-D5DB-0C96B55A5819}"/>
              </a:ext>
            </a:extLst>
          </p:cNvPr>
          <p:cNvSpPr txBox="1"/>
          <p:nvPr/>
        </p:nvSpPr>
        <p:spPr>
          <a:xfrm>
            <a:off x="2373229" y="6800292"/>
            <a:ext cx="514254" cy="246221"/>
          </a:xfrm>
          <a:prstGeom prst="rect">
            <a:avLst/>
          </a:prstGeom>
          <a:noFill/>
        </p:spPr>
        <p:txBody>
          <a:bodyPr wrap="square" rtlCol="0">
            <a:spAutoFit/>
          </a:bodyPr>
          <a:lstStyle/>
          <a:p>
            <a:r>
              <a:rPr lang="en-US" sz="1000"/>
              <a:t>17%</a:t>
            </a:r>
          </a:p>
        </p:txBody>
      </p:sp>
      <p:sp>
        <p:nvSpPr>
          <p:cNvPr id="41" name="TextBox 40">
            <a:extLst>
              <a:ext uri="{FF2B5EF4-FFF2-40B4-BE49-F238E27FC236}">
                <a16:creationId xmlns:a16="http://schemas.microsoft.com/office/drawing/2014/main" id="{CCDEEED5-DA36-6C8D-CC3E-E3EB02CFB7A5}"/>
              </a:ext>
            </a:extLst>
          </p:cNvPr>
          <p:cNvSpPr txBox="1"/>
          <p:nvPr/>
        </p:nvSpPr>
        <p:spPr>
          <a:xfrm>
            <a:off x="3226020" y="6800292"/>
            <a:ext cx="514254" cy="246221"/>
          </a:xfrm>
          <a:prstGeom prst="rect">
            <a:avLst/>
          </a:prstGeom>
          <a:noFill/>
        </p:spPr>
        <p:txBody>
          <a:bodyPr wrap="square" rtlCol="0">
            <a:spAutoFit/>
          </a:bodyPr>
          <a:lstStyle/>
          <a:p>
            <a:r>
              <a:rPr lang="en-US" sz="1000"/>
              <a:t>17%</a:t>
            </a:r>
          </a:p>
        </p:txBody>
      </p:sp>
      <p:sp>
        <p:nvSpPr>
          <p:cNvPr id="42" name="TextBox 41">
            <a:extLst>
              <a:ext uri="{FF2B5EF4-FFF2-40B4-BE49-F238E27FC236}">
                <a16:creationId xmlns:a16="http://schemas.microsoft.com/office/drawing/2014/main" id="{5C009ABC-3D70-3A2D-6D0A-21E6DB932AD6}"/>
              </a:ext>
            </a:extLst>
          </p:cNvPr>
          <p:cNvSpPr txBox="1"/>
          <p:nvPr/>
        </p:nvSpPr>
        <p:spPr>
          <a:xfrm>
            <a:off x="4078817" y="6800292"/>
            <a:ext cx="514254" cy="246221"/>
          </a:xfrm>
          <a:prstGeom prst="rect">
            <a:avLst/>
          </a:prstGeom>
          <a:noFill/>
        </p:spPr>
        <p:txBody>
          <a:bodyPr wrap="square" rtlCol="0">
            <a:spAutoFit/>
          </a:bodyPr>
          <a:lstStyle/>
          <a:p>
            <a:r>
              <a:rPr lang="en-US" sz="1000"/>
              <a:t>17%</a:t>
            </a:r>
          </a:p>
        </p:txBody>
      </p:sp>
      <p:pic>
        <p:nvPicPr>
          <p:cNvPr id="1051" name="Picture 4" descr="Sun Belt Wikipedia | tyello.com">
            <a:extLst>
              <a:ext uri="{FF2B5EF4-FFF2-40B4-BE49-F238E27FC236}">
                <a16:creationId xmlns:a16="http://schemas.microsoft.com/office/drawing/2014/main" id="{70250127-6A99-1D10-E87A-DD17106898AB}"/>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7000" contrast="-19000"/>
                    </a14:imgEffect>
                  </a14:imgLayer>
                </a14:imgProps>
              </a:ext>
              <a:ext uri="{28A0092B-C50C-407E-A947-70E740481C1C}">
                <a14:useLocalDpi xmlns:a14="http://schemas.microsoft.com/office/drawing/2010/main" val="0"/>
              </a:ext>
            </a:extLst>
          </a:blip>
          <a:srcRect l="5598" t="8858" r="5961" b="9055"/>
          <a:stretch/>
        </p:blipFill>
        <p:spPr bwMode="auto">
          <a:xfrm>
            <a:off x="5837636" y="3861503"/>
            <a:ext cx="3778759" cy="2655652"/>
          </a:xfrm>
          <a:prstGeom prst="rect">
            <a:avLst/>
          </a:prstGeom>
          <a:solidFill>
            <a:srgbClr val="FFFFFF"/>
          </a:solidFill>
        </p:spPr>
      </p:pic>
      <p:sp>
        <p:nvSpPr>
          <p:cNvPr id="1052" name="Flowchart: Connector 1051">
            <a:extLst>
              <a:ext uri="{FF2B5EF4-FFF2-40B4-BE49-F238E27FC236}">
                <a16:creationId xmlns:a16="http://schemas.microsoft.com/office/drawing/2014/main" id="{CD36EB77-6E6A-0658-D487-C3902BE75CAE}"/>
              </a:ext>
            </a:extLst>
          </p:cNvPr>
          <p:cNvSpPr/>
          <p:nvPr/>
        </p:nvSpPr>
        <p:spPr>
          <a:xfrm>
            <a:off x="6207523" y="4083446"/>
            <a:ext cx="159244"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1</a:t>
            </a:r>
          </a:p>
        </p:txBody>
      </p:sp>
      <p:sp>
        <p:nvSpPr>
          <p:cNvPr id="1053" name="Flowchart: Connector 1052">
            <a:extLst>
              <a:ext uri="{FF2B5EF4-FFF2-40B4-BE49-F238E27FC236}">
                <a16:creationId xmlns:a16="http://schemas.microsoft.com/office/drawing/2014/main" id="{4663326E-6215-CB55-E858-FC648357E2CD}"/>
              </a:ext>
            </a:extLst>
          </p:cNvPr>
          <p:cNvSpPr/>
          <p:nvPr/>
        </p:nvSpPr>
        <p:spPr>
          <a:xfrm>
            <a:off x="7013698" y="5077068"/>
            <a:ext cx="159244" cy="148061"/>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2</a:t>
            </a:r>
          </a:p>
        </p:txBody>
      </p:sp>
      <p:sp>
        <p:nvSpPr>
          <p:cNvPr id="1054" name="Flowchart: Connector 1053">
            <a:extLst>
              <a:ext uri="{FF2B5EF4-FFF2-40B4-BE49-F238E27FC236}">
                <a16:creationId xmlns:a16="http://schemas.microsoft.com/office/drawing/2014/main" id="{714249AE-A0B8-7D1A-A834-9A31C36CB0C1}"/>
              </a:ext>
            </a:extLst>
          </p:cNvPr>
          <p:cNvSpPr/>
          <p:nvPr/>
        </p:nvSpPr>
        <p:spPr>
          <a:xfrm>
            <a:off x="7498833" y="5830125"/>
            <a:ext cx="159244"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3</a:t>
            </a:r>
          </a:p>
        </p:txBody>
      </p:sp>
      <p:sp>
        <p:nvSpPr>
          <p:cNvPr id="1055" name="Flowchart: Connector 1054">
            <a:extLst>
              <a:ext uri="{FF2B5EF4-FFF2-40B4-BE49-F238E27FC236}">
                <a16:creationId xmlns:a16="http://schemas.microsoft.com/office/drawing/2014/main" id="{7AFD1F7A-5885-9048-96BD-EAA14612D98A}"/>
              </a:ext>
            </a:extLst>
          </p:cNvPr>
          <p:cNvSpPr/>
          <p:nvPr/>
        </p:nvSpPr>
        <p:spPr>
          <a:xfrm>
            <a:off x="8884965" y="5311230"/>
            <a:ext cx="159244"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5</a:t>
            </a:r>
          </a:p>
        </p:txBody>
      </p:sp>
      <p:sp>
        <p:nvSpPr>
          <p:cNvPr id="1056" name="Flowchart: Connector 1055">
            <a:extLst>
              <a:ext uri="{FF2B5EF4-FFF2-40B4-BE49-F238E27FC236}">
                <a16:creationId xmlns:a16="http://schemas.microsoft.com/office/drawing/2014/main" id="{93F0BE46-CF11-A83B-5065-16F4E53F9DD1}"/>
              </a:ext>
            </a:extLst>
          </p:cNvPr>
          <p:cNvSpPr/>
          <p:nvPr/>
        </p:nvSpPr>
        <p:spPr>
          <a:xfrm>
            <a:off x="7704135" y="5928635"/>
            <a:ext cx="159244"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6</a:t>
            </a:r>
          </a:p>
        </p:txBody>
      </p:sp>
      <p:sp>
        <p:nvSpPr>
          <p:cNvPr id="1057" name="Flowchart: Connector 1056">
            <a:extLst>
              <a:ext uri="{FF2B5EF4-FFF2-40B4-BE49-F238E27FC236}">
                <a16:creationId xmlns:a16="http://schemas.microsoft.com/office/drawing/2014/main" id="{4484D9E7-03AA-BF96-115E-3278513E7934}"/>
              </a:ext>
            </a:extLst>
          </p:cNvPr>
          <p:cNvSpPr/>
          <p:nvPr/>
        </p:nvSpPr>
        <p:spPr>
          <a:xfrm>
            <a:off x="8312780" y="5338621"/>
            <a:ext cx="159244"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7</a:t>
            </a:r>
          </a:p>
        </p:txBody>
      </p:sp>
      <p:sp>
        <p:nvSpPr>
          <p:cNvPr id="1058" name="Flowchart: Connector 1057">
            <a:extLst>
              <a:ext uri="{FF2B5EF4-FFF2-40B4-BE49-F238E27FC236}">
                <a16:creationId xmlns:a16="http://schemas.microsoft.com/office/drawing/2014/main" id="{A4F121BF-74D8-38A4-5A16-D0CF3DF0DE2F}"/>
              </a:ext>
            </a:extLst>
          </p:cNvPr>
          <p:cNvSpPr/>
          <p:nvPr/>
        </p:nvSpPr>
        <p:spPr>
          <a:xfrm>
            <a:off x="6546674" y="5358344"/>
            <a:ext cx="159244"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8</a:t>
            </a:r>
          </a:p>
        </p:txBody>
      </p:sp>
      <p:sp>
        <p:nvSpPr>
          <p:cNvPr id="1059" name="Flowchart: Connector 1058">
            <a:extLst>
              <a:ext uri="{FF2B5EF4-FFF2-40B4-BE49-F238E27FC236}">
                <a16:creationId xmlns:a16="http://schemas.microsoft.com/office/drawing/2014/main" id="{9BEA1CF1-D537-2A50-0E74-C2256B7B5493}"/>
              </a:ext>
            </a:extLst>
          </p:cNvPr>
          <p:cNvSpPr/>
          <p:nvPr/>
        </p:nvSpPr>
        <p:spPr>
          <a:xfrm>
            <a:off x="6317962" y="5112069"/>
            <a:ext cx="159244"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9</a:t>
            </a:r>
          </a:p>
        </p:txBody>
      </p:sp>
      <p:sp>
        <p:nvSpPr>
          <p:cNvPr id="1063" name="Flowchart: Connector 1062">
            <a:extLst>
              <a:ext uri="{FF2B5EF4-FFF2-40B4-BE49-F238E27FC236}">
                <a16:creationId xmlns:a16="http://schemas.microsoft.com/office/drawing/2014/main" id="{3B5B4F76-A99C-2C9F-B31B-A93B08CDDA88}"/>
              </a:ext>
            </a:extLst>
          </p:cNvPr>
          <p:cNvSpPr/>
          <p:nvPr/>
        </p:nvSpPr>
        <p:spPr>
          <a:xfrm>
            <a:off x="5589336" y="6579025"/>
            <a:ext cx="166312"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1</a:t>
            </a:r>
          </a:p>
        </p:txBody>
      </p:sp>
      <p:sp>
        <p:nvSpPr>
          <p:cNvPr id="1064" name="Flowchart: Connector 1063">
            <a:extLst>
              <a:ext uri="{FF2B5EF4-FFF2-40B4-BE49-F238E27FC236}">
                <a16:creationId xmlns:a16="http://schemas.microsoft.com/office/drawing/2014/main" id="{359CFB55-4C87-9C94-7530-62C4FFB6B21B}"/>
              </a:ext>
            </a:extLst>
          </p:cNvPr>
          <p:cNvSpPr/>
          <p:nvPr/>
        </p:nvSpPr>
        <p:spPr>
          <a:xfrm>
            <a:off x="6563138" y="6577567"/>
            <a:ext cx="166312" cy="148061"/>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2</a:t>
            </a:r>
          </a:p>
        </p:txBody>
      </p:sp>
      <p:sp>
        <p:nvSpPr>
          <p:cNvPr id="1065" name="Flowchart: Connector 1064">
            <a:extLst>
              <a:ext uri="{FF2B5EF4-FFF2-40B4-BE49-F238E27FC236}">
                <a16:creationId xmlns:a16="http://schemas.microsoft.com/office/drawing/2014/main" id="{958F894E-2717-EED9-1CE9-F09B52CDFE0A}"/>
              </a:ext>
            </a:extLst>
          </p:cNvPr>
          <p:cNvSpPr/>
          <p:nvPr/>
        </p:nvSpPr>
        <p:spPr>
          <a:xfrm>
            <a:off x="7497943" y="6579025"/>
            <a:ext cx="166312"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3</a:t>
            </a:r>
          </a:p>
        </p:txBody>
      </p:sp>
      <p:sp>
        <p:nvSpPr>
          <p:cNvPr id="1066" name="Flowchart: Connector 1065">
            <a:extLst>
              <a:ext uri="{FF2B5EF4-FFF2-40B4-BE49-F238E27FC236}">
                <a16:creationId xmlns:a16="http://schemas.microsoft.com/office/drawing/2014/main" id="{D32572AF-8AA6-2D0E-CF8E-17D8B0AAF793}"/>
              </a:ext>
            </a:extLst>
          </p:cNvPr>
          <p:cNvSpPr/>
          <p:nvPr/>
        </p:nvSpPr>
        <p:spPr>
          <a:xfrm>
            <a:off x="5227541" y="6865734"/>
            <a:ext cx="166312"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5</a:t>
            </a:r>
          </a:p>
        </p:txBody>
      </p:sp>
      <p:sp>
        <p:nvSpPr>
          <p:cNvPr id="1067" name="Flowchart: Connector 1066">
            <a:extLst>
              <a:ext uri="{FF2B5EF4-FFF2-40B4-BE49-F238E27FC236}">
                <a16:creationId xmlns:a16="http://schemas.microsoft.com/office/drawing/2014/main" id="{18AF3838-EC35-8D18-47B7-9359759EBA69}"/>
              </a:ext>
            </a:extLst>
          </p:cNvPr>
          <p:cNvSpPr/>
          <p:nvPr/>
        </p:nvSpPr>
        <p:spPr>
          <a:xfrm>
            <a:off x="6133277" y="6865734"/>
            <a:ext cx="166312"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6</a:t>
            </a:r>
          </a:p>
        </p:txBody>
      </p:sp>
      <p:sp>
        <p:nvSpPr>
          <p:cNvPr id="1068" name="Flowchart: Connector 1067">
            <a:extLst>
              <a:ext uri="{FF2B5EF4-FFF2-40B4-BE49-F238E27FC236}">
                <a16:creationId xmlns:a16="http://schemas.microsoft.com/office/drawing/2014/main" id="{CEC23DAD-37FE-A9F3-7CE6-D095FE855403}"/>
              </a:ext>
            </a:extLst>
          </p:cNvPr>
          <p:cNvSpPr/>
          <p:nvPr/>
        </p:nvSpPr>
        <p:spPr>
          <a:xfrm>
            <a:off x="7026457" y="6865734"/>
            <a:ext cx="166312"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7</a:t>
            </a:r>
          </a:p>
        </p:txBody>
      </p:sp>
      <p:sp>
        <p:nvSpPr>
          <p:cNvPr id="1069" name="Flowchart: Connector 1068">
            <a:extLst>
              <a:ext uri="{FF2B5EF4-FFF2-40B4-BE49-F238E27FC236}">
                <a16:creationId xmlns:a16="http://schemas.microsoft.com/office/drawing/2014/main" id="{BD77E825-469A-0DDA-2A29-576272F5385E}"/>
              </a:ext>
            </a:extLst>
          </p:cNvPr>
          <p:cNvSpPr/>
          <p:nvPr/>
        </p:nvSpPr>
        <p:spPr>
          <a:xfrm>
            <a:off x="7898560" y="6865734"/>
            <a:ext cx="166312"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8</a:t>
            </a:r>
          </a:p>
        </p:txBody>
      </p:sp>
      <p:sp>
        <p:nvSpPr>
          <p:cNvPr id="1070" name="Flowchart: Connector 1069">
            <a:extLst>
              <a:ext uri="{FF2B5EF4-FFF2-40B4-BE49-F238E27FC236}">
                <a16:creationId xmlns:a16="http://schemas.microsoft.com/office/drawing/2014/main" id="{FF20944F-86A7-3EBB-31A9-59212B72CF04}"/>
              </a:ext>
            </a:extLst>
          </p:cNvPr>
          <p:cNvSpPr/>
          <p:nvPr/>
        </p:nvSpPr>
        <p:spPr>
          <a:xfrm>
            <a:off x="8824308" y="6865734"/>
            <a:ext cx="166312"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9</a:t>
            </a:r>
          </a:p>
        </p:txBody>
      </p:sp>
      <p:sp>
        <p:nvSpPr>
          <p:cNvPr id="1074" name="TextBox 1073">
            <a:extLst>
              <a:ext uri="{FF2B5EF4-FFF2-40B4-BE49-F238E27FC236}">
                <a16:creationId xmlns:a16="http://schemas.microsoft.com/office/drawing/2014/main" id="{94748D4B-3983-5654-3795-D542724F103C}"/>
              </a:ext>
            </a:extLst>
          </p:cNvPr>
          <p:cNvSpPr txBox="1"/>
          <p:nvPr/>
        </p:nvSpPr>
        <p:spPr>
          <a:xfrm>
            <a:off x="5717588" y="6528487"/>
            <a:ext cx="514254" cy="246221"/>
          </a:xfrm>
          <a:prstGeom prst="rect">
            <a:avLst/>
          </a:prstGeom>
          <a:noFill/>
        </p:spPr>
        <p:txBody>
          <a:bodyPr wrap="square" rtlCol="0">
            <a:spAutoFit/>
          </a:bodyPr>
          <a:lstStyle/>
          <a:p>
            <a:r>
              <a:rPr lang="en-US" sz="1000"/>
              <a:t>11,284</a:t>
            </a:r>
          </a:p>
        </p:txBody>
      </p:sp>
      <p:sp>
        <p:nvSpPr>
          <p:cNvPr id="1075" name="TextBox 1074">
            <a:extLst>
              <a:ext uri="{FF2B5EF4-FFF2-40B4-BE49-F238E27FC236}">
                <a16:creationId xmlns:a16="http://schemas.microsoft.com/office/drawing/2014/main" id="{AEE6C33C-B197-30E1-6080-E9DC67EEC82A}"/>
              </a:ext>
            </a:extLst>
          </p:cNvPr>
          <p:cNvSpPr txBox="1"/>
          <p:nvPr/>
        </p:nvSpPr>
        <p:spPr>
          <a:xfrm>
            <a:off x="6691390" y="6528487"/>
            <a:ext cx="514254" cy="246221"/>
          </a:xfrm>
          <a:prstGeom prst="rect">
            <a:avLst/>
          </a:prstGeom>
          <a:noFill/>
        </p:spPr>
        <p:txBody>
          <a:bodyPr wrap="square" rtlCol="0">
            <a:spAutoFit/>
          </a:bodyPr>
          <a:lstStyle/>
          <a:p>
            <a:r>
              <a:rPr lang="en-US" sz="1000"/>
              <a:t>6,241</a:t>
            </a:r>
          </a:p>
        </p:txBody>
      </p:sp>
      <p:sp>
        <p:nvSpPr>
          <p:cNvPr id="1076" name="TextBox 1075">
            <a:extLst>
              <a:ext uri="{FF2B5EF4-FFF2-40B4-BE49-F238E27FC236}">
                <a16:creationId xmlns:a16="http://schemas.microsoft.com/office/drawing/2014/main" id="{80E55F75-37D9-B166-A4DA-D6A2DBDE4A48}"/>
              </a:ext>
            </a:extLst>
          </p:cNvPr>
          <p:cNvSpPr txBox="1"/>
          <p:nvPr/>
        </p:nvSpPr>
        <p:spPr>
          <a:xfrm>
            <a:off x="7626195" y="6528487"/>
            <a:ext cx="514254" cy="246221"/>
          </a:xfrm>
          <a:prstGeom prst="rect">
            <a:avLst/>
          </a:prstGeom>
          <a:noFill/>
        </p:spPr>
        <p:txBody>
          <a:bodyPr wrap="square" rtlCol="0">
            <a:spAutoFit/>
          </a:bodyPr>
          <a:lstStyle/>
          <a:p>
            <a:r>
              <a:rPr lang="en-US" sz="1000"/>
              <a:t>5,561</a:t>
            </a:r>
          </a:p>
        </p:txBody>
      </p:sp>
      <p:sp>
        <p:nvSpPr>
          <p:cNvPr id="1077" name="TextBox 1076">
            <a:extLst>
              <a:ext uri="{FF2B5EF4-FFF2-40B4-BE49-F238E27FC236}">
                <a16:creationId xmlns:a16="http://schemas.microsoft.com/office/drawing/2014/main" id="{4DC5ACD7-BD25-3519-87C7-9D423E0982B4}"/>
              </a:ext>
            </a:extLst>
          </p:cNvPr>
          <p:cNvSpPr txBox="1"/>
          <p:nvPr/>
        </p:nvSpPr>
        <p:spPr>
          <a:xfrm>
            <a:off x="5352655" y="6815196"/>
            <a:ext cx="514254" cy="246221"/>
          </a:xfrm>
          <a:prstGeom prst="rect">
            <a:avLst/>
          </a:prstGeom>
          <a:noFill/>
        </p:spPr>
        <p:txBody>
          <a:bodyPr wrap="square" rtlCol="0">
            <a:spAutoFit/>
          </a:bodyPr>
          <a:lstStyle/>
          <a:p>
            <a:r>
              <a:rPr lang="en-US" sz="1000"/>
              <a:t>3,808</a:t>
            </a:r>
          </a:p>
        </p:txBody>
      </p:sp>
      <p:sp>
        <p:nvSpPr>
          <p:cNvPr id="1078" name="TextBox 1077">
            <a:extLst>
              <a:ext uri="{FF2B5EF4-FFF2-40B4-BE49-F238E27FC236}">
                <a16:creationId xmlns:a16="http://schemas.microsoft.com/office/drawing/2014/main" id="{672FB6E4-60DC-2B09-97ED-8841AE1C4E31}"/>
              </a:ext>
            </a:extLst>
          </p:cNvPr>
          <p:cNvSpPr txBox="1"/>
          <p:nvPr/>
        </p:nvSpPr>
        <p:spPr>
          <a:xfrm>
            <a:off x="6247494" y="6815196"/>
            <a:ext cx="514254" cy="246221"/>
          </a:xfrm>
          <a:prstGeom prst="rect">
            <a:avLst/>
          </a:prstGeom>
          <a:noFill/>
        </p:spPr>
        <p:txBody>
          <a:bodyPr wrap="square" rtlCol="0">
            <a:spAutoFit/>
          </a:bodyPr>
          <a:lstStyle/>
          <a:p>
            <a:r>
              <a:rPr lang="en-US" sz="1000"/>
              <a:t>3,235</a:t>
            </a:r>
          </a:p>
        </p:txBody>
      </p:sp>
      <p:sp>
        <p:nvSpPr>
          <p:cNvPr id="1079" name="TextBox 1078">
            <a:extLst>
              <a:ext uri="{FF2B5EF4-FFF2-40B4-BE49-F238E27FC236}">
                <a16:creationId xmlns:a16="http://schemas.microsoft.com/office/drawing/2014/main" id="{70FC6FCD-89D2-EDED-49D7-617794664F8B}"/>
              </a:ext>
            </a:extLst>
          </p:cNvPr>
          <p:cNvSpPr txBox="1"/>
          <p:nvPr/>
        </p:nvSpPr>
        <p:spPr>
          <a:xfrm>
            <a:off x="7142333" y="6815196"/>
            <a:ext cx="514254" cy="246221"/>
          </a:xfrm>
          <a:prstGeom prst="rect">
            <a:avLst/>
          </a:prstGeom>
          <a:noFill/>
        </p:spPr>
        <p:txBody>
          <a:bodyPr wrap="square" rtlCol="0">
            <a:spAutoFit/>
          </a:bodyPr>
          <a:lstStyle/>
          <a:p>
            <a:r>
              <a:rPr lang="en-US" sz="1000"/>
              <a:t>2,997</a:t>
            </a:r>
          </a:p>
        </p:txBody>
      </p:sp>
      <p:sp>
        <p:nvSpPr>
          <p:cNvPr id="1080" name="TextBox 1079">
            <a:extLst>
              <a:ext uri="{FF2B5EF4-FFF2-40B4-BE49-F238E27FC236}">
                <a16:creationId xmlns:a16="http://schemas.microsoft.com/office/drawing/2014/main" id="{866DCDD6-CAE2-FF01-08D0-836E3102F80A}"/>
              </a:ext>
            </a:extLst>
          </p:cNvPr>
          <p:cNvSpPr txBox="1"/>
          <p:nvPr/>
        </p:nvSpPr>
        <p:spPr>
          <a:xfrm>
            <a:off x="8047446" y="6815196"/>
            <a:ext cx="514254" cy="246221"/>
          </a:xfrm>
          <a:prstGeom prst="rect">
            <a:avLst/>
          </a:prstGeom>
          <a:noFill/>
        </p:spPr>
        <p:txBody>
          <a:bodyPr wrap="square" rtlCol="0">
            <a:spAutoFit/>
          </a:bodyPr>
          <a:lstStyle/>
          <a:p>
            <a:r>
              <a:rPr lang="en-US" sz="1000"/>
              <a:t>2,873</a:t>
            </a:r>
          </a:p>
        </p:txBody>
      </p:sp>
      <p:sp>
        <p:nvSpPr>
          <p:cNvPr id="1081" name="TextBox 1080">
            <a:extLst>
              <a:ext uri="{FF2B5EF4-FFF2-40B4-BE49-F238E27FC236}">
                <a16:creationId xmlns:a16="http://schemas.microsoft.com/office/drawing/2014/main" id="{36751A2C-C426-7E66-4BCD-40B8A4EFB99A}"/>
              </a:ext>
            </a:extLst>
          </p:cNvPr>
          <p:cNvSpPr txBox="1"/>
          <p:nvPr/>
        </p:nvSpPr>
        <p:spPr>
          <a:xfrm>
            <a:off x="8952560" y="6815196"/>
            <a:ext cx="514254" cy="246221"/>
          </a:xfrm>
          <a:prstGeom prst="rect">
            <a:avLst/>
          </a:prstGeom>
          <a:noFill/>
        </p:spPr>
        <p:txBody>
          <a:bodyPr wrap="square" rtlCol="0">
            <a:spAutoFit/>
          </a:bodyPr>
          <a:lstStyle/>
          <a:p>
            <a:r>
              <a:rPr lang="en-US" sz="1000"/>
              <a:t>2,802</a:t>
            </a:r>
          </a:p>
        </p:txBody>
      </p:sp>
      <p:sp>
        <p:nvSpPr>
          <p:cNvPr id="1083" name="Flowchart: Connector 1082">
            <a:extLst>
              <a:ext uri="{FF2B5EF4-FFF2-40B4-BE49-F238E27FC236}">
                <a16:creationId xmlns:a16="http://schemas.microsoft.com/office/drawing/2014/main" id="{AF355C44-38EC-07DD-2801-AF1EAF6122F9}"/>
              </a:ext>
            </a:extLst>
          </p:cNvPr>
          <p:cNvSpPr/>
          <p:nvPr/>
        </p:nvSpPr>
        <p:spPr>
          <a:xfrm>
            <a:off x="7456677" y="6031162"/>
            <a:ext cx="159244"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4</a:t>
            </a:r>
          </a:p>
        </p:txBody>
      </p:sp>
      <p:sp>
        <p:nvSpPr>
          <p:cNvPr id="1084" name="Flowchart: Connector 1083">
            <a:extLst>
              <a:ext uri="{FF2B5EF4-FFF2-40B4-BE49-F238E27FC236}">
                <a16:creationId xmlns:a16="http://schemas.microsoft.com/office/drawing/2014/main" id="{428939E5-FFCE-6792-D25E-1CFFA32EE7EB}"/>
              </a:ext>
            </a:extLst>
          </p:cNvPr>
          <p:cNvSpPr/>
          <p:nvPr/>
        </p:nvSpPr>
        <p:spPr>
          <a:xfrm>
            <a:off x="8387693" y="6579025"/>
            <a:ext cx="166312" cy="145144"/>
          </a:xfrm>
          <a:prstGeom prst="flowChartConnector">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4</a:t>
            </a:r>
          </a:p>
        </p:txBody>
      </p:sp>
      <p:sp>
        <p:nvSpPr>
          <p:cNvPr id="1085" name="TextBox 1084">
            <a:extLst>
              <a:ext uri="{FF2B5EF4-FFF2-40B4-BE49-F238E27FC236}">
                <a16:creationId xmlns:a16="http://schemas.microsoft.com/office/drawing/2014/main" id="{11626A14-76AC-CCD3-8468-6D7796C1ED80}"/>
              </a:ext>
            </a:extLst>
          </p:cNvPr>
          <p:cNvSpPr txBox="1"/>
          <p:nvPr/>
        </p:nvSpPr>
        <p:spPr>
          <a:xfrm>
            <a:off x="8533355" y="6528487"/>
            <a:ext cx="514254" cy="246221"/>
          </a:xfrm>
          <a:prstGeom prst="rect">
            <a:avLst/>
          </a:prstGeom>
          <a:noFill/>
        </p:spPr>
        <p:txBody>
          <a:bodyPr wrap="square" rtlCol="0">
            <a:spAutoFit/>
          </a:bodyPr>
          <a:lstStyle/>
          <a:p>
            <a:r>
              <a:rPr lang="en-US" sz="1000"/>
              <a:t>4,186</a:t>
            </a:r>
          </a:p>
        </p:txBody>
      </p:sp>
      <p:sp>
        <p:nvSpPr>
          <p:cNvPr id="1086" name="Rectangle 1085">
            <a:extLst>
              <a:ext uri="{FF2B5EF4-FFF2-40B4-BE49-F238E27FC236}">
                <a16:creationId xmlns:a16="http://schemas.microsoft.com/office/drawing/2014/main" id="{B9C7AD2C-F8B8-333E-FBDA-4BDB4B4F9A00}"/>
              </a:ext>
            </a:extLst>
          </p:cNvPr>
          <p:cNvSpPr/>
          <p:nvPr/>
        </p:nvSpPr>
        <p:spPr>
          <a:xfrm rot="5400000">
            <a:off x="7136065" y="4573950"/>
            <a:ext cx="530706" cy="44299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7" name="Rectangle 1086">
            <a:extLst>
              <a:ext uri="{FF2B5EF4-FFF2-40B4-BE49-F238E27FC236}">
                <a16:creationId xmlns:a16="http://schemas.microsoft.com/office/drawing/2014/main" id="{B628BE5F-3841-72E7-10F9-3B81F8677CA3}"/>
              </a:ext>
            </a:extLst>
          </p:cNvPr>
          <p:cNvSpPr/>
          <p:nvPr/>
        </p:nvSpPr>
        <p:spPr>
          <a:xfrm>
            <a:off x="446965" y="6528471"/>
            <a:ext cx="4461932" cy="5289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7">
            <a:extLst>
              <a:ext uri="{FF2B5EF4-FFF2-40B4-BE49-F238E27FC236}">
                <a16:creationId xmlns:a16="http://schemas.microsoft.com/office/drawing/2014/main" id="{7815456F-2394-A338-144F-05D1247AC6A4}"/>
              </a:ext>
            </a:extLst>
          </p:cNvPr>
          <p:cNvSpPr txBox="1">
            <a:spLocks/>
          </p:cNvSpPr>
          <p:nvPr/>
        </p:nvSpPr>
        <p:spPr>
          <a:xfrm>
            <a:off x="451349" y="1516195"/>
            <a:ext cx="9144000" cy="304337"/>
          </a:xfrm>
          <a:prstGeom prst="rect">
            <a:avLst/>
          </a:prstGeom>
          <a:solidFill>
            <a:srgbClr val="1E1F49"/>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Population Moves</a:t>
            </a:r>
          </a:p>
        </p:txBody>
      </p:sp>
    </p:spTree>
    <p:extLst>
      <p:ext uri="{BB962C8B-B14F-4D97-AF65-F5344CB8AC3E}">
        <p14:creationId xmlns:p14="http://schemas.microsoft.com/office/powerpoint/2010/main" val="1207849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2FF02-1491-4BCD-43C6-7D09D9C007BE}"/>
              </a:ext>
            </a:extLst>
          </p:cNvPr>
          <p:cNvSpPr>
            <a:spLocks noGrp="1"/>
          </p:cNvSpPr>
          <p:nvPr>
            <p:ph type="title"/>
          </p:nvPr>
        </p:nvSpPr>
        <p:spPr/>
        <p:txBody>
          <a:bodyPr/>
          <a:lstStyle/>
          <a:p>
            <a:r>
              <a:rPr lang="en-US"/>
              <a:t>Growth in Major Sun Belt Markets</a:t>
            </a:r>
          </a:p>
        </p:txBody>
      </p:sp>
      <p:sp>
        <p:nvSpPr>
          <p:cNvPr id="3" name="Text Placeholder 2">
            <a:extLst>
              <a:ext uri="{FF2B5EF4-FFF2-40B4-BE49-F238E27FC236}">
                <a16:creationId xmlns:a16="http://schemas.microsoft.com/office/drawing/2014/main" id="{1F375DEA-9F50-0A9D-1502-870A1659E9C4}"/>
              </a:ext>
            </a:extLst>
          </p:cNvPr>
          <p:cNvSpPr>
            <a:spLocks noGrp="1"/>
          </p:cNvSpPr>
          <p:nvPr>
            <p:ph type="body" sz="quarter" idx="18"/>
          </p:nvPr>
        </p:nvSpPr>
        <p:spPr/>
        <p:txBody>
          <a:bodyPr/>
          <a:lstStyle/>
          <a:p>
            <a:r>
              <a:rPr lang="en-US" i="1"/>
              <a:t>Exploring Potential in Key Cities located primarily in Texas and Florida</a:t>
            </a:r>
          </a:p>
        </p:txBody>
      </p:sp>
      <p:sp>
        <p:nvSpPr>
          <p:cNvPr id="4" name="Content Placeholder 3">
            <a:extLst>
              <a:ext uri="{FF2B5EF4-FFF2-40B4-BE49-F238E27FC236}">
                <a16:creationId xmlns:a16="http://schemas.microsoft.com/office/drawing/2014/main" id="{CC1CF6F9-A251-CDCB-0042-48876B3D0898}"/>
              </a:ext>
            </a:extLst>
          </p:cNvPr>
          <p:cNvSpPr>
            <a:spLocks noGrp="1"/>
          </p:cNvSpPr>
          <p:nvPr>
            <p:ph idx="10"/>
          </p:nvPr>
        </p:nvSpPr>
        <p:spPr>
          <a:xfrm>
            <a:off x="461623" y="1970965"/>
            <a:ext cx="4462272" cy="1965960"/>
          </a:xfrm>
        </p:spPr>
        <p:txBody>
          <a:bodyPr/>
          <a:lstStyle/>
          <a:p>
            <a:r>
              <a:rPr lang="en-US"/>
              <a:t>Top 10 most populous metropolitan areas</a:t>
            </a:r>
          </a:p>
          <a:p>
            <a:pPr lvl="1"/>
            <a:r>
              <a:rPr lang="en-US"/>
              <a:t>Adding ~17,500 residents per year, seeing 2% growth between 2020-2023</a:t>
            </a:r>
          </a:p>
          <a:p>
            <a:r>
              <a:rPr lang="en-US"/>
              <a:t>Includes cities such as Miami, Fort Lauderdale, and West Palm Beach</a:t>
            </a:r>
          </a:p>
          <a:p>
            <a:r>
              <a:rPr lang="en-US"/>
              <a:t>Highest net migration of any US state in 2021-2022</a:t>
            </a:r>
          </a:p>
        </p:txBody>
      </p:sp>
      <p:graphicFrame>
        <p:nvGraphicFramePr>
          <p:cNvPr id="14" name="Content Placeholder 13">
            <a:extLst>
              <a:ext uri="{FF2B5EF4-FFF2-40B4-BE49-F238E27FC236}">
                <a16:creationId xmlns:a16="http://schemas.microsoft.com/office/drawing/2014/main" id="{A7C4BA72-F7AF-85C4-B167-07BF266FE01A}"/>
              </a:ext>
            </a:extLst>
          </p:cNvPr>
          <p:cNvGraphicFramePr>
            <a:graphicFrameLocks noGrp="1"/>
          </p:cNvGraphicFramePr>
          <p:nvPr>
            <p:ph sz="quarter" idx="11"/>
            <p:extLst>
              <p:ext uri="{D42A27DB-BD31-4B8C-83A1-F6EECF244321}">
                <p14:modId xmlns:p14="http://schemas.microsoft.com/office/powerpoint/2010/main" val="780275680"/>
              </p:ext>
            </p:extLst>
          </p:nvPr>
        </p:nvGraphicFramePr>
        <p:xfrm>
          <a:off x="461963" y="3865569"/>
          <a:ext cx="4462462" cy="2607804"/>
        </p:xfrm>
        <a:graphic>
          <a:graphicData uri="http://schemas.openxmlformats.org/drawingml/2006/chart">
            <c:chart xmlns:c="http://schemas.openxmlformats.org/drawingml/2006/chart" xmlns:r="http://schemas.openxmlformats.org/officeDocument/2006/relationships" r:id="rId3"/>
          </a:graphicData>
        </a:graphic>
      </p:graphicFrame>
      <p:sp>
        <p:nvSpPr>
          <p:cNvPr id="6" name="Content Placeholder 5">
            <a:extLst>
              <a:ext uri="{FF2B5EF4-FFF2-40B4-BE49-F238E27FC236}">
                <a16:creationId xmlns:a16="http://schemas.microsoft.com/office/drawing/2014/main" id="{19C6456D-7529-4A3A-BA04-D335365B0F62}"/>
              </a:ext>
            </a:extLst>
          </p:cNvPr>
          <p:cNvSpPr>
            <a:spLocks noGrp="1"/>
          </p:cNvSpPr>
          <p:nvPr>
            <p:ph sz="quarter" idx="12"/>
          </p:nvPr>
        </p:nvSpPr>
        <p:spPr>
          <a:xfrm>
            <a:off x="5152651" y="1969746"/>
            <a:ext cx="4464119" cy="1965960"/>
          </a:xfrm>
        </p:spPr>
        <p:txBody>
          <a:bodyPr/>
          <a:lstStyle/>
          <a:p>
            <a:r>
              <a:rPr lang="en-US"/>
              <a:t>Grew 2.2% in 2022 while NY, LA, and Chicago experienced population loss</a:t>
            </a:r>
          </a:p>
          <a:p>
            <a:r>
              <a:rPr lang="en-US"/>
              <a:t>5</a:t>
            </a:r>
            <a:r>
              <a:rPr lang="en-US" baseline="30000"/>
              <a:t>th</a:t>
            </a:r>
            <a:r>
              <a:rPr lang="en-US"/>
              <a:t> fastest-growing economies out of top 50 US metropolitan areas</a:t>
            </a:r>
          </a:p>
          <a:p>
            <a:r>
              <a:rPr lang="en-US"/>
              <a:t>Local rate of job gain: 3.8% for August 2023 compared to National rate of 2%</a:t>
            </a:r>
          </a:p>
          <a:p>
            <a:r>
              <a:rPr lang="en-US"/>
              <a:t>Added 26,000 jobs in Business Services in Aug’ 23</a:t>
            </a:r>
          </a:p>
        </p:txBody>
      </p:sp>
      <p:sp>
        <p:nvSpPr>
          <p:cNvPr id="8" name="Content Placeholder 7">
            <a:extLst>
              <a:ext uri="{FF2B5EF4-FFF2-40B4-BE49-F238E27FC236}">
                <a16:creationId xmlns:a16="http://schemas.microsoft.com/office/drawing/2014/main" id="{80E69C4B-E6E7-2C99-2864-E407BB0B45A9}"/>
              </a:ext>
            </a:extLst>
          </p:cNvPr>
          <p:cNvSpPr>
            <a:spLocks noGrp="1"/>
          </p:cNvSpPr>
          <p:nvPr>
            <p:ph idx="19"/>
          </p:nvPr>
        </p:nvSpPr>
        <p:spPr>
          <a:xfrm>
            <a:off x="461623" y="1644576"/>
            <a:ext cx="4462272" cy="304337"/>
          </a:xfrm>
        </p:spPr>
        <p:txBody>
          <a:bodyPr/>
          <a:lstStyle/>
          <a:p>
            <a:r>
              <a:rPr lang="en-US"/>
              <a:t>Example 1: South Florida</a:t>
            </a:r>
          </a:p>
        </p:txBody>
      </p:sp>
      <p:sp>
        <p:nvSpPr>
          <p:cNvPr id="9" name="Content Placeholder 8">
            <a:extLst>
              <a:ext uri="{FF2B5EF4-FFF2-40B4-BE49-F238E27FC236}">
                <a16:creationId xmlns:a16="http://schemas.microsoft.com/office/drawing/2014/main" id="{C3AD5E3E-30A9-AAB6-E1E8-6A92703E850C}"/>
              </a:ext>
            </a:extLst>
          </p:cNvPr>
          <p:cNvSpPr>
            <a:spLocks noGrp="1"/>
          </p:cNvSpPr>
          <p:nvPr>
            <p:ph idx="20"/>
          </p:nvPr>
        </p:nvSpPr>
        <p:spPr>
          <a:xfrm>
            <a:off x="5152651" y="1644575"/>
            <a:ext cx="4462272" cy="304337"/>
          </a:xfrm>
        </p:spPr>
        <p:txBody>
          <a:bodyPr/>
          <a:lstStyle/>
          <a:p>
            <a:r>
              <a:rPr lang="en-US"/>
              <a:t>Example 2: Dallas</a:t>
            </a:r>
          </a:p>
        </p:txBody>
      </p:sp>
      <p:sp>
        <p:nvSpPr>
          <p:cNvPr id="10" name="Content Placeholder 9">
            <a:extLst>
              <a:ext uri="{FF2B5EF4-FFF2-40B4-BE49-F238E27FC236}">
                <a16:creationId xmlns:a16="http://schemas.microsoft.com/office/drawing/2014/main" id="{CA02FFD0-E132-E6E8-5446-BE2C5FC65138}"/>
              </a:ext>
            </a:extLst>
          </p:cNvPr>
          <p:cNvSpPr>
            <a:spLocks noGrp="1"/>
          </p:cNvSpPr>
          <p:nvPr>
            <p:ph idx="21"/>
          </p:nvPr>
        </p:nvSpPr>
        <p:spPr>
          <a:xfrm>
            <a:off x="461623" y="3561232"/>
            <a:ext cx="4462272" cy="304337"/>
          </a:xfrm>
        </p:spPr>
        <p:txBody>
          <a:bodyPr/>
          <a:lstStyle/>
          <a:p>
            <a:r>
              <a:rPr lang="en-US"/>
              <a:t>South Florida Growth</a:t>
            </a:r>
          </a:p>
        </p:txBody>
      </p:sp>
      <p:sp>
        <p:nvSpPr>
          <p:cNvPr id="11" name="Content Placeholder 10">
            <a:extLst>
              <a:ext uri="{FF2B5EF4-FFF2-40B4-BE49-F238E27FC236}">
                <a16:creationId xmlns:a16="http://schemas.microsoft.com/office/drawing/2014/main" id="{EB8915B9-3CD0-8178-8726-853A7D44C55C}"/>
              </a:ext>
            </a:extLst>
          </p:cNvPr>
          <p:cNvSpPr>
            <a:spLocks noGrp="1"/>
          </p:cNvSpPr>
          <p:nvPr>
            <p:ph idx="22"/>
          </p:nvPr>
        </p:nvSpPr>
        <p:spPr>
          <a:xfrm>
            <a:off x="5152651" y="3895859"/>
            <a:ext cx="4463745" cy="304337"/>
          </a:xfrm>
        </p:spPr>
        <p:txBody>
          <a:bodyPr/>
          <a:lstStyle/>
          <a:p>
            <a:r>
              <a:rPr lang="en-US"/>
              <a:t>Overall Population Growth</a:t>
            </a:r>
          </a:p>
        </p:txBody>
      </p:sp>
      <p:sp>
        <p:nvSpPr>
          <p:cNvPr id="15" name="Content Placeholder 3">
            <a:extLst>
              <a:ext uri="{FF2B5EF4-FFF2-40B4-BE49-F238E27FC236}">
                <a16:creationId xmlns:a16="http://schemas.microsoft.com/office/drawing/2014/main" id="{A36089F4-23F8-7D22-9025-1D6A4B8779FE}"/>
              </a:ext>
            </a:extLst>
          </p:cNvPr>
          <p:cNvSpPr txBox="1">
            <a:spLocks/>
          </p:cNvSpPr>
          <p:nvPr/>
        </p:nvSpPr>
        <p:spPr>
          <a:xfrm>
            <a:off x="462153" y="6321000"/>
            <a:ext cx="4462272" cy="567166"/>
          </a:xfrm>
          <a:prstGeom prst="rect">
            <a:avLst/>
          </a:prstGeom>
          <a:ln>
            <a:solidFill>
              <a:schemeClr val="tx1"/>
            </a:solidFill>
          </a:ln>
        </p:spPr>
        <p:txBody>
          <a:bodyPr vert="horz" lIns="91440" tIns="45720" rIns="91440" bIns="45720" rtlCol="0">
            <a:norm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algn="ctr">
              <a:spcBef>
                <a:spcPts val="0"/>
              </a:spcBef>
            </a:pPr>
            <a:r>
              <a:rPr lang="en-US"/>
              <a:t>NexPoint owns a significant # of properties in 4 out of the 5 counties</a:t>
            </a:r>
          </a:p>
        </p:txBody>
      </p:sp>
      <p:graphicFrame>
        <p:nvGraphicFramePr>
          <p:cNvPr id="16" name="Content Placeholder 15">
            <a:extLst>
              <a:ext uri="{FF2B5EF4-FFF2-40B4-BE49-F238E27FC236}">
                <a16:creationId xmlns:a16="http://schemas.microsoft.com/office/drawing/2014/main" id="{436B6339-C127-2F27-16C1-EE2ECED72EB8}"/>
              </a:ext>
            </a:extLst>
          </p:cNvPr>
          <p:cNvGraphicFramePr>
            <a:graphicFrameLocks noGrp="1"/>
          </p:cNvGraphicFramePr>
          <p:nvPr>
            <p:ph sz="quarter" idx="13"/>
            <p:extLst>
              <p:ext uri="{D42A27DB-BD31-4B8C-83A1-F6EECF244321}">
                <p14:modId xmlns:p14="http://schemas.microsoft.com/office/powerpoint/2010/main" val="4135808751"/>
              </p:ext>
            </p:extLst>
          </p:nvPr>
        </p:nvGraphicFramePr>
        <p:xfrm>
          <a:off x="5153025" y="4263775"/>
          <a:ext cx="4462463" cy="2856353"/>
        </p:xfrm>
        <a:graphic>
          <a:graphicData uri="http://schemas.openxmlformats.org/drawingml/2006/chart">
            <c:chart xmlns:c="http://schemas.openxmlformats.org/drawingml/2006/chart" xmlns:r="http://schemas.openxmlformats.org/officeDocument/2006/relationships" r:id="rId4"/>
          </a:graphicData>
        </a:graphic>
      </p:graphicFrame>
      <p:sp>
        <p:nvSpPr>
          <p:cNvPr id="5" name="Rectangle 4">
            <a:extLst>
              <a:ext uri="{FF2B5EF4-FFF2-40B4-BE49-F238E27FC236}">
                <a16:creationId xmlns:a16="http://schemas.microsoft.com/office/drawing/2014/main" id="{5C8B160C-1781-DEAD-0557-48364640056C}"/>
              </a:ext>
            </a:extLst>
          </p:cNvPr>
          <p:cNvSpPr/>
          <p:nvPr/>
        </p:nvSpPr>
        <p:spPr>
          <a:xfrm>
            <a:off x="5795682" y="4719918"/>
            <a:ext cx="2003612" cy="847164"/>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solidFill>
              <a:highlight>
                <a:srgbClr val="00FF00"/>
              </a:highlight>
            </a:endParaRPr>
          </a:p>
        </p:txBody>
      </p:sp>
    </p:spTree>
    <p:extLst>
      <p:ext uri="{BB962C8B-B14F-4D97-AF65-F5344CB8AC3E}">
        <p14:creationId xmlns:p14="http://schemas.microsoft.com/office/powerpoint/2010/main" val="1482590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2651D-74B8-21D6-0F4C-B90A08F68598}"/>
              </a:ext>
            </a:extLst>
          </p:cNvPr>
          <p:cNvSpPr>
            <a:spLocks noGrp="1"/>
          </p:cNvSpPr>
          <p:nvPr>
            <p:ph type="title"/>
          </p:nvPr>
        </p:nvSpPr>
        <p:spPr/>
        <p:txBody>
          <a:bodyPr/>
          <a:lstStyle/>
          <a:p>
            <a:r>
              <a:rPr lang="en-US"/>
              <a:t>Attracting Large Firms from HCOL Areas</a:t>
            </a:r>
          </a:p>
        </p:txBody>
      </p:sp>
      <p:sp>
        <p:nvSpPr>
          <p:cNvPr id="4" name="Text Placeholder 3">
            <a:extLst>
              <a:ext uri="{FF2B5EF4-FFF2-40B4-BE49-F238E27FC236}">
                <a16:creationId xmlns:a16="http://schemas.microsoft.com/office/drawing/2014/main" id="{66216C53-98AD-533E-57DF-37EEB24C15B4}"/>
              </a:ext>
            </a:extLst>
          </p:cNvPr>
          <p:cNvSpPr>
            <a:spLocks noGrp="1"/>
          </p:cNvSpPr>
          <p:nvPr>
            <p:ph type="body" sz="quarter" idx="18"/>
          </p:nvPr>
        </p:nvSpPr>
        <p:spPr/>
        <p:txBody>
          <a:bodyPr>
            <a:normAutofit/>
          </a:bodyPr>
          <a:lstStyle/>
          <a:p>
            <a:r>
              <a:rPr lang="en-US" i="1"/>
              <a:t> Tech and Finance companies are moving to the Sun Belt</a:t>
            </a:r>
          </a:p>
        </p:txBody>
      </p:sp>
      <p:sp>
        <p:nvSpPr>
          <p:cNvPr id="6" name="Content Placeholder 5">
            <a:extLst>
              <a:ext uri="{FF2B5EF4-FFF2-40B4-BE49-F238E27FC236}">
                <a16:creationId xmlns:a16="http://schemas.microsoft.com/office/drawing/2014/main" id="{9895463C-1D71-A2AD-44ED-F9AAC6DB6E5F}"/>
              </a:ext>
            </a:extLst>
          </p:cNvPr>
          <p:cNvSpPr>
            <a:spLocks noGrp="1"/>
          </p:cNvSpPr>
          <p:nvPr>
            <p:ph idx="19"/>
          </p:nvPr>
        </p:nvSpPr>
        <p:spPr>
          <a:xfrm>
            <a:off x="452433" y="4314160"/>
            <a:ext cx="9144000" cy="304337"/>
          </a:xfrm>
        </p:spPr>
        <p:txBody>
          <a:bodyPr/>
          <a:lstStyle/>
          <a:p>
            <a:r>
              <a:rPr lang="en-US"/>
              <a:t>NXRT Holdings in the Sunbelt</a:t>
            </a:r>
          </a:p>
        </p:txBody>
      </p:sp>
      <p:sp>
        <p:nvSpPr>
          <p:cNvPr id="7" name="Content Placeholder 6">
            <a:extLst>
              <a:ext uri="{FF2B5EF4-FFF2-40B4-BE49-F238E27FC236}">
                <a16:creationId xmlns:a16="http://schemas.microsoft.com/office/drawing/2014/main" id="{BDCB137E-061C-8668-6E84-C78CFC6EB1CE}"/>
              </a:ext>
            </a:extLst>
          </p:cNvPr>
          <p:cNvSpPr>
            <a:spLocks noGrp="1"/>
          </p:cNvSpPr>
          <p:nvPr>
            <p:ph idx="20"/>
          </p:nvPr>
        </p:nvSpPr>
        <p:spPr>
          <a:xfrm>
            <a:off x="379379" y="1895176"/>
            <a:ext cx="9319098" cy="2445688"/>
          </a:xfrm>
        </p:spPr>
        <p:txBody>
          <a:bodyPr/>
          <a:lstStyle/>
          <a:p>
            <a:pPr marL="284162" indent="-285750"/>
            <a:r>
              <a:rPr lang="en-US"/>
              <a:t>From 2019 to August 2023, 158 investment firms have relocated headquarters out of New York</a:t>
            </a:r>
          </a:p>
          <a:p>
            <a:pPr marL="457200" lvl="1" indent="-285750"/>
            <a:r>
              <a:rPr lang="en-US"/>
              <a:t>104 of these firms moved to Florida motivated by desires for LCOL and lower taxes</a:t>
            </a:r>
          </a:p>
          <a:p>
            <a:pPr marL="630237" lvl="2" indent="-285750"/>
            <a:r>
              <a:rPr lang="en-US"/>
              <a:t>Range of incentives offered, including tax refunds, tax credits, tax exemptions, and grants, designed to encourage job creation, capital investment, and economic growth.</a:t>
            </a:r>
          </a:p>
          <a:p>
            <a:pPr marL="630237" lvl="2" indent="-285750"/>
            <a:r>
              <a:rPr lang="en-US"/>
              <a:t>Economic development process involves partnerships between DEO, EFI, and other agencies, emphasizing transparency, accountability, and due diligence to protect taxpayers' investments while attracting and retaining businesses in the state.</a:t>
            </a:r>
          </a:p>
          <a:p>
            <a:pPr marL="284162" indent="-285750"/>
            <a:r>
              <a:rPr lang="en-US"/>
              <a:t>Texas received the most firms from the West Coast, most notably Charles Schwab moving HQ from SF to Dallas. While NY is still the frontrunner for HQ locations, the Sun Belt is attracting businesses and their workers</a:t>
            </a:r>
          </a:p>
        </p:txBody>
      </p:sp>
      <p:sp>
        <p:nvSpPr>
          <p:cNvPr id="8" name="Content Placeholder 7">
            <a:extLst>
              <a:ext uri="{FF2B5EF4-FFF2-40B4-BE49-F238E27FC236}">
                <a16:creationId xmlns:a16="http://schemas.microsoft.com/office/drawing/2014/main" id="{BC951098-F9DF-C199-51C6-9040D3EF7160}"/>
              </a:ext>
            </a:extLst>
          </p:cNvPr>
          <p:cNvSpPr>
            <a:spLocks noGrp="1"/>
          </p:cNvSpPr>
          <p:nvPr>
            <p:ph idx="21"/>
          </p:nvPr>
        </p:nvSpPr>
        <p:spPr>
          <a:xfrm>
            <a:off x="461623" y="1539119"/>
            <a:ext cx="9144000" cy="304337"/>
          </a:xfrm>
        </p:spPr>
        <p:txBody>
          <a:bodyPr/>
          <a:lstStyle/>
          <a:p>
            <a:r>
              <a:rPr lang="en-US"/>
              <a:t>Notable Moves within Finance Industry from NY and West Coast</a:t>
            </a:r>
          </a:p>
        </p:txBody>
      </p:sp>
      <p:sp>
        <p:nvSpPr>
          <p:cNvPr id="12" name="Content Placeholder 11">
            <a:extLst>
              <a:ext uri="{FF2B5EF4-FFF2-40B4-BE49-F238E27FC236}">
                <a16:creationId xmlns:a16="http://schemas.microsoft.com/office/drawing/2014/main" id="{4BFC902C-7583-0D78-3428-DCDA539F481E}"/>
              </a:ext>
            </a:extLst>
          </p:cNvPr>
          <p:cNvSpPr>
            <a:spLocks noGrp="1"/>
          </p:cNvSpPr>
          <p:nvPr>
            <p:ph idx="10"/>
          </p:nvPr>
        </p:nvSpPr>
        <p:spPr>
          <a:xfrm>
            <a:off x="379379" y="4682982"/>
            <a:ext cx="9217054" cy="1988124"/>
          </a:xfrm>
        </p:spPr>
        <p:txBody>
          <a:bodyPr/>
          <a:lstStyle/>
          <a:p>
            <a:r>
              <a:rPr lang="en-US"/>
              <a:t>Focused on properties in Southeastern and Southwestern US</a:t>
            </a:r>
          </a:p>
          <a:p>
            <a:pPr lvl="1"/>
            <a:r>
              <a:rPr lang="en-US"/>
              <a:t>High cost of homeownership and class A multifamily rentals</a:t>
            </a:r>
          </a:p>
          <a:p>
            <a:pPr lvl="1"/>
            <a:r>
              <a:rPr lang="en-US"/>
              <a:t>Driving people(especially younger population) to Class B, value add where NXRT specializes</a:t>
            </a:r>
          </a:p>
          <a:p>
            <a:pPr marL="284162" indent="-285750"/>
            <a:r>
              <a:rPr lang="en-US"/>
              <a:t>Own 40 multifamily properties: 15,127 units</a:t>
            </a:r>
          </a:p>
          <a:p>
            <a:pPr marL="457200" lvl="1" indent="-285750"/>
            <a:r>
              <a:rPr lang="en-US"/>
              <a:t>11 markets in 7 Southern States</a:t>
            </a:r>
          </a:p>
          <a:p>
            <a:pPr marL="457200" lvl="1" indent="-285750"/>
            <a:r>
              <a:rPr lang="en-US"/>
              <a:t>Average effective rent: $1,497</a:t>
            </a:r>
          </a:p>
          <a:p>
            <a:pPr marL="284162" indent="-285750"/>
            <a:r>
              <a:rPr lang="en-US"/>
              <a:t>Diversification of regions allows for geographic insulation and greater protection from location-specific catastrophes</a:t>
            </a:r>
          </a:p>
        </p:txBody>
      </p:sp>
    </p:spTree>
    <p:extLst>
      <p:ext uri="{BB962C8B-B14F-4D97-AF65-F5344CB8AC3E}">
        <p14:creationId xmlns:p14="http://schemas.microsoft.com/office/powerpoint/2010/main" val="749747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B8624-BBF0-EE61-5263-618EF4681C61}"/>
              </a:ext>
            </a:extLst>
          </p:cNvPr>
          <p:cNvSpPr>
            <a:spLocks noGrp="1"/>
          </p:cNvSpPr>
          <p:nvPr>
            <p:ph type="title"/>
          </p:nvPr>
        </p:nvSpPr>
        <p:spPr/>
        <p:txBody>
          <a:bodyPr/>
          <a:lstStyle/>
          <a:p>
            <a:r>
              <a:rPr lang="en-US"/>
              <a:t>Potential for Future Growth</a:t>
            </a:r>
          </a:p>
        </p:txBody>
      </p:sp>
      <p:sp>
        <p:nvSpPr>
          <p:cNvPr id="3" name="Text Placeholder 2">
            <a:extLst>
              <a:ext uri="{FF2B5EF4-FFF2-40B4-BE49-F238E27FC236}">
                <a16:creationId xmlns:a16="http://schemas.microsoft.com/office/drawing/2014/main" id="{8513F337-29DE-191C-7FD0-56CEE8552CCD}"/>
              </a:ext>
            </a:extLst>
          </p:cNvPr>
          <p:cNvSpPr>
            <a:spLocks noGrp="1"/>
          </p:cNvSpPr>
          <p:nvPr>
            <p:ph type="body" sz="quarter" idx="18"/>
          </p:nvPr>
        </p:nvSpPr>
        <p:spPr>
          <a:xfrm>
            <a:off x="461963" y="1248828"/>
            <a:ext cx="9144000" cy="355600"/>
          </a:xfrm>
        </p:spPr>
        <p:txBody>
          <a:bodyPr/>
          <a:lstStyle/>
          <a:p>
            <a:r>
              <a:rPr lang="en-US" i="1"/>
              <a:t>Large number of firms still in NY and SF provide potential for future movement as well as future commercialization</a:t>
            </a:r>
          </a:p>
        </p:txBody>
      </p:sp>
      <p:sp>
        <p:nvSpPr>
          <p:cNvPr id="4" name="Content Placeholder 3">
            <a:extLst>
              <a:ext uri="{FF2B5EF4-FFF2-40B4-BE49-F238E27FC236}">
                <a16:creationId xmlns:a16="http://schemas.microsoft.com/office/drawing/2014/main" id="{EC224455-CD2D-D846-1ECA-CC1C81BF6E1B}"/>
              </a:ext>
            </a:extLst>
          </p:cNvPr>
          <p:cNvSpPr>
            <a:spLocks noGrp="1"/>
          </p:cNvSpPr>
          <p:nvPr>
            <p:ph idx="10"/>
          </p:nvPr>
        </p:nvSpPr>
        <p:spPr>
          <a:xfrm>
            <a:off x="461623" y="1899045"/>
            <a:ext cx="4462272" cy="2816793"/>
          </a:xfrm>
        </p:spPr>
        <p:txBody>
          <a:bodyPr>
            <a:normAutofit/>
          </a:bodyPr>
          <a:lstStyle/>
          <a:p>
            <a:r>
              <a:rPr lang="en-US"/>
              <a:t>Full commercialization of growing cities like Tampa, Nashville, and Raleigh has yet to come to fruition</a:t>
            </a:r>
          </a:p>
          <a:p>
            <a:r>
              <a:rPr lang="en-US"/>
              <a:t>Austin, for example, is very promising for job growth and firm presence; Silicon Hills</a:t>
            </a:r>
          </a:p>
          <a:p>
            <a:pPr lvl="1"/>
            <a:r>
              <a:rPr lang="en-US"/>
              <a:t>Educational opportunities at top tier institutions attracts top talent pool</a:t>
            </a:r>
          </a:p>
          <a:p>
            <a:pPr lvl="1"/>
            <a:r>
              <a:rPr lang="en-US"/>
              <a:t>Companies respond by following talent which is cheaper than NY or similar hubs</a:t>
            </a:r>
          </a:p>
          <a:p>
            <a:r>
              <a:rPr lang="en-US"/>
              <a:t>Positive feedback loop encouraging modernization which feeds into labor expansion</a:t>
            </a:r>
          </a:p>
          <a:p>
            <a:endParaRPr lang="en-US"/>
          </a:p>
        </p:txBody>
      </p:sp>
      <p:sp>
        <p:nvSpPr>
          <p:cNvPr id="5" name="Content Placeholder 4">
            <a:extLst>
              <a:ext uri="{FF2B5EF4-FFF2-40B4-BE49-F238E27FC236}">
                <a16:creationId xmlns:a16="http://schemas.microsoft.com/office/drawing/2014/main" id="{12CEE14D-A8B8-0D3C-FBE8-6A4B1DEF9F5E}"/>
              </a:ext>
            </a:extLst>
          </p:cNvPr>
          <p:cNvSpPr>
            <a:spLocks noGrp="1"/>
          </p:cNvSpPr>
          <p:nvPr>
            <p:ph sz="quarter" idx="12"/>
          </p:nvPr>
        </p:nvSpPr>
        <p:spPr>
          <a:xfrm>
            <a:off x="5152651" y="1928647"/>
            <a:ext cx="4464119" cy="5109150"/>
          </a:xfrm>
        </p:spPr>
        <p:txBody>
          <a:bodyPr/>
          <a:lstStyle/>
          <a:p>
            <a:r>
              <a:rPr lang="en-US" b="1"/>
              <a:t>New York: </a:t>
            </a:r>
            <a:r>
              <a:rPr lang="en-US"/>
              <a:t>more than 250,000 have headquarters in NY and 43 of the companies in the S&amp;P 500</a:t>
            </a:r>
          </a:p>
          <a:p>
            <a:pPr lvl="1"/>
            <a:r>
              <a:rPr lang="en-US"/>
              <a:t>Over 35% of employment income comes from financial services and ~350,000 individuals</a:t>
            </a:r>
          </a:p>
          <a:p>
            <a:pPr lvl="1"/>
            <a:r>
              <a:rPr lang="en-US"/>
              <a:t>25% of the working population is &lt;29 yrs old</a:t>
            </a:r>
          </a:p>
          <a:p>
            <a:r>
              <a:rPr lang="en-US" b="1"/>
              <a:t>San Francisco: </a:t>
            </a:r>
            <a:r>
              <a:rPr lang="en-US"/>
              <a:t>close to 35,000 employers in SF with close to 650,000 employed</a:t>
            </a:r>
          </a:p>
          <a:p>
            <a:pPr lvl="1"/>
            <a:r>
              <a:rPr lang="en-US"/>
              <a:t>Large portion of firms in tech industry which is tending to migrate south (Texas).</a:t>
            </a:r>
          </a:p>
        </p:txBody>
      </p:sp>
      <p:sp>
        <p:nvSpPr>
          <p:cNvPr id="6" name="Content Placeholder 5">
            <a:extLst>
              <a:ext uri="{FF2B5EF4-FFF2-40B4-BE49-F238E27FC236}">
                <a16:creationId xmlns:a16="http://schemas.microsoft.com/office/drawing/2014/main" id="{0F7B851C-37B7-B9A3-2626-23C374F986CF}"/>
              </a:ext>
            </a:extLst>
          </p:cNvPr>
          <p:cNvSpPr>
            <a:spLocks noGrp="1"/>
          </p:cNvSpPr>
          <p:nvPr>
            <p:ph idx="19"/>
          </p:nvPr>
        </p:nvSpPr>
        <p:spPr>
          <a:xfrm>
            <a:off x="461623" y="1593206"/>
            <a:ext cx="4462272" cy="304337"/>
          </a:xfrm>
        </p:spPr>
        <p:txBody>
          <a:bodyPr/>
          <a:lstStyle/>
          <a:p>
            <a:r>
              <a:rPr lang="en-US"/>
              <a:t>Commercialization of up-and-coming cities</a:t>
            </a:r>
          </a:p>
        </p:txBody>
      </p:sp>
      <p:sp>
        <p:nvSpPr>
          <p:cNvPr id="7" name="Content Placeholder 6">
            <a:extLst>
              <a:ext uri="{FF2B5EF4-FFF2-40B4-BE49-F238E27FC236}">
                <a16:creationId xmlns:a16="http://schemas.microsoft.com/office/drawing/2014/main" id="{91249EC4-5BA8-1045-F537-684B9335370F}"/>
              </a:ext>
            </a:extLst>
          </p:cNvPr>
          <p:cNvSpPr>
            <a:spLocks noGrp="1"/>
          </p:cNvSpPr>
          <p:nvPr>
            <p:ph idx="20"/>
          </p:nvPr>
        </p:nvSpPr>
        <p:spPr>
          <a:xfrm>
            <a:off x="5152651" y="1593205"/>
            <a:ext cx="4462272" cy="304337"/>
          </a:xfrm>
        </p:spPr>
        <p:txBody>
          <a:bodyPr/>
          <a:lstStyle/>
          <a:p>
            <a:r>
              <a:rPr lang="en-US"/>
              <a:t>Future migration of companies</a:t>
            </a:r>
          </a:p>
        </p:txBody>
      </p:sp>
      <p:sp>
        <p:nvSpPr>
          <p:cNvPr id="10" name="Content Placeholder 5">
            <a:extLst>
              <a:ext uri="{FF2B5EF4-FFF2-40B4-BE49-F238E27FC236}">
                <a16:creationId xmlns:a16="http://schemas.microsoft.com/office/drawing/2014/main" id="{26F9D61A-91CF-D970-31BD-161DAD8CF0D9}"/>
              </a:ext>
            </a:extLst>
          </p:cNvPr>
          <p:cNvSpPr txBox="1">
            <a:spLocks/>
          </p:cNvSpPr>
          <p:nvPr/>
        </p:nvSpPr>
        <p:spPr>
          <a:xfrm>
            <a:off x="470187" y="4663464"/>
            <a:ext cx="4462272" cy="304337"/>
          </a:xfrm>
          <a:prstGeom prst="rect">
            <a:avLst/>
          </a:prstGeom>
          <a:solidFill>
            <a:srgbClr val="1E1F49"/>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Strong Education Opportunities</a:t>
            </a:r>
          </a:p>
        </p:txBody>
      </p:sp>
      <p:sp>
        <p:nvSpPr>
          <p:cNvPr id="11" name="Content Placeholder 3">
            <a:extLst>
              <a:ext uri="{FF2B5EF4-FFF2-40B4-BE49-F238E27FC236}">
                <a16:creationId xmlns:a16="http://schemas.microsoft.com/office/drawing/2014/main" id="{A94A6128-AC10-A950-168D-CB9E0BF1B1F5}"/>
              </a:ext>
            </a:extLst>
          </p:cNvPr>
          <p:cNvSpPr txBox="1">
            <a:spLocks/>
          </p:cNvSpPr>
          <p:nvPr/>
        </p:nvSpPr>
        <p:spPr>
          <a:xfrm>
            <a:off x="470187" y="4989844"/>
            <a:ext cx="4462272" cy="2284255"/>
          </a:xfrm>
          <a:prstGeom prst="rect">
            <a:avLst/>
          </a:prstGeom>
        </p:spPr>
        <p:txBody>
          <a:bodyPr vert="horz" lIns="91440" tIns="45720" rIns="91440" bIns="45720" rtlCol="0">
            <a:norm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b="1"/>
              <a:t>Post-Secondary Education</a:t>
            </a:r>
            <a:r>
              <a:rPr lang="en-US"/>
              <a:t>:</a:t>
            </a:r>
            <a:r>
              <a:rPr lang="en-US" b="1"/>
              <a:t> </a:t>
            </a:r>
            <a:r>
              <a:rPr lang="en-US"/>
              <a:t>strong universities such as the University of Texas system, Rice, Texas A&amp;M, Duke, Vanderbilt, UNC, Emory, </a:t>
            </a:r>
          </a:p>
          <a:p>
            <a:pPr lvl="1"/>
            <a:r>
              <a:rPr lang="en-US"/>
              <a:t>Around 20% of the top universities are in the sunbelt and make up the biggest in the US</a:t>
            </a:r>
          </a:p>
          <a:p>
            <a:r>
              <a:rPr lang="en-US" b="1"/>
              <a:t>Secondary and Primary:</a:t>
            </a:r>
            <a:r>
              <a:rPr lang="en-US"/>
              <a:t> </a:t>
            </a:r>
          </a:p>
          <a:p>
            <a:pPr lvl="1"/>
            <a:r>
              <a:rPr lang="en-US"/>
              <a:t>States like Texas and Florida have large number of students passing through successful schools</a:t>
            </a:r>
          </a:p>
        </p:txBody>
      </p:sp>
      <p:pic>
        <p:nvPicPr>
          <p:cNvPr id="14" name="Picture 13">
            <a:extLst>
              <a:ext uri="{FF2B5EF4-FFF2-40B4-BE49-F238E27FC236}">
                <a16:creationId xmlns:a16="http://schemas.microsoft.com/office/drawing/2014/main" id="{2A90DE6C-4498-0DE6-37C5-425C43AAB199}"/>
              </a:ext>
            </a:extLst>
          </p:cNvPr>
          <p:cNvPicPr>
            <a:picLocks noChangeAspect="1"/>
          </p:cNvPicPr>
          <p:nvPr/>
        </p:nvPicPr>
        <p:blipFill rotWithShape="1">
          <a:blip r:embed="rId3"/>
          <a:srcRect t="2909" b="4701"/>
          <a:stretch/>
        </p:blipFill>
        <p:spPr>
          <a:xfrm>
            <a:off x="5660771" y="4231296"/>
            <a:ext cx="3471037" cy="2842039"/>
          </a:xfrm>
          <a:prstGeom prst="rect">
            <a:avLst/>
          </a:prstGeom>
        </p:spPr>
      </p:pic>
    </p:spTree>
    <p:extLst>
      <p:ext uri="{BB962C8B-B14F-4D97-AF65-F5344CB8AC3E}">
        <p14:creationId xmlns:p14="http://schemas.microsoft.com/office/powerpoint/2010/main" val="4033660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68313-F1A7-2F4C-1AF1-9B48910D459B}"/>
              </a:ext>
            </a:extLst>
          </p:cNvPr>
          <p:cNvSpPr>
            <a:spLocks noGrp="1"/>
          </p:cNvSpPr>
          <p:nvPr>
            <p:ph type="title"/>
          </p:nvPr>
        </p:nvSpPr>
        <p:spPr>
          <a:xfrm>
            <a:off x="461623" y="365467"/>
            <a:ext cx="9144000" cy="731520"/>
          </a:xfrm>
        </p:spPr>
        <p:txBody>
          <a:bodyPr anchor="b">
            <a:normAutofit/>
          </a:bodyPr>
          <a:lstStyle/>
          <a:p>
            <a:r>
              <a:rPr lang="en-US"/>
              <a:t>NXRT Sunbelt Holdings</a:t>
            </a:r>
          </a:p>
        </p:txBody>
      </p:sp>
      <p:pic>
        <p:nvPicPr>
          <p:cNvPr id="7" name="Content Placeholder 6">
            <a:extLst>
              <a:ext uri="{FF2B5EF4-FFF2-40B4-BE49-F238E27FC236}">
                <a16:creationId xmlns:a16="http://schemas.microsoft.com/office/drawing/2014/main" id="{064E7C12-C731-C3E4-D9A5-54E9B2330C54}"/>
              </a:ext>
            </a:extLst>
          </p:cNvPr>
          <p:cNvPicPr>
            <a:picLocks noGrp="1" noChangeAspect="1"/>
          </p:cNvPicPr>
          <p:nvPr>
            <p:ph idx="1"/>
          </p:nvPr>
        </p:nvPicPr>
        <p:blipFill rotWithShape="1">
          <a:blip r:embed="rId3"/>
          <a:srcRect l="3021"/>
          <a:stretch/>
        </p:blipFill>
        <p:spPr>
          <a:xfrm>
            <a:off x="609600" y="1900256"/>
            <a:ext cx="8585200" cy="5108196"/>
          </a:xfrm>
          <a:noFill/>
        </p:spPr>
      </p:pic>
      <p:sp>
        <p:nvSpPr>
          <p:cNvPr id="4" name="Text Placeholder 3">
            <a:extLst>
              <a:ext uri="{FF2B5EF4-FFF2-40B4-BE49-F238E27FC236}">
                <a16:creationId xmlns:a16="http://schemas.microsoft.com/office/drawing/2014/main" id="{79D2253E-AC8B-9085-9B84-56E7855F0D1E}"/>
              </a:ext>
            </a:extLst>
          </p:cNvPr>
          <p:cNvSpPr>
            <a:spLocks noGrp="1"/>
          </p:cNvSpPr>
          <p:nvPr>
            <p:ph type="body" sz="quarter" idx="10"/>
          </p:nvPr>
        </p:nvSpPr>
        <p:spPr>
          <a:xfrm>
            <a:off x="461623" y="1310087"/>
            <a:ext cx="9144000" cy="906610"/>
          </a:xfrm>
        </p:spPr>
        <p:txBody>
          <a:bodyPr anchor="ctr">
            <a:normAutofit/>
          </a:bodyPr>
          <a:lstStyle/>
          <a:p>
            <a:r>
              <a:rPr lang="en-US"/>
              <a:t>NXRT’s holdings are concentrated in areas of high growth with great potential for increase in population and renters in young target segment</a:t>
            </a:r>
          </a:p>
        </p:txBody>
      </p:sp>
    </p:spTree>
    <p:extLst>
      <p:ext uri="{BB962C8B-B14F-4D97-AF65-F5344CB8AC3E}">
        <p14:creationId xmlns:p14="http://schemas.microsoft.com/office/powerpoint/2010/main" val="4203324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06305-D84E-1914-75DA-9A7F622C007E}"/>
              </a:ext>
            </a:extLst>
          </p:cNvPr>
          <p:cNvSpPr>
            <a:spLocks noGrp="1"/>
          </p:cNvSpPr>
          <p:nvPr>
            <p:ph type="title"/>
          </p:nvPr>
        </p:nvSpPr>
        <p:spPr/>
        <p:txBody>
          <a:bodyPr/>
          <a:lstStyle/>
          <a:p>
            <a:r>
              <a:rPr lang="en-US"/>
              <a:t>Thesis 2: Value-Add Program</a:t>
            </a:r>
          </a:p>
        </p:txBody>
      </p:sp>
      <p:sp>
        <p:nvSpPr>
          <p:cNvPr id="3" name="Title 1">
            <a:extLst>
              <a:ext uri="{FF2B5EF4-FFF2-40B4-BE49-F238E27FC236}">
                <a16:creationId xmlns:a16="http://schemas.microsoft.com/office/drawing/2014/main" id="{1DCF073A-D2BF-7A15-49B7-63D00129229D}"/>
              </a:ext>
            </a:extLst>
          </p:cNvPr>
          <p:cNvSpPr txBox="1">
            <a:spLocks/>
          </p:cNvSpPr>
          <p:nvPr/>
        </p:nvSpPr>
        <p:spPr>
          <a:xfrm>
            <a:off x="457200" y="4040124"/>
            <a:ext cx="9144000" cy="731520"/>
          </a:xfrm>
          <a:prstGeom prst="rect">
            <a:avLst/>
          </a:prstGeom>
        </p:spPr>
        <p:txBody>
          <a:bodyPr vert="horz" lIns="0" tIns="0" rIns="0" bIns="0" rtlCol="0" anchor="t">
            <a:noAutofit/>
          </a:bodyPr>
          <a:lstStyle>
            <a:lvl1pPr algn="l" defTabSz="1005840" rtl="0" eaLnBrk="1" latinLnBrk="0" hangingPunct="1">
              <a:lnSpc>
                <a:spcPct val="90000"/>
              </a:lnSpc>
              <a:spcBef>
                <a:spcPct val="0"/>
              </a:spcBef>
              <a:buNone/>
              <a:defRPr sz="3200" b="1" kern="1200">
                <a:solidFill>
                  <a:schemeClr val="tx1"/>
                </a:solidFill>
                <a:latin typeface="+mj-lt"/>
                <a:ea typeface="+mj-ea"/>
                <a:cs typeface="+mj-cs"/>
              </a:defRPr>
            </a:lvl1pPr>
          </a:lstStyle>
          <a:p>
            <a:endParaRPr lang="en-US" sz="2000" b="0"/>
          </a:p>
        </p:txBody>
      </p:sp>
      <p:sp>
        <p:nvSpPr>
          <p:cNvPr id="4" name="Title 1">
            <a:extLst>
              <a:ext uri="{FF2B5EF4-FFF2-40B4-BE49-F238E27FC236}">
                <a16:creationId xmlns:a16="http://schemas.microsoft.com/office/drawing/2014/main" id="{A508976C-35C1-EAB6-1203-94B362C1978B}"/>
              </a:ext>
            </a:extLst>
          </p:cNvPr>
          <p:cNvSpPr txBox="1">
            <a:spLocks/>
          </p:cNvSpPr>
          <p:nvPr/>
        </p:nvSpPr>
        <p:spPr>
          <a:xfrm>
            <a:off x="457200" y="4013215"/>
            <a:ext cx="9144000" cy="731520"/>
          </a:xfrm>
          <a:prstGeom prst="rect">
            <a:avLst/>
          </a:prstGeom>
        </p:spPr>
        <p:txBody>
          <a:bodyPr vert="horz" lIns="0" tIns="0" rIns="0" bIns="0" rtlCol="0" anchor="t">
            <a:noAutofit/>
          </a:bodyPr>
          <a:lstStyle>
            <a:lvl1pPr algn="l" defTabSz="100584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000" b="0"/>
              <a:t>Katherine Chen</a:t>
            </a:r>
          </a:p>
        </p:txBody>
      </p:sp>
    </p:spTree>
    <p:extLst>
      <p:ext uri="{BB962C8B-B14F-4D97-AF65-F5344CB8AC3E}">
        <p14:creationId xmlns:p14="http://schemas.microsoft.com/office/powerpoint/2010/main" val="697803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0FDE2DD-FDB8-9DFE-E826-8B73A16C78F8}"/>
              </a:ext>
            </a:extLst>
          </p:cNvPr>
          <p:cNvSpPr>
            <a:spLocks noGrp="1"/>
          </p:cNvSpPr>
          <p:nvPr>
            <p:ph idx="21"/>
          </p:nvPr>
        </p:nvSpPr>
        <p:spPr>
          <a:xfrm>
            <a:off x="5218742" y="1550940"/>
            <a:ext cx="4386880" cy="310525"/>
          </a:xfrm>
        </p:spPr>
        <p:txBody>
          <a:bodyPr/>
          <a:lstStyle/>
          <a:p>
            <a:r>
              <a:rPr lang="en-US"/>
              <a:t>Three-tiered Value Add Program</a:t>
            </a:r>
          </a:p>
        </p:txBody>
      </p:sp>
      <p:sp>
        <p:nvSpPr>
          <p:cNvPr id="12" name="Title 1">
            <a:extLst>
              <a:ext uri="{FF2B5EF4-FFF2-40B4-BE49-F238E27FC236}">
                <a16:creationId xmlns:a16="http://schemas.microsoft.com/office/drawing/2014/main" id="{89668ED8-F9CF-A58C-B967-AD04F84791AE}"/>
              </a:ext>
            </a:extLst>
          </p:cNvPr>
          <p:cNvSpPr>
            <a:spLocks noGrp="1"/>
          </p:cNvSpPr>
          <p:nvPr>
            <p:ph type="title"/>
          </p:nvPr>
        </p:nvSpPr>
        <p:spPr>
          <a:xfrm>
            <a:off x="461623" y="365467"/>
            <a:ext cx="9144000" cy="731520"/>
          </a:xfrm>
        </p:spPr>
        <p:txBody>
          <a:bodyPr/>
          <a:lstStyle/>
          <a:p>
            <a:r>
              <a:rPr lang="en-US"/>
              <a:t>Value-Add Program At A Glance</a:t>
            </a:r>
          </a:p>
        </p:txBody>
      </p:sp>
      <p:sp>
        <p:nvSpPr>
          <p:cNvPr id="13" name="Text Placeholder 3">
            <a:extLst>
              <a:ext uri="{FF2B5EF4-FFF2-40B4-BE49-F238E27FC236}">
                <a16:creationId xmlns:a16="http://schemas.microsoft.com/office/drawing/2014/main" id="{F4C95296-75EB-F112-0EB4-9142FD30155A}"/>
              </a:ext>
            </a:extLst>
          </p:cNvPr>
          <p:cNvSpPr>
            <a:spLocks noGrp="1"/>
          </p:cNvSpPr>
          <p:nvPr>
            <p:ph type="body" sz="quarter" idx="18"/>
          </p:nvPr>
        </p:nvSpPr>
        <p:spPr>
          <a:xfrm>
            <a:off x="461963" y="1248828"/>
            <a:ext cx="9144000" cy="313398"/>
          </a:xfrm>
        </p:spPr>
        <p:txBody>
          <a:bodyPr>
            <a:normAutofit/>
          </a:bodyPr>
          <a:lstStyle/>
          <a:p>
            <a:r>
              <a:rPr lang="en-US" sz="1600" i="1" err="1"/>
              <a:t>Nexpoint</a:t>
            </a:r>
            <a:r>
              <a:rPr lang="en-US" sz="1600" i="1"/>
              <a:t> employs a value-add program in most of their acquisitions</a:t>
            </a:r>
          </a:p>
        </p:txBody>
      </p:sp>
      <p:sp>
        <p:nvSpPr>
          <p:cNvPr id="21" name="Content Placeholder 5">
            <a:extLst>
              <a:ext uri="{FF2B5EF4-FFF2-40B4-BE49-F238E27FC236}">
                <a16:creationId xmlns:a16="http://schemas.microsoft.com/office/drawing/2014/main" id="{FD7FDA44-243D-E57A-88F9-7793D3EA55B9}"/>
              </a:ext>
            </a:extLst>
          </p:cNvPr>
          <p:cNvSpPr txBox="1">
            <a:spLocks/>
          </p:cNvSpPr>
          <p:nvPr/>
        </p:nvSpPr>
        <p:spPr>
          <a:xfrm>
            <a:off x="5218742" y="1929052"/>
            <a:ext cx="4303163" cy="3000467"/>
          </a:xfrm>
          <a:prstGeom prst="rect">
            <a:avLst/>
          </a:prstGeom>
        </p:spPr>
        <p:txBody>
          <a:bodyPr vert="horz" lIns="91440" tIns="45720" rIns="91440" bIns="45720" rtlCol="0">
            <a:no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lgn="just">
              <a:spcBef>
                <a:spcPts val="200"/>
              </a:spcBef>
              <a:buNone/>
            </a:pPr>
            <a:r>
              <a:rPr lang="en-US" b="1"/>
              <a:t>Interior Value-Add</a:t>
            </a:r>
          </a:p>
          <a:p>
            <a:pPr algn="just">
              <a:spcBef>
                <a:spcPts val="200"/>
              </a:spcBef>
            </a:pPr>
            <a:r>
              <a:rPr lang="en-US"/>
              <a:t>Primary driver of rent and NOI growth</a:t>
            </a:r>
          </a:p>
          <a:p>
            <a:pPr algn="just">
              <a:spcBef>
                <a:spcPts val="200"/>
              </a:spcBef>
            </a:pPr>
            <a:r>
              <a:rPr lang="en-US"/>
              <a:t>Invested in better interior amenities and aesthetics</a:t>
            </a:r>
          </a:p>
          <a:p>
            <a:pPr algn="just">
              <a:spcBef>
                <a:spcPts val="200"/>
              </a:spcBef>
            </a:pPr>
            <a:r>
              <a:rPr lang="en-US"/>
              <a:t>i.e. aesthetic design improvements, replacement of outdated appliances, smart technology</a:t>
            </a:r>
          </a:p>
          <a:p>
            <a:pPr marL="0" indent="0" algn="just">
              <a:spcBef>
                <a:spcPts val="200"/>
              </a:spcBef>
              <a:buNone/>
            </a:pPr>
            <a:r>
              <a:rPr lang="en-US" b="1"/>
              <a:t>Exterior Value-Add</a:t>
            </a:r>
          </a:p>
          <a:p>
            <a:pPr algn="just">
              <a:spcBef>
                <a:spcPts val="200"/>
              </a:spcBef>
            </a:pPr>
            <a:r>
              <a:rPr lang="en-US"/>
              <a:t>Secondary driver of rent and NOI growth</a:t>
            </a:r>
          </a:p>
          <a:p>
            <a:pPr algn="just">
              <a:spcBef>
                <a:spcPts val="200"/>
              </a:spcBef>
            </a:pPr>
            <a:r>
              <a:rPr lang="en-US"/>
              <a:t>Extend building lifetime and improve aesthetics</a:t>
            </a:r>
          </a:p>
          <a:p>
            <a:pPr algn="just">
              <a:spcBef>
                <a:spcPts val="200"/>
              </a:spcBef>
            </a:pPr>
            <a:r>
              <a:rPr lang="en-US"/>
              <a:t>i.e. exterior design improvements, redecoration</a:t>
            </a:r>
          </a:p>
          <a:p>
            <a:pPr marL="0" indent="0" algn="just">
              <a:spcBef>
                <a:spcPts val="200"/>
              </a:spcBef>
              <a:buNone/>
            </a:pPr>
            <a:r>
              <a:rPr lang="en-US" b="1"/>
              <a:t>Management and Cost Improvements</a:t>
            </a:r>
          </a:p>
          <a:p>
            <a:pPr algn="just">
              <a:spcBef>
                <a:spcPts val="200"/>
              </a:spcBef>
            </a:pPr>
            <a:r>
              <a:rPr lang="en-US"/>
              <a:t>Investments in strategic initiatives such as energy conservation projects and longer-lived materials</a:t>
            </a:r>
          </a:p>
        </p:txBody>
      </p:sp>
      <p:graphicFrame>
        <p:nvGraphicFramePr>
          <p:cNvPr id="5" name="Chart 4">
            <a:extLst>
              <a:ext uri="{FF2B5EF4-FFF2-40B4-BE49-F238E27FC236}">
                <a16:creationId xmlns:a16="http://schemas.microsoft.com/office/drawing/2014/main" id="{7A84F708-4875-467B-DC28-2651B0C68E73}"/>
              </a:ext>
            </a:extLst>
          </p:cNvPr>
          <p:cNvGraphicFramePr/>
          <p:nvPr>
            <p:extLst>
              <p:ext uri="{D42A27DB-BD31-4B8C-83A1-F6EECF244321}">
                <p14:modId xmlns:p14="http://schemas.microsoft.com/office/powerpoint/2010/main" val="3342120137"/>
              </p:ext>
            </p:extLst>
          </p:nvPr>
        </p:nvGraphicFramePr>
        <p:xfrm>
          <a:off x="5529857" y="4929519"/>
          <a:ext cx="3797178" cy="2026027"/>
        </p:xfrm>
        <a:graphic>
          <a:graphicData uri="http://schemas.openxmlformats.org/drawingml/2006/chart">
            <c:chart xmlns:c="http://schemas.openxmlformats.org/drawingml/2006/chart" xmlns:r="http://schemas.openxmlformats.org/officeDocument/2006/relationships" r:id="rId3"/>
          </a:graphicData>
        </a:graphic>
      </p:graphicFrame>
      <p:sp>
        <p:nvSpPr>
          <p:cNvPr id="15" name="Content Placeholder 7">
            <a:extLst>
              <a:ext uri="{FF2B5EF4-FFF2-40B4-BE49-F238E27FC236}">
                <a16:creationId xmlns:a16="http://schemas.microsoft.com/office/drawing/2014/main" id="{FF0354B9-8F64-951B-67E2-D95171FD4343}"/>
              </a:ext>
            </a:extLst>
          </p:cNvPr>
          <p:cNvSpPr txBox="1">
            <a:spLocks/>
          </p:cNvSpPr>
          <p:nvPr/>
        </p:nvSpPr>
        <p:spPr>
          <a:xfrm>
            <a:off x="517043" y="1553812"/>
            <a:ext cx="4470595" cy="310525"/>
          </a:xfrm>
          <a:prstGeom prst="rect">
            <a:avLst/>
          </a:prstGeom>
          <a:solidFill>
            <a:srgbClr val="1E1F49"/>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Value-Add Program Overview</a:t>
            </a:r>
          </a:p>
        </p:txBody>
      </p:sp>
      <p:sp>
        <p:nvSpPr>
          <p:cNvPr id="16" name="Content Placeholder 5">
            <a:extLst>
              <a:ext uri="{FF2B5EF4-FFF2-40B4-BE49-F238E27FC236}">
                <a16:creationId xmlns:a16="http://schemas.microsoft.com/office/drawing/2014/main" id="{78E6FE42-8747-E34A-BF12-F0B5D8BB4C84}"/>
              </a:ext>
            </a:extLst>
          </p:cNvPr>
          <p:cNvSpPr txBox="1">
            <a:spLocks/>
          </p:cNvSpPr>
          <p:nvPr/>
        </p:nvSpPr>
        <p:spPr>
          <a:xfrm>
            <a:off x="536495" y="1858024"/>
            <a:ext cx="4526014" cy="2211162"/>
          </a:xfrm>
          <a:prstGeom prst="rect">
            <a:avLst/>
          </a:prstGeom>
        </p:spPr>
        <p:txBody>
          <a:bodyPr vert="horz" lIns="91440" tIns="45720" rIns="91440" bIns="45720" rtlCol="0">
            <a:no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Goal: purchase under-managed assets in high demand neighborhoods, invest capital into value-add renovations, increase rent/NOI</a:t>
            </a:r>
          </a:p>
          <a:p>
            <a:r>
              <a:rPr lang="en-US"/>
              <a:t>As of December 31, 2022, </a:t>
            </a:r>
            <a:r>
              <a:rPr lang="en-US" err="1"/>
              <a:t>Nexpoint</a:t>
            </a:r>
            <a:r>
              <a:rPr lang="en-US"/>
              <a:t> completed renovations in 7,633 units out of 15,127 units owned</a:t>
            </a:r>
          </a:p>
          <a:p>
            <a:r>
              <a:rPr lang="en-US"/>
              <a:t>Since inception, the Company has completed 8,127 full &amp; partial, 4,914 kitchen and laundry appliances, and 10,423 technology packages</a:t>
            </a:r>
          </a:p>
          <a:p>
            <a:r>
              <a:rPr lang="en-US"/>
              <a:t>Value-add renovations typically take place within three years after property acquisitions</a:t>
            </a:r>
          </a:p>
        </p:txBody>
      </p:sp>
      <p:sp>
        <p:nvSpPr>
          <p:cNvPr id="19" name="Content Placeholder 7">
            <a:extLst>
              <a:ext uri="{FF2B5EF4-FFF2-40B4-BE49-F238E27FC236}">
                <a16:creationId xmlns:a16="http://schemas.microsoft.com/office/drawing/2014/main" id="{114EFB12-A457-F7E0-31B7-C16D99827058}"/>
              </a:ext>
            </a:extLst>
          </p:cNvPr>
          <p:cNvSpPr txBox="1">
            <a:spLocks/>
          </p:cNvSpPr>
          <p:nvPr/>
        </p:nvSpPr>
        <p:spPr>
          <a:xfrm>
            <a:off x="517043" y="4353814"/>
            <a:ext cx="4470594" cy="272076"/>
          </a:xfrm>
          <a:prstGeom prst="rect">
            <a:avLst/>
          </a:prstGeom>
          <a:solidFill>
            <a:srgbClr val="1E1F49"/>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Partnership with BH </a:t>
            </a:r>
          </a:p>
        </p:txBody>
      </p:sp>
      <p:sp>
        <p:nvSpPr>
          <p:cNvPr id="20" name="Content Placeholder 5">
            <a:extLst>
              <a:ext uri="{FF2B5EF4-FFF2-40B4-BE49-F238E27FC236}">
                <a16:creationId xmlns:a16="http://schemas.microsoft.com/office/drawing/2014/main" id="{F76699DC-4F9A-C922-FA51-D2BBEF0EE5EE}"/>
              </a:ext>
            </a:extLst>
          </p:cNvPr>
          <p:cNvSpPr txBox="1">
            <a:spLocks/>
          </p:cNvSpPr>
          <p:nvPr/>
        </p:nvSpPr>
        <p:spPr>
          <a:xfrm>
            <a:off x="536495" y="4704207"/>
            <a:ext cx="4451142" cy="1532437"/>
          </a:xfrm>
          <a:prstGeom prst="rect">
            <a:avLst/>
          </a:prstGeom>
        </p:spPr>
        <p:txBody>
          <a:bodyPr vert="horz" lIns="91440" tIns="45720" rIns="91440" bIns="45720" rtlCol="0">
            <a:no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Partnership with BH Management Services, an external property manager located in Iowa</a:t>
            </a:r>
          </a:p>
          <a:p>
            <a:r>
              <a:rPr lang="en-US"/>
              <a:t>BH is a non-controlling limited partner</a:t>
            </a:r>
          </a:p>
          <a:p>
            <a:r>
              <a:rPr lang="en-US"/>
              <a:t>Outsourced leasing and operation to BH; used BH’s market insights to inform investment decisions and value-add strategies</a:t>
            </a:r>
          </a:p>
        </p:txBody>
      </p:sp>
      <p:graphicFrame>
        <p:nvGraphicFramePr>
          <p:cNvPr id="22" name="Chart 21">
            <a:extLst>
              <a:ext uri="{FF2B5EF4-FFF2-40B4-BE49-F238E27FC236}">
                <a16:creationId xmlns:a16="http://schemas.microsoft.com/office/drawing/2014/main" id="{63DC74FD-CE64-F0D7-CC2C-375A81FAFF4A}"/>
              </a:ext>
            </a:extLst>
          </p:cNvPr>
          <p:cNvGraphicFramePr/>
          <p:nvPr>
            <p:extLst>
              <p:ext uri="{D42A27DB-BD31-4B8C-83A1-F6EECF244321}">
                <p14:modId xmlns:p14="http://schemas.microsoft.com/office/powerpoint/2010/main" val="2773819708"/>
              </p:ext>
            </p:extLst>
          </p:nvPr>
        </p:nvGraphicFramePr>
        <p:xfrm>
          <a:off x="461623" y="6202484"/>
          <a:ext cx="4668982" cy="87549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12163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1718F70B-03B8-466F-9B4D-74CA3018B898}"/>
              </a:ext>
            </a:extLst>
          </p:cNvPr>
          <p:cNvSpPr/>
          <p:nvPr/>
        </p:nvSpPr>
        <p:spPr>
          <a:xfrm>
            <a:off x="457698" y="4287717"/>
            <a:ext cx="9143005" cy="502920"/>
          </a:xfrm>
          <a:custGeom>
            <a:avLst/>
            <a:gdLst>
              <a:gd name="connsiteX0" fmla="*/ 0 w 4429278"/>
              <a:gd name="connsiteY0" fmla="*/ 69007 h 690066"/>
              <a:gd name="connsiteX1" fmla="*/ 69007 w 4429278"/>
              <a:gd name="connsiteY1" fmla="*/ 0 h 690066"/>
              <a:gd name="connsiteX2" fmla="*/ 4360271 w 4429278"/>
              <a:gd name="connsiteY2" fmla="*/ 0 h 690066"/>
              <a:gd name="connsiteX3" fmla="*/ 4429278 w 4429278"/>
              <a:gd name="connsiteY3" fmla="*/ 69007 h 690066"/>
              <a:gd name="connsiteX4" fmla="*/ 4429278 w 4429278"/>
              <a:gd name="connsiteY4" fmla="*/ 621059 h 690066"/>
              <a:gd name="connsiteX5" fmla="*/ 4360271 w 4429278"/>
              <a:gd name="connsiteY5" fmla="*/ 690066 h 690066"/>
              <a:gd name="connsiteX6" fmla="*/ 69007 w 4429278"/>
              <a:gd name="connsiteY6" fmla="*/ 690066 h 690066"/>
              <a:gd name="connsiteX7" fmla="*/ 0 w 4429278"/>
              <a:gd name="connsiteY7" fmla="*/ 621059 h 690066"/>
              <a:gd name="connsiteX8" fmla="*/ 0 w 4429278"/>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9278" h="690066">
                <a:moveTo>
                  <a:pt x="0" y="69007"/>
                </a:moveTo>
                <a:cubicBezTo>
                  <a:pt x="0" y="30895"/>
                  <a:pt x="30895" y="0"/>
                  <a:pt x="69007" y="0"/>
                </a:cubicBezTo>
                <a:lnTo>
                  <a:pt x="4360271" y="0"/>
                </a:lnTo>
                <a:cubicBezTo>
                  <a:pt x="4398383" y="0"/>
                  <a:pt x="4429278" y="30895"/>
                  <a:pt x="4429278" y="69007"/>
                </a:cubicBezTo>
                <a:lnTo>
                  <a:pt x="4429278" y="621059"/>
                </a:lnTo>
                <a:cubicBezTo>
                  <a:pt x="4429278" y="659171"/>
                  <a:pt x="4398383" y="690066"/>
                  <a:pt x="4360271" y="690066"/>
                </a:cubicBezTo>
                <a:lnTo>
                  <a:pt x="69007" y="690066"/>
                </a:lnTo>
                <a:cubicBezTo>
                  <a:pt x="30895" y="690066"/>
                  <a:pt x="0" y="659171"/>
                  <a:pt x="0" y="621059"/>
                </a:cubicBezTo>
                <a:lnTo>
                  <a:pt x="0" y="69007"/>
                </a:lnTo>
                <a:close/>
              </a:path>
            </a:pathLst>
          </a:custGeom>
          <a:solidFill>
            <a:srgbClr val="002060"/>
          </a:solidFill>
        </p:spPr>
        <p:style>
          <a:lnRef idx="2">
            <a:schemeClr val="lt1">
              <a:hueOff val="0"/>
              <a:satOff val="0"/>
              <a:lumOff val="0"/>
              <a:alphaOff val="0"/>
            </a:schemeClr>
          </a:lnRef>
          <a:fillRef idx="1">
            <a:scrgbClr r="0" g="0" b="0"/>
          </a:fillRef>
          <a:effectRef idx="0">
            <a:schemeClr val="accent5">
              <a:shade val="60000"/>
              <a:hueOff val="0"/>
              <a:satOff val="0"/>
              <a:lumOff val="0"/>
              <a:alphaOff val="0"/>
            </a:schemeClr>
          </a:effectRef>
          <a:fontRef idx="minor">
            <a:schemeClr val="lt1"/>
          </a:fontRef>
        </p:style>
        <p:txBody>
          <a:bodyPr spcFirstLastPara="0" vert="horz" wrap="square" lIns="138321" tIns="138321" rIns="138321" bIns="138321" numCol="1" spcCol="1270" anchor="ctr" anchorCtr="0">
            <a:noAutofit/>
          </a:bodyPr>
          <a:lstStyle/>
          <a:p>
            <a:pPr marL="0" lvl="0" indent="0" algn="ctr" defTabSz="1377950">
              <a:lnSpc>
                <a:spcPct val="90000"/>
              </a:lnSpc>
              <a:spcBef>
                <a:spcPct val="0"/>
              </a:spcBef>
              <a:spcAft>
                <a:spcPct val="35000"/>
              </a:spcAft>
              <a:buNone/>
            </a:pPr>
            <a:r>
              <a:rPr lang="en-US" sz="2400" kern="1200"/>
              <a:t>NexPoint’s Capabilities</a:t>
            </a:r>
          </a:p>
        </p:txBody>
      </p:sp>
      <p:sp>
        <p:nvSpPr>
          <p:cNvPr id="16" name="Freeform: Shape 15">
            <a:extLst>
              <a:ext uri="{FF2B5EF4-FFF2-40B4-BE49-F238E27FC236}">
                <a16:creationId xmlns:a16="http://schemas.microsoft.com/office/drawing/2014/main" id="{BD8DCAB7-6A8B-8576-2298-F71F5469AD7C}"/>
              </a:ext>
            </a:extLst>
          </p:cNvPr>
          <p:cNvSpPr/>
          <p:nvPr/>
        </p:nvSpPr>
        <p:spPr>
          <a:xfrm>
            <a:off x="472598" y="4846729"/>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rgbClr val="004C92"/>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Exteriors</a:t>
            </a:r>
          </a:p>
        </p:txBody>
      </p:sp>
      <p:sp>
        <p:nvSpPr>
          <p:cNvPr id="19" name="Freeform: Shape 18">
            <a:extLst>
              <a:ext uri="{FF2B5EF4-FFF2-40B4-BE49-F238E27FC236}">
                <a16:creationId xmlns:a16="http://schemas.microsoft.com/office/drawing/2014/main" id="{D894E5B2-9592-1936-EED8-971E0CFDBDD1}"/>
              </a:ext>
            </a:extLst>
          </p:cNvPr>
          <p:cNvSpPr/>
          <p:nvPr/>
        </p:nvSpPr>
        <p:spPr>
          <a:xfrm>
            <a:off x="2790685" y="4846320"/>
            <a:ext cx="4476546"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rgbClr val="004C92"/>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Interiors</a:t>
            </a:r>
          </a:p>
        </p:txBody>
      </p:sp>
      <p:sp>
        <p:nvSpPr>
          <p:cNvPr id="20" name="Freeform: Shape 19">
            <a:extLst>
              <a:ext uri="{FF2B5EF4-FFF2-40B4-BE49-F238E27FC236}">
                <a16:creationId xmlns:a16="http://schemas.microsoft.com/office/drawing/2014/main" id="{4E84AAD4-8017-230F-C987-CC3CD92252C7}"/>
              </a:ext>
            </a:extLst>
          </p:cNvPr>
          <p:cNvSpPr/>
          <p:nvPr/>
        </p:nvSpPr>
        <p:spPr>
          <a:xfrm>
            <a:off x="7390759" y="4846320"/>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rgbClr val="004C92"/>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Costs</a:t>
            </a:r>
          </a:p>
        </p:txBody>
      </p:sp>
      <p:sp>
        <p:nvSpPr>
          <p:cNvPr id="21" name="Freeform: Shape 20">
            <a:extLst>
              <a:ext uri="{FF2B5EF4-FFF2-40B4-BE49-F238E27FC236}">
                <a16:creationId xmlns:a16="http://schemas.microsoft.com/office/drawing/2014/main" id="{DAB28D45-3C6D-E682-1F66-720183676AF8}"/>
              </a:ext>
            </a:extLst>
          </p:cNvPr>
          <p:cNvSpPr/>
          <p:nvPr/>
        </p:nvSpPr>
        <p:spPr>
          <a:xfrm>
            <a:off x="475488" y="5405741"/>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Useful Life Extension</a:t>
            </a:r>
          </a:p>
        </p:txBody>
      </p:sp>
      <p:sp>
        <p:nvSpPr>
          <p:cNvPr id="24" name="Freeform: Shape 23">
            <a:extLst>
              <a:ext uri="{FF2B5EF4-FFF2-40B4-BE49-F238E27FC236}">
                <a16:creationId xmlns:a16="http://schemas.microsoft.com/office/drawing/2014/main" id="{AFDC35CF-67B6-85CD-7FFC-863214DC0FF7}"/>
              </a:ext>
            </a:extLst>
          </p:cNvPr>
          <p:cNvSpPr/>
          <p:nvPr/>
        </p:nvSpPr>
        <p:spPr>
          <a:xfrm>
            <a:off x="475488" y="6523763"/>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Common Areas</a:t>
            </a:r>
          </a:p>
        </p:txBody>
      </p:sp>
      <p:sp>
        <p:nvSpPr>
          <p:cNvPr id="31" name="Title 1">
            <a:extLst>
              <a:ext uri="{FF2B5EF4-FFF2-40B4-BE49-F238E27FC236}">
                <a16:creationId xmlns:a16="http://schemas.microsoft.com/office/drawing/2014/main" id="{D0F4546A-73EB-3E8D-C4D5-6A0B64B36999}"/>
              </a:ext>
            </a:extLst>
          </p:cNvPr>
          <p:cNvSpPr>
            <a:spLocks noGrp="1"/>
          </p:cNvSpPr>
          <p:nvPr>
            <p:ph type="title"/>
          </p:nvPr>
        </p:nvSpPr>
        <p:spPr>
          <a:xfrm>
            <a:off x="461623" y="365467"/>
            <a:ext cx="9144000" cy="731520"/>
          </a:xfrm>
        </p:spPr>
        <p:txBody>
          <a:bodyPr/>
          <a:lstStyle/>
          <a:p>
            <a:r>
              <a:rPr lang="en-US" err="1"/>
              <a:t>NexPoint</a:t>
            </a:r>
            <a:r>
              <a:rPr lang="en-US"/>
              <a:t> Value-Add Program</a:t>
            </a:r>
          </a:p>
        </p:txBody>
      </p:sp>
      <p:sp>
        <p:nvSpPr>
          <p:cNvPr id="32" name="Text Placeholder 3">
            <a:extLst>
              <a:ext uri="{FF2B5EF4-FFF2-40B4-BE49-F238E27FC236}">
                <a16:creationId xmlns:a16="http://schemas.microsoft.com/office/drawing/2014/main" id="{D0F89ABC-2C2E-7123-12A7-B1675CC5E112}"/>
              </a:ext>
            </a:extLst>
          </p:cNvPr>
          <p:cNvSpPr>
            <a:spLocks noGrp="1"/>
          </p:cNvSpPr>
          <p:nvPr>
            <p:ph type="body" sz="quarter" idx="18"/>
          </p:nvPr>
        </p:nvSpPr>
        <p:spPr>
          <a:xfrm>
            <a:off x="461963" y="1227056"/>
            <a:ext cx="9144000" cy="355600"/>
          </a:xfrm>
        </p:spPr>
        <p:txBody>
          <a:bodyPr/>
          <a:lstStyle/>
          <a:p>
            <a:r>
              <a:rPr lang="en-US" i="1" err="1"/>
              <a:t>NexPoint’s</a:t>
            </a:r>
            <a:r>
              <a:rPr lang="en-US" i="1"/>
              <a:t> value-add Class B focus and extensive renovation capabilities provide a competitive advantage.</a:t>
            </a:r>
          </a:p>
        </p:txBody>
      </p:sp>
      <p:sp>
        <p:nvSpPr>
          <p:cNvPr id="38" name="Content Placeholder 4">
            <a:extLst>
              <a:ext uri="{FF2B5EF4-FFF2-40B4-BE49-F238E27FC236}">
                <a16:creationId xmlns:a16="http://schemas.microsoft.com/office/drawing/2014/main" id="{73BFF094-C209-080E-4DF9-AED4117C4FBC}"/>
              </a:ext>
            </a:extLst>
          </p:cNvPr>
          <p:cNvSpPr>
            <a:spLocks noGrp="1"/>
          </p:cNvSpPr>
          <p:nvPr>
            <p:ph idx="10"/>
          </p:nvPr>
        </p:nvSpPr>
        <p:spPr>
          <a:xfrm>
            <a:off x="357506" y="1485871"/>
            <a:ext cx="9235829" cy="2288149"/>
          </a:xfrm>
        </p:spPr>
        <p:txBody>
          <a:bodyPr>
            <a:noAutofit/>
          </a:bodyPr>
          <a:lstStyle/>
          <a:p>
            <a:r>
              <a:rPr lang="en-US" sz="1500"/>
              <a:t>Given the luxury nature of and additional amenities associated with multifamily Class A assets, a higher price is demanded for these assets relative to value-add, multifamily Class B assets. </a:t>
            </a:r>
          </a:p>
          <a:p>
            <a:r>
              <a:rPr lang="en-US" sz="1500"/>
              <a:t>Further, value-add Class B allows for differentiation to be achieved through renovation and improvement processes on the part of the acquirer, whereas fewer opportunities for value-add exist in Class A</a:t>
            </a:r>
          </a:p>
          <a:p>
            <a:r>
              <a:rPr lang="en-US" sz="1500"/>
              <a:t>Relative to Class C assets, which require significant capital expenditures to complete value-add opportunities, value-add Class B properties require relatively less upfront investment to achieve returns</a:t>
            </a:r>
          </a:p>
          <a:p>
            <a:r>
              <a:rPr lang="en-US" sz="1500"/>
              <a:t>The expertise and processes employed by </a:t>
            </a:r>
            <a:r>
              <a:rPr lang="en-US" sz="1500" err="1"/>
              <a:t>NexPoint’s</a:t>
            </a:r>
            <a:r>
              <a:rPr lang="en-US" sz="1500"/>
              <a:t> property manager, which relies on making improvements to several aspects of a property, presents a barrier to entry, as a specialized skillset is required to successfully renovate and generate returns from value-add Class B assets in this way. </a:t>
            </a:r>
            <a:r>
              <a:rPr lang="en-US" sz="1500" err="1"/>
              <a:t>NexPoint’s</a:t>
            </a:r>
            <a:r>
              <a:rPr lang="en-US" sz="1500"/>
              <a:t> operations across many cities within the Sunbelt also allow it to spread the costs of an improvement team over more renovated units, thereby allowing it to achieve more favorable cost dynamics than potential new entrants</a:t>
            </a:r>
          </a:p>
          <a:p>
            <a:r>
              <a:rPr lang="en-US" sz="1500" err="1"/>
              <a:t>NexPoint’s</a:t>
            </a:r>
            <a:r>
              <a:rPr lang="en-US" sz="1500"/>
              <a:t> expertise is evidenced by its track record of consistently generating higher ROIs than competitors</a:t>
            </a:r>
          </a:p>
        </p:txBody>
      </p:sp>
      <p:sp>
        <p:nvSpPr>
          <p:cNvPr id="6" name="Freeform: Shape 5">
            <a:extLst>
              <a:ext uri="{FF2B5EF4-FFF2-40B4-BE49-F238E27FC236}">
                <a16:creationId xmlns:a16="http://schemas.microsoft.com/office/drawing/2014/main" id="{C2C9D883-9052-482E-9D3A-106F22CB1C9B}"/>
              </a:ext>
            </a:extLst>
          </p:cNvPr>
          <p:cNvSpPr/>
          <p:nvPr/>
        </p:nvSpPr>
        <p:spPr>
          <a:xfrm>
            <a:off x="2780861" y="5404104"/>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Kitchen and Bath</a:t>
            </a:r>
          </a:p>
        </p:txBody>
      </p:sp>
      <p:sp>
        <p:nvSpPr>
          <p:cNvPr id="11" name="Freeform: Shape 10">
            <a:extLst>
              <a:ext uri="{FF2B5EF4-FFF2-40B4-BE49-F238E27FC236}">
                <a16:creationId xmlns:a16="http://schemas.microsoft.com/office/drawing/2014/main" id="{D7437ABA-D089-DB39-9212-8A21C02DA109}"/>
              </a:ext>
            </a:extLst>
          </p:cNvPr>
          <p:cNvSpPr/>
          <p:nvPr/>
        </p:nvSpPr>
        <p:spPr>
          <a:xfrm>
            <a:off x="2792895" y="5961888"/>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Appliances and Fixture</a:t>
            </a:r>
          </a:p>
        </p:txBody>
      </p:sp>
      <p:sp>
        <p:nvSpPr>
          <p:cNvPr id="12" name="Freeform: Shape 11">
            <a:extLst>
              <a:ext uri="{FF2B5EF4-FFF2-40B4-BE49-F238E27FC236}">
                <a16:creationId xmlns:a16="http://schemas.microsoft.com/office/drawing/2014/main" id="{B9DB986D-4129-D25A-3950-25CA581B0AEE}"/>
              </a:ext>
            </a:extLst>
          </p:cNvPr>
          <p:cNvSpPr/>
          <p:nvPr/>
        </p:nvSpPr>
        <p:spPr>
          <a:xfrm>
            <a:off x="5074879" y="5404104"/>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Washer and Dryer</a:t>
            </a:r>
          </a:p>
        </p:txBody>
      </p:sp>
      <p:sp>
        <p:nvSpPr>
          <p:cNvPr id="13" name="Freeform: Shape 12">
            <a:extLst>
              <a:ext uri="{FF2B5EF4-FFF2-40B4-BE49-F238E27FC236}">
                <a16:creationId xmlns:a16="http://schemas.microsoft.com/office/drawing/2014/main" id="{44331A99-3738-961E-0F49-1C629A1C1D81}"/>
              </a:ext>
            </a:extLst>
          </p:cNvPr>
          <p:cNvSpPr/>
          <p:nvPr/>
        </p:nvSpPr>
        <p:spPr>
          <a:xfrm>
            <a:off x="5086913" y="5961888"/>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Smart Tech</a:t>
            </a:r>
          </a:p>
        </p:txBody>
      </p:sp>
      <p:sp>
        <p:nvSpPr>
          <p:cNvPr id="17" name="Freeform: Shape 16">
            <a:extLst>
              <a:ext uri="{FF2B5EF4-FFF2-40B4-BE49-F238E27FC236}">
                <a16:creationId xmlns:a16="http://schemas.microsoft.com/office/drawing/2014/main" id="{F56B3772-3B6E-B0BA-435B-61D4DCAFC0B1}"/>
              </a:ext>
            </a:extLst>
          </p:cNvPr>
          <p:cNvSpPr/>
          <p:nvPr/>
        </p:nvSpPr>
        <p:spPr>
          <a:xfrm>
            <a:off x="7388352" y="5404104"/>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Longer-Lived Materials</a:t>
            </a:r>
          </a:p>
        </p:txBody>
      </p:sp>
      <p:sp>
        <p:nvSpPr>
          <p:cNvPr id="18" name="Freeform: Shape 17">
            <a:extLst>
              <a:ext uri="{FF2B5EF4-FFF2-40B4-BE49-F238E27FC236}">
                <a16:creationId xmlns:a16="http://schemas.microsoft.com/office/drawing/2014/main" id="{1DEAE45E-95CB-337C-4EB3-AE8107A46D19}"/>
              </a:ext>
            </a:extLst>
          </p:cNvPr>
          <p:cNvSpPr/>
          <p:nvPr/>
        </p:nvSpPr>
        <p:spPr>
          <a:xfrm>
            <a:off x="7388352" y="5961888"/>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Energy Conservation</a:t>
            </a:r>
          </a:p>
        </p:txBody>
      </p:sp>
      <p:sp>
        <p:nvSpPr>
          <p:cNvPr id="29" name="Freeform: Shape 28">
            <a:extLst>
              <a:ext uri="{FF2B5EF4-FFF2-40B4-BE49-F238E27FC236}">
                <a16:creationId xmlns:a16="http://schemas.microsoft.com/office/drawing/2014/main" id="{8DCF3819-8156-CE18-DF49-F82BB144C6BE}"/>
              </a:ext>
            </a:extLst>
          </p:cNvPr>
          <p:cNvSpPr/>
          <p:nvPr/>
        </p:nvSpPr>
        <p:spPr>
          <a:xfrm>
            <a:off x="475488" y="5964753"/>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Landscape and Signage</a:t>
            </a:r>
          </a:p>
        </p:txBody>
      </p:sp>
      <p:sp>
        <p:nvSpPr>
          <p:cNvPr id="30" name="Freeform: Shape 29">
            <a:extLst>
              <a:ext uri="{FF2B5EF4-FFF2-40B4-BE49-F238E27FC236}">
                <a16:creationId xmlns:a16="http://schemas.microsoft.com/office/drawing/2014/main" id="{FF490495-F050-F6D0-814B-AFB7AAFC3E41}"/>
              </a:ext>
            </a:extLst>
          </p:cNvPr>
          <p:cNvSpPr/>
          <p:nvPr/>
        </p:nvSpPr>
        <p:spPr>
          <a:xfrm>
            <a:off x="2788882" y="6523522"/>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Private Yards</a:t>
            </a:r>
          </a:p>
        </p:txBody>
      </p:sp>
      <p:sp>
        <p:nvSpPr>
          <p:cNvPr id="33" name="Freeform: Shape 32">
            <a:extLst>
              <a:ext uri="{FF2B5EF4-FFF2-40B4-BE49-F238E27FC236}">
                <a16:creationId xmlns:a16="http://schemas.microsoft.com/office/drawing/2014/main" id="{0CA3F661-D5F5-FD47-2EC1-D96210BB1A9A}"/>
              </a:ext>
            </a:extLst>
          </p:cNvPr>
          <p:cNvSpPr/>
          <p:nvPr/>
        </p:nvSpPr>
        <p:spPr>
          <a:xfrm>
            <a:off x="5082900" y="6523522"/>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Fiber Internet</a:t>
            </a:r>
          </a:p>
        </p:txBody>
      </p:sp>
      <p:sp>
        <p:nvSpPr>
          <p:cNvPr id="34" name="Freeform: Shape 33">
            <a:extLst>
              <a:ext uri="{FF2B5EF4-FFF2-40B4-BE49-F238E27FC236}">
                <a16:creationId xmlns:a16="http://schemas.microsoft.com/office/drawing/2014/main" id="{27B637F1-ED4C-CD81-18D4-E4D43C685460}"/>
              </a:ext>
            </a:extLst>
          </p:cNvPr>
          <p:cNvSpPr/>
          <p:nvPr/>
        </p:nvSpPr>
        <p:spPr>
          <a:xfrm>
            <a:off x="7388352" y="6523522"/>
            <a:ext cx="2194560" cy="502920"/>
          </a:xfrm>
          <a:custGeom>
            <a:avLst/>
            <a:gdLst>
              <a:gd name="connsiteX0" fmla="*/ 0 w 1414149"/>
              <a:gd name="connsiteY0" fmla="*/ 69007 h 690066"/>
              <a:gd name="connsiteX1" fmla="*/ 69007 w 1414149"/>
              <a:gd name="connsiteY1" fmla="*/ 0 h 690066"/>
              <a:gd name="connsiteX2" fmla="*/ 1345142 w 1414149"/>
              <a:gd name="connsiteY2" fmla="*/ 0 h 690066"/>
              <a:gd name="connsiteX3" fmla="*/ 1414149 w 1414149"/>
              <a:gd name="connsiteY3" fmla="*/ 69007 h 690066"/>
              <a:gd name="connsiteX4" fmla="*/ 1414149 w 1414149"/>
              <a:gd name="connsiteY4" fmla="*/ 621059 h 690066"/>
              <a:gd name="connsiteX5" fmla="*/ 1345142 w 1414149"/>
              <a:gd name="connsiteY5" fmla="*/ 690066 h 690066"/>
              <a:gd name="connsiteX6" fmla="*/ 69007 w 1414149"/>
              <a:gd name="connsiteY6" fmla="*/ 690066 h 690066"/>
              <a:gd name="connsiteX7" fmla="*/ 0 w 1414149"/>
              <a:gd name="connsiteY7" fmla="*/ 621059 h 690066"/>
              <a:gd name="connsiteX8" fmla="*/ 0 w 1414149"/>
              <a:gd name="connsiteY8" fmla="*/ 69007 h 6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149" h="690066">
                <a:moveTo>
                  <a:pt x="0" y="69007"/>
                </a:moveTo>
                <a:cubicBezTo>
                  <a:pt x="0" y="30895"/>
                  <a:pt x="30895" y="0"/>
                  <a:pt x="69007" y="0"/>
                </a:cubicBezTo>
                <a:lnTo>
                  <a:pt x="1345142" y="0"/>
                </a:lnTo>
                <a:cubicBezTo>
                  <a:pt x="1383254" y="0"/>
                  <a:pt x="1414149" y="30895"/>
                  <a:pt x="1414149" y="69007"/>
                </a:cubicBezTo>
                <a:lnTo>
                  <a:pt x="1414149" y="621059"/>
                </a:lnTo>
                <a:cubicBezTo>
                  <a:pt x="1414149" y="659171"/>
                  <a:pt x="1383254" y="690066"/>
                  <a:pt x="1345142" y="690066"/>
                </a:cubicBezTo>
                <a:lnTo>
                  <a:pt x="69007" y="690066"/>
                </a:lnTo>
                <a:cubicBezTo>
                  <a:pt x="30895" y="690066"/>
                  <a:pt x="0" y="659171"/>
                  <a:pt x="0" y="621059"/>
                </a:cubicBezTo>
                <a:lnTo>
                  <a:pt x="0" y="69007"/>
                </a:lnTo>
                <a:close/>
              </a:path>
            </a:pathLst>
          </a:cu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5">
              <a:tint val="99000"/>
              <a:hueOff val="0"/>
              <a:satOff val="0"/>
              <a:lumOff val="0"/>
              <a:alphaOff val="0"/>
            </a:schemeClr>
          </a:effectRef>
          <a:fontRef idx="minor">
            <a:schemeClr val="lt1"/>
          </a:fontRef>
        </p:style>
        <p:txBody>
          <a:bodyPr spcFirstLastPara="0" vert="horz" wrap="square" lIns="88791" tIns="88791" rIns="88791" bIns="88791" numCol="1" spcCol="1270" anchor="ctr" anchorCtr="0">
            <a:noAutofit/>
          </a:bodyPr>
          <a:lstStyle/>
          <a:p>
            <a:pPr marL="0" lvl="0" indent="0" algn="ctr" defTabSz="800100">
              <a:lnSpc>
                <a:spcPct val="90000"/>
              </a:lnSpc>
              <a:spcBef>
                <a:spcPct val="0"/>
              </a:spcBef>
              <a:spcAft>
                <a:spcPct val="35000"/>
              </a:spcAft>
              <a:buNone/>
            </a:pPr>
            <a:r>
              <a:rPr lang="en-US" sz="1800" kern="1200"/>
              <a:t>Management Style</a:t>
            </a:r>
          </a:p>
        </p:txBody>
      </p:sp>
    </p:spTree>
    <p:extLst>
      <p:ext uri="{BB962C8B-B14F-4D97-AF65-F5344CB8AC3E}">
        <p14:creationId xmlns:p14="http://schemas.microsoft.com/office/powerpoint/2010/main" val="554247787"/>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
          <p:cNvSpPr txBox="1">
            <a:spLocks noGrp="1"/>
          </p:cNvSpPr>
          <p:nvPr>
            <p:ph type="title"/>
          </p:nvPr>
        </p:nvSpPr>
        <p:spPr>
          <a:xfrm>
            <a:off x="443477" y="728946"/>
            <a:ext cx="9144000" cy="73152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200"/>
              <a:buFont typeface="Garamond"/>
              <a:buNone/>
            </a:pPr>
            <a:r>
              <a:rPr lang="en-US" sz="2800"/>
              <a:t>Financials of Value-Add Program</a:t>
            </a:r>
            <a:endParaRPr sz="2800"/>
          </a:p>
        </p:txBody>
      </p:sp>
      <p:cxnSp>
        <p:nvCxnSpPr>
          <p:cNvPr id="337" name="Google Shape;337;p2"/>
          <p:cNvCxnSpPr/>
          <p:nvPr/>
        </p:nvCxnSpPr>
        <p:spPr>
          <a:xfrm>
            <a:off x="415200" y="1129472"/>
            <a:ext cx="9243391" cy="0"/>
          </a:xfrm>
          <a:prstGeom prst="straightConnector1">
            <a:avLst/>
          </a:prstGeom>
          <a:noFill/>
          <a:ln w="38100" cap="flat" cmpd="sng">
            <a:solidFill>
              <a:srgbClr val="004C92"/>
            </a:solidFill>
            <a:prstDash val="solid"/>
            <a:miter lim="800000"/>
            <a:headEnd type="none" w="sm" len="sm"/>
            <a:tailEnd type="none" w="sm" len="sm"/>
          </a:ln>
        </p:spPr>
      </p:cxnSp>
      <p:sp>
        <p:nvSpPr>
          <p:cNvPr id="338" name="Google Shape;338;p2"/>
          <p:cNvSpPr txBox="1"/>
          <p:nvPr/>
        </p:nvSpPr>
        <p:spPr>
          <a:xfrm>
            <a:off x="457200" y="1261379"/>
            <a:ext cx="4261104" cy="338514"/>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lt1"/>
                </a:solidFill>
                <a:latin typeface="Garamond"/>
                <a:sym typeface="Garamond"/>
              </a:rPr>
              <a:t>Value-Add Program Results</a:t>
            </a:r>
            <a:endParaRPr sz="1600"/>
          </a:p>
        </p:txBody>
      </p:sp>
      <p:sp>
        <p:nvSpPr>
          <p:cNvPr id="339" name="Google Shape;339;p2"/>
          <p:cNvSpPr txBox="1"/>
          <p:nvPr/>
        </p:nvSpPr>
        <p:spPr>
          <a:xfrm>
            <a:off x="415200" y="1583070"/>
            <a:ext cx="4261104" cy="5262939"/>
          </a:xfrm>
          <a:prstGeom prst="rect">
            <a:avLst/>
          </a:prstGeom>
          <a:noFill/>
          <a:ln>
            <a:noFill/>
          </a:ln>
        </p:spPr>
        <p:txBody>
          <a:bodyPr spcFirstLastPara="1" wrap="square" lIns="91425" tIns="45700" rIns="91425" bIns="45700" anchor="t" anchorCtr="0">
            <a:spAutoFit/>
          </a:bodyPr>
          <a:lstStyle/>
          <a:p>
            <a:pPr marL="285750" indent="-285750" algn="l" rtl="0" fontAlgn="base">
              <a:spcBef>
                <a:spcPts val="0"/>
              </a:spcBef>
              <a:spcAft>
                <a:spcPts val="0"/>
              </a:spcAft>
              <a:buFont typeface="Wingdings" pitchFamily="2" charset="2"/>
              <a:buChar char="§"/>
            </a:pPr>
            <a:r>
              <a:rPr lang="en-US" sz="1600" b="0" i="0" u="none" strike="noStrike" err="1">
                <a:solidFill>
                  <a:srgbClr val="000000"/>
                </a:solidFill>
                <a:effectLst/>
                <a:latin typeface="Garamond" panose="02020404030301010803" pitchFamily="18" charset="0"/>
              </a:rPr>
              <a:t>Nexpoint’s</a:t>
            </a:r>
            <a:r>
              <a:rPr lang="en-US" sz="1600" b="0" i="0" u="none" strike="noStrike">
                <a:solidFill>
                  <a:srgbClr val="000000"/>
                </a:solidFill>
                <a:effectLst/>
                <a:latin typeface="Garamond" panose="02020404030301010803" pitchFamily="18" charset="0"/>
              </a:rPr>
              <a:t> value-add strategies have been proven effective </a:t>
            </a:r>
            <a:r>
              <a:rPr lang="en-US" sz="1600">
                <a:solidFill>
                  <a:srgbClr val="000000"/>
                </a:solidFill>
                <a:latin typeface="Garamond" panose="02020404030301010803" pitchFamily="18" charset="0"/>
              </a:rPr>
              <a:t>through its growing NOI, net retention rate and rental price. </a:t>
            </a:r>
          </a:p>
          <a:p>
            <a:pPr marL="285750" indent="-285750" fontAlgn="base">
              <a:buFont typeface="Wingdings" pitchFamily="2" charset="2"/>
              <a:buChar char="§"/>
            </a:pPr>
            <a:r>
              <a:rPr lang="en-US" sz="1600">
                <a:solidFill>
                  <a:srgbClr val="000000"/>
                </a:solidFill>
                <a:latin typeface="Garamond" panose="02020404030301010803" pitchFamily="18" charset="0"/>
              </a:rPr>
              <a:t>Total rental income for FY2022 was $257.9 million, an increase from $213.5 million rental income from FY2021</a:t>
            </a:r>
          </a:p>
          <a:p>
            <a:pPr marL="742950" lvl="1" indent="-285750" fontAlgn="base">
              <a:buFont typeface="Wingdings" pitchFamily="2" charset="2"/>
              <a:buChar char="§"/>
            </a:pPr>
            <a:r>
              <a:rPr lang="en-US" sz="1600">
                <a:solidFill>
                  <a:srgbClr val="000000"/>
                </a:solidFill>
                <a:latin typeface="Garamond" panose="02020404030301010803" pitchFamily="18" charset="0"/>
              </a:rPr>
              <a:t>Growth is mostly driven by value-add campaign and a 17.4% increase in the weighted average monthly effective rent per occupied unit </a:t>
            </a:r>
          </a:p>
          <a:p>
            <a:pPr marL="285750" indent="-285750" fontAlgn="base">
              <a:buFont typeface="Wingdings" pitchFamily="2" charset="2"/>
              <a:buChar char="§"/>
            </a:pPr>
            <a:r>
              <a:rPr lang="en-US" sz="1600">
                <a:solidFill>
                  <a:srgbClr val="000000"/>
                </a:solidFill>
                <a:latin typeface="Garamond" panose="02020404030301010803" pitchFamily="18" charset="0"/>
              </a:rPr>
              <a:t>Empirically, renovation investments have consistently achieved strong ROIs</a:t>
            </a:r>
          </a:p>
          <a:p>
            <a:pPr marL="285750" indent="-285750" algn="l" rtl="0" fontAlgn="base">
              <a:spcBef>
                <a:spcPts val="0"/>
              </a:spcBef>
              <a:spcAft>
                <a:spcPts val="0"/>
              </a:spcAft>
              <a:buFont typeface="Wingdings" pitchFamily="2" charset="2"/>
              <a:buChar char="§"/>
            </a:pPr>
            <a:r>
              <a:rPr lang="en-US" sz="1600">
                <a:solidFill>
                  <a:srgbClr val="000000"/>
                </a:solidFill>
                <a:latin typeface="Garamond" panose="02020404030301010803" pitchFamily="18" charset="0"/>
              </a:rPr>
              <a:t>Partnership with BH Management allows for:</a:t>
            </a:r>
          </a:p>
          <a:p>
            <a:pPr marL="742950" lvl="1" indent="-285750" fontAlgn="base">
              <a:buFont typeface="Wingdings" pitchFamily="2" charset="2"/>
              <a:buChar char="§"/>
            </a:pPr>
            <a:r>
              <a:rPr lang="en-US" sz="1600">
                <a:solidFill>
                  <a:srgbClr val="000000"/>
                </a:solidFill>
                <a:latin typeface="Garamond" panose="02020404030301010803" pitchFamily="18" charset="0"/>
              </a:rPr>
              <a:t>Industry expertise (106,000 multifamily properties, 30+ years in the industry)</a:t>
            </a:r>
          </a:p>
          <a:p>
            <a:pPr marL="742950" lvl="1" indent="-285750" fontAlgn="base">
              <a:buFont typeface="Wingdings" pitchFamily="2" charset="2"/>
              <a:buChar char="§"/>
            </a:pPr>
            <a:r>
              <a:rPr lang="en-US" sz="1600">
                <a:solidFill>
                  <a:srgbClr val="000000"/>
                </a:solidFill>
                <a:latin typeface="Garamond" panose="02020404030301010803" pitchFamily="18" charset="0"/>
              </a:rPr>
              <a:t>Scale allowing for highly competitive pricing for value-add, increasing ROI</a:t>
            </a:r>
          </a:p>
          <a:p>
            <a:pPr marL="285750" indent="-285750" fontAlgn="base">
              <a:buFont typeface="Wingdings" pitchFamily="2" charset="2"/>
              <a:buChar char="§"/>
            </a:pPr>
            <a:r>
              <a:rPr lang="en-US" sz="1600">
                <a:solidFill>
                  <a:srgbClr val="000000"/>
                </a:solidFill>
                <a:latin typeface="Garamond" panose="02020404030301010803" pitchFamily="18" charset="0"/>
              </a:rPr>
              <a:t>As of December 31, 2022, NXRT reserves $11.9m for financing value-add renovations</a:t>
            </a:r>
          </a:p>
          <a:p>
            <a:pPr marL="742950" lvl="1" indent="-285750" fontAlgn="base">
              <a:buFont typeface="Wingdings" pitchFamily="2" charset="2"/>
              <a:buChar char="§"/>
            </a:pPr>
            <a:r>
              <a:rPr lang="en-US" sz="1600">
                <a:solidFill>
                  <a:srgbClr val="000000"/>
                </a:solidFill>
                <a:latin typeface="Garamond" panose="02020404030301010803" pitchFamily="18" charset="0"/>
              </a:rPr>
              <a:t>Value-add renovations do not need significant debt financing</a:t>
            </a:r>
          </a:p>
        </p:txBody>
      </p:sp>
      <p:sp>
        <p:nvSpPr>
          <p:cNvPr id="341" name="Google Shape;341;p2"/>
          <p:cNvSpPr txBox="1"/>
          <p:nvPr/>
        </p:nvSpPr>
        <p:spPr>
          <a:xfrm>
            <a:off x="4756409" y="1261379"/>
            <a:ext cx="4858514" cy="338514"/>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CA" sz="1600">
                <a:solidFill>
                  <a:schemeClr val="bg1"/>
                </a:solidFill>
              </a:rPr>
              <a:t>Financial Results</a:t>
            </a:r>
            <a:endParaRPr sz="1600">
              <a:solidFill>
                <a:schemeClr val="bg1"/>
              </a:solidFill>
            </a:endParaRPr>
          </a:p>
        </p:txBody>
      </p:sp>
      <p:graphicFrame>
        <p:nvGraphicFramePr>
          <p:cNvPr id="8" name="Chart 7">
            <a:extLst>
              <a:ext uri="{FF2B5EF4-FFF2-40B4-BE49-F238E27FC236}">
                <a16:creationId xmlns:a16="http://schemas.microsoft.com/office/drawing/2014/main" id="{E49CA820-92C0-D816-DB1A-4506E424B9A0}"/>
              </a:ext>
            </a:extLst>
          </p:cNvPr>
          <p:cNvGraphicFramePr/>
          <p:nvPr>
            <p:extLst>
              <p:ext uri="{D42A27DB-BD31-4B8C-83A1-F6EECF244321}">
                <p14:modId xmlns:p14="http://schemas.microsoft.com/office/powerpoint/2010/main" val="2433409281"/>
              </p:ext>
            </p:extLst>
          </p:nvPr>
        </p:nvGraphicFramePr>
        <p:xfrm>
          <a:off x="4540006" y="4190383"/>
          <a:ext cx="5074917" cy="283191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D1AA90DF-D6EC-6726-19D4-A81022F048B6}"/>
              </a:ext>
            </a:extLst>
          </p:cNvPr>
          <p:cNvGraphicFramePr/>
          <p:nvPr>
            <p:extLst>
              <p:ext uri="{D42A27DB-BD31-4B8C-83A1-F6EECF244321}">
                <p14:modId xmlns:p14="http://schemas.microsoft.com/office/powerpoint/2010/main" val="15199033"/>
              </p:ext>
            </p:extLst>
          </p:nvPr>
        </p:nvGraphicFramePr>
        <p:xfrm>
          <a:off x="4389121" y="1724851"/>
          <a:ext cx="5431536" cy="232954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775164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0FAED-09AE-3E4D-9AD4-90FF590DBC8A}"/>
              </a:ext>
            </a:extLst>
          </p:cNvPr>
          <p:cNvSpPr>
            <a:spLocks noGrp="1"/>
          </p:cNvSpPr>
          <p:nvPr>
            <p:ph type="title"/>
          </p:nvPr>
        </p:nvSpPr>
        <p:spPr>
          <a:xfrm>
            <a:off x="457199" y="3154680"/>
            <a:ext cx="9271748" cy="731520"/>
          </a:xfrm>
        </p:spPr>
        <p:txBody>
          <a:bodyPr/>
          <a:lstStyle/>
          <a:p>
            <a:r>
              <a:rPr lang="en-US"/>
              <a:t>Market Mispricing</a:t>
            </a:r>
          </a:p>
        </p:txBody>
      </p:sp>
      <p:sp>
        <p:nvSpPr>
          <p:cNvPr id="3" name="Title 1">
            <a:extLst>
              <a:ext uri="{FF2B5EF4-FFF2-40B4-BE49-F238E27FC236}">
                <a16:creationId xmlns:a16="http://schemas.microsoft.com/office/drawing/2014/main" id="{5AED5D48-2B27-5327-1258-C492BBFEA98D}"/>
              </a:ext>
            </a:extLst>
          </p:cNvPr>
          <p:cNvSpPr txBox="1">
            <a:spLocks/>
          </p:cNvSpPr>
          <p:nvPr/>
        </p:nvSpPr>
        <p:spPr>
          <a:xfrm>
            <a:off x="457199" y="3672021"/>
            <a:ext cx="9144000" cy="731520"/>
          </a:xfrm>
          <a:prstGeom prst="rect">
            <a:avLst/>
          </a:prstGeom>
        </p:spPr>
        <p:txBody>
          <a:bodyPr vert="horz" lIns="0" tIns="0" rIns="0" bIns="0" rtlCol="0" anchor="t">
            <a:noAutofit/>
          </a:bodyPr>
          <a:lstStyle>
            <a:lvl1pPr algn="l" defTabSz="100584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000" b="0"/>
              <a:t>Hunter Peterson</a:t>
            </a:r>
          </a:p>
        </p:txBody>
      </p:sp>
    </p:spTree>
    <p:extLst>
      <p:ext uri="{BB962C8B-B14F-4D97-AF65-F5344CB8AC3E}">
        <p14:creationId xmlns:p14="http://schemas.microsoft.com/office/powerpoint/2010/main" val="2538437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A26A-BCF3-B53B-2F38-7E401D4236D7}"/>
              </a:ext>
            </a:extLst>
          </p:cNvPr>
          <p:cNvSpPr>
            <a:spLocks noGrp="1"/>
          </p:cNvSpPr>
          <p:nvPr>
            <p:ph type="title"/>
          </p:nvPr>
        </p:nvSpPr>
        <p:spPr/>
        <p:txBody>
          <a:bodyPr/>
          <a:lstStyle/>
          <a:p>
            <a:r>
              <a:rPr lang="en-US"/>
              <a:t>NexPoint Grouped With Non-Value-Add REITS</a:t>
            </a:r>
          </a:p>
        </p:txBody>
      </p:sp>
      <p:sp>
        <p:nvSpPr>
          <p:cNvPr id="4" name="Text Placeholder 3">
            <a:extLst>
              <a:ext uri="{FF2B5EF4-FFF2-40B4-BE49-F238E27FC236}">
                <a16:creationId xmlns:a16="http://schemas.microsoft.com/office/drawing/2014/main" id="{34060F22-B554-8C2E-9543-6C691FA0A41B}"/>
              </a:ext>
            </a:extLst>
          </p:cNvPr>
          <p:cNvSpPr>
            <a:spLocks noGrp="1"/>
          </p:cNvSpPr>
          <p:nvPr>
            <p:ph type="body" sz="quarter" idx="18"/>
          </p:nvPr>
        </p:nvSpPr>
        <p:spPr>
          <a:xfrm>
            <a:off x="461963" y="1248828"/>
            <a:ext cx="9144000" cy="355600"/>
          </a:xfrm>
        </p:spPr>
        <p:txBody>
          <a:bodyPr>
            <a:normAutofit fontScale="92500"/>
          </a:bodyPr>
          <a:lstStyle/>
          <a:p>
            <a:r>
              <a:rPr lang="en-US" i="1">
                <a:latin typeface="Garamond"/>
              </a:rPr>
              <a:t>NexPoint’s substantial capacity to perform value-add on its existing base of properties is underappreciated by the market.</a:t>
            </a:r>
          </a:p>
        </p:txBody>
      </p:sp>
      <p:sp>
        <p:nvSpPr>
          <p:cNvPr id="10" name="Content Placeholder 9">
            <a:extLst>
              <a:ext uri="{FF2B5EF4-FFF2-40B4-BE49-F238E27FC236}">
                <a16:creationId xmlns:a16="http://schemas.microsoft.com/office/drawing/2014/main" id="{3496CB73-372D-63B8-6CBE-874A6D325AF2}"/>
              </a:ext>
            </a:extLst>
          </p:cNvPr>
          <p:cNvSpPr>
            <a:spLocks noGrp="1"/>
          </p:cNvSpPr>
          <p:nvPr>
            <p:ph idx="20"/>
          </p:nvPr>
        </p:nvSpPr>
        <p:spPr>
          <a:xfrm>
            <a:off x="457200" y="1597088"/>
            <a:ext cx="9144000" cy="304337"/>
          </a:xfrm>
        </p:spPr>
        <p:txBody>
          <a:bodyPr/>
          <a:lstStyle/>
          <a:p>
            <a:r>
              <a:rPr lang="en-US"/>
              <a:t>NXRT vs. S&amp;P SmallCap 600 Real Estate Index</a:t>
            </a:r>
          </a:p>
        </p:txBody>
      </p:sp>
      <p:graphicFrame>
        <p:nvGraphicFramePr>
          <p:cNvPr id="7" name="Chart 6">
            <a:extLst>
              <a:ext uri="{FF2B5EF4-FFF2-40B4-BE49-F238E27FC236}">
                <a16:creationId xmlns:a16="http://schemas.microsoft.com/office/drawing/2014/main" id="{66BAB4D4-D764-E0C7-42A3-A047E14433B0}"/>
              </a:ext>
            </a:extLst>
          </p:cNvPr>
          <p:cNvGraphicFramePr/>
          <p:nvPr/>
        </p:nvGraphicFramePr>
        <p:xfrm>
          <a:off x="457200" y="1952688"/>
          <a:ext cx="9144000" cy="2151725"/>
        </p:xfrm>
        <a:graphic>
          <a:graphicData uri="http://schemas.openxmlformats.org/drawingml/2006/chart">
            <c:chart xmlns:c="http://schemas.openxmlformats.org/drawingml/2006/chart" xmlns:r="http://schemas.openxmlformats.org/officeDocument/2006/relationships" r:id="rId2"/>
          </a:graphicData>
        </a:graphic>
      </p:graphicFrame>
      <p:sp>
        <p:nvSpPr>
          <p:cNvPr id="19" name="Content Placeholder 7">
            <a:extLst>
              <a:ext uri="{FF2B5EF4-FFF2-40B4-BE49-F238E27FC236}">
                <a16:creationId xmlns:a16="http://schemas.microsoft.com/office/drawing/2014/main" id="{2B9D2A92-3C53-9E55-E8FC-F09A5AB7F3BD}"/>
              </a:ext>
            </a:extLst>
          </p:cNvPr>
          <p:cNvSpPr txBox="1">
            <a:spLocks/>
          </p:cNvSpPr>
          <p:nvPr/>
        </p:nvSpPr>
        <p:spPr>
          <a:xfrm>
            <a:off x="457200" y="3860780"/>
            <a:ext cx="9144000" cy="304337"/>
          </a:xfrm>
          <a:prstGeom prst="rect">
            <a:avLst/>
          </a:prstGeom>
          <a:solidFill>
            <a:srgbClr val="1E1F49"/>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NexPoint’s Extensive Value-Added Capabilities Enable Avoidance of High-Rate Debt</a:t>
            </a:r>
          </a:p>
        </p:txBody>
      </p:sp>
      <p:sp>
        <p:nvSpPr>
          <p:cNvPr id="20" name="Content Placeholder 4">
            <a:extLst>
              <a:ext uri="{FF2B5EF4-FFF2-40B4-BE49-F238E27FC236}">
                <a16:creationId xmlns:a16="http://schemas.microsoft.com/office/drawing/2014/main" id="{A5585CCC-68E2-5B18-F9B0-E80946CD8A6F}"/>
              </a:ext>
            </a:extLst>
          </p:cNvPr>
          <p:cNvSpPr>
            <a:spLocks noGrp="1"/>
          </p:cNvSpPr>
          <p:nvPr>
            <p:ph idx="10"/>
          </p:nvPr>
        </p:nvSpPr>
        <p:spPr>
          <a:xfrm>
            <a:off x="369794" y="4215471"/>
            <a:ext cx="9235829" cy="3011803"/>
          </a:xfrm>
        </p:spPr>
        <p:txBody>
          <a:bodyPr vert="horz" lIns="91440" tIns="45720" rIns="91440" bIns="45720" rtlCol="0" anchor="t">
            <a:noAutofit/>
          </a:bodyPr>
          <a:lstStyle/>
          <a:p>
            <a:r>
              <a:rPr lang="en-US">
                <a:latin typeface="Garamond"/>
              </a:rPr>
              <a:t>REITs require an extensive amount of capital to make acquisitions and develop property, which implies that REITs are especially susceptible to the interest burden seen during high interest rate environments</a:t>
            </a:r>
          </a:p>
          <a:p>
            <a:r>
              <a:rPr lang="en-US">
                <a:latin typeface="Garamond"/>
              </a:rPr>
              <a:t>However, the extent to which a REIT must borrow additional funds to conduct its operations depends largely on the strategy of the REIT in question, as REITs which focus on developing new property or acquiring property without a value-add component are heavily reliant on continuously deploying capital to invest in new assets</a:t>
            </a:r>
          </a:p>
          <a:p>
            <a:r>
              <a:rPr lang="en-US">
                <a:latin typeface="Garamond"/>
              </a:rPr>
              <a:t>In contrast, value-add REITs such as </a:t>
            </a:r>
            <a:r>
              <a:rPr lang="en-US" err="1">
                <a:latin typeface="Garamond"/>
              </a:rPr>
              <a:t>NexPoint</a:t>
            </a:r>
            <a:r>
              <a:rPr lang="en-US">
                <a:latin typeface="Garamond"/>
              </a:rPr>
              <a:t> have an additional level to pull to ensure consistent income generation in that they can perform value-add on existing properties without being forced to acquire new properties. Higher financing costs also allow disincentivize new entrants, thereby allowing incumbents in high-growth markets such as </a:t>
            </a:r>
            <a:r>
              <a:rPr lang="en-US" err="1">
                <a:latin typeface="Garamond"/>
              </a:rPr>
              <a:t>NexPoint</a:t>
            </a:r>
            <a:r>
              <a:rPr lang="en-US">
                <a:latin typeface="Garamond"/>
              </a:rPr>
              <a:t> to capture market share.</a:t>
            </a:r>
            <a:endParaRPr lang="en-US"/>
          </a:p>
          <a:p>
            <a:r>
              <a:rPr lang="en-US">
                <a:latin typeface="Garamond"/>
              </a:rPr>
              <a:t>This significantly reduces the future interest rate burden on </a:t>
            </a:r>
            <a:r>
              <a:rPr lang="en-US" err="1">
                <a:latin typeface="Garamond"/>
              </a:rPr>
              <a:t>NexPoint</a:t>
            </a:r>
            <a:r>
              <a:rPr lang="en-US">
                <a:latin typeface="Garamond"/>
              </a:rPr>
              <a:t> relative to REITs which lack value-added capabilities, thus making a direct comparison inaccurate.</a:t>
            </a:r>
            <a:endParaRPr lang="en-US"/>
          </a:p>
        </p:txBody>
      </p:sp>
    </p:spTree>
    <p:extLst>
      <p:ext uri="{BB962C8B-B14F-4D97-AF65-F5344CB8AC3E}">
        <p14:creationId xmlns:p14="http://schemas.microsoft.com/office/powerpoint/2010/main" val="19282892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84978-B3A0-9D46-293E-FCAE53A2B073}"/>
              </a:ext>
            </a:extLst>
          </p:cNvPr>
          <p:cNvSpPr>
            <a:spLocks noGrp="1"/>
          </p:cNvSpPr>
          <p:nvPr>
            <p:ph type="title"/>
          </p:nvPr>
        </p:nvSpPr>
        <p:spPr/>
        <p:txBody>
          <a:bodyPr/>
          <a:lstStyle/>
          <a:p>
            <a:r>
              <a:rPr lang="en-US"/>
              <a:t>Long Runway for Value-Add At Low Leverage</a:t>
            </a:r>
          </a:p>
        </p:txBody>
      </p:sp>
      <p:sp>
        <p:nvSpPr>
          <p:cNvPr id="4" name="Text Placeholder 3">
            <a:extLst>
              <a:ext uri="{FF2B5EF4-FFF2-40B4-BE49-F238E27FC236}">
                <a16:creationId xmlns:a16="http://schemas.microsoft.com/office/drawing/2014/main" id="{3B55179B-0339-327E-6B63-CE4675354B8E}"/>
              </a:ext>
            </a:extLst>
          </p:cNvPr>
          <p:cNvSpPr>
            <a:spLocks noGrp="1"/>
          </p:cNvSpPr>
          <p:nvPr>
            <p:ph type="body" sz="quarter" idx="18"/>
          </p:nvPr>
        </p:nvSpPr>
        <p:spPr/>
        <p:txBody>
          <a:bodyPr>
            <a:normAutofit/>
          </a:bodyPr>
          <a:lstStyle/>
          <a:p>
            <a:r>
              <a:rPr lang="en-US" i="1">
                <a:latin typeface="Garamond"/>
              </a:rPr>
              <a:t>NexPoint’s extensive portfolio of non-stabilized properties provides a means of managing an elevated rate environment.</a:t>
            </a:r>
            <a:endParaRPr lang="en-US" i="1"/>
          </a:p>
        </p:txBody>
      </p:sp>
      <p:sp>
        <p:nvSpPr>
          <p:cNvPr id="5" name="Content Placeholder 4">
            <a:extLst>
              <a:ext uri="{FF2B5EF4-FFF2-40B4-BE49-F238E27FC236}">
                <a16:creationId xmlns:a16="http://schemas.microsoft.com/office/drawing/2014/main" id="{719568E7-64F1-5916-FA09-8559A8BAA6A8}"/>
              </a:ext>
            </a:extLst>
          </p:cNvPr>
          <p:cNvSpPr>
            <a:spLocks noGrp="1"/>
          </p:cNvSpPr>
          <p:nvPr>
            <p:ph idx="10"/>
          </p:nvPr>
        </p:nvSpPr>
        <p:spPr>
          <a:xfrm>
            <a:off x="369792" y="1520624"/>
            <a:ext cx="4937760" cy="1627847"/>
          </a:xfrm>
        </p:spPr>
        <p:txBody>
          <a:bodyPr vert="horz" lIns="91440" tIns="45720" rIns="91440" bIns="45720" rtlCol="0" anchor="t">
            <a:noAutofit/>
          </a:bodyPr>
          <a:lstStyle/>
          <a:p>
            <a:r>
              <a:rPr lang="en-US">
                <a:latin typeface="Garamond"/>
              </a:rPr>
              <a:t>Non-value-add REITs generate returns through acquiring or developing properties. In an environment with higher interest rates, such firms are forced to finance operations with more expensive debt or scale back operations</a:t>
            </a:r>
          </a:p>
          <a:p>
            <a:r>
              <a:rPr lang="en-US">
                <a:latin typeface="Garamond"/>
              </a:rPr>
              <a:t>While </a:t>
            </a:r>
            <a:r>
              <a:rPr lang="en-US" err="1">
                <a:latin typeface="Garamond"/>
              </a:rPr>
              <a:t>NexPoint</a:t>
            </a:r>
            <a:r>
              <a:rPr lang="en-US">
                <a:latin typeface="Garamond"/>
              </a:rPr>
              <a:t> is also negatively impacted by higher rates, it also has an extensive portfolio of non-stabilized assets for which value-add has yet to be performed, with only 9,914 of its 15,127 units receiving value-add treatment thus far</a:t>
            </a:r>
          </a:p>
          <a:p>
            <a:r>
              <a:rPr lang="en-US">
                <a:latin typeface="Garamond"/>
              </a:rPr>
              <a:t>The extensive value-add opportunity for </a:t>
            </a:r>
            <a:r>
              <a:rPr lang="en-US" err="1">
                <a:latin typeface="Garamond"/>
              </a:rPr>
              <a:t>NexPoint</a:t>
            </a:r>
            <a:r>
              <a:rPr lang="en-US">
                <a:latin typeface="Garamond"/>
              </a:rPr>
              <a:t> means that the firm has been and will continue to focus its capital on improving its existing properties as opposed to being forced to acquire new properties</a:t>
            </a:r>
          </a:p>
          <a:p>
            <a:r>
              <a:rPr lang="en-US">
                <a:latin typeface="Garamond"/>
              </a:rPr>
              <a:t>Given the nature of the firm’s value-added initiatives, which involve changes to property features such as home interiors and appliances, they will require significantly less capital to successfully perform value-add than other REITs will require to acquire or develop new properties. Further, according to an expert interview with a real estate professional, the stabilization of units tends to reduce leverage over time</a:t>
            </a:r>
          </a:p>
          <a:p>
            <a:r>
              <a:rPr lang="en-US">
                <a:latin typeface="Garamond"/>
              </a:rPr>
              <a:t>We expect that this will be reflected in the share price over the hold period as </a:t>
            </a:r>
            <a:r>
              <a:rPr lang="en-US" err="1">
                <a:latin typeface="Garamond"/>
              </a:rPr>
              <a:t>NexPoint</a:t>
            </a:r>
            <a:r>
              <a:rPr lang="en-US">
                <a:latin typeface="Garamond"/>
              </a:rPr>
              <a:t> reports better results than other REITs due to the existing value-add runway</a:t>
            </a:r>
            <a:endParaRPr lang="en-US"/>
          </a:p>
          <a:p>
            <a:endParaRPr lang="en-US"/>
          </a:p>
        </p:txBody>
      </p:sp>
      <p:graphicFrame>
        <p:nvGraphicFramePr>
          <p:cNvPr id="10" name="Table 10">
            <a:extLst>
              <a:ext uri="{FF2B5EF4-FFF2-40B4-BE49-F238E27FC236}">
                <a16:creationId xmlns:a16="http://schemas.microsoft.com/office/drawing/2014/main" id="{3CFBAA9D-AFAC-5492-7FE3-34B3C798F40A}"/>
              </a:ext>
            </a:extLst>
          </p:cNvPr>
          <p:cNvGraphicFramePr>
            <a:graphicFrameLocks noGrp="1"/>
          </p:cNvGraphicFramePr>
          <p:nvPr>
            <p:extLst>
              <p:ext uri="{D42A27DB-BD31-4B8C-83A1-F6EECF244321}">
                <p14:modId xmlns:p14="http://schemas.microsoft.com/office/powerpoint/2010/main" val="1620716238"/>
              </p:ext>
            </p:extLst>
          </p:nvPr>
        </p:nvGraphicFramePr>
        <p:xfrm>
          <a:off x="5382753" y="1871652"/>
          <a:ext cx="4241664" cy="3209544"/>
        </p:xfrm>
        <a:graphic>
          <a:graphicData uri="http://schemas.openxmlformats.org/drawingml/2006/table">
            <a:tbl>
              <a:tblPr firstRow="1" bandRow="1">
                <a:tableStyleId>{5C22544A-7EE6-4342-B048-85BDC9FD1C3A}</a:tableStyleId>
              </a:tblPr>
              <a:tblGrid>
                <a:gridCol w="1060416">
                  <a:extLst>
                    <a:ext uri="{9D8B030D-6E8A-4147-A177-3AD203B41FA5}">
                      <a16:colId xmlns:a16="http://schemas.microsoft.com/office/drawing/2014/main" val="1417743707"/>
                    </a:ext>
                  </a:extLst>
                </a:gridCol>
                <a:gridCol w="1060416">
                  <a:extLst>
                    <a:ext uri="{9D8B030D-6E8A-4147-A177-3AD203B41FA5}">
                      <a16:colId xmlns:a16="http://schemas.microsoft.com/office/drawing/2014/main" val="1885698735"/>
                    </a:ext>
                  </a:extLst>
                </a:gridCol>
                <a:gridCol w="1060416">
                  <a:extLst>
                    <a:ext uri="{9D8B030D-6E8A-4147-A177-3AD203B41FA5}">
                      <a16:colId xmlns:a16="http://schemas.microsoft.com/office/drawing/2014/main" val="831060950"/>
                    </a:ext>
                  </a:extLst>
                </a:gridCol>
                <a:gridCol w="1060416">
                  <a:extLst>
                    <a:ext uri="{9D8B030D-6E8A-4147-A177-3AD203B41FA5}">
                      <a16:colId xmlns:a16="http://schemas.microsoft.com/office/drawing/2014/main" val="872282904"/>
                    </a:ext>
                  </a:extLst>
                </a:gridCol>
              </a:tblGrid>
              <a:tr h="370840">
                <a:tc>
                  <a:txBody>
                    <a:bodyPr/>
                    <a:lstStyle/>
                    <a:p>
                      <a:pPr algn="ctr"/>
                      <a:r>
                        <a:rPr lang="en-US" sz="1200"/>
                        <a:t>State</a:t>
                      </a:r>
                    </a:p>
                  </a:txBody>
                  <a:tcPr anchor="ctr"/>
                </a:tc>
                <a:tc>
                  <a:txBody>
                    <a:bodyPr/>
                    <a:lstStyle/>
                    <a:p>
                      <a:pPr algn="ctr"/>
                      <a:r>
                        <a:rPr lang="en-US" sz="1200"/>
                        <a:t>Total Units</a:t>
                      </a:r>
                    </a:p>
                  </a:txBody>
                  <a:tcPr anchor="ctr"/>
                </a:tc>
                <a:tc>
                  <a:txBody>
                    <a:bodyPr/>
                    <a:lstStyle/>
                    <a:p>
                      <a:pPr algn="ctr"/>
                      <a:r>
                        <a:rPr lang="en-US" sz="1200"/>
                        <a:t>Rehabbed </a:t>
                      </a:r>
                      <a:br>
                        <a:rPr lang="en-US" sz="1200"/>
                      </a:br>
                      <a:r>
                        <a:rPr lang="en-US" sz="1200"/>
                        <a:t> Units</a:t>
                      </a:r>
                    </a:p>
                  </a:txBody>
                  <a:tcPr anchor="ctr"/>
                </a:tc>
                <a:tc>
                  <a:txBody>
                    <a:bodyPr/>
                    <a:lstStyle/>
                    <a:p>
                      <a:pPr algn="ctr"/>
                      <a:r>
                        <a:rPr lang="en-US" sz="1200"/>
                        <a:t>Total Minus Rehabbed</a:t>
                      </a:r>
                    </a:p>
                  </a:txBody>
                  <a:tcPr anchor="ctr"/>
                </a:tc>
                <a:extLst>
                  <a:ext uri="{0D108BD9-81ED-4DB2-BD59-A6C34878D82A}">
                    <a16:rowId xmlns:a16="http://schemas.microsoft.com/office/drawing/2014/main" val="1993101611"/>
                  </a:ext>
                </a:extLst>
              </a:tr>
              <a:tr h="370840">
                <a:tc>
                  <a:txBody>
                    <a:bodyPr/>
                    <a:lstStyle/>
                    <a:p>
                      <a:pPr algn="ctr"/>
                      <a:r>
                        <a:rPr lang="en-US"/>
                        <a:t>AZ</a:t>
                      </a:r>
                    </a:p>
                  </a:txBody>
                  <a:tcPr anchor="ctr"/>
                </a:tc>
                <a:tc>
                  <a:txBody>
                    <a:bodyPr/>
                    <a:lstStyle/>
                    <a:p>
                      <a:pPr algn="ctr"/>
                      <a:r>
                        <a:rPr lang="en-US"/>
                        <a:t>2009</a:t>
                      </a:r>
                    </a:p>
                  </a:txBody>
                  <a:tcPr anchor="ctr"/>
                </a:tc>
                <a:tc>
                  <a:txBody>
                    <a:bodyPr/>
                    <a:lstStyle/>
                    <a:p>
                      <a:pPr algn="ctr"/>
                      <a:r>
                        <a:rPr lang="en-US"/>
                        <a:t>971</a:t>
                      </a:r>
                    </a:p>
                  </a:txBody>
                  <a:tcPr anchor="ctr"/>
                </a:tc>
                <a:tc>
                  <a:txBody>
                    <a:bodyPr/>
                    <a:lstStyle/>
                    <a:p>
                      <a:pPr algn="ctr"/>
                      <a:r>
                        <a:rPr lang="en-US"/>
                        <a:t>1038</a:t>
                      </a:r>
                    </a:p>
                  </a:txBody>
                  <a:tcPr anchor="ctr"/>
                </a:tc>
                <a:extLst>
                  <a:ext uri="{0D108BD9-81ED-4DB2-BD59-A6C34878D82A}">
                    <a16:rowId xmlns:a16="http://schemas.microsoft.com/office/drawing/2014/main" val="3619094002"/>
                  </a:ext>
                </a:extLst>
              </a:tr>
              <a:tr h="370840">
                <a:tc>
                  <a:txBody>
                    <a:bodyPr/>
                    <a:lstStyle/>
                    <a:p>
                      <a:pPr algn="ctr"/>
                      <a:r>
                        <a:rPr lang="en-US"/>
                        <a:t>FL</a:t>
                      </a:r>
                    </a:p>
                  </a:txBody>
                  <a:tcPr anchor="ctr"/>
                </a:tc>
                <a:tc>
                  <a:txBody>
                    <a:bodyPr/>
                    <a:lstStyle/>
                    <a:p>
                      <a:pPr algn="ctr"/>
                      <a:r>
                        <a:rPr lang="en-US"/>
                        <a:t>3707</a:t>
                      </a:r>
                    </a:p>
                  </a:txBody>
                  <a:tcPr anchor="ctr"/>
                </a:tc>
                <a:tc>
                  <a:txBody>
                    <a:bodyPr/>
                    <a:lstStyle/>
                    <a:p>
                      <a:pPr algn="ctr"/>
                      <a:r>
                        <a:rPr lang="en-US"/>
                        <a:t>2430</a:t>
                      </a:r>
                    </a:p>
                  </a:txBody>
                  <a:tcPr anchor="ctr"/>
                </a:tc>
                <a:tc>
                  <a:txBody>
                    <a:bodyPr/>
                    <a:lstStyle/>
                    <a:p>
                      <a:pPr algn="ctr"/>
                      <a:r>
                        <a:rPr lang="en-US"/>
                        <a:t>1277</a:t>
                      </a:r>
                    </a:p>
                  </a:txBody>
                  <a:tcPr anchor="ctr"/>
                </a:tc>
                <a:extLst>
                  <a:ext uri="{0D108BD9-81ED-4DB2-BD59-A6C34878D82A}">
                    <a16:rowId xmlns:a16="http://schemas.microsoft.com/office/drawing/2014/main" val="560581624"/>
                  </a:ext>
                </a:extLst>
              </a:tr>
              <a:tr h="370840">
                <a:tc>
                  <a:txBody>
                    <a:bodyPr/>
                    <a:lstStyle/>
                    <a:p>
                      <a:pPr algn="ctr"/>
                      <a:r>
                        <a:rPr lang="en-US"/>
                        <a:t>GA</a:t>
                      </a:r>
                    </a:p>
                  </a:txBody>
                  <a:tcPr anchor="ctr"/>
                </a:tc>
                <a:tc>
                  <a:txBody>
                    <a:bodyPr/>
                    <a:lstStyle/>
                    <a:p>
                      <a:pPr algn="ctr"/>
                      <a:r>
                        <a:rPr lang="en-US"/>
                        <a:t>1692</a:t>
                      </a:r>
                    </a:p>
                  </a:txBody>
                  <a:tcPr anchor="ctr"/>
                </a:tc>
                <a:tc>
                  <a:txBody>
                    <a:bodyPr/>
                    <a:lstStyle/>
                    <a:p>
                      <a:pPr algn="ctr"/>
                      <a:r>
                        <a:rPr lang="en-US"/>
                        <a:t>1417</a:t>
                      </a:r>
                    </a:p>
                  </a:txBody>
                  <a:tcPr anchor="ctr"/>
                </a:tc>
                <a:tc>
                  <a:txBody>
                    <a:bodyPr/>
                    <a:lstStyle/>
                    <a:p>
                      <a:pPr algn="ctr"/>
                      <a:r>
                        <a:rPr lang="en-US"/>
                        <a:t>275</a:t>
                      </a:r>
                    </a:p>
                  </a:txBody>
                  <a:tcPr anchor="ctr"/>
                </a:tc>
                <a:extLst>
                  <a:ext uri="{0D108BD9-81ED-4DB2-BD59-A6C34878D82A}">
                    <a16:rowId xmlns:a16="http://schemas.microsoft.com/office/drawing/2014/main" val="3902966619"/>
                  </a:ext>
                </a:extLst>
              </a:tr>
              <a:tr h="370840">
                <a:tc>
                  <a:txBody>
                    <a:bodyPr/>
                    <a:lstStyle/>
                    <a:p>
                      <a:pPr algn="ctr"/>
                      <a:r>
                        <a:rPr lang="en-US"/>
                        <a:t>NC</a:t>
                      </a:r>
                    </a:p>
                  </a:txBody>
                  <a:tcPr anchor="ctr"/>
                </a:tc>
                <a:tc>
                  <a:txBody>
                    <a:bodyPr/>
                    <a:lstStyle/>
                    <a:p>
                      <a:pPr algn="ctr"/>
                      <a:r>
                        <a:rPr lang="en-US"/>
                        <a:t>1706</a:t>
                      </a:r>
                    </a:p>
                  </a:txBody>
                  <a:tcPr anchor="ctr"/>
                </a:tc>
                <a:tc>
                  <a:txBody>
                    <a:bodyPr/>
                    <a:lstStyle/>
                    <a:p>
                      <a:pPr algn="ctr"/>
                      <a:r>
                        <a:rPr lang="en-US"/>
                        <a:t>1004</a:t>
                      </a:r>
                    </a:p>
                  </a:txBody>
                  <a:tcPr anchor="ctr"/>
                </a:tc>
                <a:tc>
                  <a:txBody>
                    <a:bodyPr/>
                    <a:lstStyle/>
                    <a:p>
                      <a:pPr algn="ctr"/>
                      <a:r>
                        <a:rPr lang="en-US"/>
                        <a:t>702</a:t>
                      </a:r>
                    </a:p>
                  </a:txBody>
                  <a:tcPr anchor="ctr"/>
                </a:tc>
                <a:extLst>
                  <a:ext uri="{0D108BD9-81ED-4DB2-BD59-A6C34878D82A}">
                    <a16:rowId xmlns:a16="http://schemas.microsoft.com/office/drawing/2014/main" val="33720710"/>
                  </a:ext>
                </a:extLst>
              </a:tr>
              <a:tr h="370840">
                <a:tc>
                  <a:txBody>
                    <a:bodyPr/>
                    <a:lstStyle/>
                    <a:p>
                      <a:pPr algn="ctr"/>
                      <a:r>
                        <a:rPr lang="en-US"/>
                        <a:t>NV</a:t>
                      </a:r>
                    </a:p>
                  </a:txBody>
                  <a:tcPr anchor="ctr"/>
                </a:tc>
                <a:tc>
                  <a:txBody>
                    <a:bodyPr/>
                    <a:lstStyle/>
                    <a:p>
                      <a:pPr algn="ctr"/>
                      <a:r>
                        <a:rPr lang="en-US"/>
                        <a:t>1164</a:t>
                      </a:r>
                    </a:p>
                  </a:txBody>
                  <a:tcPr anchor="ctr"/>
                </a:tc>
                <a:tc>
                  <a:txBody>
                    <a:bodyPr/>
                    <a:lstStyle/>
                    <a:p>
                      <a:pPr algn="ctr"/>
                      <a:r>
                        <a:rPr lang="en-US"/>
                        <a:t>138</a:t>
                      </a:r>
                    </a:p>
                  </a:txBody>
                  <a:tcPr anchor="ctr"/>
                </a:tc>
                <a:tc>
                  <a:txBody>
                    <a:bodyPr/>
                    <a:lstStyle/>
                    <a:p>
                      <a:pPr algn="ctr"/>
                      <a:r>
                        <a:rPr lang="en-US"/>
                        <a:t>1026</a:t>
                      </a:r>
                    </a:p>
                  </a:txBody>
                  <a:tcPr anchor="ctr"/>
                </a:tc>
                <a:extLst>
                  <a:ext uri="{0D108BD9-81ED-4DB2-BD59-A6C34878D82A}">
                    <a16:rowId xmlns:a16="http://schemas.microsoft.com/office/drawing/2014/main" val="650326149"/>
                  </a:ext>
                </a:extLst>
              </a:tr>
              <a:tr h="370840">
                <a:tc>
                  <a:txBody>
                    <a:bodyPr/>
                    <a:lstStyle/>
                    <a:p>
                      <a:pPr algn="ctr"/>
                      <a:r>
                        <a:rPr lang="en-US"/>
                        <a:t>TN</a:t>
                      </a:r>
                    </a:p>
                  </a:txBody>
                  <a:tcPr anchor="ctr"/>
                </a:tc>
                <a:tc>
                  <a:txBody>
                    <a:bodyPr/>
                    <a:lstStyle/>
                    <a:p>
                      <a:pPr algn="ctr"/>
                      <a:r>
                        <a:rPr lang="en-US"/>
                        <a:t>1338</a:t>
                      </a:r>
                    </a:p>
                  </a:txBody>
                  <a:tcPr anchor="ctr"/>
                </a:tc>
                <a:tc>
                  <a:txBody>
                    <a:bodyPr/>
                    <a:lstStyle/>
                    <a:p>
                      <a:pPr algn="ctr"/>
                      <a:r>
                        <a:rPr lang="en-US"/>
                        <a:t>712</a:t>
                      </a:r>
                    </a:p>
                  </a:txBody>
                  <a:tcPr anchor="ctr"/>
                </a:tc>
                <a:tc>
                  <a:txBody>
                    <a:bodyPr/>
                    <a:lstStyle/>
                    <a:p>
                      <a:pPr algn="ctr"/>
                      <a:r>
                        <a:rPr lang="en-US"/>
                        <a:t>626</a:t>
                      </a:r>
                    </a:p>
                  </a:txBody>
                  <a:tcPr anchor="ctr"/>
                </a:tc>
                <a:extLst>
                  <a:ext uri="{0D108BD9-81ED-4DB2-BD59-A6C34878D82A}">
                    <a16:rowId xmlns:a16="http://schemas.microsoft.com/office/drawing/2014/main" val="3717059101"/>
                  </a:ext>
                </a:extLst>
              </a:tr>
              <a:tr h="370840">
                <a:tc>
                  <a:txBody>
                    <a:bodyPr/>
                    <a:lstStyle/>
                    <a:p>
                      <a:pPr algn="ctr"/>
                      <a:r>
                        <a:rPr lang="en-US"/>
                        <a:t>TX</a:t>
                      </a:r>
                    </a:p>
                  </a:txBody>
                  <a:tcPr anchor="ctr"/>
                </a:tc>
                <a:tc>
                  <a:txBody>
                    <a:bodyPr/>
                    <a:lstStyle/>
                    <a:p>
                      <a:pPr algn="ctr"/>
                      <a:r>
                        <a:rPr lang="en-US"/>
                        <a:t>3511</a:t>
                      </a:r>
                    </a:p>
                  </a:txBody>
                  <a:tcPr anchor="ctr"/>
                </a:tc>
                <a:tc>
                  <a:txBody>
                    <a:bodyPr/>
                    <a:lstStyle/>
                    <a:p>
                      <a:pPr algn="ctr"/>
                      <a:r>
                        <a:rPr lang="en-US"/>
                        <a:t>3242</a:t>
                      </a:r>
                    </a:p>
                  </a:txBody>
                  <a:tcPr anchor="ctr"/>
                </a:tc>
                <a:tc>
                  <a:txBody>
                    <a:bodyPr/>
                    <a:lstStyle/>
                    <a:p>
                      <a:pPr algn="ctr"/>
                      <a:r>
                        <a:rPr lang="en-US"/>
                        <a:t>269</a:t>
                      </a:r>
                    </a:p>
                  </a:txBody>
                  <a:tcPr anchor="ctr"/>
                </a:tc>
                <a:extLst>
                  <a:ext uri="{0D108BD9-81ED-4DB2-BD59-A6C34878D82A}">
                    <a16:rowId xmlns:a16="http://schemas.microsoft.com/office/drawing/2014/main" val="2303145959"/>
                  </a:ext>
                </a:extLst>
              </a:tr>
            </a:tbl>
          </a:graphicData>
        </a:graphic>
      </p:graphicFrame>
      <p:sp>
        <p:nvSpPr>
          <p:cNvPr id="11" name="Content Placeholder 8">
            <a:extLst>
              <a:ext uri="{FF2B5EF4-FFF2-40B4-BE49-F238E27FC236}">
                <a16:creationId xmlns:a16="http://schemas.microsoft.com/office/drawing/2014/main" id="{2F9D376B-EC97-E43B-AC7A-2791A08ADD35}"/>
              </a:ext>
            </a:extLst>
          </p:cNvPr>
          <p:cNvSpPr txBox="1">
            <a:spLocks/>
          </p:cNvSpPr>
          <p:nvPr/>
        </p:nvSpPr>
        <p:spPr>
          <a:xfrm>
            <a:off x="5382177" y="1517737"/>
            <a:ext cx="4242816" cy="304337"/>
          </a:xfrm>
          <a:prstGeom prst="rect">
            <a:avLst/>
          </a:prstGeom>
          <a:solidFill>
            <a:srgbClr val="1E1F49"/>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Significant Value-Add Opportunity</a:t>
            </a:r>
          </a:p>
        </p:txBody>
      </p:sp>
      <p:sp>
        <p:nvSpPr>
          <p:cNvPr id="15" name="Content Placeholder 8">
            <a:extLst>
              <a:ext uri="{FF2B5EF4-FFF2-40B4-BE49-F238E27FC236}">
                <a16:creationId xmlns:a16="http://schemas.microsoft.com/office/drawing/2014/main" id="{81BEB157-595C-C03C-9E0E-0A4A4FCE4D36}"/>
              </a:ext>
            </a:extLst>
          </p:cNvPr>
          <p:cNvSpPr txBox="1">
            <a:spLocks/>
          </p:cNvSpPr>
          <p:nvPr/>
        </p:nvSpPr>
        <p:spPr>
          <a:xfrm>
            <a:off x="5385816" y="5200565"/>
            <a:ext cx="4242816" cy="304337"/>
          </a:xfrm>
          <a:prstGeom prst="rect">
            <a:avLst/>
          </a:prstGeom>
          <a:solidFill>
            <a:srgbClr val="1E1F49"/>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Cost Advantages of Value-Add</a:t>
            </a:r>
          </a:p>
        </p:txBody>
      </p:sp>
      <p:sp>
        <p:nvSpPr>
          <p:cNvPr id="24" name="Oval 23">
            <a:extLst>
              <a:ext uri="{FF2B5EF4-FFF2-40B4-BE49-F238E27FC236}">
                <a16:creationId xmlns:a16="http://schemas.microsoft.com/office/drawing/2014/main" id="{F03AF402-EC41-2D75-FC01-59BBEAF92060}"/>
              </a:ext>
            </a:extLst>
          </p:cNvPr>
          <p:cNvSpPr>
            <a:spLocks noChangeAspect="1"/>
          </p:cNvSpPr>
          <p:nvPr/>
        </p:nvSpPr>
        <p:spPr>
          <a:xfrm>
            <a:off x="5404104" y="5561291"/>
            <a:ext cx="2011680" cy="7351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$4,759</a:t>
            </a:r>
          </a:p>
        </p:txBody>
      </p:sp>
      <p:sp>
        <p:nvSpPr>
          <p:cNvPr id="25" name="Content Placeholder 8">
            <a:extLst>
              <a:ext uri="{FF2B5EF4-FFF2-40B4-BE49-F238E27FC236}">
                <a16:creationId xmlns:a16="http://schemas.microsoft.com/office/drawing/2014/main" id="{3AEBDD54-6F6D-45BA-EE0A-F6B4C2CA7690}"/>
              </a:ext>
            </a:extLst>
          </p:cNvPr>
          <p:cNvSpPr txBox="1">
            <a:spLocks/>
          </p:cNvSpPr>
          <p:nvPr/>
        </p:nvSpPr>
        <p:spPr>
          <a:xfrm>
            <a:off x="5402907" y="6415380"/>
            <a:ext cx="2011680" cy="622600"/>
          </a:xfrm>
          <a:prstGeom prst="rect">
            <a:avLst/>
          </a:prstGeom>
          <a:solidFill>
            <a:srgbClr val="005EB4"/>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Average Rehabilitation Expenditure per Unit</a:t>
            </a:r>
          </a:p>
        </p:txBody>
      </p:sp>
      <p:sp>
        <p:nvSpPr>
          <p:cNvPr id="26" name="Oval 25">
            <a:extLst>
              <a:ext uri="{FF2B5EF4-FFF2-40B4-BE49-F238E27FC236}">
                <a16:creationId xmlns:a16="http://schemas.microsoft.com/office/drawing/2014/main" id="{E4CFA505-BC41-9270-64FC-6C5F84343568}"/>
              </a:ext>
            </a:extLst>
          </p:cNvPr>
          <p:cNvSpPr>
            <a:spLocks noChangeAspect="1"/>
          </p:cNvSpPr>
          <p:nvPr/>
        </p:nvSpPr>
        <p:spPr>
          <a:xfrm>
            <a:off x="7607808" y="5566176"/>
            <a:ext cx="2011680" cy="7247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$101,894</a:t>
            </a:r>
          </a:p>
        </p:txBody>
      </p:sp>
      <p:sp>
        <p:nvSpPr>
          <p:cNvPr id="27" name="Content Placeholder 8">
            <a:extLst>
              <a:ext uri="{FF2B5EF4-FFF2-40B4-BE49-F238E27FC236}">
                <a16:creationId xmlns:a16="http://schemas.microsoft.com/office/drawing/2014/main" id="{EE47E944-DEB2-A95F-03A7-A456C11F587C}"/>
              </a:ext>
            </a:extLst>
          </p:cNvPr>
          <p:cNvSpPr txBox="1">
            <a:spLocks/>
          </p:cNvSpPr>
          <p:nvPr/>
        </p:nvSpPr>
        <p:spPr>
          <a:xfrm>
            <a:off x="7605493" y="6404131"/>
            <a:ext cx="2011680" cy="622600"/>
          </a:xfrm>
          <a:prstGeom prst="rect">
            <a:avLst/>
          </a:prstGeom>
          <a:solidFill>
            <a:srgbClr val="005EB4"/>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Average Purchase Price per Unit</a:t>
            </a:r>
          </a:p>
        </p:txBody>
      </p:sp>
    </p:spTree>
    <p:extLst>
      <p:ext uri="{BB962C8B-B14F-4D97-AF65-F5344CB8AC3E}">
        <p14:creationId xmlns:p14="http://schemas.microsoft.com/office/powerpoint/2010/main" val="3428464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08C5CD25-2CB9-3F7B-1D40-CCE2223AB55E}"/>
              </a:ext>
            </a:extLst>
          </p:cNvPr>
          <p:cNvSpPr txBox="1"/>
          <p:nvPr/>
        </p:nvSpPr>
        <p:spPr>
          <a:xfrm>
            <a:off x="8183787" y="5614416"/>
            <a:ext cx="914400" cy="369332"/>
          </a:xfrm>
          <a:prstGeom prst="rect">
            <a:avLst/>
          </a:prstGeom>
          <a:noFill/>
        </p:spPr>
        <p:txBody>
          <a:bodyPr wrap="square" rtlCol="0">
            <a:spAutoFit/>
          </a:bodyPr>
          <a:lstStyle/>
          <a:p>
            <a:pPr algn="ctr"/>
            <a:r>
              <a:rPr lang="en-US"/>
              <a:t>17.8%</a:t>
            </a:r>
          </a:p>
        </p:txBody>
      </p:sp>
      <p:sp>
        <p:nvSpPr>
          <p:cNvPr id="2" name="Title 1">
            <a:extLst>
              <a:ext uri="{FF2B5EF4-FFF2-40B4-BE49-F238E27FC236}">
                <a16:creationId xmlns:a16="http://schemas.microsoft.com/office/drawing/2014/main" id="{F5D84978-B3A0-9D46-293E-FCAE53A2B073}"/>
              </a:ext>
            </a:extLst>
          </p:cNvPr>
          <p:cNvSpPr>
            <a:spLocks noGrp="1"/>
          </p:cNvSpPr>
          <p:nvPr>
            <p:ph type="title"/>
          </p:nvPr>
        </p:nvSpPr>
        <p:spPr/>
        <p:txBody>
          <a:bodyPr/>
          <a:lstStyle/>
          <a:p>
            <a:r>
              <a:rPr lang="en-US"/>
              <a:t>Higher Capital Costs Create Entry Barriers for Competitors</a:t>
            </a:r>
          </a:p>
        </p:txBody>
      </p:sp>
      <p:sp>
        <p:nvSpPr>
          <p:cNvPr id="4" name="Text Placeholder 3">
            <a:extLst>
              <a:ext uri="{FF2B5EF4-FFF2-40B4-BE49-F238E27FC236}">
                <a16:creationId xmlns:a16="http://schemas.microsoft.com/office/drawing/2014/main" id="{3B55179B-0339-327E-6B63-CE4675354B8E}"/>
              </a:ext>
            </a:extLst>
          </p:cNvPr>
          <p:cNvSpPr>
            <a:spLocks noGrp="1"/>
          </p:cNvSpPr>
          <p:nvPr>
            <p:ph type="body" sz="quarter" idx="18"/>
          </p:nvPr>
        </p:nvSpPr>
        <p:spPr/>
        <p:txBody>
          <a:bodyPr>
            <a:normAutofit/>
          </a:bodyPr>
          <a:lstStyle/>
          <a:p>
            <a:r>
              <a:rPr lang="en-US" i="1"/>
              <a:t>NexPoint can take advantage of Sunbelt incumbency and value-add program to maintain and grow market share.</a:t>
            </a:r>
          </a:p>
        </p:txBody>
      </p:sp>
      <p:sp>
        <p:nvSpPr>
          <p:cNvPr id="5" name="Content Placeholder 4">
            <a:extLst>
              <a:ext uri="{FF2B5EF4-FFF2-40B4-BE49-F238E27FC236}">
                <a16:creationId xmlns:a16="http://schemas.microsoft.com/office/drawing/2014/main" id="{719568E7-64F1-5916-FA09-8559A8BAA6A8}"/>
              </a:ext>
            </a:extLst>
          </p:cNvPr>
          <p:cNvSpPr>
            <a:spLocks noGrp="1"/>
          </p:cNvSpPr>
          <p:nvPr>
            <p:ph idx="10"/>
          </p:nvPr>
        </p:nvSpPr>
        <p:spPr>
          <a:xfrm>
            <a:off x="369794" y="1520624"/>
            <a:ext cx="4764713" cy="1627847"/>
          </a:xfrm>
        </p:spPr>
        <p:txBody>
          <a:bodyPr vert="horz" lIns="91440" tIns="45720" rIns="91440" bIns="45720" rtlCol="0" anchor="t">
            <a:noAutofit/>
          </a:bodyPr>
          <a:lstStyle/>
          <a:p>
            <a:r>
              <a:rPr lang="en-US">
                <a:latin typeface="Garamond"/>
              </a:rPr>
              <a:t>To acquire or develop properties, real estate firms must rely on more expensive debt due to the higher interest rate environment, which increases interest expense and reduces ROI and thus imposes entry barriers on new entrants</a:t>
            </a:r>
          </a:p>
          <a:p>
            <a:r>
              <a:rPr lang="en-US">
                <a:latin typeface="Garamond"/>
              </a:rPr>
              <a:t>This dynamic has and will preclude new firms without a Sunbelt presence from meeting the growing demand for class B housing in the Sunbelt as middle- and working-class Americans enter the region</a:t>
            </a:r>
          </a:p>
          <a:p>
            <a:r>
              <a:rPr lang="en-US">
                <a:latin typeface="Garamond"/>
              </a:rPr>
              <a:t>As one of the larger existing multifamily Class B providers in Arizona and Nevada, NexPoint is particularly well-positioned to continue capturing share in these markets due to the combination of new entrants being excluded, its differentiated value-add program and consistent generation of higher ROI on value-add, and ability to leverage its existing presence and infrastructure within these states to achieve economies of scale, all of which allow the Company to fare the best after a period of sustained rate hikes relative to other real estate firms in these markets</a:t>
            </a:r>
          </a:p>
          <a:p>
            <a:r>
              <a:rPr lang="en-US">
                <a:latin typeface="Garamond"/>
              </a:rPr>
              <a:t>These dynamics will be reflected in the stock price during the investment horizon through a greater number of NexPoint units coming online relative to competitors and new entrants</a:t>
            </a:r>
          </a:p>
        </p:txBody>
      </p:sp>
      <p:sp>
        <p:nvSpPr>
          <p:cNvPr id="9" name="Content Placeholder 8">
            <a:extLst>
              <a:ext uri="{FF2B5EF4-FFF2-40B4-BE49-F238E27FC236}">
                <a16:creationId xmlns:a16="http://schemas.microsoft.com/office/drawing/2014/main" id="{35119933-25C1-BE17-C750-DAF14973E333}"/>
              </a:ext>
            </a:extLst>
          </p:cNvPr>
          <p:cNvSpPr>
            <a:spLocks noGrp="1"/>
          </p:cNvSpPr>
          <p:nvPr>
            <p:ph idx="22"/>
          </p:nvPr>
        </p:nvSpPr>
        <p:spPr>
          <a:xfrm>
            <a:off x="5152650" y="4841350"/>
            <a:ext cx="4463745" cy="304337"/>
          </a:xfrm>
        </p:spPr>
        <p:txBody>
          <a:bodyPr>
            <a:normAutofit/>
          </a:bodyPr>
          <a:lstStyle/>
          <a:p>
            <a:r>
              <a:rPr lang="en-US"/>
              <a:t>Comparison on ROI for 2023 Value-Added Properties</a:t>
            </a:r>
          </a:p>
        </p:txBody>
      </p:sp>
      <p:sp>
        <p:nvSpPr>
          <p:cNvPr id="20" name="Content Placeholder 8">
            <a:extLst>
              <a:ext uri="{FF2B5EF4-FFF2-40B4-BE49-F238E27FC236}">
                <a16:creationId xmlns:a16="http://schemas.microsoft.com/office/drawing/2014/main" id="{B43B887A-DE11-8570-4EA2-095B1FAB2555}"/>
              </a:ext>
            </a:extLst>
          </p:cNvPr>
          <p:cNvSpPr txBox="1">
            <a:spLocks/>
          </p:cNvSpPr>
          <p:nvPr/>
        </p:nvSpPr>
        <p:spPr>
          <a:xfrm>
            <a:off x="5134507" y="5289600"/>
            <a:ext cx="1920240" cy="304337"/>
          </a:xfrm>
          <a:prstGeom prst="rect">
            <a:avLst/>
          </a:prstGeom>
          <a:solidFill>
            <a:srgbClr val="005EB4"/>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NXRT</a:t>
            </a:r>
          </a:p>
        </p:txBody>
      </p:sp>
      <p:sp>
        <p:nvSpPr>
          <p:cNvPr id="21" name="Content Placeholder 8">
            <a:extLst>
              <a:ext uri="{FF2B5EF4-FFF2-40B4-BE49-F238E27FC236}">
                <a16:creationId xmlns:a16="http://schemas.microsoft.com/office/drawing/2014/main" id="{0DB88C55-0258-8580-6C35-E6AB179A0675}"/>
              </a:ext>
            </a:extLst>
          </p:cNvPr>
          <p:cNvSpPr txBox="1">
            <a:spLocks/>
          </p:cNvSpPr>
          <p:nvPr/>
        </p:nvSpPr>
        <p:spPr>
          <a:xfrm>
            <a:off x="7719803" y="5294376"/>
            <a:ext cx="1920240" cy="304337"/>
          </a:xfrm>
          <a:prstGeom prst="rect">
            <a:avLst/>
          </a:prstGeom>
          <a:solidFill>
            <a:srgbClr val="710F32"/>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t>IRT</a:t>
            </a:r>
          </a:p>
        </p:txBody>
      </p:sp>
      <p:sp>
        <p:nvSpPr>
          <p:cNvPr id="3" name="TextBox 2">
            <a:extLst>
              <a:ext uri="{FF2B5EF4-FFF2-40B4-BE49-F238E27FC236}">
                <a16:creationId xmlns:a16="http://schemas.microsoft.com/office/drawing/2014/main" id="{D7B276F5-0517-92D7-8FC1-800D5962334C}"/>
              </a:ext>
            </a:extLst>
          </p:cNvPr>
          <p:cNvSpPr txBox="1"/>
          <p:nvPr/>
        </p:nvSpPr>
        <p:spPr>
          <a:xfrm>
            <a:off x="6927323" y="5614416"/>
            <a:ext cx="914400" cy="369332"/>
          </a:xfrm>
          <a:prstGeom prst="rect">
            <a:avLst/>
          </a:prstGeom>
          <a:noFill/>
        </p:spPr>
        <p:txBody>
          <a:bodyPr wrap="square" rtlCol="0">
            <a:spAutoFit/>
          </a:bodyPr>
          <a:lstStyle/>
          <a:p>
            <a:pPr algn="ctr"/>
            <a:r>
              <a:rPr lang="en-US" b="1"/>
              <a:t>Q1</a:t>
            </a:r>
          </a:p>
        </p:txBody>
      </p:sp>
      <p:sp>
        <p:nvSpPr>
          <p:cNvPr id="7" name="TextBox 6">
            <a:extLst>
              <a:ext uri="{FF2B5EF4-FFF2-40B4-BE49-F238E27FC236}">
                <a16:creationId xmlns:a16="http://schemas.microsoft.com/office/drawing/2014/main" id="{F8B1BD19-C24D-C283-7814-8E012EF51210}"/>
              </a:ext>
            </a:extLst>
          </p:cNvPr>
          <p:cNvSpPr txBox="1"/>
          <p:nvPr/>
        </p:nvSpPr>
        <p:spPr>
          <a:xfrm>
            <a:off x="6931152" y="6007608"/>
            <a:ext cx="914400" cy="369332"/>
          </a:xfrm>
          <a:prstGeom prst="rect">
            <a:avLst/>
          </a:prstGeom>
          <a:noFill/>
        </p:spPr>
        <p:txBody>
          <a:bodyPr wrap="square" rtlCol="0">
            <a:spAutoFit/>
          </a:bodyPr>
          <a:lstStyle/>
          <a:p>
            <a:pPr algn="ctr"/>
            <a:r>
              <a:rPr lang="en-US" b="1"/>
              <a:t>Q2</a:t>
            </a:r>
          </a:p>
        </p:txBody>
      </p:sp>
      <p:sp>
        <p:nvSpPr>
          <p:cNvPr id="10" name="TextBox 9">
            <a:extLst>
              <a:ext uri="{FF2B5EF4-FFF2-40B4-BE49-F238E27FC236}">
                <a16:creationId xmlns:a16="http://schemas.microsoft.com/office/drawing/2014/main" id="{FEC6BFAA-5693-F203-5217-EBC1919395AE}"/>
              </a:ext>
            </a:extLst>
          </p:cNvPr>
          <p:cNvSpPr txBox="1"/>
          <p:nvPr/>
        </p:nvSpPr>
        <p:spPr>
          <a:xfrm>
            <a:off x="6931152" y="6400800"/>
            <a:ext cx="914400" cy="369332"/>
          </a:xfrm>
          <a:prstGeom prst="rect">
            <a:avLst/>
          </a:prstGeom>
          <a:noFill/>
        </p:spPr>
        <p:txBody>
          <a:bodyPr wrap="square" rtlCol="0">
            <a:spAutoFit/>
          </a:bodyPr>
          <a:lstStyle/>
          <a:p>
            <a:pPr algn="ctr"/>
            <a:r>
              <a:rPr lang="en-US" b="1"/>
              <a:t>Q3</a:t>
            </a:r>
          </a:p>
        </p:txBody>
      </p:sp>
      <p:sp>
        <p:nvSpPr>
          <p:cNvPr id="11" name="TextBox 10">
            <a:extLst>
              <a:ext uri="{FF2B5EF4-FFF2-40B4-BE49-F238E27FC236}">
                <a16:creationId xmlns:a16="http://schemas.microsoft.com/office/drawing/2014/main" id="{FBD6283A-156F-7A01-9295-C23278199AA1}"/>
              </a:ext>
            </a:extLst>
          </p:cNvPr>
          <p:cNvSpPr txBox="1"/>
          <p:nvPr/>
        </p:nvSpPr>
        <p:spPr>
          <a:xfrm>
            <a:off x="5631923" y="5617818"/>
            <a:ext cx="914400" cy="369332"/>
          </a:xfrm>
          <a:prstGeom prst="rect">
            <a:avLst/>
          </a:prstGeom>
          <a:noFill/>
        </p:spPr>
        <p:txBody>
          <a:bodyPr wrap="square" rtlCol="0">
            <a:spAutoFit/>
          </a:bodyPr>
          <a:lstStyle/>
          <a:p>
            <a:pPr algn="ctr"/>
            <a:r>
              <a:rPr lang="en-US"/>
              <a:t>21.2%</a:t>
            </a:r>
          </a:p>
        </p:txBody>
      </p:sp>
      <p:sp>
        <p:nvSpPr>
          <p:cNvPr id="13" name="TextBox 12">
            <a:extLst>
              <a:ext uri="{FF2B5EF4-FFF2-40B4-BE49-F238E27FC236}">
                <a16:creationId xmlns:a16="http://schemas.microsoft.com/office/drawing/2014/main" id="{27E3AC86-5F91-AE31-4FA0-891B65767324}"/>
              </a:ext>
            </a:extLst>
          </p:cNvPr>
          <p:cNvSpPr txBox="1"/>
          <p:nvPr/>
        </p:nvSpPr>
        <p:spPr>
          <a:xfrm>
            <a:off x="8222723" y="6400800"/>
            <a:ext cx="914400" cy="369332"/>
          </a:xfrm>
          <a:prstGeom prst="rect">
            <a:avLst/>
          </a:prstGeom>
          <a:noFill/>
        </p:spPr>
        <p:txBody>
          <a:bodyPr wrap="square" rtlCol="0">
            <a:spAutoFit/>
          </a:bodyPr>
          <a:lstStyle/>
          <a:p>
            <a:pPr algn="ctr"/>
            <a:r>
              <a:rPr lang="en-US"/>
              <a:t>14.2% </a:t>
            </a:r>
          </a:p>
        </p:txBody>
      </p:sp>
      <p:sp>
        <p:nvSpPr>
          <p:cNvPr id="14" name="TextBox 13">
            <a:extLst>
              <a:ext uri="{FF2B5EF4-FFF2-40B4-BE49-F238E27FC236}">
                <a16:creationId xmlns:a16="http://schemas.microsoft.com/office/drawing/2014/main" id="{946BE06E-2C96-D1B1-9527-925A5723019B}"/>
              </a:ext>
            </a:extLst>
          </p:cNvPr>
          <p:cNvSpPr txBox="1"/>
          <p:nvPr/>
        </p:nvSpPr>
        <p:spPr>
          <a:xfrm>
            <a:off x="8193991" y="6007608"/>
            <a:ext cx="914400" cy="369332"/>
          </a:xfrm>
          <a:prstGeom prst="rect">
            <a:avLst/>
          </a:prstGeom>
          <a:noFill/>
        </p:spPr>
        <p:txBody>
          <a:bodyPr wrap="square" rtlCol="0">
            <a:spAutoFit/>
          </a:bodyPr>
          <a:lstStyle/>
          <a:p>
            <a:pPr algn="ctr"/>
            <a:r>
              <a:rPr lang="en-US"/>
              <a:t>16.2% </a:t>
            </a:r>
          </a:p>
        </p:txBody>
      </p:sp>
      <p:sp>
        <p:nvSpPr>
          <p:cNvPr id="24" name="TextBox 23">
            <a:extLst>
              <a:ext uri="{FF2B5EF4-FFF2-40B4-BE49-F238E27FC236}">
                <a16:creationId xmlns:a16="http://schemas.microsoft.com/office/drawing/2014/main" id="{1AD8DF1E-C680-98C5-9E2A-1E1D0F43C2EB}"/>
              </a:ext>
            </a:extLst>
          </p:cNvPr>
          <p:cNvSpPr txBox="1"/>
          <p:nvPr/>
        </p:nvSpPr>
        <p:spPr>
          <a:xfrm>
            <a:off x="5638273" y="6404244"/>
            <a:ext cx="914400" cy="369332"/>
          </a:xfrm>
          <a:prstGeom prst="rect">
            <a:avLst/>
          </a:prstGeom>
          <a:noFill/>
        </p:spPr>
        <p:txBody>
          <a:bodyPr wrap="square" rtlCol="0">
            <a:spAutoFit/>
          </a:bodyPr>
          <a:lstStyle/>
          <a:p>
            <a:pPr algn="ctr"/>
            <a:r>
              <a:rPr lang="en-US"/>
              <a:t>23.6%</a:t>
            </a:r>
          </a:p>
        </p:txBody>
      </p:sp>
      <p:sp>
        <p:nvSpPr>
          <p:cNvPr id="25" name="TextBox 24">
            <a:extLst>
              <a:ext uri="{FF2B5EF4-FFF2-40B4-BE49-F238E27FC236}">
                <a16:creationId xmlns:a16="http://schemas.microsoft.com/office/drawing/2014/main" id="{4C426301-BAF8-8301-731A-1324F7B02780}"/>
              </a:ext>
            </a:extLst>
          </p:cNvPr>
          <p:cNvSpPr txBox="1"/>
          <p:nvPr/>
        </p:nvSpPr>
        <p:spPr>
          <a:xfrm>
            <a:off x="5631923" y="6011031"/>
            <a:ext cx="914400" cy="369332"/>
          </a:xfrm>
          <a:prstGeom prst="rect">
            <a:avLst/>
          </a:prstGeom>
          <a:noFill/>
        </p:spPr>
        <p:txBody>
          <a:bodyPr wrap="square" rtlCol="0">
            <a:spAutoFit/>
          </a:bodyPr>
          <a:lstStyle/>
          <a:p>
            <a:pPr algn="ctr"/>
            <a:r>
              <a:rPr lang="en-US"/>
              <a:t>20.9%</a:t>
            </a:r>
          </a:p>
        </p:txBody>
      </p:sp>
      <p:sp>
        <p:nvSpPr>
          <p:cNvPr id="26" name="TextBox 25">
            <a:extLst>
              <a:ext uri="{FF2B5EF4-FFF2-40B4-BE49-F238E27FC236}">
                <a16:creationId xmlns:a16="http://schemas.microsoft.com/office/drawing/2014/main" id="{D71D6BC0-4D29-5019-3EE9-315F5A12291E}"/>
              </a:ext>
            </a:extLst>
          </p:cNvPr>
          <p:cNvSpPr txBox="1"/>
          <p:nvPr/>
        </p:nvSpPr>
        <p:spPr>
          <a:xfrm>
            <a:off x="5134507" y="6706471"/>
            <a:ext cx="4451539" cy="400110"/>
          </a:xfrm>
          <a:prstGeom prst="rect">
            <a:avLst/>
          </a:prstGeom>
          <a:noFill/>
        </p:spPr>
        <p:txBody>
          <a:bodyPr wrap="square" rtlCol="0">
            <a:spAutoFit/>
          </a:bodyPr>
          <a:lstStyle/>
          <a:p>
            <a:r>
              <a:rPr lang="en-US" sz="1000"/>
              <a:t>Note: ROI is defined as the sum of the actual rent premium divided by the sum of the total cost.</a:t>
            </a:r>
          </a:p>
        </p:txBody>
      </p:sp>
      <p:cxnSp>
        <p:nvCxnSpPr>
          <p:cNvPr id="27" name="Straight Arrow Connector 26">
            <a:extLst>
              <a:ext uri="{FF2B5EF4-FFF2-40B4-BE49-F238E27FC236}">
                <a16:creationId xmlns:a16="http://schemas.microsoft.com/office/drawing/2014/main" id="{B31D8CD0-FDEF-AE57-C1FF-5A7E1D4E9308}"/>
              </a:ext>
            </a:extLst>
          </p:cNvPr>
          <p:cNvCxnSpPr>
            <a:cxnSpLocks/>
          </p:cNvCxnSpPr>
          <p:nvPr/>
        </p:nvCxnSpPr>
        <p:spPr>
          <a:xfrm flipH="1">
            <a:off x="6433082" y="5799082"/>
            <a:ext cx="7315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373341E-00B1-A8EA-6A16-02B9DC43D903}"/>
              </a:ext>
            </a:extLst>
          </p:cNvPr>
          <p:cNvCxnSpPr>
            <a:cxnSpLocks/>
          </p:cNvCxnSpPr>
          <p:nvPr/>
        </p:nvCxnSpPr>
        <p:spPr>
          <a:xfrm flipH="1">
            <a:off x="6437376" y="6211832"/>
            <a:ext cx="7315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28B1FED-6CAC-E59E-C9CE-DF45EFDC82B1}"/>
              </a:ext>
            </a:extLst>
          </p:cNvPr>
          <p:cNvCxnSpPr>
            <a:cxnSpLocks/>
          </p:cNvCxnSpPr>
          <p:nvPr/>
        </p:nvCxnSpPr>
        <p:spPr>
          <a:xfrm flipH="1">
            <a:off x="6437376" y="6592832"/>
            <a:ext cx="7315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89FA4F4-E06A-88BB-87B7-B7413D0A6C42}"/>
              </a:ext>
            </a:extLst>
          </p:cNvPr>
          <p:cNvCxnSpPr>
            <a:cxnSpLocks/>
          </p:cNvCxnSpPr>
          <p:nvPr/>
        </p:nvCxnSpPr>
        <p:spPr>
          <a:xfrm>
            <a:off x="7602963" y="5805432"/>
            <a:ext cx="731520" cy="0"/>
          </a:xfrm>
          <a:prstGeom prst="straightConnector1">
            <a:avLst/>
          </a:prstGeom>
          <a:ln w="38100">
            <a:solidFill>
              <a:srgbClr val="710F3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3FEE3E40-8EEF-D462-B18A-63D18C069B09}"/>
              </a:ext>
            </a:extLst>
          </p:cNvPr>
          <p:cNvCxnSpPr>
            <a:cxnSpLocks/>
          </p:cNvCxnSpPr>
          <p:nvPr/>
        </p:nvCxnSpPr>
        <p:spPr>
          <a:xfrm>
            <a:off x="7602963" y="6208776"/>
            <a:ext cx="731520" cy="0"/>
          </a:xfrm>
          <a:prstGeom prst="straightConnector1">
            <a:avLst/>
          </a:prstGeom>
          <a:ln w="38100">
            <a:solidFill>
              <a:srgbClr val="710F32"/>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07F72A2-A06B-0B37-04AC-D83CCB3504A6}"/>
              </a:ext>
            </a:extLst>
          </p:cNvPr>
          <p:cNvCxnSpPr>
            <a:cxnSpLocks/>
          </p:cNvCxnSpPr>
          <p:nvPr/>
        </p:nvCxnSpPr>
        <p:spPr>
          <a:xfrm>
            <a:off x="7607808" y="6592824"/>
            <a:ext cx="731520" cy="0"/>
          </a:xfrm>
          <a:prstGeom prst="straightConnector1">
            <a:avLst/>
          </a:prstGeom>
          <a:ln w="38100">
            <a:solidFill>
              <a:srgbClr val="710F32"/>
            </a:solidFill>
            <a:tailEnd type="triangle"/>
          </a:ln>
        </p:spPr>
        <p:style>
          <a:lnRef idx="1">
            <a:schemeClr val="accent1"/>
          </a:lnRef>
          <a:fillRef idx="0">
            <a:schemeClr val="accent1"/>
          </a:fillRef>
          <a:effectRef idx="0">
            <a:schemeClr val="accent1"/>
          </a:effectRef>
          <a:fontRef idx="minor">
            <a:schemeClr val="tx1"/>
          </a:fontRef>
        </p:style>
      </p:cxnSp>
      <p:sp>
        <p:nvSpPr>
          <p:cNvPr id="42" name="Content Placeholder 8">
            <a:extLst>
              <a:ext uri="{FF2B5EF4-FFF2-40B4-BE49-F238E27FC236}">
                <a16:creationId xmlns:a16="http://schemas.microsoft.com/office/drawing/2014/main" id="{B0DC40EE-59F5-F97B-1787-EB7441A26B7B}"/>
              </a:ext>
            </a:extLst>
          </p:cNvPr>
          <p:cNvSpPr txBox="1">
            <a:spLocks/>
          </p:cNvSpPr>
          <p:nvPr/>
        </p:nvSpPr>
        <p:spPr>
          <a:xfrm>
            <a:off x="5190750" y="1532373"/>
            <a:ext cx="4463745" cy="304337"/>
          </a:xfrm>
          <a:prstGeom prst="rect">
            <a:avLst/>
          </a:prstGeom>
          <a:solidFill>
            <a:srgbClr val="1E1F49"/>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a:latin typeface="Garamond"/>
              </a:rPr>
              <a:t>Sunbelt REITs in AZ and NV Multifamily Class B</a:t>
            </a:r>
          </a:p>
        </p:txBody>
      </p:sp>
      <p:graphicFrame>
        <p:nvGraphicFramePr>
          <p:cNvPr id="43" name="Table 43">
            <a:extLst>
              <a:ext uri="{FF2B5EF4-FFF2-40B4-BE49-F238E27FC236}">
                <a16:creationId xmlns:a16="http://schemas.microsoft.com/office/drawing/2014/main" id="{77EBF9AE-3649-CF93-6073-E98BBB00DB5D}"/>
              </a:ext>
            </a:extLst>
          </p:cNvPr>
          <p:cNvGraphicFramePr>
            <a:graphicFrameLocks noGrp="1"/>
          </p:cNvGraphicFramePr>
          <p:nvPr/>
        </p:nvGraphicFramePr>
        <p:xfrm>
          <a:off x="5190749" y="1920795"/>
          <a:ext cx="4463745" cy="2828682"/>
        </p:xfrm>
        <a:graphic>
          <a:graphicData uri="http://schemas.openxmlformats.org/drawingml/2006/table">
            <a:tbl>
              <a:tblPr firstRow="1" bandRow="1">
                <a:tableStyleId>{5C22544A-7EE6-4342-B048-85BDC9FD1C3A}</a:tableStyleId>
              </a:tblPr>
              <a:tblGrid>
                <a:gridCol w="1487915">
                  <a:extLst>
                    <a:ext uri="{9D8B030D-6E8A-4147-A177-3AD203B41FA5}">
                      <a16:colId xmlns:a16="http://schemas.microsoft.com/office/drawing/2014/main" val="2275690052"/>
                    </a:ext>
                  </a:extLst>
                </a:gridCol>
                <a:gridCol w="1487915">
                  <a:extLst>
                    <a:ext uri="{9D8B030D-6E8A-4147-A177-3AD203B41FA5}">
                      <a16:colId xmlns:a16="http://schemas.microsoft.com/office/drawing/2014/main" val="1512279627"/>
                    </a:ext>
                  </a:extLst>
                </a:gridCol>
                <a:gridCol w="1487915">
                  <a:extLst>
                    <a:ext uri="{9D8B030D-6E8A-4147-A177-3AD203B41FA5}">
                      <a16:colId xmlns:a16="http://schemas.microsoft.com/office/drawing/2014/main" val="524732535"/>
                    </a:ext>
                  </a:extLst>
                </a:gridCol>
              </a:tblGrid>
              <a:tr h="471447">
                <a:tc>
                  <a:txBody>
                    <a:bodyPr/>
                    <a:lstStyle/>
                    <a:p>
                      <a:pPr algn="ctr"/>
                      <a:r>
                        <a:rPr lang="en-US"/>
                        <a:t>REIT</a:t>
                      </a:r>
                    </a:p>
                  </a:txBody>
                  <a:tcPr anchor="ctr"/>
                </a:tc>
                <a:tc>
                  <a:txBody>
                    <a:bodyPr/>
                    <a:lstStyle/>
                    <a:p>
                      <a:pPr algn="ctr"/>
                      <a:r>
                        <a:rPr lang="en-US"/>
                        <a:t>AZ Units</a:t>
                      </a:r>
                    </a:p>
                  </a:txBody>
                  <a:tcPr anchor="ctr"/>
                </a:tc>
                <a:tc>
                  <a:txBody>
                    <a:bodyPr/>
                    <a:lstStyle/>
                    <a:p>
                      <a:pPr lvl="0" algn="ctr">
                        <a:buNone/>
                      </a:pPr>
                      <a:r>
                        <a:rPr lang="en-US"/>
                        <a:t>NV Units</a:t>
                      </a:r>
                    </a:p>
                  </a:txBody>
                  <a:tcPr anchor="ctr"/>
                </a:tc>
                <a:extLst>
                  <a:ext uri="{0D108BD9-81ED-4DB2-BD59-A6C34878D82A}">
                    <a16:rowId xmlns:a16="http://schemas.microsoft.com/office/drawing/2014/main" val="53473054"/>
                  </a:ext>
                </a:extLst>
              </a:tr>
              <a:tr h="471447">
                <a:tc>
                  <a:txBody>
                    <a:bodyPr/>
                    <a:lstStyle/>
                    <a:p>
                      <a:pPr algn="ctr"/>
                      <a:r>
                        <a:rPr lang="en-US"/>
                        <a:t>MAA</a:t>
                      </a:r>
                    </a:p>
                  </a:txBody>
                  <a:tcPr anchor="ctr"/>
                </a:tc>
                <a:tc>
                  <a:txBody>
                    <a:bodyPr/>
                    <a:lstStyle/>
                    <a:p>
                      <a:pPr algn="ctr"/>
                      <a:r>
                        <a:rPr lang="en-US"/>
                        <a:t>2,968</a:t>
                      </a:r>
                    </a:p>
                  </a:txBody>
                  <a:tcPr anchor="ctr"/>
                </a:tc>
                <a:tc>
                  <a:txBody>
                    <a:bodyPr/>
                    <a:lstStyle/>
                    <a:p>
                      <a:pPr lvl="0" algn="ctr">
                        <a:buNone/>
                      </a:pPr>
                      <a:r>
                        <a:rPr lang="en-US"/>
                        <a:t>721</a:t>
                      </a:r>
                    </a:p>
                  </a:txBody>
                  <a:tcPr anchor="ctr"/>
                </a:tc>
                <a:extLst>
                  <a:ext uri="{0D108BD9-81ED-4DB2-BD59-A6C34878D82A}">
                    <a16:rowId xmlns:a16="http://schemas.microsoft.com/office/drawing/2014/main" val="2653311955"/>
                  </a:ext>
                </a:extLst>
              </a:tr>
              <a:tr h="471447">
                <a:tc>
                  <a:txBody>
                    <a:bodyPr/>
                    <a:lstStyle/>
                    <a:p>
                      <a:pPr algn="ctr"/>
                      <a:r>
                        <a:rPr lang="en-US"/>
                        <a:t>CRT</a:t>
                      </a:r>
                    </a:p>
                  </a:txBody>
                  <a:tcPr anchor="ctr"/>
                </a:tc>
                <a:tc>
                  <a:txBody>
                    <a:bodyPr/>
                    <a:lstStyle/>
                    <a:p>
                      <a:pPr algn="ctr"/>
                      <a:r>
                        <a:rPr lang="en-US"/>
                        <a:t>4,029</a:t>
                      </a:r>
                    </a:p>
                  </a:txBody>
                  <a:tcPr anchor="ctr"/>
                </a:tc>
                <a:tc>
                  <a:txBody>
                    <a:bodyPr/>
                    <a:lstStyle/>
                    <a:p>
                      <a:pPr lvl="0" algn="ctr">
                        <a:buNone/>
                      </a:pPr>
                      <a:r>
                        <a:rPr lang="en-US"/>
                        <a:t>0</a:t>
                      </a:r>
                    </a:p>
                  </a:txBody>
                  <a:tcPr anchor="ctr"/>
                </a:tc>
                <a:extLst>
                  <a:ext uri="{0D108BD9-81ED-4DB2-BD59-A6C34878D82A}">
                    <a16:rowId xmlns:a16="http://schemas.microsoft.com/office/drawing/2014/main" val="1454449660"/>
                  </a:ext>
                </a:extLst>
              </a:tr>
              <a:tr h="471447">
                <a:tc>
                  <a:txBody>
                    <a:bodyPr/>
                    <a:lstStyle/>
                    <a:p>
                      <a:pPr algn="ctr"/>
                      <a:r>
                        <a:rPr lang="en-US"/>
                        <a:t>IRT</a:t>
                      </a:r>
                    </a:p>
                  </a:txBody>
                  <a:tcPr anchor="ctr"/>
                </a:tc>
                <a:tc>
                  <a:txBody>
                    <a:bodyPr/>
                    <a:lstStyle/>
                    <a:p>
                      <a:pPr algn="ctr"/>
                      <a:r>
                        <a:rPr lang="en-US"/>
                        <a:t>0</a:t>
                      </a:r>
                    </a:p>
                  </a:txBody>
                  <a:tcPr anchor="ctr"/>
                </a:tc>
                <a:tc>
                  <a:txBody>
                    <a:bodyPr/>
                    <a:lstStyle/>
                    <a:p>
                      <a:pPr lvl="0" algn="ctr">
                        <a:buNone/>
                      </a:pPr>
                      <a:r>
                        <a:rPr lang="en-US"/>
                        <a:t>0</a:t>
                      </a:r>
                    </a:p>
                  </a:txBody>
                  <a:tcPr anchor="ctr"/>
                </a:tc>
                <a:extLst>
                  <a:ext uri="{0D108BD9-81ED-4DB2-BD59-A6C34878D82A}">
                    <a16:rowId xmlns:a16="http://schemas.microsoft.com/office/drawing/2014/main" val="3624396086"/>
                  </a:ext>
                </a:extLst>
              </a:tr>
              <a:tr h="471447">
                <a:tc>
                  <a:txBody>
                    <a:bodyPr/>
                    <a:lstStyle/>
                    <a:p>
                      <a:pPr algn="ctr"/>
                      <a:r>
                        <a:rPr lang="en-US"/>
                        <a:t>NXRT</a:t>
                      </a:r>
                    </a:p>
                  </a:txBody>
                  <a:tcPr anchor="ctr"/>
                </a:tc>
                <a:tc>
                  <a:txBody>
                    <a:bodyPr/>
                    <a:lstStyle/>
                    <a:p>
                      <a:pPr algn="ctr"/>
                      <a:r>
                        <a:rPr lang="en-US"/>
                        <a:t>2,009</a:t>
                      </a:r>
                    </a:p>
                  </a:txBody>
                  <a:tcPr anchor="ctr"/>
                </a:tc>
                <a:tc>
                  <a:txBody>
                    <a:bodyPr/>
                    <a:lstStyle/>
                    <a:p>
                      <a:pPr lvl="0" algn="ctr">
                        <a:buNone/>
                      </a:pPr>
                      <a:r>
                        <a:rPr lang="en-US"/>
                        <a:t>1,164</a:t>
                      </a:r>
                    </a:p>
                  </a:txBody>
                  <a:tcPr anchor="ctr"/>
                </a:tc>
                <a:extLst>
                  <a:ext uri="{0D108BD9-81ED-4DB2-BD59-A6C34878D82A}">
                    <a16:rowId xmlns:a16="http://schemas.microsoft.com/office/drawing/2014/main" val="3898554744"/>
                  </a:ext>
                </a:extLst>
              </a:tr>
              <a:tr h="471447">
                <a:tc>
                  <a:txBody>
                    <a:bodyPr/>
                    <a:lstStyle/>
                    <a:p>
                      <a:pPr algn="ctr"/>
                      <a:r>
                        <a:rPr lang="en-US"/>
                        <a:t>BRT</a:t>
                      </a:r>
                    </a:p>
                  </a:txBody>
                  <a:tcPr anchor="ctr"/>
                </a:tc>
                <a:tc>
                  <a:txBody>
                    <a:bodyPr/>
                    <a:lstStyle/>
                    <a:p>
                      <a:pPr algn="ctr"/>
                      <a:r>
                        <a:rPr lang="en-US"/>
                        <a:t>0</a:t>
                      </a:r>
                    </a:p>
                  </a:txBody>
                  <a:tcPr anchor="ctr"/>
                </a:tc>
                <a:tc>
                  <a:txBody>
                    <a:bodyPr/>
                    <a:lstStyle/>
                    <a:p>
                      <a:pPr lvl="0" algn="ctr">
                        <a:buNone/>
                      </a:pPr>
                      <a:r>
                        <a:rPr lang="en-US"/>
                        <a:t>0</a:t>
                      </a:r>
                    </a:p>
                  </a:txBody>
                  <a:tcPr anchor="ctr"/>
                </a:tc>
                <a:extLst>
                  <a:ext uri="{0D108BD9-81ED-4DB2-BD59-A6C34878D82A}">
                    <a16:rowId xmlns:a16="http://schemas.microsoft.com/office/drawing/2014/main" val="1717599816"/>
                  </a:ext>
                </a:extLst>
              </a:tr>
            </a:tbl>
          </a:graphicData>
        </a:graphic>
      </p:graphicFrame>
    </p:spTree>
    <p:extLst>
      <p:ext uri="{BB962C8B-B14F-4D97-AF65-F5344CB8AC3E}">
        <p14:creationId xmlns:p14="http://schemas.microsoft.com/office/powerpoint/2010/main" val="2624321986"/>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20214C"/>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8" id="{7F9E6922-49B2-0F4F-8263-E708C692A89E}" vid="{76D0A2B9-70A6-4743-BD99-B5C9A1CB21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9B0456FC89624E91F9E1FF19ED7E71" ma:contentTypeVersion="6" ma:contentTypeDescription="Create a new document." ma:contentTypeScope="" ma:versionID="405d5a50354198fe9e59c709c75d1582">
  <xsd:schema xmlns:xsd="http://www.w3.org/2001/XMLSchema" xmlns:xs="http://www.w3.org/2001/XMLSchema" xmlns:p="http://schemas.microsoft.com/office/2006/metadata/properties" xmlns:ns3="0d56d3a3-5c74-41fe-8135-fdecd52b9173" targetNamespace="http://schemas.microsoft.com/office/2006/metadata/properties" ma:root="true" ma:fieldsID="a9011d7794352176013db40cbc84e6ee" ns3:_="">
    <xsd:import namespace="0d56d3a3-5c74-41fe-8135-fdecd52b9173"/>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56d3a3-5c74-41fe-8135-fdecd52b91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2" nillable="true" ma:displayName="_activity" ma:hidden="true" ma:internalName="_activity">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0d56d3a3-5c74-41fe-8135-fdecd52b917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DC6F79-A82F-475B-A631-BFDA15317F24}">
  <ds:schemaRefs>
    <ds:schemaRef ds:uri="0d56d3a3-5c74-41fe-8135-fdecd52b917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4A1279B-4B7D-4FDB-8F48-4FE5318CAE83}">
  <ds:schemaRefs>
    <ds:schemaRef ds:uri="http://schemas.microsoft.com/office/2006/documentManagement/types"/>
    <ds:schemaRef ds:uri="http://schemas.openxmlformats.org/package/2006/metadata/core-properties"/>
    <ds:schemaRef ds:uri="http://schemas.microsoft.com/office/2006/metadata/properties"/>
    <ds:schemaRef ds:uri="http://purl.org/dc/elements/1.1/"/>
    <ds:schemaRef ds:uri="http://purl.org/dc/terms/"/>
    <ds:schemaRef ds:uri="0d56d3a3-5c74-41fe-8135-fdecd52b9173"/>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B477D7B8-E060-4891-825C-F59A584D7F0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95</TotalTime>
  <Words>6433</Words>
  <Application>Microsoft Macintosh PowerPoint</Application>
  <PresentationFormat>Custom</PresentationFormat>
  <Paragraphs>585</Paragraphs>
  <Slides>28</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.Hiragino Kaku Gothic Interface W3</vt:lpstr>
      <vt:lpstr>Arial</vt:lpstr>
      <vt:lpstr>Calibri</vt:lpstr>
      <vt:lpstr>Garamond</vt:lpstr>
      <vt:lpstr>inherit</vt:lpstr>
      <vt:lpstr>Wingdings</vt:lpstr>
      <vt:lpstr>Office Theme</vt:lpstr>
      <vt:lpstr>NexPoint</vt:lpstr>
      <vt:lpstr>Executive Summary</vt:lpstr>
      <vt:lpstr>Deeper Dive into Strategy and Operations</vt:lpstr>
      <vt:lpstr>Company Past, Present, and Future</vt:lpstr>
      <vt:lpstr>Management Quality</vt:lpstr>
      <vt:lpstr>Industry Overview </vt:lpstr>
      <vt:lpstr>Real Estate Investment Trusts</vt:lpstr>
      <vt:lpstr>Class B Multifamily Real Estate Industry </vt:lpstr>
      <vt:lpstr>Key Players and NXRT’s Position</vt:lpstr>
      <vt:lpstr>Capital Barriers to Entry</vt:lpstr>
      <vt:lpstr>Inaccessibility of Home Ownership and Class A Rentals</vt:lpstr>
      <vt:lpstr>Favorable Positioning and Supply / Demand Dynamics</vt:lpstr>
      <vt:lpstr>REITs in a Rising Interest Rate Environment</vt:lpstr>
      <vt:lpstr>Thesis Overview</vt:lpstr>
      <vt:lpstr>Thesis 1: Sunbelt’s High Potential Market</vt:lpstr>
      <vt:lpstr>Sun Belt and High-Growth Markets</vt:lpstr>
      <vt:lpstr>Growth in Major Sun Belt Markets</vt:lpstr>
      <vt:lpstr>Attracting Large Firms from HCOL Areas</vt:lpstr>
      <vt:lpstr>Potential for Future Growth</vt:lpstr>
      <vt:lpstr>NXRT Sunbelt Holdings</vt:lpstr>
      <vt:lpstr>Thesis 2: Value-Add Program</vt:lpstr>
      <vt:lpstr>Value-Add Program At A Glance</vt:lpstr>
      <vt:lpstr>NexPoint Value-Add Program</vt:lpstr>
      <vt:lpstr>Financials of Value-Add Program</vt:lpstr>
      <vt:lpstr>Market Mispricing</vt:lpstr>
      <vt:lpstr>NexPoint Grouped With Non-Value-Add REITS</vt:lpstr>
      <vt:lpstr>Long Runway for Value-Add At Low Leverage</vt:lpstr>
      <vt:lpstr>Higher Capital Costs Create Entry Barriers for Competitors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Company Name]</dc:title>
  <dc:creator>Roger Shen</dc:creator>
  <cp:lastModifiedBy>Aadarsh Agarwal</cp:lastModifiedBy>
  <cp:revision>2</cp:revision>
  <dcterms:created xsi:type="dcterms:W3CDTF">2021-05-08T04:56:52Z</dcterms:created>
  <dcterms:modified xsi:type="dcterms:W3CDTF">2024-03-18T03:31:25Z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0x010100219B0456FC89624E91F9E1FF19ED7E71</vt:lpwstr>
  </property>
</Properties>
</file>